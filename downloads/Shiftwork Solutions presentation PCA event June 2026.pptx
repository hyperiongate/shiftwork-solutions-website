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58" r:id="rId4"/>
    <p:sldId id="259" r:id="rId5"/>
    <p:sldId id="308" r:id="rId6"/>
    <p:sldId id="307" r:id="rId7"/>
    <p:sldId id="260" r:id="rId8"/>
    <p:sldId id="262" r:id="rId9"/>
    <p:sldId id="304" r:id="rId10"/>
    <p:sldId id="263" r:id="rId11"/>
    <p:sldId id="264" r:id="rId12"/>
    <p:sldId id="265" r:id="rId13"/>
    <p:sldId id="299" r:id="rId14"/>
    <p:sldId id="282" r:id="rId15"/>
    <p:sldId id="285" r:id="rId16"/>
    <p:sldId id="266" r:id="rId17"/>
    <p:sldId id="267" r:id="rId18"/>
    <p:sldId id="268" r:id="rId19"/>
    <p:sldId id="309" r:id="rId20"/>
    <p:sldId id="270" r:id="rId21"/>
    <p:sldId id="310" r:id="rId22"/>
    <p:sldId id="291" r:id="rId23"/>
    <p:sldId id="271" r:id="rId24"/>
    <p:sldId id="272" r:id="rId25"/>
    <p:sldId id="274" r:id="rId26"/>
    <p:sldId id="273" r:id="rId27"/>
    <p:sldId id="275" r:id="rId28"/>
    <p:sldId id="276" r:id="rId29"/>
    <p:sldId id="277" r:id="rId30"/>
    <p:sldId id="278" r:id="rId31"/>
    <p:sldId id="279" r:id="rId32"/>
    <p:sldId id="280" r:id="rId33"/>
    <p:sldId id="281" r:id="rId34"/>
    <p:sldId id="283" r:id="rId35"/>
    <p:sldId id="286" r:id="rId36"/>
    <p:sldId id="287" r:id="rId37"/>
    <p:sldId id="288" r:id="rId38"/>
    <p:sldId id="292" r:id="rId39"/>
    <p:sldId id="293" r:id="rId40"/>
    <p:sldId id="295" r:id="rId41"/>
    <p:sldId id="296" r:id="rId4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3" d="100"/>
          <a:sy n="143" d="100"/>
        </p:scale>
        <p:origin x="68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2768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Thank you for having me back. My name is Jim Dillingham, founding partner of Shiftwork Solutions. We are a fixed-fee management consulting firm specializing in shift schedule design and change management for continuous operations. We have worked with hundreds of facilities across manufacturing, paper, food processing, utilities, and distribution. Today I want to talk about something that touches every person in this room — how you schedule your people, and what that decision is really costing you.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Einstein's point was about physics. But it applies perfectly here. In a 24-hour operation, the schedule is the mechanism that makes everything move. If the schedule is wrong, everything downstream is harder. Today we are going to look at whether your schedules are working for you, or against you.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Management looks at a schedule and sees coverage. Employees look at the exact same schedule and see their life — whether they can coach their kid's soccer team, whether they can count on a weekend off, whether they're going to get called in on their day off. The best schedule is one that works for both. But if you don't ask your workforce what they want, you're guessing.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audiences here and they all answer differently. The person already on a rotating shift has made peace with it — they prefer fixed, but they've built their life around rotation so the margin isn't huge. The person already on a fixed shift knows what they have and will fight to keep it. But the most important audience is the person on the street who hasn't joined your operation yet. Tell them they'll rotate days and nights for 40 years, and they'll take the job down the road that doesn't rotate. Your schedule is your recruiting pitch.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findings come from our normative database — over 20,000 shift workers across hundreds of facilities. This is not opinion. This is what employees actually tell us when you ask them.
The communication finding always surprises management. They think they communicate well. Their workforce disagrees by a wide margin.
The 5% rule is critical: every leadership team worries about the vocal minority who will oppose any change. Survey data lets you quantify that minority and make confident decisions for the 95%.</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20/60/20 rule: 20% of your workforce loves overtime and will work as much as you give them. 20% hates it and will quit if you force it. 60% will work their fair share. If you are managing overtime by forcing the 20% who hate it, you are burning out your most reluctant employees. There is a better way — and it starts with asking. The goal isn't to give everyone exactly what they want. It's to be better than the competition down the road.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Overtime gets a bad reputation because we tend to think of it in extremes — either it's too much and people are burning out, or we try to eliminate it entirely and end up overstaffed. The truth is that moderate, well-managed overtime is often the optimal staffing strategy.
The cost difference between overtime and straight time, when fully loaded, is typically 5 to 10%. Not 50%. The 'time-and-a-half' phrase is misleading.
The 20/60/20 rule: 20% of your workforce wants all the overtime they can get. They see it as a way to earn more — and at their wage level, they're right. Another 20% want none. If you force overtime on those people, you will lose them. The 60% in the middle will work their fair share without complaint.
The answer isn't more overtime or less overtime. It's smarter overtime. Know who wants it. Give it to them first. Give advance notice so people can plan. Make it predictable. That's the difference between overtime that destroys morale and overtime that people appreciate.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6871280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Southern Swing was created in the 1930s. It is the grandfather of every 24/7 schedule in use today. In paper mills, we still see it everywhere. The old-timers have been working this schedule for 40 years. They know nothing else and they are not interested in learning. Meanwhile, a young person walks in, looks at this schedule, and walks right back out.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B7511-2D72-5E1E-8B19-CCBD66490A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D344E3-0BC4-E1FA-BD9A-E8063D73D7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9D2350-4F64-5B69-DF8A-4FDDDD8CFE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B65C85-7C5F-77C5-F77B-CF6F7B0DD3F6}"/>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8430002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5-crew model, and I believe it is where continuous operations are headed. The math is elegant: instead of 4 crews each working 44 pay-hours per week, you have 5 crews each averaging 37.6 hours per week. The total pay-hours are virtually identical. But every employee now gets one full week off in every five. A week. Not a weekend. A week. In a tight labor market, that is a recruiting tool no competitor running a standard 4-crew schedule can match.</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ANIMATION NOTE: Set 'What It Really Delivers' section on both cards to appear On Click simultaneously.
Present: show both column headers and 'What It Says' bullets. Let the audience read the job postings.
Then click: 'What It Really Delivers' appears on both sides at once. The contrast lands.
The 12-hour schedule looks harder. But when you show what it actually delivers — 78 fewer days of work, an 8-day break every month, 3-day weekends — the conversation changes. Your schedule is your recruiting pitch. Are you pitching it right?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all 5 schedule options for a single-shift operation. The scatter plot on the previous slide shows the full picture including all 7 variants.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plots all 7 schedule configurations from real schedule data.
X axis: production hours per week — how much output you get.
Y axis: employees required — what it costs you in headcount.
The shaded zone (bottom-right) is the sweet spot: more output, less staff.
Key talking points:
· S2 reaches 50 hrs without new hires — but everyone works OT.
· S3 reaches 50 hrs with no OT — but needs 4 more hires.
· S4 and S5 both hit 60 hrs at 18 employees — completely different paths.
· S6 and S7 both hit 72 hrs — S7 has meaningfully lower OT cost.
PRESENTER NOTE: Interactive version available for live demos and leave-behinds.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slide for S1: S1 — 5-Day · 8-Hour Fixed
Link this slide from the S1 dot on the scatter plot slide.
Use Insert &gt; Hyperlink &gt; Place in this document to link back.</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slide for S2: S2 — 5-Day · 10-Hour Fixed
Link this slide from the S2 dot on the scatter plot slide.
Use Insert &gt; Hyperlink &gt; Place in this document to link back.</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slide for S3: S3 — 5-Day Staggered · 10-Hour
Link this slide from the S3 dot on the scatter plot slide.
Use Insert &gt; Hyperlink &gt; Place in this document to link back.</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slide for S4: S4 — 5-Day · 12-Hour
Link this slide from the S4 dot on the scatter plot slide.
Use Insert &gt; Hyperlink &gt; Place in this document to link back.</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slide for S5: S5 — 6-Day Staggered · 10-Hour
Link this slide from the S5 dot on the scatter plot slide.
Use Insert &gt; Hyperlink &gt; Place in this document to link back.</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slide for S6: S6 — 6-Day · 12-Hour
Link this slide from the S6 dot on the scatter plot slide.
Use Insert &gt; Hyperlink &gt; Place in this document to link back.</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slide for S7: S7 — 7-Day · 12-Hour Alternating
Link this slide from the S7 dot on the scatter plot slide.
Use Insert &gt; Hyperlink &gt; Place in this document to link back.</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failure modes come directly from 30-plus years of watching schedule changes succeed and fail. The schedule design is almost never the problem. The implementation is. We have cleaned up the aftermath of many of these situations. Every one was preventable.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secret to successful schedule change is not the schedule. It is the process. Every element of this slide is based on what we have seen work across hundreds of engagements. Skip any one of them and the risk of failure increases substantially.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will take questions. Before I do: go to shift-work.com and ask Thomas anything from today's talk. We also built a page specifically for PCA attendees. My number is on the screen. Happy to talk to anyone about a specific operation or challenge.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a:effectLst/>
      </p:bgPr>
    </p:bg>
    <p:spTree>
      <p:nvGrpSpPr>
        <p:cNvPr id="1" name=""/>
        <p:cNvGrpSpPr/>
        <p:nvPr/>
      </p:nvGrpSpPr>
      <p:grpSpPr>
        <a:xfrm>
          <a:off x="0" y="0"/>
          <a:ext cx="0" cy="0"/>
          <a:chOff x="0" y="0"/>
          <a:chExt cx="0" cy="0"/>
        </a:xfrm>
      </p:grpSpPr>
      <p:sp>
        <p:nvSpPr>
          <p:cNvPr id="2" name="Shape 0"/>
          <p:cNvSpPr/>
          <p:nvPr/>
        </p:nvSpPr>
        <p:spPr>
          <a:xfrm>
            <a:off x="6217920" y="-1097280"/>
            <a:ext cx="5029200" cy="5029200"/>
          </a:xfrm>
          <a:prstGeom prst="ellipse">
            <a:avLst/>
          </a:prstGeom>
          <a:solidFill>
            <a:srgbClr val="1D6A72">
              <a:alpha val="20000"/>
            </a:srgbClr>
          </a:solidFill>
          <a:ln w="12700">
            <a:solidFill>
              <a:srgbClr val="1D6A72">
                <a:alpha val="0"/>
              </a:srgbClr>
            </a:solidFill>
            <a:prstDash val="solid"/>
          </a:ln>
        </p:spPr>
        <p:txBody>
          <a:bodyPr/>
          <a:lstStyle/>
          <a:p>
            <a:endParaRPr lang="en-US"/>
          </a:p>
        </p:txBody>
      </p:sp>
      <p:sp>
        <p:nvSpPr>
          <p:cNvPr id="3" name="Shape 1"/>
          <p:cNvSpPr/>
          <p:nvPr/>
        </p:nvSpPr>
        <p:spPr>
          <a:xfrm>
            <a:off x="6858000" y="2286000"/>
            <a:ext cx="3200400" cy="3200400"/>
          </a:xfrm>
          <a:prstGeom prst="ellipse">
            <a:avLst/>
          </a:prstGeom>
          <a:solidFill>
            <a:srgbClr val="E8610A">
              <a:alpha val="12000"/>
            </a:srgbClr>
          </a:solidFill>
          <a:ln w="12700">
            <a:solidFill>
              <a:srgbClr val="E8610A">
                <a:alpha val="0"/>
              </a:srgbClr>
            </a:solidFill>
            <a:prstDash val="solid"/>
          </a:ln>
        </p:spPr>
        <p:txBody>
          <a:bodyPr/>
          <a:lstStyle/>
          <a:p>
            <a:endParaRPr lang="en-US"/>
          </a:p>
        </p:txBody>
      </p:sp>
      <p:sp>
        <p:nvSpPr>
          <p:cNvPr id="4" name="Text 2"/>
          <p:cNvSpPr/>
          <p:nvPr/>
        </p:nvSpPr>
        <p:spPr>
          <a:xfrm>
            <a:off x="457200" y="640080"/>
            <a:ext cx="6858000" cy="2011680"/>
          </a:xfrm>
          <a:prstGeom prst="rect">
            <a:avLst/>
          </a:prstGeom>
          <a:noFill/>
          <a:ln/>
        </p:spPr>
        <p:txBody>
          <a:bodyPr wrap="square"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The 24-Hour</a:t>
            </a:r>
            <a:endParaRPr lang="en-US" sz="4000" dirty="0"/>
          </a:p>
          <a:p>
            <a:pPr marL="0" indent="0" algn="l">
              <a:buNone/>
            </a:pPr>
            <a:r>
              <a:rPr lang="en-US" sz="4000" b="1" dirty="0">
                <a:solidFill>
                  <a:srgbClr val="FFFFFF"/>
                </a:solidFill>
                <a:latin typeface="Cambria" pitchFamily="34" charset="0"/>
                <a:ea typeface="Cambria" pitchFamily="34" charset="-122"/>
                <a:cs typeface="Cambria" pitchFamily="34" charset="-120"/>
              </a:rPr>
              <a:t>Operations Challenge</a:t>
            </a:r>
            <a:endParaRPr lang="en-US" sz="4000" dirty="0"/>
          </a:p>
        </p:txBody>
      </p:sp>
      <p:sp>
        <p:nvSpPr>
          <p:cNvPr id="5" name="Text 3"/>
          <p:cNvSpPr/>
          <p:nvPr/>
        </p:nvSpPr>
        <p:spPr>
          <a:xfrm>
            <a:off x="457200" y="2697480"/>
            <a:ext cx="6858000" cy="914400"/>
          </a:xfrm>
          <a:prstGeom prst="rect">
            <a:avLst/>
          </a:prstGeom>
          <a:noFill/>
          <a:ln/>
        </p:spPr>
        <p:txBody>
          <a:bodyPr wrap="square" rtlCol="0" anchor="ctr"/>
          <a:lstStyle/>
          <a:p>
            <a:pPr marL="0" indent="0" algn="l">
              <a:buNone/>
            </a:pPr>
            <a:r>
              <a:rPr lang="en-US" sz="2000" i="1" dirty="0">
                <a:solidFill>
                  <a:srgbClr val="E2E8F0"/>
                </a:solidFill>
                <a:latin typeface="Arial" pitchFamily="34" charset="0"/>
                <a:ea typeface="Arial" pitchFamily="34" charset="-122"/>
                <a:cs typeface="Arial" pitchFamily="34" charset="-120"/>
              </a:rPr>
              <a:t>Strategic Scheduling, Retention, and the</a:t>
            </a:r>
            <a:endParaRPr lang="en-US" sz="2000" dirty="0"/>
          </a:p>
          <a:p>
            <a:pPr marL="0" indent="0" algn="l">
              <a:buNone/>
            </a:pPr>
            <a:r>
              <a:rPr lang="en-US" sz="2000" i="1" dirty="0">
                <a:solidFill>
                  <a:srgbClr val="E2E8F0"/>
                </a:solidFill>
                <a:latin typeface="Arial" pitchFamily="34" charset="0"/>
                <a:ea typeface="Arial" pitchFamily="34" charset="-122"/>
                <a:cs typeface="Arial" pitchFamily="34" charset="-120"/>
              </a:rPr>
              <a:t>Future of Your Workforce</a:t>
            </a:r>
            <a:endParaRPr lang="en-US" sz="2000" dirty="0"/>
          </a:p>
        </p:txBody>
      </p:sp>
      <p:sp>
        <p:nvSpPr>
          <p:cNvPr id="6" name="Shape 4"/>
          <p:cNvSpPr/>
          <p:nvPr/>
        </p:nvSpPr>
        <p:spPr>
          <a:xfrm>
            <a:off x="457200" y="3703320"/>
            <a:ext cx="2286000" cy="36576"/>
          </a:xfrm>
          <a:prstGeom prst="rect">
            <a:avLst/>
          </a:prstGeom>
          <a:solidFill>
            <a:srgbClr val="E8610A"/>
          </a:solidFill>
          <a:ln w="12700">
            <a:solidFill>
              <a:srgbClr val="E8610A"/>
            </a:solidFill>
            <a:prstDash val="solid"/>
          </a:ln>
        </p:spPr>
        <p:txBody>
          <a:bodyPr/>
          <a:lstStyle/>
          <a:p>
            <a:endParaRPr lang="en-US"/>
          </a:p>
        </p:txBody>
      </p:sp>
      <p:sp>
        <p:nvSpPr>
          <p:cNvPr id="7" name="Text 5"/>
          <p:cNvSpPr/>
          <p:nvPr/>
        </p:nvSpPr>
        <p:spPr>
          <a:xfrm>
            <a:off x="457200" y="3840480"/>
            <a:ext cx="6400800" cy="320040"/>
          </a:xfrm>
          <a:prstGeom prst="rect">
            <a:avLst/>
          </a:prstGeom>
          <a:noFill/>
          <a:ln/>
        </p:spPr>
        <p:txBody>
          <a:bodyPr wrap="square" rtlCol="0" anchor="ctr"/>
          <a:lstStyle/>
          <a:p>
            <a:pPr marL="0" indent="0">
              <a:buNone/>
            </a:pPr>
            <a:r>
              <a:rPr lang="en-US" sz="1300" dirty="0">
                <a:solidFill>
                  <a:srgbClr val="94A3B8"/>
                </a:solidFill>
                <a:latin typeface="Arial" pitchFamily="34" charset="0"/>
                <a:ea typeface="Arial" pitchFamily="34" charset="-122"/>
                <a:cs typeface="Arial" pitchFamily="34" charset="-120"/>
              </a:rPr>
              <a:t>PCA Leadership Conference  ·  June 24, 2026</a:t>
            </a:r>
            <a:endParaRPr lang="en-US" sz="1300" dirty="0"/>
          </a:p>
        </p:txBody>
      </p:sp>
      <p:sp>
        <p:nvSpPr>
          <p:cNvPr id="8" name="Text 6"/>
          <p:cNvSpPr/>
          <p:nvPr/>
        </p:nvSpPr>
        <p:spPr>
          <a:xfrm>
            <a:off x="457200" y="4206240"/>
            <a:ext cx="6400800" cy="320040"/>
          </a:xfrm>
          <a:prstGeom prst="rect">
            <a:avLst/>
          </a:prstGeom>
          <a:noFill/>
          <a:ln/>
        </p:spPr>
        <p:txBody>
          <a:bodyPr wrap="square" rtlCol="0" anchor="ctr"/>
          <a:lstStyle/>
          <a:p>
            <a:pPr marL="0" indent="0">
              <a:buNone/>
            </a:pPr>
            <a:r>
              <a:rPr lang="en-US" sz="1300" dirty="0">
                <a:solidFill>
                  <a:srgbClr val="94A3B8"/>
                </a:solidFill>
                <a:latin typeface="Arial" pitchFamily="34" charset="0"/>
                <a:ea typeface="Arial" pitchFamily="34" charset="-122"/>
                <a:cs typeface="Arial" pitchFamily="34" charset="-120"/>
              </a:rPr>
              <a:t>Jim Dillingham  |  Shiftwork Solutions LLC</a:t>
            </a:r>
            <a:endParaRPr lang="en-US" sz="1300" dirty="0"/>
          </a:p>
        </p:txBody>
      </p:sp>
      <p:sp>
        <p:nvSpPr>
          <p:cNvPr id="9" name="Text 7"/>
          <p:cNvSpPr/>
          <p:nvPr/>
        </p:nvSpPr>
        <p:spPr>
          <a:xfrm>
            <a:off x="457200" y="4526280"/>
            <a:ext cx="6400800" cy="246888"/>
          </a:xfrm>
          <a:prstGeom prst="rect">
            <a:avLst/>
          </a:prstGeom>
          <a:noFill/>
          <a:ln/>
        </p:spPr>
        <p:txBody>
          <a:bodyPr wrap="square" rtlCol="0" anchor="ctr"/>
          <a:lstStyle/>
          <a:p>
            <a:pPr marL="0" indent="0">
              <a:buNone/>
            </a:pPr>
            <a:r>
              <a:rPr lang="en-US" sz="1100" dirty="0">
                <a:solidFill>
                  <a:srgbClr val="94A3B8"/>
                </a:solidFill>
                <a:latin typeface="Arial" pitchFamily="34" charset="0"/>
                <a:ea typeface="Arial" pitchFamily="34" charset="-122"/>
                <a:cs typeface="Arial" pitchFamily="34" charset="-120"/>
              </a:rPr>
              <a:t>(415) 265-1621  |  www.shift-work.com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marL="0" indent="0">
              <a:buNone/>
            </a:pPr>
            <a:r>
              <a:rPr lang="en-US" sz="3200" b="1" dirty="0">
                <a:solidFill>
                  <a:srgbClr val="1F4E79"/>
                </a:solidFill>
                <a:latin typeface="Cambria" pitchFamily="34" charset="0"/>
                <a:ea typeface="Cambria" pitchFamily="34" charset="-122"/>
                <a:cs typeface="Cambria" pitchFamily="34" charset="-120"/>
              </a:rPr>
              <a:t>What We Will Cover Today</a:t>
            </a:r>
            <a:endParaRPr lang="en-US" sz="3200" dirty="0"/>
          </a:p>
        </p:txBody>
      </p:sp>
      <p:sp>
        <p:nvSpPr>
          <p:cNvPr id="3" name="Shape 1"/>
          <p:cNvSpPr/>
          <p:nvPr/>
        </p:nvSpPr>
        <p:spPr>
          <a:xfrm>
            <a:off x="457200" y="960120"/>
            <a:ext cx="502920" cy="420624"/>
          </a:xfrm>
          <a:prstGeom prst="roundRect">
            <a:avLst>
              <a:gd name="adj" fmla="val 10870"/>
            </a:avLst>
          </a:prstGeom>
          <a:solidFill>
            <a:srgbClr val="1F4E79"/>
          </a:solidFill>
          <a:ln w="12700">
            <a:solidFill>
              <a:srgbClr val="1F4E79"/>
            </a:solidFill>
            <a:prstDash val="solid"/>
          </a:ln>
        </p:spPr>
        <p:txBody>
          <a:bodyPr/>
          <a:lstStyle/>
          <a:p>
            <a:endParaRPr lang="en-US"/>
          </a:p>
        </p:txBody>
      </p:sp>
      <p:sp>
        <p:nvSpPr>
          <p:cNvPr id="4" name="Text 2"/>
          <p:cNvSpPr/>
          <p:nvPr/>
        </p:nvSpPr>
        <p:spPr>
          <a:xfrm>
            <a:off x="457200" y="960120"/>
            <a:ext cx="502920" cy="420624"/>
          </a:xfrm>
          <a:prstGeom prst="rect">
            <a:avLst/>
          </a:prstGeom>
          <a:noFill/>
          <a:ln/>
        </p:spPr>
        <p:txBody>
          <a:bodyPr wrap="square" lIns="0" tIns="0" rIns="0" bIns="0" rtlCol="0" anchor="ctr"/>
          <a:lstStyle/>
          <a:p>
            <a:pPr marL="0" indent="0" algn="ctr">
              <a:buNone/>
            </a:pPr>
            <a:r>
              <a:rPr lang="en-US" sz="1200" b="1" dirty="0">
                <a:solidFill>
                  <a:srgbClr val="E8610A"/>
                </a:solidFill>
                <a:latin typeface="Cambria" pitchFamily="34" charset="0"/>
                <a:ea typeface="Cambria" pitchFamily="34" charset="-122"/>
                <a:cs typeface="Cambria" pitchFamily="34" charset="-120"/>
              </a:rPr>
              <a:t>01</a:t>
            </a:r>
            <a:endParaRPr lang="en-US" sz="1200" dirty="0"/>
          </a:p>
        </p:txBody>
      </p:sp>
      <p:sp>
        <p:nvSpPr>
          <p:cNvPr id="5" name="Shape 3"/>
          <p:cNvSpPr/>
          <p:nvPr/>
        </p:nvSpPr>
        <p:spPr>
          <a:xfrm>
            <a:off x="457200" y="1399032"/>
            <a:ext cx="8229600" cy="0"/>
          </a:xfrm>
          <a:prstGeom prst="line">
            <a:avLst/>
          </a:prstGeom>
          <a:noFill/>
          <a:ln w="6350">
            <a:solidFill>
              <a:srgbClr val="E2E8F0"/>
            </a:solidFill>
            <a:prstDash val="solid"/>
          </a:ln>
        </p:spPr>
        <p:txBody>
          <a:bodyPr/>
          <a:lstStyle/>
          <a:p>
            <a:endParaRPr lang="en-US"/>
          </a:p>
        </p:txBody>
      </p:sp>
      <p:sp>
        <p:nvSpPr>
          <p:cNvPr id="6" name="Text 4"/>
          <p:cNvSpPr/>
          <p:nvPr/>
        </p:nvSpPr>
        <p:spPr>
          <a:xfrm>
            <a:off x="1097280" y="978408"/>
            <a:ext cx="7315200" cy="384048"/>
          </a:xfrm>
          <a:prstGeom prst="rect">
            <a:avLst/>
          </a:prstGeom>
          <a:noFill/>
          <a:ln/>
        </p:spPr>
        <p:txBody>
          <a:bodyPr wrap="square" rtlCol="0" anchor="ctr"/>
          <a:lstStyle/>
          <a:p>
            <a:pPr marL="0" indent="0">
              <a:buNone/>
            </a:pPr>
            <a:r>
              <a:rPr lang="en-US" sz="1300" dirty="0">
                <a:solidFill>
                  <a:srgbClr val="1A1A2E"/>
                </a:solidFill>
                <a:latin typeface="Arial" pitchFamily="34" charset="0"/>
                <a:ea typeface="Arial" pitchFamily="34" charset="-122"/>
                <a:cs typeface="Arial" pitchFamily="34" charset="-120"/>
              </a:rPr>
              <a:t>Two major concerns for today’s shiftwork operations</a:t>
            </a:r>
            <a:endParaRPr lang="en-US" sz="1300" dirty="0"/>
          </a:p>
        </p:txBody>
      </p:sp>
      <p:sp>
        <p:nvSpPr>
          <p:cNvPr id="11" name="Shape 9"/>
          <p:cNvSpPr/>
          <p:nvPr/>
        </p:nvSpPr>
        <p:spPr>
          <a:xfrm>
            <a:off x="457200" y="1527048"/>
            <a:ext cx="502920" cy="420624"/>
          </a:xfrm>
          <a:prstGeom prst="roundRect">
            <a:avLst>
              <a:gd name="adj" fmla="val 10870"/>
            </a:avLst>
          </a:prstGeom>
          <a:solidFill>
            <a:srgbClr val="1F4E79"/>
          </a:solidFill>
          <a:ln w="12700">
            <a:solidFill>
              <a:srgbClr val="1F4E79"/>
            </a:solidFill>
            <a:prstDash val="solid"/>
          </a:ln>
        </p:spPr>
        <p:txBody>
          <a:bodyPr/>
          <a:lstStyle/>
          <a:p>
            <a:endParaRPr lang="en-US"/>
          </a:p>
        </p:txBody>
      </p:sp>
      <p:sp>
        <p:nvSpPr>
          <p:cNvPr id="12" name="Text 10"/>
          <p:cNvSpPr/>
          <p:nvPr/>
        </p:nvSpPr>
        <p:spPr>
          <a:xfrm>
            <a:off x="457200" y="1527048"/>
            <a:ext cx="502920" cy="420624"/>
          </a:xfrm>
          <a:prstGeom prst="rect">
            <a:avLst/>
          </a:prstGeom>
          <a:noFill/>
          <a:ln/>
        </p:spPr>
        <p:txBody>
          <a:bodyPr wrap="square" lIns="0" tIns="0" rIns="0" bIns="0" rtlCol="0" anchor="ctr"/>
          <a:lstStyle/>
          <a:p>
            <a:pPr marL="0" indent="0" algn="ctr">
              <a:buNone/>
            </a:pPr>
            <a:r>
              <a:rPr lang="en-US" sz="1200" b="1" dirty="0">
                <a:solidFill>
                  <a:srgbClr val="E8610A"/>
                </a:solidFill>
                <a:latin typeface="Cambria" pitchFamily="34" charset="0"/>
                <a:ea typeface="Cambria" pitchFamily="34" charset="-122"/>
                <a:cs typeface="Cambria" pitchFamily="34" charset="-120"/>
              </a:rPr>
              <a:t>02</a:t>
            </a:r>
            <a:endParaRPr lang="en-US" sz="1200" dirty="0"/>
          </a:p>
        </p:txBody>
      </p:sp>
      <p:sp>
        <p:nvSpPr>
          <p:cNvPr id="13" name="Shape 11"/>
          <p:cNvSpPr/>
          <p:nvPr/>
        </p:nvSpPr>
        <p:spPr>
          <a:xfrm>
            <a:off x="457200" y="1965960"/>
            <a:ext cx="8229600" cy="0"/>
          </a:xfrm>
          <a:prstGeom prst="line">
            <a:avLst/>
          </a:prstGeom>
          <a:noFill/>
          <a:ln w="6350">
            <a:solidFill>
              <a:srgbClr val="E2E8F0"/>
            </a:solidFill>
            <a:prstDash val="solid"/>
          </a:ln>
        </p:spPr>
        <p:txBody>
          <a:bodyPr/>
          <a:lstStyle/>
          <a:p>
            <a:endParaRPr lang="en-US"/>
          </a:p>
        </p:txBody>
      </p:sp>
      <p:sp>
        <p:nvSpPr>
          <p:cNvPr id="14" name="Text 12"/>
          <p:cNvSpPr/>
          <p:nvPr/>
        </p:nvSpPr>
        <p:spPr>
          <a:xfrm>
            <a:off x="1097280" y="1545336"/>
            <a:ext cx="7315200" cy="384048"/>
          </a:xfrm>
          <a:prstGeom prst="rect">
            <a:avLst/>
          </a:prstGeom>
          <a:noFill/>
          <a:ln/>
        </p:spPr>
        <p:txBody>
          <a:bodyPr wrap="square" rtlCol="0" anchor="ctr"/>
          <a:lstStyle/>
          <a:p>
            <a:pPr marL="0" indent="0">
              <a:buNone/>
            </a:pPr>
            <a:r>
              <a:rPr lang="en-US" sz="1300" dirty="0">
                <a:solidFill>
                  <a:srgbClr val="1A1A2E"/>
                </a:solidFill>
                <a:latin typeface="Arial" pitchFamily="34" charset="0"/>
                <a:ea typeface="Arial" pitchFamily="34" charset="-122"/>
                <a:cs typeface="Arial" pitchFamily="34" charset="-120"/>
              </a:rPr>
              <a:t>What employees actually want — from hundreds of facility surveys</a:t>
            </a:r>
            <a:endParaRPr lang="en-US" sz="1300" dirty="0"/>
          </a:p>
        </p:txBody>
      </p:sp>
      <p:sp>
        <p:nvSpPr>
          <p:cNvPr id="15" name="Shape 13"/>
          <p:cNvSpPr/>
          <p:nvPr/>
        </p:nvSpPr>
        <p:spPr>
          <a:xfrm>
            <a:off x="457200" y="2093976"/>
            <a:ext cx="502920" cy="420624"/>
          </a:xfrm>
          <a:prstGeom prst="roundRect">
            <a:avLst>
              <a:gd name="adj" fmla="val 10870"/>
            </a:avLst>
          </a:prstGeom>
          <a:solidFill>
            <a:srgbClr val="1F4E79"/>
          </a:solidFill>
          <a:ln w="12700">
            <a:solidFill>
              <a:srgbClr val="1F4E79"/>
            </a:solidFill>
            <a:prstDash val="solid"/>
          </a:ln>
        </p:spPr>
        <p:txBody>
          <a:bodyPr/>
          <a:lstStyle/>
          <a:p>
            <a:endParaRPr lang="en-US"/>
          </a:p>
        </p:txBody>
      </p:sp>
      <p:sp>
        <p:nvSpPr>
          <p:cNvPr id="16" name="Text 14"/>
          <p:cNvSpPr/>
          <p:nvPr/>
        </p:nvSpPr>
        <p:spPr>
          <a:xfrm>
            <a:off x="457200" y="2093976"/>
            <a:ext cx="502920" cy="420624"/>
          </a:xfrm>
          <a:prstGeom prst="rect">
            <a:avLst/>
          </a:prstGeom>
          <a:noFill/>
          <a:ln/>
        </p:spPr>
        <p:txBody>
          <a:bodyPr wrap="square" lIns="0" tIns="0" rIns="0" bIns="0" rtlCol="0" anchor="ctr"/>
          <a:lstStyle/>
          <a:p>
            <a:pPr marL="0" indent="0" algn="ctr">
              <a:buNone/>
            </a:pPr>
            <a:r>
              <a:rPr lang="en-US" sz="1200" b="1" dirty="0">
                <a:solidFill>
                  <a:srgbClr val="E8610A"/>
                </a:solidFill>
                <a:latin typeface="Cambria" pitchFamily="34" charset="0"/>
                <a:ea typeface="Cambria" pitchFamily="34" charset="-122"/>
                <a:cs typeface="Cambria" pitchFamily="34" charset="-120"/>
              </a:rPr>
              <a:t>03</a:t>
            </a:r>
            <a:endParaRPr lang="en-US" sz="1200" dirty="0"/>
          </a:p>
        </p:txBody>
      </p:sp>
      <p:sp>
        <p:nvSpPr>
          <p:cNvPr id="17" name="Shape 15"/>
          <p:cNvSpPr/>
          <p:nvPr/>
        </p:nvSpPr>
        <p:spPr>
          <a:xfrm>
            <a:off x="457200" y="2532888"/>
            <a:ext cx="8229600" cy="0"/>
          </a:xfrm>
          <a:prstGeom prst="line">
            <a:avLst/>
          </a:prstGeom>
          <a:noFill/>
          <a:ln w="6350">
            <a:solidFill>
              <a:srgbClr val="E2E8F0"/>
            </a:solidFill>
            <a:prstDash val="solid"/>
          </a:ln>
        </p:spPr>
        <p:txBody>
          <a:bodyPr/>
          <a:lstStyle/>
          <a:p>
            <a:endParaRPr lang="en-US"/>
          </a:p>
        </p:txBody>
      </p:sp>
      <p:sp>
        <p:nvSpPr>
          <p:cNvPr id="18" name="Text 16"/>
          <p:cNvSpPr/>
          <p:nvPr/>
        </p:nvSpPr>
        <p:spPr>
          <a:xfrm>
            <a:off x="1097280" y="2112264"/>
            <a:ext cx="7315200" cy="384048"/>
          </a:xfrm>
          <a:prstGeom prst="rect">
            <a:avLst/>
          </a:prstGeom>
          <a:noFill/>
          <a:ln/>
        </p:spPr>
        <p:txBody>
          <a:bodyPr wrap="square" rtlCol="0" anchor="ctr"/>
          <a:lstStyle/>
          <a:p>
            <a:pPr marL="0" indent="0">
              <a:buNone/>
            </a:pPr>
            <a:r>
              <a:rPr lang="en-US" sz="1300" dirty="0">
                <a:solidFill>
                  <a:srgbClr val="1A1A2E"/>
                </a:solidFill>
                <a:latin typeface="Arial" pitchFamily="34" charset="0"/>
                <a:ea typeface="Arial" pitchFamily="34" charset="-122"/>
                <a:cs typeface="Arial" pitchFamily="34" charset="-120"/>
              </a:rPr>
              <a:t>Schedule evolution: where paper and container operations are going</a:t>
            </a:r>
            <a:endParaRPr lang="en-US" sz="1300" dirty="0"/>
          </a:p>
        </p:txBody>
      </p:sp>
      <p:sp>
        <p:nvSpPr>
          <p:cNvPr id="19" name="Shape 17"/>
          <p:cNvSpPr/>
          <p:nvPr/>
        </p:nvSpPr>
        <p:spPr>
          <a:xfrm>
            <a:off x="457200" y="2660904"/>
            <a:ext cx="502920" cy="420624"/>
          </a:xfrm>
          <a:prstGeom prst="roundRect">
            <a:avLst>
              <a:gd name="adj" fmla="val 10870"/>
            </a:avLst>
          </a:prstGeom>
          <a:solidFill>
            <a:srgbClr val="1F4E79"/>
          </a:solidFill>
          <a:ln w="12700">
            <a:solidFill>
              <a:srgbClr val="1F4E79"/>
            </a:solidFill>
            <a:prstDash val="solid"/>
          </a:ln>
        </p:spPr>
        <p:txBody>
          <a:bodyPr/>
          <a:lstStyle/>
          <a:p>
            <a:endParaRPr lang="en-US"/>
          </a:p>
        </p:txBody>
      </p:sp>
      <p:sp>
        <p:nvSpPr>
          <p:cNvPr id="20" name="Text 18"/>
          <p:cNvSpPr/>
          <p:nvPr/>
        </p:nvSpPr>
        <p:spPr>
          <a:xfrm>
            <a:off x="457200" y="2660904"/>
            <a:ext cx="502920" cy="420624"/>
          </a:xfrm>
          <a:prstGeom prst="rect">
            <a:avLst/>
          </a:prstGeom>
          <a:noFill/>
          <a:ln/>
        </p:spPr>
        <p:txBody>
          <a:bodyPr wrap="square" lIns="0" tIns="0" rIns="0" bIns="0" rtlCol="0" anchor="ctr"/>
          <a:lstStyle/>
          <a:p>
            <a:pPr marL="0" indent="0" algn="ctr">
              <a:buNone/>
            </a:pPr>
            <a:r>
              <a:rPr lang="en-US" sz="1200" b="1" dirty="0">
                <a:solidFill>
                  <a:srgbClr val="E8610A"/>
                </a:solidFill>
                <a:latin typeface="Cambria" pitchFamily="34" charset="0"/>
                <a:ea typeface="Cambria" pitchFamily="34" charset="-122"/>
                <a:cs typeface="Cambria" pitchFamily="34" charset="-120"/>
              </a:rPr>
              <a:t>04</a:t>
            </a:r>
            <a:endParaRPr lang="en-US" sz="1200" dirty="0"/>
          </a:p>
        </p:txBody>
      </p:sp>
      <p:sp>
        <p:nvSpPr>
          <p:cNvPr id="21" name="Shape 19"/>
          <p:cNvSpPr/>
          <p:nvPr/>
        </p:nvSpPr>
        <p:spPr>
          <a:xfrm>
            <a:off x="457200" y="3099816"/>
            <a:ext cx="8229600" cy="0"/>
          </a:xfrm>
          <a:prstGeom prst="line">
            <a:avLst/>
          </a:prstGeom>
          <a:noFill/>
          <a:ln w="6350">
            <a:solidFill>
              <a:srgbClr val="E2E8F0"/>
            </a:solidFill>
            <a:prstDash val="solid"/>
          </a:ln>
        </p:spPr>
        <p:txBody>
          <a:bodyPr/>
          <a:lstStyle/>
          <a:p>
            <a:endParaRPr lang="en-US"/>
          </a:p>
        </p:txBody>
      </p:sp>
      <p:sp>
        <p:nvSpPr>
          <p:cNvPr id="22" name="Text 20"/>
          <p:cNvSpPr/>
          <p:nvPr/>
        </p:nvSpPr>
        <p:spPr>
          <a:xfrm>
            <a:off x="1097280" y="2679192"/>
            <a:ext cx="7315200" cy="384048"/>
          </a:xfrm>
          <a:prstGeom prst="rect">
            <a:avLst/>
          </a:prstGeom>
          <a:noFill/>
          <a:ln/>
        </p:spPr>
        <p:txBody>
          <a:bodyPr wrap="square" rtlCol="0" anchor="ctr"/>
          <a:lstStyle/>
          <a:p>
            <a:pPr marL="0" indent="0">
              <a:buNone/>
            </a:pPr>
            <a:r>
              <a:rPr lang="en-US" sz="1300" dirty="0">
                <a:solidFill>
                  <a:srgbClr val="1A1A2E"/>
                </a:solidFill>
                <a:latin typeface="Arial" pitchFamily="34" charset="0"/>
                <a:ea typeface="Arial" pitchFamily="34" charset="-122"/>
                <a:cs typeface="Arial" pitchFamily="34" charset="-120"/>
              </a:rPr>
              <a:t>Coping with uncertainty</a:t>
            </a:r>
            <a:endParaRPr lang="en-US" sz="1300" dirty="0"/>
          </a:p>
        </p:txBody>
      </p:sp>
      <p:sp>
        <p:nvSpPr>
          <p:cNvPr id="23" name="Shape 21"/>
          <p:cNvSpPr/>
          <p:nvPr/>
        </p:nvSpPr>
        <p:spPr>
          <a:xfrm>
            <a:off x="457200" y="3227832"/>
            <a:ext cx="502920" cy="420624"/>
          </a:xfrm>
          <a:prstGeom prst="roundRect">
            <a:avLst>
              <a:gd name="adj" fmla="val 10870"/>
            </a:avLst>
          </a:prstGeom>
          <a:solidFill>
            <a:srgbClr val="1F4E79"/>
          </a:solidFill>
          <a:ln w="12700">
            <a:solidFill>
              <a:srgbClr val="1F4E79"/>
            </a:solidFill>
            <a:prstDash val="solid"/>
          </a:ln>
        </p:spPr>
        <p:txBody>
          <a:bodyPr/>
          <a:lstStyle/>
          <a:p>
            <a:endParaRPr lang="en-US"/>
          </a:p>
        </p:txBody>
      </p:sp>
      <p:sp>
        <p:nvSpPr>
          <p:cNvPr id="24" name="Text 22"/>
          <p:cNvSpPr/>
          <p:nvPr/>
        </p:nvSpPr>
        <p:spPr>
          <a:xfrm>
            <a:off x="457200" y="3227832"/>
            <a:ext cx="502920" cy="420624"/>
          </a:xfrm>
          <a:prstGeom prst="rect">
            <a:avLst/>
          </a:prstGeom>
          <a:noFill/>
          <a:ln/>
        </p:spPr>
        <p:txBody>
          <a:bodyPr wrap="square" lIns="0" tIns="0" rIns="0" bIns="0" rtlCol="0" anchor="ctr"/>
          <a:lstStyle/>
          <a:p>
            <a:pPr marL="0" indent="0" algn="ctr">
              <a:buNone/>
            </a:pPr>
            <a:r>
              <a:rPr lang="en-US" sz="1200" b="1" dirty="0">
                <a:solidFill>
                  <a:srgbClr val="E8610A"/>
                </a:solidFill>
                <a:latin typeface="Cambria" pitchFamily="34" charset="0"/>
                <a:ea typeface="Cambria" pitchFamily="34" charset="-122"/>
                <a:cs typeface="Cambria" pitchFamily="34" charset="-120"/>
              </a:rPr>
              <a:t>05</a:t>
            </a:r>
            <a:endParaRPr lang="en-US" sz="1200" dirty="0"/>
          </a:p>
        </p:txBody>
      </p:sp>
      <p:sp>
        <p:nvSpPr>
          <p:cNvPr id="25" name="Shape 23"/>
          <p:cNvSpPr/>
          <p:nvPr/>
        </p:nvSpPr>
        <p:spPr>
          <a:xfrm>
            <a:off x="457200" y="3666744"/>
            <a:ext cx="8229600" cy="0"/>
          </a:xfrm>
          <a:prstGeom prst="line">
            <a:avLst/>
          </a:prstGeom>
          <a:noFill/>
          <a:ln w="6350">
            <a:solidFill>
              <a:srgbClr val="E2E8F0"/>
            </a:solidFill>
            <a:prstDash val="solid"/>
          </a:ln>
        </p:spPr>
        <p:txBody>
          <a:bodyPr/>
          <a:lstStyle/>
          <a:p>
            <a:endParaRPr lang="en-US"/>
          </a:p>
        </p:txBody>
      </p:sp>
      <p:sp>
        <p:nvSpPr>
          <p:cNvPr id="26" name="Text 24"/>
          <p:cNvSpPr/>
          <p:nvPr/>
        </p:nvSpPr>
        <p:spPr>
          <a:xfrm>
            <a:off x="1097280" y="3246120"/>
            <a:ext cx="7315200" cy="384048"/>
          </a:xfrm>
          <a:prstGeom prst="rect">
            <a:avLst/>
          </a:prstGeom>
          <a:noFill/>
          <a:ln/>
        </p:spPr>
        <p:txBody>
          <a:bodyPr wrap="square" rtlCol="0" anchor="ctr"/>
          <a:lstStyle/>
          <a:p>
            <a:pPr marL="0" indent="0">
              <a:buNone/>
            </a:pPr>
            <a:r>
              <a:rPr lang="en-US" sz="1300" dirty="0">
                <a:solidFill>
                  <a:srgbClr val="1A1A2E"/>
                </a:solidFill>
                <a:latin typeface="Arial" pitchFamily="34" charset="0"/>
                <a:ea typeface="Arial" pitchFamily="34" charset="-122"/>
                <a:cs typeface="Arial" pitchFamily="34" charset="-120"/>
              </a:rPr>
              <a:t>Change management</a:t>
            </a:r>
            <a:endParaRPr lang="en-US" sz="1300" dirty="0"/>
          </a:p>
        </p:txBody>
      </p:sp>
      <p:sp>
        <p:nvSpPr>
          <p:cNvPr id="27" name="Shape 25"/>
          <p:cNvSpPr/>
          <p:nvPr/>
        </p:nvSpPr>
        <p:spPr>
          <a:xfrm>
            <a:off x="457200" y="3794760"/>
            <a:ext cx="502920" cy="420624"/>
          </a:xfrm>
          <a:prstGeom prst="roundRect">
            <a:avLst>
              <a:gd name="adj" fmla="val 10870"/>
            </a:avLst>
          </a:prstGeom>
          <a:solidFill>
            <a:srgbClr val="1F4E79"/>
          </a:solidFill>
          <a:ln w="12700">
            <a:solidFill>
              <a:srgbClr val="1F4E79"/>
            </a:solidFill>
            <a:prstDash val="solid"/>
          </a:ln>
        </p:spPr>
        <p:txBody>
          <a:bodyPr/>
          <a:lstStyle/>
          <a:p>
            <a:endParaRPr lang="en-US"/>
          </a:p>
        </p:txBody>
      </p:sp>
      <p:sp>
        <p:nvSpPr>
          <p:cNvPr id="28" name="Text 26"/>
          <p:cNvSpPr/>
          <p:nvPr/>
        </p:nvSpPr>
        <p:spPr>
          <a:xfrm>
            <a:off x="457200" y="3794760"/>
            <a:ext cx="502920" cy="420624"/>
          </a:xfrm>
          <a:prstGeom prst="rect">
            <a:avLst/>
          </a:prstGeom>
          <a:noFill/>
          <a:ln/>
        </p:spPr>
        <p:txBody>
          <a:bodyPr wrap="square" lIns="0" tIns="0" rIns="0" bIns="0" rtlCol="0" anchor="ctr"/>
          <a:lstStyle/>
          <a:p>
            <a:pPr marL="0" indent="0" algn="ctr">
              <a:buNone/>
            </a:pPr>
            <a:r>
              <a:rPr lang="en-US" sz="1200" b="1" dirty="0">
                <a:solidFill>
                  <a:srgbClr val="E8610A"/>
                </a:solidFill>
                <a:latin typeface="Cambria" pitchFamily="34" charset="0"/>
                <a:ea typeface="Cambria" pitchFamily="34" charset="-122"/>
                <a:cs typeface="Cambria" pitchFamily="34" charset="-120"/>
              </a:rPr>
              <a:t>06</a:t>
            </a:r>
            <a:endParaRPr lang="en-US" sz="1200" dirty="0"/>
          </a:p>
        </p:txBody>
      </p:sp>
      <p:sp>
        <p:nvSpPr>
          <p:cNvPr id="29" name="Shape 27"/>
          <p:cNvSpPr/>
          <p:nvPr/>
        </p:nvSpPr>
        <p:spPr>
          <a:xfrm>
            <a:off x="457200" y="4233672"/>
            <a:ext cx="8229600" cy="0"/>
          </a:xfrm>
          <a:prstGeom prst="line">
            <a:avLst/>
          </a:prstGeom>
          <a:noFill/>
          <a:ln w="6350">
            <a:solidFill>
              <a:srgbClr val="E2E8F0"/>
            </a:solidFill>
            <a:prstDash val="solid"/>
          </a:ln>
        </p:spPr>
        <p:txBody>
          <a:bodyPr/>
          <a:lstStyle/>
          <a:p>
            <a:endParaRPr lang="en-US"/>
          </a:p>
        </p:txBody>
      </p:sp>
      <p:sp>
        <p:nvSpPr>
          <p:cNvPr id="30" name="Text 28"/>
          <p:cNvSpPr/>
          <p:nvPr/>
        </p:nvSpPr>
        <p:spPr>
          <a:xfrm>
            <a:off x="1097280" y="3813048"/>
            <a:ext cx="7315200" cy="384048"/>
          </a:xfrm>
          <a:prstGeom prst="rect">
            <a:avLst/>
          </a:prstGeom>
          <a:noFill/>
          <a:ln/>
        </p:spPr>
        <p:txBody>
          <a:bodyPr wrap="square" rtlCol="0" anchor="ctr"/>
          <a:lstStyle/>
          <a:p>
            <a:pPr marL="0" indent="0">
              <a:buNone/>
            </a:pPr>
            <a:r>
              <a:rPr lang="en-US" sz="1300" dirty="0">
                <a:solidFill>
                  <a:srgbClr val="1A1A2E"/>
                </a:solidFill>
                <a:latin typeface="Arial" pitchFamily="34" charset="0"/>
                <a:ea typeface="Arial" pitchFamily="34" charset="-122"/>
                <a:cs typeface="Arial" pitchFamily="34" charset="-120"/>
              </a:rPr>
              <a:t>Where is AI taking us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1F4E79">
              <a:alpha val="60000"/>
            </a:srgbClr>
          </a:solidFill>
          <a:ln w="12700">
            <a:solidFill>
              <a:srgbClr val="1F4E79">
                <a:alpha val="0"/>
              </a:srgbClr>
            </a:solidFill>
            <a:prstDash val="solid"/>
          </a:ln>
        </p:spPr>
        <p:txBody>
          <a:bodyPr/>
          <a:lstStyle/>
          <a:p>
            <a:endParaRPr lang="en-US"/>
          </a:p>
        </p:txBody>
      </p:sp>
      <p:sp>
        <p:nvSpPr>
          <p:cNvPr id="3" name="Shape 1"/>
          <p:cNvSpPr/>
          <p:nvPr/>
        </p:nvSpPr>
        <p:spPr>
          <a:xfrm>
            <a:off x="6400800" y="2286000"/>
            <a:ext cx="3657600" cy="3657600"/>
          </a:xfrm>
          <a:prstGeom prst="ellipse">
            <a:avLst/>
          </a:prstGeom>
          <a:solidFill>
            <a:srgbClr val="1D6A72">
              <a:alpha val="30000"/>
            </a:srgbClr>
          </a:solidFill>
          <a:ln w="12700">
            <a:solidFill>
              <a:srgbClr val="1D6A72">
                <a:alpha val="0"/>
              </a:srgbClr>
            </a:solidFill>
            <a:prstDash val="solid"/>
          </a:ln>
        </p:spPr>
        <p:txBody>
          <a:bodyPr/>
          <a:lstStyle/>
          <a:p>
            <a:endParaRPr lang="en-US"/>
          </a:p>
        </p:txBody>
      </p:sp>
      <p:sp>
        <p:nvSpPr>
          <p:cNvPr id="4" name="Text 2"/>
          <p:cNvSpPr/>
          <p:nvPr/>
        </p:nvSpPr>
        <p:spPr>
          <a:xfrm>
            <a:off x="457200" y="274320"/>
            <a:ext cx="1828800" cy="1371600"/>
          </a:xfrm>
          <a:prstGeom prst="rect">
            <a:avLst/>
          </a:prstGeom>
          <a:noFill/>
          <a:ln/>
        </p:spPr>
        <p:txBody>
          <a:bodyPr wrap="square" rtlCol="0" anchor="ctr"/>
          <a:lstStyle/>
          <a:p>
            <a:pPr marL="0" indent="0" algn="l">
              <a:buNone/>
            </a:pPr>
            <a:r>
              <a:rPr lang="en-US" sz="12000" dirty="0">
                <a:solidFill>
                  <a:srgbClr val="E8610A"/>
                </a:solidFill>
                <a:latin typeface="Cambria" pitchFamily="34" charset="0"/>
                <a:ea typeface="Cambria" pitchFamily="34" charset="-122"/>
                <a:cs typeface="Cambria" pitchFamily="34" charset="-120"/>
              </a:rPr>
              <a:t>“</a:t>
            </a:r>
            <a:endParaRPr lang="en-US" sz="12000" dirty="0"/>
          </a:p>
        </p:txBody>
      </p:sp>
      <p:sp>
        <p:nvSpPr>
          <p:cNvPr id="5" name="Text 3"/>
          <p:cNvSpPr/>
          <p:nvPr/>
        </p:nvSpPr>
        <p:spPr>
          <a:xfrm>
            <a:off x="731520" y="1371600"/>
            <a:ext cx="7772400" cy="1645920"/>
          </a:xfrm>
          <a:prstGeom prst="rect">
            <a:avLst/>
          </a:prstGeom>
          <a:noFill/>
          <a:ln/>
        </p:spPr>
        <p:txBody>
          <a:bodyPr wrap="square" rtlCol="0" anchor="ctr"/>
          <a:lstStyle/>
          <a:p>
            <a:pPr marL="0" indent="0" algn="ctr">
              <a:buNone/>
            </a:pPr>
            <a:r>
              <a:rPr lang="en-US" sz="4200" b="1" dirty="0">
                <a:solidFill>
                  <a:srgbClr val="FFFFFF"/>
                </a:solidFill>
                <a:latin typeface="Cambria" pitchFamily="34" charset="0"/>
                <a:ea typeface="Cambria" pitchFamily="34" charset="-122"/>
                <a:cs typeface="Cambria" pitchFamily="34" charset="-120"/>
              </a:rPr>
              <a:t>Nothing happens until something moves.</a:t>
            </a:r>
            <a:endParaRPr lang="en-US" sz="4200" dirty="0"/>
          </a:p>
        </p:txBody>
      </p:sp>
      <p:sp>
        <p:nvSpPr>
          <p:cNvPr id="6" name="Shape 4"/>
          <p:cNvSpPr/>
          <p:nvPr/>
        </p:nvSpPr>
        <p:spPr>
          <a:xfrm>
            <a:off x="3200400" y="3200400"/>
            <a:ext cx="2743200" cy="36576"/>
          </a:xfrm>
          <a:prstGeom prst="rect">
            <a:avLst/>
          </a:prstGeom>
          <a:solidFill>
            <a:srgbClr val="E8610A"/>
          </a:solidFill>
          <a:ln w="12700">
            <a:solidFill>
              <a:srgbClr val="E8610A"/>
            </a:solidFill>
            <a:prstDash val="solid"/>
          </a:ln>
        </p:spPr>
        <p:txBody>
          <a:bodyPr/>
          <a:lstStyle/>
          <a:p>
            <a:endParaRPr lang="en-US"/>
          </a:p>
        </p:txBody>
      </p:sp>
      <p:sp>
        <p:nvSpPr>
          <p:cNvPr id="7" name="Text 5"/>
          <p:cNvSpPr/>
          <p:nvPr/>
        </p:nvSpPr>
        <p:spPr>
          <a:xfrm>
            <a:off x="457200" y="3337560"/>
            <a:ext cx="8229600" cy="457200"/>
          </a:xfrm>
          <a:prstGeom prst="rect">
            <a:avLst/>
          </a:prstGeom>
          <a:noFill/>
          <a:ln/>
        </p:spPr>
        <p:txBody>
          <a:bodyPr wrap="square" rtlCol="0" anchor="ctr"/>
          <a:lstStyle/>
          <a:p>
            <a:pPr marL="0" indent="0" algn="ctr">
              <a:buNone/>
            </a:pPr>
            <a:r>
              <a:rPr lang="en-US" sz="1800" i="1" dirty="0">
                <a:solidFill>
                  <a:srgbClr val="94A3B8"/>
                </a:solidFill>
                <a:latin typeface="Arial" pitchFamily="34" charset="0"/>
                <a:ea typeface="Arial" pitchFamily="34" charset="-122"/>
                <a:cs typeface="Arial" pitchFamily="34" charset="-120"/>
              </a:rPr>
              <a:t>— Albert Einstein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4E79"/>
        </a:solidFill>
        <a:effectLst/>
      </p:bgPr>
    </p:bg>
    <p:spTree>
      <p:nvGrpSpPr>
        <p:cNvPr id="1" name=""/>
        <p:cNvGrpSpPr/>
        <p:nvPr/>
      </p:nvGrpSpPr>
      <p:grpSpPr>
        <a:xfrm>
          <a:off x="0" y="0"/>
          <a:ext cx="0" cy="0"/>
          <a:chOff x="0" y="0"/>
          <a:chExt cx="0" cy="0"/>
        </a:xfrm>
      </p:grpSpPr>
      <p:sp>
        <p:nvSpPr>
          <p:cNvPr id="2" name="Text 0"/>
          <p:cNvSpPr/>
          <p:nvPr/>
        </p:nvSpPr>
        <p:spPr>
          <a:xfrm>
            <a:off x="457200" y="914400"/>
            <a:ext cx="1828800" cy="1097280"/>
          </a:xfrm>
          <a:prstGeom prst="rect">
            <a:avLst/>
          </a:prstGeom>
          <a:noFill/>
          <a:ln/>
        </p:spPr>
        <p:txBody>
          <a:bodyPr wrap="square" rtlCol="0" anchor="ctr"/>
          <a:lstStyle/>
          <a:p>
            <a:pPr marL="0" indent="0" algn="l">
              <a:buNone/>
            </a:pPr>
            <a:r>
              <a:rPr lang="en-US" sz="7200" b="1" dirty="0">
                <a:solidFill>
                  <a:srgbClr val="E8610A"/>
                </a:solidFill>
                <a:latin typeface="Cambria" pitchFamily="34" charset="0"/>
                <a:ea typeface="Cambria" pitchFamily="34" charset="-122"/>
                <a:cs typeface="Cambria" pitchFamily="34" charset="-120"/>
              </a:rPr>
              <a:t>01</a:t>
            </a:r>
            <a:endParaRPr lang="en-US" sz="7200" dirty="0"/>
          </a:p>
        </p:txBody>
      </p:sp>
      <p:sp>
        <p:nvSpPr>
          <p:cNvPr id="3" name="Text 1"/>
          <p:cNvSpPr/>
          <p:nvPr/>
        </p:nvSpPr>
        <p:spPr>
          <a:xfrm>
            <a:off x="457200" y="2011680"/>
            <a:ext cx="8229600" cy="1005840"/>
          </a:xfrm>
          <a:prstGeom prst="rect">
            <a:avLst/>
          </a:prstGeom>
          <a:noFill/>
          <a:ln/>
        </p:spPr>
        <p:txBody>
          <a:bodyPr wrap="square"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Two Major </a:t>
            </a:r>
            <a:r>
              <a:rPr lang="en-US" sz="3600" b="1" dirty="0" err="1">
                <a:solidFill>
                  <a:srgbClr val="FFFFFF"/>
                </a:solidFill>
                <a:latin typeface="Cambria" pitchFamily="34" charset="0"/>
                <a:ea typeface="Cambria" pitchFamily="34" charset="-122"/>
                <a:cs typeface="Cambria" pitchFamily="34" charset="-120"/>
              </a:rPr>
              <a:t>Conerns</a:t>
            </a:r>
            <a:r>
              <a:rPr lang="en-US" sz="3600" b="1" dirty="0">
                <a:solidFill>
                  <a:srgbClr val="FFFFFF"/>
                </a:solidFill>
                <a:latin typeface="Cambria" pitchFamily="34" charset="0"/>
                <a:ea typeface="Cambria" pitchFamily="34" charset="-122"/>
                <a:cs typeface="Cambria" pitchFamily="34" charset="-120"/>
              </a:rPr>
              <a:t> for Today’s Shiftwork Operations</a:t>
            </a:r>
            <a:endParaRPr lang="en-US"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t"/>
          <p:cNvSpPr/>
          <p:nvPr/>
        </p:nvSpPr>
        <p:spPr>
          <a:xfrm>
            <a:off x="459486" y="288036"/>
            <a:ext cx="8229600" cy="582930"/>
          </a:xfrm>
          <a:prstGeom prst="rect">
            <a:avLst/>
          </a:prstGeom>
        </p:spPr>
        <p:txBody>
          <a:bodyPr wrap="square" lIns="9000" tIns="4500" rIns="9000" bIns="4500" rtlCol="0" anchor="t"/>
          <a:lstStyle/>
          <a:p>
            <a:r>
              <a:rPr lang="en-US" sz="3000" b="1" dirty="0">
                <a:solidFill>
                  <a:srgbClr val="1F4E79"/>
                </a:solidFill>
                <a:latin typeface="Cambria" pitchFamily="34" charset="0"/>
                <a:cs typeface="Cambria" pitchFamily="34" charset="0"/>
              </a:rPr>
              <a:t>Today’s Top 2 Challenges</a:t>
            </a:r>
          </a:p>
        </p:txBody>
      </p:sp>
      <p:sp>
        <p:nvSpPr>
          <p:cNvPr id="202" name="t"/>
          <p:cNvSpPr/>
          <p:nvPr/>
        </p:nvSpPr>
        <p:spPr>
          <a:xfrm>
            <a:off x="473202" y="918972"/>
            <a:ext cx="8229600" cy="274320"/>
          </a:xfrm>
          <a:prstGeom prst="rect">
            <a:avLst/>
          </a:prstGeom>
        </p:spPr>
        <p:txBody>
          <a:bodyPr wrap="square" lIns="9000" tIns="4500" rIns="9000" bIns="4500" rtlCol="0" anchor="t"/>
          <a:lstStyle/>
          <a:p>
            <a:r>
              <a:rPr lang="en-US" sz="1200" dirty="0">
                <a:solidFill>
                  <a:srgbClr val="64748B"/>
                </a:solidFill>
                <a:latin typeface="Arial" pitchFamily="34" charset="0"/>
                <a:cs typeface="Arial" pitchFamily="34" charset="0"/>
              </a:rPr>
              <a:t>Two different problems — and the schedule sits underneath both of them.</a:t>
            </a:r>
          </a:p>
        </p:txBody>
      </p:sp>
      <p:sp>
        <p:nvSpPr>
          <p:cNvPr id="203" name="card"/>
          <p:cNvSpPr/>
          <p:nvPr/>
        </p:nvSpPr>
        <p:spPr>
          <a:xfrm>
            <a:off x="459486" y="1371600"/>
            <a:ext cx="3929634" cy="2708910"/>
          </a:xfrm>
          <a:prstGeom prst="roundRect">
            <a:avLst>
              <a:gd name="adj" fmla="val 5000"/>
            </a:avLst>
          </a:prstGeom>
          <a:blipFill>
            <a:blip r:embed="rId2"/>
            <a:srcRect l="2200" r="2200"/>
            <a:stretch>
              <a:fillRect/>
            </a:stretch>
          </a:blipFill>
          <a:ln>
            <a:noFill/>
          </a:ln>
          <a:effectLst>
            <a:outerShdw blurRad="60000" dist="30000" dir="5400000" rotWithShape="0">
              <a:srgbClr val="1A1A2E">
                <a:alpha val="34000"/>
              </a:srgbClr>
            </a:outerShdw>
          </a:effectLst>
        </p:spPr>
        <p:txBody>
          <a:bodyPr/>
          <a:lstStyle/>
          <a:p>
            <a:endParaRPr lang="en-US" sz="1350"/>
          </a:p>
        </p:txBody>
      </p:sp>
      <p:sp>
        <p:nvSpPr>
          <p:cNvPr id="204" name="ov"/>
          <p:cNvSpPr/>
          <p:nvPr/>
        </p:nvSpPr>
        <p:spPr>
          <a:xfrm>
            <a:off x="459486" y="1371600"/>
            <a:ext cx="3929634" cy="2708910"/>
          </a:xfrm>
          <a:prstGeom prst="roundRect">
            <a:avLst>
              <a:gd name="adj" fmla="val 5000"/>
            </a:avLst>
          </a:prstGeom>
          <a:gradFill>
            <a:gsLst>
              <a:gs pos="0">
                <a:srgbClr val="1F4E79">
                  <a:alpha val="40000"/>
                </a:srgbClr>
              </a:gs>
              <a:gs pos="55000">
                <a:srgbClr val="1F4E79">
                  <a:alpha val="72000"/>
                </a:srgbClr>
              </a:gs>
              <a:gs pos="100000">
                <a:srgbClr val="1F4E79">
                  <a:alpha val="85000"/>
                </a:srgbClr>
              </a:gs>
            </a:gsLst>
            <a:lin ang="5400000" scaled="1"/>
          </a:gradFill>
          <a:ln>
            <a:noFill/>
          </a:ln>
        </p:spPr>
        <p:txBody>
          <a:bodyPr/>
          <a:lstStyle/>
          <a:p>
            <a:endParaRPr lang="en-US" sz="1350"/>
          </a:p>
        </p:txBody>
      </p:sp>
      <p:sp>
        <p:nvSpPr>
          <p:cNvPr id="205" name="bdg"/>
          <p:cNvSpPr/>
          <p:nvPr/>
        </p:nvSpPr>
        <p:spPr>
          <a:xfrm>
            <a:off x="747522" y="1645920"/>
            <a:ext cx="651510" cy="651510"/>
          </a:xfrm>
          <a:prstGeom prst="ellipse">
            <a:avLst/>
          </a:prstGeom>
          <a:solidFill>
            <a:srgbClr val="BFD4E8"/>
          </a:solidFill>
          <a:ln>
            <a:noFill/>
          </a:ln>
          <a:effectLst>
            <a:outerShdw blurRad="40000" dist="18000" dir="5400000" rotWithShape="0">
              <a:srgbClr val="1A1A2E">
                <a:alpha val="40000"/>
              </a:srgbClr>
            </a:outerShdw>
          </a:effectLst>
        </p:spPr>
        <p:txBody>
          <a:bodyPr lIns="0" tIns="0" rIns="0" bIns="0" anchor="ctr"/>
          <a:lstStyle/>
          <a:p>
            <a:pPr algn="ctr">
              <a:buNone/>
            </a:pPr>
            <a:r>
              <a:rPr lang="en-US" b="1" dirty="0">
                <a:solidFill>
                  <a:srgbClr val="1F4E79"/>
                </a:solidFill>
                <a:latin typeface="Cambria"/>
              </a:rPr>
              <a:t>1</a:t>
            </a:r>
          </a:p>
        </p:txBody>
      </p:sp>
      <p:sp>
        <p:nvSpPr>
          <p:cNvPr id="206" name="t"/>
          <p:cNvSpPr/>
          <p:nvPr/>
        </p:nvSpPr>
        <p:spPr>
          <a:xfrm>
            <a:off x="768096" y="2455164"/>
            <a:ext cx="3312414" cy="233172"/>
          </a:xfrm>
          <a:prstGeom prst="rect">
            <a:avLst/>
          </a:prstGeom>
        </p:spPr>
        <p:txBody>
          <a:bodyPr wrap="square" lIns="9000" tIns="4500" rIns="9000" bIns="4500" rtlCol="0" anchor="t"/>
          <a:lstStyle/>
          <a:p>
            <a:r>
              <a:rPr lang="en-US" sz="938" b="1" dirty="0">
                <a:solidFill>
                  <a:srgbClr val="FFFFFF"/>
                </a:solidFill>
                <a:latin typeface="Arial" pitchFamily="34" charset="0"/>
                <a:cs typeface="Arial" pitchFamily="34" charset="0"/>
              </a:rPr>
              <a:t>ATTRACT &amp; RETAIN</a:t>
            </a:r>
          </a:p>
        </p:txBody>
      </p:sp>
      <p:sp>
        <p:nvSpPr>
          <p:cNvPr id="207" name="t"/>
          <p:cNvSpPr/>
          <p:nvPr/>
        </p:nvSpPr>
        <p:spPr>
          <a:xfrm>
            <a:off x="768096" y="2743200"/>
            <a:ext cx="3312414" cy="1165860"/>
          </a:xfrm>
          <a:prstGeom prst="rect">
            <a:avLst/>
          </a:prstGeom>
        </p:spPr>
        <p:txBody>
          <a:bodyPr wrap="square" lIns="9000" tIns="4500" rIns="9000" bIns="4500" rtlCol="0" anchor="t"/>
          <a:lstStyle/>
          <a:p>
            <a:r>
              <a:rPr lang="en-US" sz="1613" b="1" dirty="0">
                <a:solidFill>
                  <a:srgbClr val="FFFFFF"/>
                </a:solidFill>
                <a:latin typeface="Cambria" pitchFamily="34" charset="0"/>
                <a:cs typeface="Cambria" pitchFamily="34" charset="0"/>
              </a:rPr>
              <a:t>How do we attract and retain a quality workforce in a tight labor market?</a:t>
            </a:r>
          </a:p>
        </p:txBody>
      </p:sp>
      <p:sp>
        <p:nvSpPr>
          <p:cNvPr id="208" name="card"/>
          <p:cNvSpPr/>
          <p:nvPr/>
        </p:nvSpPr>
        <p:spPr>
          <a:xfrm>
            <a:off x="4752594" y="1371600"/>
            <a:ext cx="3929634" cy="2708910"/>
          </a:xfrm>
          <a:prstGeom prst="roundRect">
            <a:avLst>
              <a:gd name="adj" fmla="val 5000"/>
            </a:avLst>
          </a:prstGeom>
          <a:blipFill>
            <a:blip r:embed="rId3"/>
            <a:srcRect l="2200" r="2200"/>
            <a:stretch>
              <a:fillRect/>
            </a:stretch>
          </a:blipFill>
          <a:ln>
            <a:noFill/>
          </a:ln>
          <a:effectLst>
            <a:outerShdw blurRad="60000" dist="30000" dir="5400000" rotWithShape="0">
              <a:srgbClr val="1A1A2E">
                <a:alpha val="34000"/>
              </a:srgbClr>
            </a:outerShdw>
          </a:effectLst>
        </p:spPr>
        <p:txBody>
          <a:bodyPr/>
          <a:lstStyle/>
          <a:p>
            <a:endParaRPr lang="en-US" sz="1350"/>
          </a:p>
        </p:txBody>
      </p:sp>
      <p:sp>
        <p:nvSpPr>
          <p:cNvPr id="209" name="ov"/>
          <p:cNvSpPr/>
          <p:nvPr/>
        </p:nvSpPr>
        <p:spPr>
          <a:xfrm>
            <a:off x="4752594" y="1371600"/>
            <a:ext cx="3929634" cy="2708910"/>
          </a:xfrm>
          <a:prstGeom prst="roundRect">
            <a:avLst>
              <a:gd name="adj" fmla="val 5000"/>
            </a:avLst>
          </a:prstGeom>
          <a:gradFill>
            <a:gsLst>
              <a:gs pos="0">
                <a:srgbClr val="1D6A72">
                  <a:alpha val="40000"/>
                </a:srgbClr>
              </a:gs>
              <a:gs pos="55000">
                <a:srgbClr val="1D6A72">
                  <a:alpha val="72000"/>
                </a:srgbClr>
              </a:gs>
              <a:gs pos="100000">
                <a:srgbClr val="1D6A72">
                  <a:alpha val="85000"/>
                </a:srgbClr>
              </a:gs>
            </a:gsLst>
            <a:lin ang="5400000" scaled="1"/>
          </a:gradFill>
          <a:ln>
            <a:noFill/>
          </a:ln>
        </p:spPr>
        <p:txBody>
          <a:bodyPr/>
          <a:lstStyle/>
          <a:p>
            <a:endParaRPr lang="en-US" sz="1350"/>
          </a:p>
        </p:txBody>
      </p:sp>
      <p:sp>
        <p:nvSpPr>
          <p:cNvPr id="210" name="bdg"/>
          <p:cNvSpPr/>
          <p:nvPr/>
        </p:nvSpPr>
        <p:spPr>
          <a:xfrm>
            <a:off x="5040630" y="1645920"/>
            <a:ext cx="651510" cy="651510"/>
          </a:xfrm>
          <a:prstGeom prst="ellipse">
            <a:avLst/>
          </a:prstGeom>
          <a:solidFill>
            <a:srgbClr val="BDEBD8"/>
          </a:solidFill>
          <a:ln>
            <a:noFill/>
          </a:ln>
          <a:effectLst>
            <a:outerShdw blurRad="40000" dist="18000" dir="5400000" rotWithShape="0">
              <a:srgbClr val="1A1A2E">
                <a:alpha val="40000"/>
              </a:srgbClr>
            </a:outerShdw>
          </a:effectLst>
        </p:spPr>
        <p:txBody>
          <a:bodyPr lIns="0" tIns="0" rIns="0" bIns="0" anchor="ctr"/>
          <a:lstStyle/>
          <a:p>
            <a:pPr algn="ctr">
              <a:buNone/>
            </a:pPr>
            <a:r>
              <a:rPr lang="en-US" b="1" dirty="0">
                <a:solidFill>
                  <a:srgbClr val="1D6A72"/>
                </a:solidFill>
                <a:latin typeface="Cambria"/>
              </a:rPr>
              <a:t>2</a:t>
            </a:r>
          </a:p>
        </p:txBody>
      </p:sp>
      <p:sp>
        <p:nvSpPr>
          <p:cNvPr id="211" name="t"/>
          <p:cNvSpPr/>
          <p:nvPr/>
        </p:nvSpPr>
        <p:spPr>
          <a:xfrm>
            <a:off x="5061204" y="2455164"/>
            <a:ext cx="3312414" cy="233172"/>
          </a:xfrm>
          <a:prstGeom prst="rect">
            <a:avLst/>
          </a:prstGeom>
        </p:spPr>
        <p:txBody>
          <a:bodyPr wrap="square" lIns="9000" tIns="4500" rIns="9000" bIns="4500" rtlCol="0" anchor="t"/>
          <a:lstStyle/>
          <a:p>
            <a:r>
              <a:rPr lang="en-US" sz="938" b="1" dirty="0">
                <a:solidFill>
                  <a:srgbClr val="FFFFFF"/>
                </a:solidFill>
                <a:latin typeface="Arial" pitchFamily="34" charset="0"/>
                <a:cs typeface="Arial" pitchFamily="34" charset="0"/>
              </a:rPr>
              <a:t>SCHEDULE FOR UNCERTAINTY</a:t>
            </a:r>
          </a:p>
        </p:txBody>
      </p:sp>
      <p:sp>
        <p:nvSpPr>
          <p:cNvPr id="212" name="t"/>
          <p:cNvSpPr/>
          <p:nvPr/>
        </p:nvSpPr>
        <p:spPr>
          <a:xfrm>
            <a:off x="5061204" y="2743200"/>
            <a:ext cx="3312414" cy="1165860"/>
          </a:xfrm>
          <a:prstGeom prst="rect">
            <a:avLst/>
          </a:prstGeom>
        </p:spPr>
        <p:txBody>
          <a:bodyPr wrap="square" lIns="9000" tIns="4500" rIns="9000" bIns="4500" rtlCol="0" anchor="t"/>
          <a:lstStyle/>
          <a:p>
            <a:r>
              <a:rPr lang="en-US" sz="1613" b="1" dirty="0">
                <a:solidFill>
                  <a:srgbClr val="FFFFFF"/>
                </a:solidFill>
                <a:latin typeface="Cambria" pitchFamily="34" charset="0"/>
                <a:cs typeface="Cambria" pitchFamily="34" charset="0"/>
              </a:rPr>
              <a:t>How do we schedule equipment and people when production is unpredictable?</a:t>
            </a:r>
          </a:p>
        </p:txBody>
      </p:sp>
      <p:sp>
        <p:nvSpPr>
          <p:cNvPr id="213" name="t"/>
          <p:cNvSpPr/>
          <p:nvPr/>
        </p:nvSpPr>
        <p:spPr>
          <a:xfrm>
            <a:off x="411480" y="4334256"/>
            <a:ext cx="8318754" cy="377190"/>
          </a:xfrm>
          <a:prstGeom prst="rect">
            <a:avLst/>
          </a:prstGeom>
        </p:spPr>
        <p:txBody>
          <a:bodyPr wrap="square" lIns="9000" tIns="4500" rIns="9000" bIns="4500" rtlCol="0" anchor="ctr"/>
          <a:lstStyle/>
          <a:p>
            <a:pPr algn="ctr"/>
            <a:r>
              <a:rPr lang="en-US" sz="1275" b="1" dirty="0">
                <a:solidFill>
                  <a:srgbClr val="1F4E79"/>
                </a:solidFill>
                <a:latin typeface="Cambria" pitchFamily="34" charset="0"/>
                <a:cs typeface="Cambria" pitchFamily="34" charset="0"/>
              </a:rPr>
              <a:t>Different problems — but the schedule is the lever for both.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 name="img"/>
          <p:cNvPicPr>
            <a:picLocks/>
          </p:cNvPicPr>
          <p:nvPr/>
        </p:nvPicPr>
        <p:blipFill>
          <a:blip r:embed="rId2"/>
          <a:srcRect t="10000" b="44300"/>
          <a:stretch>
            <a:fillRect/>
          </a:stretch>
        </p:blipFill>
        <p:spPr>
          <a:xfrm>
            <a:off x="0" y="0"/>
            <a:ext cx="5623560" cy="1748790"/>
          </a:xfrm>
          <a:prstGeom prst="rect">
            <a:avLst/>
          </a:prstGeom>
        </p:spPr>
      </p:pic>
      <p:pic>
        <p:nvPicPr>
          <p:cNvPr id="102" name="img"/>
          <p:cNvPicPr>
            <a:picLocks/>
          </p:cNvPicPr>
          <p:nvPr/>
        </p:nvPicPr>
        <p:blipFill>
          <a:blip r:embed="rId3"/>
          <a:srcRect t="13500" b="13500"/>
          <a:stretch>
            <a:fillRect/>
          </a:stretch>
        </p:blipFill>
        <p:spPr>
          <a:xfrm>
            <a:off x="5623560" y="0"/>
            <a:ext cx="3518154" cy="1748790"/>
          </a:xfrm>
          <a:prstGeom prst="rect">
            <a:avLst/>
          </a:prstGeom>
        </p:spPr>
      </p:pic>
      <p:sp>
        <p:nvSpPr>
          <p:cNvPr id="103" name="ov"/>
          <p:cNvSpPr/>
          <p:nvPr/>
        </p:nvSpPr>
        <p:spPr>
          <a:xfrm>
            <a:off x="0" y="0"/>
            <a:ext cx="9141714" cy="1748790"/>
          </a:xfrm>
          <a:prstGeom prst="rect">
            <a:avLst/>
          </a:prstGeom>
          <a:gradFill>
            <a:gsLst>
              <a:gs pos="0">
                <a:srgbClr val="1F4E79">
                  <a:alpha val="92000"/>
                </a:srgbClr>
              </a:gs>
              <a:gs pos="60000">
                <a:srgbClr val="1F4E79">
                  <a:alpha val="46000"/>
                </a:srgbClr>
              </a:gs>
              <a:gs pos="100000">
                <a:srgbClr val="1F4E79">
                  <a:alpha val="0"/>
                </a:srgbClr>
              </a:gs>
            </a:gsLst>
            <a:lin ang="0" scaled="1"/>
          </a:gradFill>
          <a:ln>
            <a:noFill/>
          </a:ln>
        </p:spPr>
        <p:txBody>
          <a:bodyPr/>
          <a:lstStyle/>
          <a:p>
            <a:endParaRPr lang="en-US" sz="1350"/>
          </a:p>
        </p:txBody>
      </p:sp>
      <p:sp>
        <p:nvSpPr>
          <p:cNvPr id="104" name="t"/>
          <p:cNvSpPr/>
          <p:nvPr/>
        </p:nvSpPr>
        <p:spPr>
          <a:xfrm>
            <a:off x="425196" y="288036"/>
            <a:ext cx="5486400" cy="651510"/>
          </a:xfrm>
          <a:prstGeom prst="rect">
            <a:avLst/>
          </a:prstGeom>
        </p:spPr>
        <p:txBody>
          <a:bodyPr wrap="square" lIns="6750" tIns="2250" rIns="6750" bIns="2250" rtlCol="0" anchor="t"/>
          <a:lstStyle/>
          <a:p>
            <a:r>
              <a:rPr lang="en-US" sz="3000" b="1" dirty="0">
                <a:solidFill>
                  <a:srgbClr val="FFFFFF"/>
                </a:solidFill>
                <a:latin typeface="Cambria" pitchFamily="34" charset="0"/>
                <a:cs typeface="Cambria" pitchFamily="34" charset="0"/>
              </a:rPr>
              <a:t>The Process</a:t>
            </a:r>
          </a:p>
        </p:txBody>
      </p:sp>
      <p:sp>
        <p:nvSpPr>
          <p:cNvPr id="105" name="t"/>
          <p:cNvSpPr/>
          <p:nvPr/>
        </p:nvSpPr>
        <p:spPr>
          <a:xfrm>
            <a:off x="438912" y="1001268"/>
            <a:ext cx="5212080" cy="480060"/>
          </a:xfrm>
          <a:prstGeom prst="rect">
            <a:avLst/>
          </a:prstGeom>
        </p:spPr>
        <p:txBody>
          <a:bodyPr wrap="square" lIns="6750" tIns="2250" rIns="6750" bIns="2250" rtlCol="0" anchor="t"/>
          <a:lstStyle/>
          <a:p>
            <a:r>
              <a:rPr lang="en-US" sz="1125" dirty="0">
                <a:solidFill>
                  <a:srgbClr val="DCE7F5"/>
                </a:solidFill>
                <a:latin typeface="Arial" pitchFamily="34" charset="0"/>
                <a:cs typeface="Arial" pitchFamily="34" charset="0"/>
              </a:rPr>
              <a:t>A collaborative process with well-informed participants —</a:t>
            </a:r>
          </a:p>
          <a:p>
            <a:pPr>
              <a:spcBef>
                <a:spcPts val="150"/>
              </a:spcBef>
            </a:pPr>
            <a:r>
              <a:rPr lang="en-US" sz="1125" dirty="0">
                <a:solidFill>
                  <a:srgbClr val="DCE7F5"/>
                </a:solidFill>
                <a:latin typeface="Arial" pitchFamily="34" charset="0"/>
                <a:cs typeface="Arial" pitchFamily="34" charset="0"/>
              </a:rPr>
              <a:t>your employees help choose the outcome.</a:t>
            </a:r>
          </a:p>
        </p:txBody>
      </p:sp>
      <p:sp>
        <p:nvSpPr>
          <p:cNvPr id="106" name="c"/>
          <p:cNvSpPr/>
          <p:nvPr/>
        </p:nvSpPr>
        <p:spPr>
          <a:xfrm>
            <a:off x="1405319" y="2366010"/>
            <a:ext cx="712089" cy="0"/>
          </a:xfrm>
          <a:prstGeom prst="line">
            <a:avLst/>
          </a:prstGeom>
          <a:ln w="22225">
            <a:solidFill>
              <a:srgbClr val="94A3B8"/>
            </a:solidFill>
            <a:tailEnd type="triangle" w="med" len="med"/>
          </a:ln>
        </p:spPr>
        <p:txBody>
          <a:bodyPr/>
          <a:lstStyle/>
          <a:p>
            <a:endParaRPr lang="en-US" sz="1350"/>
          </a:p>
        </p:txBody>
      </p:sp>
      <p:sp>
        <p:nvSpPr>
          <p:cNvPr id="107" name="c"/>
          <p:cNvSpPr/>
          <p:nvPr/>
        </p:nvSpPr>
        <p:spPr>
          <a:xfrm>
            <a:off x="2803208" y="2366010"/>
            <a:ext cx="712089" cy="0"/>
          </a:xfrm>
          <a:prstGeom prst="line">
            <a:avLst/>
          </a:prstGeom>
          <a:ln w="22225">
            <a:solidFill>
              <a:srgbClr val="94A3B8"/>
            </a:solidFill>
            <a:tailEnd type="triangle" w="med" len="med"/>
          </a:ln>
        </p:spPr>
        <p:txBody>
          <a:bodyPr/>
          <a:lstStyle/>
          <a:p>
            <a:endParaRPr lang="en-US" sz="1350"/>
          </a:p>
        </p:txBody>
      </p:sp>
      <p:sp>
        <p:nvSpPr>
          <p:cNvPr id="108" name="c"/>
          <p:cNvSpPr/>
          <p:nvPr/>
        </p:nvSpPr>
        <p:spPr>
          <a:xfrm>
            <a:off x="4201097" y="2366010"/>
            <a:ext cx="712089" cy="0"/>
          </a:xfrm>
          <a:prstGeom prst="line">
            <a:avLst/>
          </a:prstGeom>
          <a:ln w="22225">
            <a:solidFill>
              <a:srgbClr val="94A3B8"/>
            </a:solidFill>
            <a:tailEnd type="triangle" w="med" len="med"/>
          </a:ln>
        </p:spPr>
        <p:txBody>
          <a:bodyPr/>
          <a:lstStyle/>
          <a:p>
            <a:endParaRPr lang="en-US" sz="1350"/>
          </a:p>
        </p:txBody>
      </p:sp>
      <p:sp>
        <p:nvSpPr>
          <p:cNvPr id="109" name="c"/>
          <p:cNvSpPr/>
          <p:nvPr/>
        </p:nvSpPr>
        <p:spPr>
          <a:xfrm>
            <a:off x="5598986" y="2366010"/>
            <a:ext cx="712089" cy="0"/>
          </a:xfrm>
          <a:prstGeom prst="line">
            <a:avLst/>
          </a:prstGeom>
          <a:ln w="22225">
            <a:solidFill>
              <a:srgbClr val="94A3B8"/>
            </a:solidFill>
            <a:tailEnd type="triangle" w="med" len="med"/>
          </a:ln>
        </p:spPr>
        <p:txBody>
          <a:bodyPr/>
          <a:lstStyle/>
          <a:p>
            <a:endParaRPr lang="en-US" sz="1350"/>
          </a:p>
        </p:txBody>
      </p:sp>
      <p:sp>
        <p:nvSpPr>
          <p:cNvPr id="110" name="c"/>
          <p:cNvSpPr/>
          <p:nvPr/>
        </p:nvSpPr>
        <p:spPr>
          <a:xfrm>
            <a:off x="6996875" y="2366010"/>
            <a:ext cx="712089" cy="0"/>
          </a:xfrm>
          <a:prstGeom prst="line">
            <a:avLst/>
          </a:prstGeom>
          <a:ln w="22225">
            <a:solidFill>
              <a:srgbClr val="94A3B8"/>
            </a:solidFill>
            <a:tailEnd type="triangle" w="med" len="med"/>
          </a:ln>
        </p:spPr>
        <p:txBody>
          <a:bodyPr/>
          <a:lstStyle/>
          <a:p>
            <a:endParaRPr lang="en-US" sz="1350"/>
          </a:p>
        </p:txBody>
      </p:sp>
      <p:sp>
        <p:nvSpPr>
          <p:cNvPr id="111" name="b"/>
          <p:cNvSpPr/>
          <p:nvPr/>
        </p:nvSpPr>
        <p:spPr>
          <a:xfrm>
            <a:off x="788099" y="2077974"/>
            <a:ext cx="576072" cy="576072"/>
          </a:xfrm>
          <a:prstGeom prst="ellipse">
            <a:avLst/>
          </a:prstGeom>
          <a:solidFill>
            <a:srgbClr val="1F4E79"/>
          </a:solidFill>
          <a:ln w="38100">
            <a:solidFill>
              <a:srgbClr val="FFFFFF"/>
            </a:solidFill>
          </a:ln>
          <a:effectLst>
            <a:outerShdw blurRad="50800" dist="25400" dir="5400000" rotWithShape="0">
              <a:srgbClr val="1A1A2E">
                <a:alpha val="32000"/>
              </a:srgbClr>
            </a:outerShdw>
          </a:effectLst>
        </p:spPr>
        <p:txBody>
          <a:bodyPr lIns="0" tIns="0" rIns="0" bIns="0" anchor="ctr"/>
          <a:lstStyle/>
          <a:p>
            <a:pPr algn="ctr">
              <a:buNone/>
            </a:pPr>
            <a:r>
              <a:rPr lang="en-US" sz="1500" b="1" dirty="0">
                <a:solidFill>
                  <a:srgbClr val="FFFFFF"/>
                </a:solidFill>
                <a:latin typeface="Cambria"/>
              </a:rPr>
              <a:t>1</a:t>
            </a:r>
          </a:p>
        </p:txBody>
      </p:sp>
      <p:sp>
        <p:nvSpPr>
          <p:cNvPr id="112" name="t"/>
          <p:cNvSpPr/>
          <p:nvPr/>
        </p:nvSpPr>
        <p:spPr>
          <a:xfrm>
            <a:off x="411480" y="2777490"/>
            <a:ext cx="1329309" cy="493776"/>
          </a:xfrm>
          <a:prstGeom prst="rect">
            <a:avLst/>
          </a:prstGeom>
        </p:spPr>
        <p:txBody>
          <a:bodyPr wrap="square" lIns="6750" tIns="2250" rIns="6750" bIns="2250" rtlCol="0" anchor="t"/>
          <a:lstStyle/>
          <a:p>
            <a:pPr algn="ctr"/>
            <a:r>
              <a:rPr lang="en-US" sz="975" b="1" dirty="0">
                <a:solidFill>
                  <a:srgbClr val="1F4E79"/>
                </a:solidFill>
                <a:latin typeface="Arial" pitchFamily="34" charset="0"/>
                <a:cs typeface="Arial" pitchFamily="34" charset="0"/>
              </a:rPr>
              <a:t>Analyze</a:t>
            </a:r>
          </a:p>
          <a:p>
            <a:pPr algn="ctr"/>
            <a:r>
              <a:rPr lang="en-US" sz="975" b="1" dirty="0">
                <a:solidFill>
                  <a:srgbClr val="1F4E79"/>
                </a:solidFill>
                <a:latin typeface="Arial" pitchFamily="34" charset="0"/>
                <a:cs typeface="Arial" pitchFamily="34" charset="0"/>
              </a:rPr>
              <a:t>your needs</a:t>
            </a:r>
          </a:p>
        </p:txBody>
      </p:sp>
      <p:sp>
        <p:nvSpPr>
          <p:cNvPr id="113" name="t"/>
          <p:cNvSpPr/>
          <p:nvPr/>
        </p:nvSpPr>
        <p:spPr>
          <a:xfrm>
            <a:off x="411480" y="3305556"/>
            <a:ext cx="1329309" cy="925830"/>
          </a:xfrm>
          <a:prstGeom prst="rect">
            <a:avLst/>
          </a:prstGeom>
        </p:spPr>
        <p:txBody>
          <a:bodyPr wrap="square" lIns="6750" tIns="2250" rIns="6750" bIns="2250" rtlCol="0" anchor="t"/>
          <a:lstStyle/>
          <a:p>
            <a:pPr algn="ctr"/>
            <a:r>
              <a:rPr lang="en-US" sz="825" dirty="0">
                <a:solidFill>
                  <a:srgbClr val="64748B"/>
                </a:solidFill>
                <a:latin typeface="Arial" pitchFamily="34" charset="0"/>
                <a:cs typeface="Arial" pitchFamily="34" charset="0"/>
              </a:rPr>
              <a:t>Collect operating data; build the cost, benefit, and risk case.</a:t>
            </a:r>
          </a:p>
        </p:txBody>
      </p:sp>
      <p:sp>
        <p:nvSpPr>
          <p:cNvPr id="114" name="b"/>
          <p:cNvSpPr/>
          <p:nvPr/>
        </p:nvSpPr>
        <p:spPr>
          <a:xfrm>
            <a:off x="2185988" y="2077974"/>
            <a:ext cx="576072" cy="576072"/>
          </a:xfrm>
          <a:prstGeom prst="ellipse">
            <a:avLst/>
          </a:prstGeom>
          <a:solidFill>
            <a:srgbClr val="1F4E79"/>
          </a:solidFill>
          <a:ln w="38100">
            <a:solidFill>
              <a:srgbClr val="FFFFFF"/>
            </a:solidFill>
          </a:ln>
          <a:effectLst>
            <a:outerShdw blurRad="50800" dist="25400" dir="5400000" rotWithShape="0">
              <a:srgbClr val="1A1A2E">
                <a:alpha val="32000"/>
              </a:srgbClr>
            </a:outerShdw>
          </a:effectLst>
        </p:spPr>
        <p:txBody>
          <a:bodyPr lIns="0" tIns="0" rIns="0" bIns="0" anchor="ctr"/>
          <a:lstStyle/>
          <a:p>
            <a:pPr algn="ctr">
              <a:buNone/>
            </a:pPr>
            <a:r>
              <a:rPr lang="en-US" sz="1500" b="1" dirty="0">
                <a:solidFill>
                  <a:srgbClr val="FFFFFF"/>
                </a:solidFill>
                <a:latin typeface="Cambria"/>
              </a:rPr>
              <a:t>2</a:t>
            </a:r>
          </a:p>
        </p:txBody>
      </p:sp>
      <p:sp>
        <p:nvSpPr>
          <p:cNvPr id="115" name="t"/>
          <p:cNvSpPr/>
          <p:nvPr/>
        </p:nvSpPr>
        <p:spPr>
          <a:xfrm>
            <a:off x="1809369" y="2777490"/>
            <a:ext cx="1329309" cy="493776"/>
          </a:xfrm>
          <a:prstGeom prst="rect">
            <a:avLst/>
          </a:prstGeom>
        </p:spPr>
        <p:txBody>
          <a:bodyPr wrap="square" lIns="6750" tIns="2250" rIns="6750" bIns="2250" rtlCol="0" anchor="t"/>
          <a:lstStyle/>
          <a:p>
            <a:pPr algn="ctr"/>
            <a:r>
              <a:rPr lang="en-US" sz="975" b="1" dirty="0">
                <a:solidFill>
                  <a:srgbClr val="1F4E79"/>
                </a:solidFill>
                <a:latin typeface="Arial" pitchFamily="34" charset="0"/>
                <a:cs typeface="Arial" pitchFamily="34" charset="0"/>
              </a:rPr>
              <a:t>Engage</a:t>
            </a:r>
          </a:p>
          <a:p>
            <a:pPr algn="ctr"/>
            <a:r>
              <a:rPr lang="en-US" sz="975" b="1" dirty="0">
                <a:solidFill>
                  <a:srgbClr val="1F4E79"/>
                </a:solidFill>
                <a:latin typeface="Arial" pitchFamily="34" charset="0"/>
                <a:cs typeface="Arial" pitchFamily="34" charset="0"/>
              </a:rPr>
              <a:t>the workforce</a:t>
            </a:r>
          </a:p>
        </p:txBody>
      </p:sp>
      <p:sp>
        <p:nvSpPr>
          <p:cNvPr id="116" name="t"/>
          <p:cNvSpPr/>
          <p:nvPr/>
        </p:nvSpPr>
        <p:spPr>
          <a:xfrm>
            <a:off x="1809369" y="3305556"/>
            <a:ext cx="1329309" cy="925830"/>
          </a:xfrm>
          <a:prstGeom prst="rect">
            <a:avLst/>
          </a:prstGeom>
        </p:spPr>
        <p:txBody>
          <a:bodyPr wrap="square" lIns="6750" tIns="2250" rIns="6750" bIns="2250" rtlCol="0" anchor="t"/>
          <a:lstStyle/>
          <a:p>
            <a:pPr algn="ctr"/>
            <a:r>
              <a:rPr lang="en-US" sz="825" dirty="0">
                <a:solidFill>
                  <a:srgbClr val="64748B"/>
                </a:solidFill>
                <a:latin typeface="Arial" pitchFamily="34" charset="0"/>
                <a:cs typeface="Arial" pitchFamily="34" charset="0"/>
              </a:rPr>
              <a:t>Survey everyone — shift length, overtime, start times, environment.</a:t>
            </a:r>
          </a:p>
        </p:txBody>
      </p:sp>
      <p:sp>
        <p:nvSpPr>
          <p:cNvPr id="117" name="b"/>
          <p:cNvSpPr/>
          <p:nvPr/>
        </p:nvSpPr>
        <p:spPr>
          <a:xfrm>
            <a:off x="3583877" y="2077974"/>
            <a:ext cx="576072" cy="576072"/>
          </a:xfrm>
          <a:prstGeom prst="ellipse">
            <a:avLst/>
          </a:prstGeom>
          <a:solidFill>
            <a:srgbClr val="1F4E79"/>
          </a:solidFill>
          <a:ln w="38100">
            <a:solidFill>
              <a:srgbClr val="FFFFFF"/>
            </a:solidFill>
          </a:ln>
          <a:effectLst>
            <a:outerShdw blurRad="50800" dist="25400" dir="5400000" rotWithShape="0">
              <a:srgbClr val="1A1A2E">
                <a:alpha val="32000"/>
              </a:srgbClr>
            </a:outerShdw>
          </a:effectLst>
        </p:spPr>
        <p:txBody>
          <a:bodyPr lIns="0" tIns="0" rIns="0" bIns="0" anchor="ctr"/>
          <a:lstStyle/>
          <a:p>
            <a:pPr algn="ctr">
              <a:buNone/>
            </a:pPr>
            <a:r>
              <a:rPr lang="en-US" sz="1500" b="1" dirty="0">
                <a:solidFill>
                  <a:srgbClr val="FFFFFF"/>
                </a:solidFill>
                <a:latin typeface="Cambria"/>
              </a:rPr>
              <a:t>3</a:t>
            </a:r>
          </a:p>
        </p:txBody>
      </p:sp>
      <p:sp>
        <p:nvSpPr>
          <p:cNvPr id="118" name="t"/>
          <p:cNvSpPr/>
          <p:nvPr/>
        </p:nvSpPr>
        <p:spPr>
          <a:xfrm>
            <a:off x="3207258" y="2777490"/>
            <a:ext cx="1329309" cy="493776"/>
          </a:xfrm>
          <a:prstGeom prst="rect">
            <a:avLst/>
          </a:prstGeom>
        </p:spPr>
        <p:txBody>
          <a:bodyPr wrap="square" lIns="6750" tIns="2250" rIns="6750" bIns="2250" rtlCol="0" anchor="t"/>
          <a:lstStyle/>
          <a:p>
            <a:pPr algn="ctr"/>
            <a:r>
              <a:rPr lang="en-US" sz="975" b="1" dirty="0">
                <a:solidFill>
                  <a:srgbClr val="1F4E79"/>
                </a:solidFill>
                <a:latin typeface="Arial" pitchFamily="34" charset="0"/>
                <a:cs typeface="Arial" pitchFamily="34" charset="0"/>
              </a:rPr>
              <a:t>Design</a:t>
            </a:r>
          </a:p>
          <a:p>
            <a:pPr algn="ctr"/>
            <a:r>
              <a:rPr lang="en-US" sz="975" b="1" dirty="0">
                <a:solidFill>
                  <a:srgbClr val="1F4E79"/>
                </a:solidFill>
                <a:latin typeface="Arial" pitchFamily="34" charset="0"/>
                <a:cs typeface="Arial" pitchFamily="34" charset="0"/>
              </a:rPr>
              <a:t>staffing, pay &amp; work policies</a:t>
            </a:r>
          </a:p>
        </p:txBody>
      </p:sp>
      <p:sp>
        <p:nvSpPr>
          <p:cNvPr id="119" name="t"/>
          <p:cNvSpPr/>
          <p:nvPr/>
        </p:nvSpPr>
        <p:spPr>
          <a:xfrm>
            <a:off x="3207258" y="3305556"/>
            <a:ext cx="1329309" cy="925830"/>
          </a:xfrm>
          <a:prstGeom prst="rect">
            <a:avLst/>
          </a:prstGeom>
        </p:spPr>
        <p:txBody>
          <a:bodyPr wrap="square" lIns="6750" tIns="2250" rIns="6750" bIns="2250" rtlCol="0" anchor="t"/>
          <a:lstStyle/>
          <a:p>
            <a:pPr algn="ctr"/>
            <a:r>
              <a:rPr lang="en-US" sz="825" dirty="0">
                <a:solidFill>
                  <a:srgbClr val="64748B"/>
                </a:solidFill>
                <a:latin typeface="Arial" pitchFamily="34" charset="0"/>
                <a:cs typeface="Arial" pitchFamily="34" charset="0"/>
              </a:rPr>
              <a:t>Build schedule options that fit operations and people.</a:t>
            </a:r>
          </a:p>
        </p:txBody>
      </p:sp>
      <p:sp>
        <p:nvSpPr>
          <p:cNvPr id="120" name="b"/>
          <p:cNvSpPr/>
          <p:nvPr/>
        </p:nvSpPr>
        <p:spPr>
          <a:xfrm>
            <a:off x="4981766" y="2077974"/>
            <a:ext cx="576072" cy="576072"/>
          </a:xfrm>
          <a:prstGeom prst="ellipse">
            <a:avLst/>
          </a:prstGeom>
          <a:solidFill>
            <a:srgbClr val="E8610A"/>
          </a:solidFill>
          <a:ln w="38100">
            <a:solidFill>
              <a:srgbClr val="FFFFFF"/>
            </a:solidFill>
          </a:ln>
          <a:effectLst>
            <a:outerShdw blurRad="50800" dist="25400" dir="5400000" rotWithShape="0">
              <a:srgbClr val="1A1A2E">
                <a:alpha val="32000"/>
              </a:srgbClr>
            </a:outerShdw>
          </a:effectLst>
        </p:spPr>
        <p:txBody>
          <a:bodyPr lIns="0" tIns="0" rIns="0" bIns="0" anchor="ctr"/>
          <a:lstStyle/>
          <a:p>
            <a:pPr algn="ctr">
              <a:buNone/>
            </a:pPr>
            <a:r>
              <a:rPr lang="en-US" sz="1500" b="1" dirty="0">
                <a:solidFill>
                  <a:srgbClr val="FFFFFF"/>
                </a:solidFill>
                <a:latin typeface="Cambria"/>
              </a:rPr>
              <a:t>4</a:t>
            </a:r>
          </a:p>
        </p:txBody>
      </p:sp>
      <p:sp>
        <p:nvSpPr>
          <p:cNvPr id="121" name="t"/>
          <p:cNvSpPr/>
          <p:nvPr/>
        </p:nvSpPr>
        <p:spPr>
          <a:xfrm>
            <a:off x="4605147" y="2777490"/>
            <a:ext cx="1329309" cy="493776"/>
          </a:xfrm>
          <a:prstGeom prst="rect">
            <a:avLst/>
          </a:prstGeom>
        </p:spPr>
        <p:txBody>
          <a:bodyPr wrap="square" lIns="6750" tIns="2250" rIns="6750" bIns="2250" rtlCol="0" anchor="t"/>
          <a:lstStyle/>
          <a:p>
            <a:pPr algn="ctr"/>
            <a:r>
              <a:rPr lang="en-US" sz="975" b="1" dirty="0">
                <a:solidFill>
                  <a:srgbClr val="E8610A"/>
                </a:solidFill>
                <a:latin typeface="Arial" pitchFamily="34" charset="0"/>
                <a:cs typeface="Arial" pitchFamily="34" charset="0"/>
              </a:rPr>
              <a:t>Employees</a:t>
            </a:r>
          </a:p>
          <a:p>
            <a:pPr algn="ctr"/>
            <a:r>
              <a:rPr lang="en-US" sz="975" b="1" dirty="0">
                <a:solidFill>
                  <a:srgbClr val="E8610A"/>
                </a:solidFill>
                <a:latin typeface="Arial" pitchFamily="34" charset="0"/>
                <a:cs typeface="Arial" pitchFamily="34" charset="0"/>
              </a:rPr>
              <a:t>choose</a:t>
            </a:r>
          </a:p>
        </p:txBody>
      </p:sp>
      <p:sp>
        <p:nvSpPr>
          <p:cNvPr id="122" name="t"/>
          <p:cNvSpPr/>
          <p:nvPr/>
        </p:nvSpPr>
        <p:spPr>
          <a:xfrm>
            <a:off x="4605147" y="3305556"/>
            <a:ext cx="1329309" cy="925830"/>
          </a:xfrm>
          <a:prstGeom prst="rect">
            <a:avLst/>
          </a:prstGeom>
        </p:spPr>
        <p:txBody>
          <a:bodyPr wrap="square" lIns="6750" tIns="2250" rIns="6750" bIns="2250" rtlCol="0" anchor="t"/>
          <a:lstStyle/>
          <a:p>
            <a:pPr algn="ctr"/>
            <a:r>
              <a:rPr lang="en-US" sz="825" dirty="0">
                <a:solidFill>
                  <a:srgbClr val="64748B"/>
                </a:solidFill>
                <a:latin typeface="Arial" pitchFamily="34" charset="0"/>
                <a:cs typeface="Arial" pitchFamily="34" charset="0"/>
              </a:rPr>
              <a:t>The workforce reviews the options and votes its preference.</a:t>
            </a:r>
          </a:p>
        </p:txBody>
      </p:sp>
      <p:sp>
        <p:nvSpPr>
          <p:cNvPr id="123" name="b"/>
          <p:cNvSpPr/>
          <p:nvPr/>
        </p:nvSpPr>
        <p:spPr>
          <a:xfrm>
            <a:off x="6379655" y="2077974"/>
            <a:ext cx="576072" cy="576072"/>
          </a:xfrm>
          <a:prstGeom prst="ellipse">
            <a:avLst/>
          </a:prstGeom>
          <a:solidFill>
            <a:srgbClr val="1F4E79"/>
          </a:solidFill>
          <a:ln w="38100">
            <a:solidFill>
              <a:srgbClr val="FFFFFF"/>
            </a:solidFill>
          </a:ln>
          <a:effectLst>
            <a:outerShdw blurRad="50800" dist="25400" dir="5400000" rotWithShape="0">
              <a:srgbClr val="1A1A2E">
                <a:alpha val="32000"/>
              </a:srgbClr>
            </a:outerShdw>
          </a:effectLst>
        </p:spPr>
        <p:txBody>
          <a:bodyPr lIns="0" tIns="0" rIns="0" bIns="0" anchor="ctr"/>
          <a:lstStyle/>
          <a:p>
            <a:pPr algn="ctr">
              <a:buNone/>
            </a:pPr>
            <a:r>
              <a:rPr lang="en-US" sz="1500" b="1" dirty="0">
                <a:solidFill>
                  <a:srgbClr val="FFFFFF"/>
                </a:solidFill>
                <a:latin typeface="Cambria"/>
              </a:rPr>
              <a:t>5</a:t>
            </a:r>
          </a:p>
        </p:txBody>
      </p:sp>
      <p:sp>
        <p:nvSpPr>
          <p:cNvPr id="124" name="t"/>
          <p:cNvSpPr/>
          <p:nvPr/>
        </p:nvSpPr>
        <p:spPr>
          <a:xfrm>
            <a:off x="6003036" y="2777490"/>
            <a:ext cx="1329309" cy="493776"/>
          </a:xfrm>
          <a:prstGeom prst="rect">
            <a:avLst/>
          </a:prstGeom>
        </p:spPr>
        <p:txBody>
          <a:bodyPr wrap="square" lIns="6750" tIns="2250" rIns="6750" bIns="2250" rtlCol="0" anchor="t"/>
          <a:lstStyle/>
          <a:p>
            <a:pPr algn="ctr"/>
            <a:r>
              <a:rPr lang="en-US" sz="975" b="1" dirty="0">
                <a:solidFill>
                  <a:srgbClr val="1F4E79"/>
                </a:solidFill>
                <a:latin typeface="Arial" pitchFamily="34" charset="0"/>
                <a:cs typeface="Arial" pitchFamily="34" charset="0"/>
              </a:rPr>
              <a:t>Implement</a:t>
            </a:r>
          </a:p>
        </p:txBody>
      </p:sp>
      <p:sp>
        <p:nvSpPr>
          <p:cNvPr id="125" name="t"/>
          <p:cNvSpPr/>
          <p:nvPr/>
        </p:nvSpPr>
        <p:spPr>
          <a:xfrm>
            <a:off x="6003036" y="3305556"/>
            <a:ext cx="1329309" cy="925830"/>
          </a:xfrm>
          <a:prstGeom prst="rect">
            <a:avLst/>
          </a:prstGeom>
        </p:spPr>
        <p:txBody>
          <a:bodyPr wrap="square" lIns="6750" tIns="2250" rIns="6750" bIns="2250" rtlCol="0" anchor="t"/>
          <a:lstStyle/>
          <a:p>
            <a:pPr algn="ctr"/>
            <a:r>
              <a:rPr lang="en-US" sz="825" dirty="0">
                <a:solidFill>
                  <a:srgbClr val="64748B"/>
                </a:solidFill>
                <a:latin typeface="Arial" pitchFamily="34" charset="0"/>
                <a:cs typeface="Arial" pitchFamily="34" charset="0"/>
              </a:rPr>
              <a:t>Roll out with education and clear documentation.</a:t>
            </a:r>
          </a:p>
        </p:txBody>
      </p:sp>
      <p:sp>
        <p:nvSpPr>
          <p:cNvPr id="126" name="b"/>
          <p:cNvSpPr/>
          <p:nvPr/>
        </p:nvSpPr>
        <p:spPr>
          <a:xfrm>
            <a:off x="7777544" y="2077974"/>
            <a:ext cx="576072" cy="576072"/>
          </a:xfrm>
          <a:prstGeom prst="ellipse">
            <a:avLst/>
          </a:prstGeom>
          <a:solidFill>
            <a:srgbClr val="1F4E79"/>
          </a:solidFill>
          <a:ln w="38100">
            <a:solidFill>
              <a:srgbClr val="FFFFFF"/>
            </a:solidFill>
          </a:ln>
          <a:effectLst>
            <a:outerShdw blurRad="50800" dist="25400" dir="5400000" rotWithShape="0">
              <a:srgbClr val="1A1A2E">
                <a:alpha val="32000"/>
              </a:srgbClr>
            </a:outerShdw>
          </a:effectLst>
        </p:spPr>
        <p:txBody>
          <a:bodyPr lIns="0" tIns="0" rIns="0" bIns="0" anchor="ctr"/>
          <a:lstStyle/>
          <a:p>
            <a:pPr algn="ctr">
              <a:buNone/>
            </a:pPr>
            <a:r>
              <a:rPr lang="en-US" sz="1500" b="1" dirty="0">
                <a:solidFill>
                  <a:srgbClr val="FFFFFF"/>
                </a:solidFill>
                <a:latin typeface="Cambria"/>
              </a:rPr>
              <a:t>6</a:t>
            </a:r>
          </a:p>
        </p:txBody>
      </p:sp>
      <p:sp>
        <p:nvSpPr>
          <p:cNvPr id="127" name="t"/>
          <p:cNvSpPr/>
          <p:nvPr/>
        </p:nvSpPr>
        <p:spPr>
          <a:xfrm>
            <a:off x="7400925" y="2777490"/>
            <a:ext cx="1329309" cy="493776"/>
          </a:xfrm>
          <a:prstGeom prst="rect">
            <a:avLst/>
          </a:prstGeom>
        </p:spPr>
        <p:txBody>
          <a:bodyPr wrap="square" lIns="6750" tIns="2250" rIns="6750" bIns="2250" rtlCol="0" anchor="t"/>
          <a:lstStyle/>
          <a:p>
            <a:pPr algn="ctr"/>
            <a:r>
              <a:rPr lang="en-US" sz="975" b="1" dirty="0">
                <a:solidFill>
                  <a:srgbClr val="1F4E79"/>
                </a:solidFill>
                <a:latin typeface="Arial" pitchFamily="34" charset="0"/>
                <a:cs typeface="Arial" pitchFamily="34" charset="0"/>
              </a:rPr>
              <a:t>Follow-up</a:t>
            </a:r>
          </a:p>
        </p:txBody>
      </p:sp>
      <p:sp>
        <p:nvSpPr>
          <p:cNvPr id="128" name="t"/>
          <p:cNvSpPr/>
          <p:nvPr/>
        </p:nvSpPr>
        <p:spPr>
          <a:xfrm>
            <a:off x="7400925" y="3305556"/>
            <a:ext cx="1329309" cy="925830"/>
          </a:xfrm>
          <a:prstGeom prst="rect">
            <a:avLst/>
          </a:prstGeom>
        </p:spPr>
        <p:txBody>
          <a:bodyPr wrap="square" lIns="6750" tIns="2250" rIns="6750" bIns="2250" rtlCol="0" anchor="t"/>
          <a:lstStyle/>
          <a:p>
            <a:pPr algn="ctr"/>
            <a:r>
              <a:rPr lang="en-US" sz="825" dirty="0">
                <a:solidFill>
                  <a:srgbClr val="64748B"/>
                </a:solidFill>
                <a:latin typeface="Arial" pitchFamily="34" charset="0"/>
                <a:cs typeface="Arial" pitchFamily="34" charset="0"/>
              </a:rPr>
              <a:t>Post-change survey and ongoing support to keep it working.</a:t>
            </a:r>
          </a:p>
        </p:txBody>
      </p:sp>
      <p:sp>
        <p:nvSpPr>
          <p:cNvPr id="129" name="t"/>
          <p:cNvSpPr/>
          <p:nvPr/>
        </p:nvSpPr>
        <p:spPr>
          <a:xfrm>
            <a:off x="411480" y="4539996"/>
            <a:ext cx="8318754" cy="377190"/>
          </a:xfrm>
          <a:prstGeom prst="rect">
            <a:avLst/>
          </a:prstGeom>
        </p:spPr>
        <p:txBody>
          <a:bodyPr wrap="square" lIns="6750" tIns="2250" rIns="6750" bIns="2250" rtlCol="0" anchor="ctr"/>
          <a:lstStyle/>
          <a:p>
            <a:pPr algn="ctr"/>
            <a:r>
              <a:rPr lang="en-US" sz="1275" b="1" dirty="0">
                <a:solidFill>
                  <a:srgbClr val="1F4E79"/>
                </a:solidFill>
                <a:latin typeface="Cambria" pitchFamily="34" charset="0"/>
                <a:cs typeface="Cambria" pitchFamily="34" charset="0"/>
              </a:rPr>
              <a:t>The more the workforce understands and participates, the better the outcome.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marL="0" indent="0">
              <a:buNone/>
            </a:pPr>
            <a:r>
              <a:rPr lang="en-US" sz="3200" b="1" dirty="0">
                <a:solidFill>
                  <a:srgbClr val="1F4E79"/>
                </a:solidFill>
                <a:latin typeface="Cambria" pitchFamily="34" charset="0"/>
                <a:ea typeface="Cambria" pitchFamily="34" charset="-122"/>
                <a:cs typeface="Cambria" pitchFamily="34" charset="-120"/>
              </a:rPr>
              <a:t>The Labor Environment</a:t>
            </a:r>
            <a:endParaRPr lang="en-US" sz="3200" dirty="0"/>
          </a:p>
        </p:txBody>
      </p:sp>
      <p:sp>
        <p:nvSpPr>
          <p:cNvPr id="3" name="Shape 1"/>
          <p:cNvSpPr/>
          <p:nvPr/>
        </p:nvSpPr>
        <p:spPr>
          <a:xfrm>
            <a:off x="365760" y="914400"/>
            <a:ext cx="3931920" cy="3749040"/>
          </a:xfrm>
          <a:prstGeom prst="roundRect">
            <a:avLst>
              <a:gd name="adj" fmla="val 2927"/>
            </a:avLst>
          </a:prstGeom>
          <a:solidFill>
            <a:srgbClr val="F0F4F8"/>
          </a:solidFill>
          <a:ln w="12700">
            <a:solidFill>
              <a:srgbClr val="E2E8F0"/>
            </a:solidFill>
            <a:prstDash val="solid"/>
          </a:ln>
        </p:spPr>
        <p:txBody>
          <a:bodyPr/>
          <a:lstStyle/>
          <a:p>
            <a:endParaRPr lang="en-US"/>
          </a:p>
        </p:txBody>
      </p:sp>
      <p:sp>
        <p:nvSpPr>
          <p:cNvPr id="4" name="Text 2"/>
          <p:cNvSpPr/>
          <p:nvPr/>
        </p:nvSpPr>
        <p:spPr>
          <a:xfrm>
            <a:off x="548640" y="1005840"/>
            <a:ext cx="3566160" cy="365760"/>
          </a:xfrm>
          <a:prstGeom prst="rect">
            <a:avLst/>
          </a:prstGeom>
          <a:noFill/>
          <a:ln/>
        </p:spPr>
        <p:txBody>
          <a:bodyPr wrap="square" rtlCol="0" anchor="ctr"/>
          <a:lstStyle/>
          <a:p>
            <a:pPr marL="0" indent="0">
              <a:buNone/>
            </a:pPr>
            <a:r>
              <a:rPr lang="en-US" sz="1300" i="1" dirty="0">
                <a:solidFill>
                  <a:srgbClr val="64748B"/>
                </a:solidFill>
                <a:latin typeface="Arial" pitchFamily="34" charset="0"/>
                <a:ea typeface="Arial" pitchFamily="34" charset="-122"/>
                <a:cs typeface="Arial" pitchFamily="34" charset="-120"/>
              </a:rPr>
              <a:t>When unemployment drops...</a:t>
            </a:r>
            <a:endParaRPr lang="en-US" sz="1300" dirty="0"/>
          </a:p>
        </p:txBody>
      </p:sp>
      <p:sp>
        <p:nvSpPr>
          <p:cNvPr id="5" name="Shape 3"/>
          <p:cNvSpPr/>
          <p:nvPr/>
        </p:nvSpPr>
        <p:spPr>
          <a:xfrm>
            <a:off x="548640" y="1508760"/>
            <a:ext cx="3657600" cy="822960"/>
          </a:xfrm>
          <a:prstGeom prst="roundRect">
            <a:avLst>
              <a:gd name="adj" fmla="val 8889"/>
            </a:avLst>
          </a:prstGeom>
          <a:solidFill>
            <a:srgbClr val="1D6A72">
              <a:alpha val="12000"/>
            </a:srgbClr>
          </a:solidFill>
          <a:ln w="19050">
            <a:solidFill>
              <a:srgbClr val="1D6A72"/>
            </a:solidFill>
            <a:prstDash val="solid"/>
          </a:ln>
        </p:spPr>
        <p:txBody>
          <a:bodyPr/>
          <a:lstStyle/>
          <a:p>
            <a:endParaRPr lang="en-US"/>
          </a:p>
        </p:txBody>
      </p:sp>
      <p:sp>
        <p:nvSpPr>
          <p:cNvPr id="6" name="Text 4"/>
          <p:cNvSpPr/>
          <p:nvPr/>
        </p:nvSpPr>
        <p:spPr>
          <a:xfrm>
            <a:off x="640080" y="1554480"/>
            <a:ext cx="3474720" cy="320040"/>
          </a:xfrm>
          <a:prstGeom prst="rect">
            <a:avLst/>
          </a:prstGeom>
          <a:noFill/>
          <a:ln/>
        </p:spPr>
        <p:txBody>
          <a:bodyPr wrap="square" rtlCol="0" anchor="ctr"/>
          <a:lstStyle/>
          <a:p>
            <a:pPr marL="0" indent="0">
              <a:buNone/>
            </a:pPr>
            <a:r>
              <a:rPr lang="en-US" sz="1600" b="1" dirty="0">
                <a:solidFill>
                  <a:srgbClr val="1D6A72"/>
                </a:solidFill>
                <a:latin typeface="Cambria" pitchFamily="34" charset="0"/>
                <a:ea typeface="Cambria" pitchFamily="34" charset="-122"/>
                <a:cs typeface="Cambria" pitchFamily="34" charset="-120"/>
              </a:rPr>
              <a:t>Below 6%</a:t>
            </a:r>
            <a:endParaRPr lang="en-US" sz="1600" dirty="0"/>
          </a:p>
        </p:txBody>
      </p:sp>
      <p:sp>
        <p:nvSpPr>
          <p:cNvPr id="7" name="Text 5"/>
          <p:cNvSpPr/>
          <p:nvPr/>
        </p:nvSpPr>
        <p:spPr>
          <a:xfrm>
            <a:off x="640080" y="1856232"/>
            <a:ext cx="3474720" cy="320040"/>
          </a:xfrm>
          <a:prstGeom prst="rect">
            <a:avLst/>
          </a:prstGeom>
          <a:noFill/>
          <a:ln/>
        </p:spPr>
        <p:txBody>
          <a:bodyPr wrap="square" rtlCol="0" anchor="ctr"/>
          <a:lstStyle/>
          <a:p>
            <a:pPr marL="0" indent="0">
              <a:buNone/>
            </a:pPr>
            <a:r>
              <a:rPr lang="en-US" sz="1200" dirty="0">
                <a:solidFill>
                  <a:srgbClr val="1A1A2E"/>
                </a:solidFill>
                <a:latin typeface="Arial" pitchFamily="34" charset="0"/>
                <a:ea typeface="Arial" pitchFamily="34" charset="-122"/>
                <a:cs typeface="Arial" pitchFamily="34" charset="-120"/>
              </a:rPr>
              <a:t>We notice.</a:t>
            </a:r>
            <a:endParaRPr lang="en-US" sz="1200" dirty="0"/>
          </a:p>
        </p:txBody>
      </p:sp>
      <p:sp>
        <p:nvSpPr>
          <p:cNvPr id="8" name="Shape 6"/>
          <p:cNvSpPr/>
          <p:nvPr/>
        </p:nvSpPr>
        <p:spPr>
          <a:xfrm>
            <a:off x="548640" y="2514600"/>
            <a:ext cx="3657600" cy="822960"/>
          </a:xfrm>
          <a:prstGeom prst="roundRect">
            <a:avLst>
              <a:gd name="adj" fmla="val 8889"/>
            </a:avLst>
          </a:prstGeom>
          <a:solidFill>
            <a:srgbClr val="D97706">
              <a:alpha val="12000"/>
            </a:srgbClr>
          </a:solidFill>
          <a:ln w="19050">
            <a:solidFill>
              <a:srgbClr val="D97706"/>
            </a:solidFill>
            <a:prstDash val="solid"/>
          </a:ln>
        </p:spPr>
        <p:txBody>
          <a:bodyPr/>
          <a:lstStyle/>
          <a:p>
            <a:endParaRPr lang="en-US"/>
          </a:p>
        </p:txBody>
      </p:sp>
      <p:sp>
        <p:nvSpPr>
          <p:cNvPr id="9" name="Text 7"/>
          <p:cNvSpPr/>
          <p:nvPr/>
        </p:nvSpPr>
        <p:spPr>
          <a:xfrm>
            <a:off x="640080" y="2560320"/>
            <a:ext cx="3474720" cy="320040"/>
          </a:xfrm>
          <a:prstGeom prst="rect">
            <a:avLst/>
          </a:prstGeom>
          <a:noFill/>
          <a:ln/>
        </p:spPr>
        <p:txBody>
          <a:bodyPr wrap="square" rtlCol="0" anchor="ctr"/>
          <a:lstStyle/>
          <a:p>
            <a:pPr marL="0" indent="0">
              <a:buNone/>
            </a:pPr>
            <a:r>
              <a:rPr lang="en-US" sz="1600" b="1" dirty="0">
                <a:solidFill>
                  <a:srgbClr val="D97706"/>
                </a:solidFill>
                <a:latin typeface="Cambria" pitchFamily="34" charset="0"/>
                <a:ea typeface="Cambria" pitchFamily="34" charset="-122"/>
                <a:cs typeface="Cambria" pitchFamily="34" charset="-120"/>
              </a:rPr>
              <a:t>Below 5%</a:t>
            </a:r>
            <a:endParaRPr lang="en-US" sz="1600" dirty="0"/>
          </a:p>
        </p:txBody>
      </p:sp>
      <p:sp>
        <p:nvSpPr>
          <p:cNvPr id="10" name="Text 8"/>
          <p:cNvSpPr/>
          <p:nvPr/>
        </p:nvSpPr>
        <p:spPr>
          <a:xfrm>
            <a:off x="640080" y="2862072"/>
            <a:ext cx="3474720" cy="320040"/>
          </a:xfrm>
          <a:prstGeom prst="rect">
            <a:avLst/>
          </a:prstGeom>
          <a:noFill/>
          <a:ln/>
        </p:spPr>
        <p:txBody>
          <a:bodyPr wrap="square" rtlCol="0" anchor="ctr"/>
          <a:lstStyle/>
          <a:p>
            <a:pPr marL="0" indent="0">
              <a:buNone/>
            </a:pPr>
            <a:r>
              <a:rPr lang="en-US" sz="1200" dirty="0">
                <a:solidFill>
                  <a:srgbClr val="1A1A2E"/>
                </a:solidFill>
                <a:latin typeface="Arial" pitchFamily="34" charset="0"/>
                <a:ea typeface="Arial" pitchFamily="34" charset="-122"/>
                <a:cs typeface="Arial" pitchFamily="34" charset="-120"/>
              </a:rPr>
              <a:t>Labor becomes the price maker.</a:t>
            </a:r>
            <a:endParaRPr lang="en-US" sz="1200" dirty="0"/>
          </a:p>
        </p:txBody>
      </p:sp>
      <p:sp>
        <p:nvSpPr>
          <p:cNvPr id="11" name="Shape 9"/>
          <p:cNvSpPr/>
          <p:nvPr/>
        </p:nvSpPr>
        <p:spPr>
          <a:xfrm>
            <a:off x="548640" y="3520440"/>
            <a:ext cx="3657600" cy="822960"/>
          </a:xfrm>
          <a:prstGeom prst="roundRect">
            <a:avLst>
              <a:gd name="adj" fmla="val 8889"/>
            </a:avLst>
          </a:prstGeom>
          <a:solidFill>
            <a:srgbClr val="C0392B">
              <a:alpha val="12000"/>
            </a:srgbClr>
          </a:solidFill>
          <a:ln w="19050">
            <a:solidFill>
              <a:srgbClr val="C0392B"/>
            </a:solidFill>
            <a:prstDash val="solid"/>
          </a:ln>
        </p:spPr>
        <p:txBody>
          <a:bodyPr/>
          <a:lstStyle/>
          <a:p>
            <a:endParaRPr lang="en-US"/>
          </a:p>
        </p:txBody>
      </p:sp>
      <p:sp>
        <p:nvSpPr>
          <p:cNvPr id="12" name="Text 10"/>
          <p:cNvSpPr/>
          <p:nvPr/>
        </p:nvSpPr>
        <p:spPr>
          <a:xfrm>
            <a:off x="640080" y="3566160"/>
            <a:ext cx="3474720" cy="320040"/>
          </a:xfrm>
          <a:prstGeom prst="rect">
            <a:avLst/>
          </a:prstGeom>
          <a:noFill/>
          <a:ln/>
        </p:spPr>
        <p:txBody>
          <a:bodyPr wrap="square" rtlCol="0" anchor="ctr"/>
          <a:lstStyle/>
          <a:p>
            <a:pPr marL="0" indent="0">
              <a:buNone/>
            </a:pPr>
            <a:r>
              <a:rPr lang="en-US" sz="1600" b="1" dirty="0">
                <a:solidFill>
                  <a:srgbClr val="C0392B"/>
                </a:solidFill>
                <a:latin typeface="Cambria" pitchFamily="34" charset="0"/>
                <a:ea typeface="Cambria" pitchFamily="34" charset="-122"/>
                <a:cs typeface="Cambria" pitchFamily="34" charset="-120"/>
              </a:rPr>
              <a:t>Below 3%</a:t>
            </a:r>
            <a:endParaRPr lang="en-US" sz="1600" dirty="0"/>
          </a:p>
        </p:txBody>
      </p:sp>
      <p:sp>
        <p:nvSpPr>
          <p:cNvPr id="13" name="Text 11"/>
          <p:cNvSpPr/>
          <p:nvPr/>
        </p:nvSpPr>
        <p:spPr>
          <a:xfrm>
            <a:off x="640080" y="3867912"/>
            <a:ext cx="3474720" cy="320040"/>
          </a:xfrm>
          <a:prstGeom prst="rect">
            <a:avLst/>
          </a:prstGeom>
          <a:noFill/>
          <a:ln/>
        </p:spPr>
        <p:txBody>
          <a:bodyPr wrap="square" rtlCol="0" anchor="ctr"/>
          <a:lstStyle/>
          <a:p>
            <a:pPr marL="0" indent="0">
              <a:buNone/>
            </a:pPr>
            <a:r>
              <a:rPr lang="en-US" sz="1200" dirty="0">
                <a:solidFill>
                  <a:srgbClr val="1A1A2E"/>
                </a:solidFill>
                <a:latin typeface="Arial" pitchFamily="34" charset="0"/>
                <a:ea typeface="Arial" pitchFamily="34" charset="-122"/>
                <a:cs typeface="Arial" pitchFamily="34" charset="-120"/>
              </a:rPr>
              <a:t>Everyone who wants a job has one.</a:t>
            </a:r>
            <a:endParaRPr lang="en-US" sz="1200" dirty="0"/>
          </a:p>
        </p:txBody>
      </p:sp>
      <p:sp>
        <p:nvSpPr>
          <p:cNvPr id="14" name="Shape 12"/>
          <p:cNvSpPr/>
          <p:nvPr/>
        </p:nvSpPr>
        <p:spPr>
          <a:xfrm>
            <a:off x="4663440" y="914400"/>
            <a:ext cx="4114800" cy="3749040"/>
          </a:xfrm>
          <a:prstGeom prst="roundRect">
            <a:avLst>
              <a:gd name="adj" fmla="val 2927"/>
            </a:avLst>
          </a:prstGeom>
          <a:solidFill>
            <a:srgbClr val="1F4E79"/>
          </a:solidFill>
          <a:ln w="12700">
            <a:solidFill>
              <a:srgbClr val="1F4E79"/>
            </a:solidFill>
            <a:prstDash val="solid"/>
          </a:ln>
        </p:spPr>
        <p:txBody>
          <a:bodyPr/>
          <a:lstStyle/>
          <a:p>
            <a:endParaRPr lang="en-US"/>
          </a:p>
        </p:txBody>
      </p:sp>
      <p:sp>
        <p:nvSpPr>
          <p:cNvPr id="15" name="Text 13"/>
          <p:cNvSpPr/>
          <p:nvPr/>
        </p:nvSpPr>
        <p:spPr>
          <a:xfrm>
            <a:off x="4800600" y="1005840"/>
            <a:ext cx="3840480" cy="685800"/>
          </a:xfrm>
          <a:prstGeom prst="rect">
            <a:avLst/>
          </a:prstGeom>
          <a:noFill/>
          <a:ln/>
        </p:spPr>
        <p:txBody>
          <a:bodyPr wrap="square" rtlCol="0" anchor="ctr"/>
          <a:lstStyle/>
          <a:p>
            <a:pPr marL="0" indent="0">
              <a:buNone/>
            </a:pPr>
            <a:r>
              <a:rPr lang="en-US" sz="1400" b="1" dirty="0">
                <a:solidFill>
                  <a:srgbClr val="E8610A"/>
                </a:solidFill>
                <a:latin typeface="Arial" pitchFamily="34" charset="0"/>
                <a:ea typeface="Arial" pitchFamily="34" charset="-122"/>
                <a:cs typeface="Arial" pitchFamily="34" charset="-120"/>
              </a:rPr>
              <a:t>What We Hear from Paper</a:t>
            </a:r>
            <a:endParaRPr lang="en-US" sz="1400" dirty="0"/>
          </a:p>
          <a:p>
            <a:pPr marL="0" indent="0">
              <a:buNone/>
            </a:pPr>
            <a:r>
              <a:rPr lang="en-US" sz="1400" b="1" dirty="0">
                <a:solidFill>
                  <a:srgbClr val="E8610A"/>
                </a:solidFill>
                <a:latin typeface="Arial" pitchFamily="34" charset="0"/>
                <a:ea typeface="Arial" pitchFamily="34" charset="-122"/>
                <a:cs typeface="Arial" pitchFamily="34" charset="-120"/>
              </a:rPr>
              <a:t>&amp; Container Operations</a:t>
            </a:r>
            <a:endParaRPr lang="en-US" sz="1400" dirty="0"/>
          </a:p>
        </p:txBody>
      </p:sp>
      <p:sp>
        <p:nvSpPr>
          <p:cNvPr id="16" name="Text 14"/>
          <p:cNvSpPr/>
          <p:nvPr/>
        </p:nvSpPr>
        <p:spPr>
          <a:xfrm>
            <a:off x="4800600" y="1783080"/>
            <a:ext cx="3749040" cy="475488"/>
          </a:xfrm>
          <a:prstGeom prst="rect">
            <a:avLst/>
          </a:prstGeom>
          <a:noFill/>
          <a:ln/>
        </p:spPr>
        <p:txBody>
          <a:bodyPr wrap="square" rtlCol="0" anchor="ctr"/>
          <a:lstStyle/>
          <a:p>
            <a:pPr marL="0" indent="0">
              <a:buNone/>
            </a:pPr>
            <a:r>
              <a:rPr lang="en-US" sz="1150" dirty="0">
                <a:solidFill>
                  <a:srgbClr val="FFFFFF"/>
                </a:solidFill>
                <a:latin typeface="Arial" pitchFamily="34" charset="0"/>
                <a:ea typeface="Arial" pitchFamily="34" charset="-122"/>
                <a:cs typeface="Arial" pitchFamily="34" charset="-120"/>
              </a:rPr>
              <a:t>We can't fill open positions, much less new ones.</a:t>
            </a:r>
            <a:endParaRPr lang="en-US" sz="1150" dirty="0"/>
          </a:p>
        </p:txBody>
      </p:sp>
      <p:sp>
        <p:nvSpPr>
          <p:cNvPr id="17" name="Shape 15"/>
          <p:cNvSpPr/>
          <p:nvPr/>
        </p:nvSpPr>
        <p:spPr>
          <a:xfrm>
            <a:off x="4800600" y="2231136"/>
            <a:ext cx="3657600" cy="0"/>
          </a:xfrm>
          <a:prstGeom prst="line">
            <a:avLst/>
          </a:prstGeom>
          <a:noFill/>
          <a:ln w="6350">
            <a:solidFill>
              <a:srgbClr val="2D5F7A"/>
            </a:solidFill>
            <a:prstDash val="solid"/>
          </a:ln>
        </p:spPr>
        <p:txBody>
          <a:bodyPr/>
          <a:lstStyle/>
          <a:p>
            <a:endParaRPr lang="en-US"/>
          </a:p>
        </p:txBody>
      </p:sp>
      <p:sp>
        <p:nvSpPr>
          <p:cNvPr id="18" name="Text 16"/>
          <p:cNvSpPr/>
          <p:nvPr/>
        </p:nvSpPr>
        <p:spPr>
          <a:xfrm>
            <a:off x="4800600" y="2331720"/>
            <a:ext cx="3749040" cy="475488"/>
          </a:xfrm>
          <a:prstGeom prst="rect">
            <a:avLst/>
          </a:prstGeom>
          <a:noFill/>
          <a:ln/>
        </p:spPr>
        <p:txBody>
          <a:bodyPr wrap="square" rtlCol="0" anchor="ctr"/>
          <a:lstStyle/>
          <a:p>
            <a:pPr marL="0" indent="0">
              <a:buNone/>
            </a:pPr>
            <a:r>
              <a:rPr lang="en-US" sz="1150" dirty="0">
                <a:solidFill>
                  <a:srgbClr val="FFFFFF"/>
                </a:solidFill>
                <a:latin typeface="Arial" pitchFamily="34" charset="0"/>
                <a:ea typeface="Arial" pitchFamily="34" charset="-122"/>
                <a:cs typeface="Arial" pitchFamily="34" charset="-120"/>
              </a:rPr>
              <a:t>Younger workers won't accept our current schedule.</a:t>
            </a:r>
            <a:endParaRPr lang="en-US" sz="1150" dirty="0"/>
          </a:p>
        </p:txBody>
      </p:sp>
      <p:sp>
        <p:nvSpPr>
          <p:cNvPr id="19" name="Shape 17"/>
          <p:cNvSpPr/>
          <p:nvPr/>
        </p:nvSpPr>
        <p:spPr>
          <a:xfrm>
            <a:off x="4800600" y="2779776"/>
            <a:ext cx="3657600" cy="0"/>
          </a:xfrm>
          <a:prstGeom prst="line">
            <a:avLst/>
          </a:prstGeom>
          <a:noFill/>
          <a:ln w="6350">
            <a:solidFill>
              <a:srgbClr val="2D5F7A"/>
            </a:solidFill>
            <a:prstDash val="solid"/>
          </a:ln>
        </p:spPr>
        <p:txBody>
          <a:bodyPr/>
          <a:lstStyle/>
          <a:p>
            <a:endParaRPr lang="en-US"/>
          </a:p>
        </p:txBody>
      </p:sp>
      <p:sp>
        <p:nvSpPr>
          <p:cNvPr id="20" name="Text 18"/>
          <p:cNvSpPr/>
          <p:nvPr/>
        </p:nvSpPr>
        <p:spPr>
          <a:xfrm>
            <a:off x="4800600" y="2880360"/>
            <a:ext cx="3749040" cy="475488"/>
          </a:xfrm>
          <a:prstGeom prst="rect">
            <a:avLst/>
          </a:prstGeom>
          <a:noFill/>
          <a:ln/>
        </p:spPr>
        <p:txBody>
          <a:bodyPr wrap="square" rtlCol="0" anchor="ctr"/>
          <a:lstStyle/>
          <a:p>
            <a:pPr marL="0" indent="0">
              <a:buNone/>
            </a:pPr>
            <a:r>
              <a:rPr lang="en-US" sz="1150" dirty="0">
                <a:solidFill>
                  <a:srgbClr val="FFFFFF"/>
                </a:solidFill>
                <a:latin typeface="Arial" pitchFamily="34" charset="0"/>
                <a:ea typeface="Arial" pitchFamily="34" charset="-122"/>
                <a:cs typeface="Arial" pitchFamily="34" charset="-120"/>
              </a:rPr>
              <a:t>High absenteeism — especially on weekends.</a:t>
            </a:r>
            <a:endParaRPr lang="en-US" sz="1150" dirty="0"/>
          </a:p>
        </p:txBody>
      </p:sp>
      <p:sp>
        <p:nvSpPr>
          <p:cNvPr id="21" name="Shape 19"/>
          <p:cNvSpPr/>
          <p:nvPr/>
        </p:nvSpPr>
        <p:spPr>
          <a:xfrm>
            <a:off x="4800600" y="3328416"/>
            <a:ext cx="3657600" cy="0"/>
          </a:xfrm>
          <a:prstGeom prst="line">
            <a:avLst/>
          </a:prstGeom>
          <a:noFill/>
          <a:ln w="6350">
            <a:solidFill>
              <a:srgbClr val="2D5F7A"/>
            </a:solidFill>
            <a:prstDash val="solid"/>
          </a:ln>
        </p:spPr>
        <p:txBody>
          <a:bodyPr/>
          <a:lstStyle/>
          <a:p>
            <a:endParaRPr lang="en-US"/>
          </a:p>
        </p:txBody>
      </p:sp>
      <p:sp>
        <p:nvSpPr>
          <p:cNvPr id="22" name="Text 20"/>
          <p:cNvSpPr/>
          <p:nvPr/>
        </p:nvSpPr>
        <p:spPr>
          <a:xfrm>
            <a:off x="4800600" y="3429000"/>
            <a:ext cx="3749040" cy="475488"/>
          </a:xfrm>
          <a:prstGeom prst="rect">
            <a:avLst/>
          </a:prstGeom>
          <a:noFill/>
          <a:ln/>
        </p:spPr>
        <p:txBody>
          <a:bodyPr wrap="square" rtlCol="0" anchor="ctr"/>
          <a:lstStyle/>
          <a:p>
            <a:pPr marL="0" indent="0">
              <a:buNone/>
            </a:pPr>
            <a:r>
              <a:rPr lang="en-US" sz="1150" dirty="0">
                <a:solidFill>
                  <a:srgbClr val="FFFFFF"/>
                </a:solidFill>
                <a:latin typeface="Arial" pitchFamily="34" charset="0"/>
                <a:ea typeface="Arial" pitchFamily="34" charset="-122"/>
                <a:cs typeface="Arial" pitchFamily="34" charset="-120"/>
              </a:rPr>
              <a:t>We're losing skilled people to easier schedules.</a:t>
            </a:r>
            <a:endParaRPr lang="en-US" sz="1150" dirty="0"/>
          </a:p>
        </p:txBody>
      </p:sp>
      <p:sp>
        <p:nvSpPr>
          <p:cNvPr id="23" name="Shape 21"/>
          <p:cNvSpPr/>
          <p:nvPr/>
        </p:nvSpPr>
        <p:spPr>
          <a:xfrm>
            <a:off x="4800600" y="3877056"/>
            <a:ext cx="3657600" cy="0"/>
          </a:xfrm>
          <a:prstGeom prst="line">
            <a:avLst/>
          </a:prstGeom>
          <a:noFill/>
          <a:ln w="6350">
            <a:solidFill>
              <a:srgbClr val="2D5F7A"/>
            </a:solidFill>
            <a:prstDash val="solid"/>
          </a:ln>
        </p:spPr>
        <p:txBody>
          <a:bodyPr/>
          <a:lstStyle/>
          <a:p>
            <a:endParaRPr lang="en-US"/>
          </a:p>
        </p:txBody>
      </p:sp>
      <p:sp>
        <p:nvSpPr>
          <p:cNvPr id="24" name="Text 22"/>
          <p:cNvSpPr/>
          <p:nvPr/>
        </p:nvSpPr>
        <p:spPr>
          <a:xfrm>
            <a:off x="4800600" y="3977640"/>
            <a:ext cx="3749040" cy="475488"/>
          </a:xfrm>
          <a:prstGeom prst="rect">
            <a:avLst/>
          </a:prstGeom>
          <a:noFill/>
          <a:ln/>
        </p:spPr>
        <p:txBody>
          <a:bodyPr wrap="square" rtlCol="0" anchor="ctr"/>
          <a:lstStyle/>
          <a:p>
            <a:pPr marL="0" indent="0">
              <a:buNone/>
            </a:pPr>
            <a:r>
              <a:rPr lang="en-US" sz="1150" dirty="0">
                <a:solidFill>
                  <a:srgbClr val="FFFFFF"/>
                </a:solidFill>
                <a:latin typeface="Arial" pitchFamily="34" charset="0"/>
                <a:ea typeface="Arial" pitchFamily="34" charset="-122"/>
                <a:cs typeface="Arial" pitchFamily="34" charset="-120"/>
              </a:rPr>
              <a:t>Forced overtime is burning out our best employees</a:t>
            </a:r>
            <a:endParaRPr lang="en-US" sz="1150" dirty="0"/>
          </a:p>
          <a:p>
            <a:pPr marL="0" indent="0">
              <a:buNone/>
            </a:pPr>
            <a:r>
              <a:rPr lang="en-US" sz="1150" dirty="0">
                <a:solidFill>
                  <a:srgbClr val="FFFFFF"/>
                </a:solidFill>
                <a:latin typeface="Arial" pitchFamily="34" charset="0"/>
                <a:ea typeface="Arial" pitchFamily="34" charset="-122"/>
                <a:cs typeface="Arial" pitchFamily="34" charset="-120"/>
              </a:rPr>
              <a:t>and chasing away our newest employees.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marL="0" indent="0">
              <a:buNone/>
            </a:pPr>
            <a:r>
              <a:rPr lang="en-US" sz="2800" b="1" dirty="0">
                <a:solidFill>
                  <a:srgbClr val="1F4E79"/>
                </a:solidFill>
                <a:latin typeface="Cambria" pitchFamily="34" charset="0"/>
                <a:ea typeface="Cambria" pitchFamily="34" charset="-122"/>
                <a:cs typeface="Cambria" pitchFamily="34" charset="-120"/>
              </a:rPr>
              <a:t>Two Perspectives on the Same Schedule</a:t>
            </a:r>
            <a:endParaRPr lang="en-US" sz="2800" dirty="0"/>
          </a:p>
        </p:txBody>
      </p:sp>
      <p:sp>
        <p:nvSpPr>
          <p:cNvPr id="3" name="Shape 1"/>
          <p:cNvSpPr/>
          <p:nvPr/>
        </p:nvSpPr>
        <p:spPr>
          <a:xfrm>
            <a:off x="365760" y="914400"/>
            <a:ext cx="3931920" cy="2926080"/>
          </a:xfrm>
          <a:prstGeom prst="roundRect">
            <a:avLst>
              <a:gd name="adj" fmla="val 3750"/>
            </a:avLst>
          </a:prstGeom>
          <a:solidFill>
            <a:srgbClr val="1F4E79"/>
          </a:solidFill>
          <a:ln w="12700">
            <a:solidFill>
              <a:srgbClr val="1F4E79"/>
            </a:solidFill>
            <a:prstDash val="solid"/>
          </a:ln>
          <a:effectLst>
            <a:outerShdw blurRad="101600" dist="38100" dir="2700000" algn="bl" rotWithShape="0">
              <a:srgbClr val="000000">
                <a:alpha val="12000"/>
              </a:srgbClr>
            </a:outerShdw>
          </a:effectLst>
        </p:spPr>
        <p:txBody>
          <a:bodyPr/>
          <a:lstStyle/>
          <a:p>
            <a:endParaRPr lang="en-US"/>
          </a:p>
        </p:txBody>
      </p:sp>
      <p:sp>
        <p:nvSpPr>
          <p:cNvPr id="4" name="Text 2"/>
          <p:cNvSpPr/>
          <p:nvPr/>
        </p:nvSpPr>
        <p:spPr>
          <a:xfrm>
            <a:off x="502920" y="1005840"/>
            <a:ext cx="3657600" cy="41148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Management's View</a:t>
            </a:r>
            <a:endParaRPr lang="en-US" sz="1600" dirty="0"/>
          </a:p>
        </p:txBody>
      </p:sp>
      <p:sp>
        <p:nvSpPr>
          <p:cNvPr id="5" name="Text 3"/>
          <p:cNvSpPr/>
          <p:nvPr/>
        </p:nvSpPr>
        <p:spPr>
          <a:xfrm>
            <a:off x="548640" y="1508760"/>
            <a:ext cx="3611880" cy="1645920"/>
          </a:xfrm>
          <a:prstGeom prst="rect">
            <a:avLst/>
          </a:prstGeom>
          <a:noFill/>
          <a:ln/>
        </p:spPr>
        <p:txBody>
          <a:bodyPr wrap="square" rtlCol="0" anchor="ctr"/>
          <a:lstStyle/>
          <a:p>
            <a:pPr marL="0" indent="0" algn="ctr">
              <a:buNone/>
            </a:pPr>
            <a:r>
              <a:rPr lang="en-US" sz="1400" i="1" dirty="0">
                <a:solidFill>
                  <a:srgbClr val="E2E8F0"/>
                </a:solidFill>
                <a:latin typeface="Arial" pitchFamily="34" charset="0"/>
                <a:ea typeface="Arial" pitchFamily="34" charset="-122"/>
                <a:cs typeface="Arial" pitchFamily="34" charset="-120"/>
              </a:rPr>
              <a:t>“The schedule tells me when people will be at work. I can see if I have the coverage I need when I need it.”</a:t>
            </a:r>
            <a:endParaRPr lang="en-US" sz="1400" dirty="0"/>
          </a:p>
        </p:txBody>
      </p:sp>
      <p:sp>
        <p:nvSpPr>
          <p:cNvPr id="6" name="Shape 4"/>
          <p:cNvSpPr/>
          <p:nvPr/>
        </p:nvSpPr>
        <p:spPr>
          <a:xfrm>
            <a:off x="4846320" y="914400"/>
            <a:ext cx="3931920" cy="2926080"/>
          </a:xfrm>
          <a:prstGeom prst="roundRect">
            <a:avLst>
              <a:gd name="adj" fmla="val 3750"/>
            </a:avLst>
          </a:prstGeom>
          <a:solidFill>
            <a:srgbClr val="1D6A72"/>
          </a:solidFill>
          <a:ln w="12700">
            <a:solidFill>
              <a:srgbClr val="1D6A72"/>
            </a:solidFill>
            <a:prstDash val="solid"/>
          </a:ln>
          <a:effectLst>
            <a:outerShdw blurRad="101600" dist="38100" dir="2700000" algn="bl" rotWithShape="0">
              <a:srgbClr val="000000">
                <a:alpha val="12000"/>
              </a:srgbClr>
            </a:outerShdw>
          </a:effectLst>
        </p:spPr>
        <p:txBody>
          <a:bodyPr/>
          <a:lstStyle/>
          <a:p>
            <a:endParaRPr lang="en-US"/>
          </a:p>
        </p:txBody>
      </p:sp>
      <p:sp>
        <p:nvSpPr>
          <p:cNvPr id="7" name="Text 5"/>
          <p:cNvSpPr/>
          <p:nvPr/>
        </p:nvSpPr>
        <p:spPr>
          <a:xfrm>
            <a:off x="4983480" y="1005840"/>
            <a:ext cx="3657600" cy="41148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Employee's View</a:t>
            </a:r>
            <a:endParaRPr lang="en-US" sz="1600" dirty="0"/>
          </a:p>
        </p:txBody>
      </p:sp>
      <p:sp>
        <p:nvSpPr>
          <p:cNvPr id="8" name="Text 6"/>
          <p:cNvSpPr/>
          <p:nvPr/>
        </p:nvSpPr>
        <p:spPr>
          <a:xfrm>
            <a:off x="5029200" y="1508760"/>
            <a:ext cx="3611880" cy="1645920"/>
          </a:xfrm>
          <a:prstGeom prst="rect">
            <a:avLst/>
          </a:prstGeom>
          <a:noFill/>
          <a:ln/>
        </p:spPr>
        <p:txBody>
          <a:bodyPr wrap="square" rtlCol="0" anchor="ctr"/>
          <a:lstStyle/>
          <a:p>
            <a:pPr marL="0" indent="0" algn="ctr">
              <a:buNone/>
            </a:pPr>
            <a:r>
              <a:rPr lang="en-US" sz="1400" i="1" dirty="0">
                <a:solidFill>
                  <a:srgbClr val="E2E8F0"/>
                </a:solidFill>
                <a:latin typeface="Arial" pitchFamily="34" charset="0"/>
                <a:ea typeface="Arial" pitchFamily="34" charset="-122"/>
                <a:cs typeface="Arial" pitchFamily="34" charset="-120"/>
              </a:rPr>
              <a:t>“The schedule tells me when I don’t have to come to work. It tells me when I can plan the rest of my life.”</a:t>
            </a:r>
            <a:endParaRPr lang="en-US" sz="1400" dirty="0"/>
          </a:p>
        </p:txBody>
      </p:sp>
      <p:sp>
        <p:nvSpPr>
          <p:cNvPr id="9" name="Shape 7"/>
          <p:cNvSpPr/>
          <p:nvPr/>
        </p:nvSpPr>
        <p:spPr>
          <a:xfrm>
            <a:off x="365760" y="3977640"/>
            <a:ext cx="8412480" cy="731520"/>
          </a:xfrm>
          <a:prstGeom prst="roundRect">
            <a:avLst>
              <a:gd name="adj" fmla="val 12500"/>
            </a:avLst>
          </a:prstGeom>
          <a:solidFill>
            <a:srgbClr val="F0F4F8"/>
          </a:solidFill>
          <a:ln w="12700">
            <a:solidFill>
              <a:srgbClr val="E2E8F0"/>
            </a:solidFill>
            <a:prstDash val="solid"/>
          </a:ln>
        </p:spPr>
        <p:txBody>
          <a:bodyPr/>
          <a:lstStyle/>
          <a:p>
            <a:endParaRPr lang="en-US"/>
          </a:p>
        </p:txBody>
      </p:sp>
      <p:sp>
        <p:nvSpPr>
          <p:cNvPr id="10" name="Text 8"/>
          <p:cNvSpPr/>
          <p:nvPr/>
        </p:nvSpPr>
        <p:spPr>
          <a:xfrm>
            <a:off x="457200" y="4005072"/>
            <a:ext cx="8229600" cy="685800"/>
          </a:xfrm>
          <a:prstGeom prst="rect">
            <a:avLst/>
          </a:prstGeom>
          <a:noFill/>
          <a:ln/>
        </p:spPr>
        <p:txBody>
          <a:bodyPr wrap="square" rtlCol="0" anchor="ctr"/>
          <a:lstStyle/>
          <a:p>
            <a:pPr marL="0" indent="0" algn="ctr">
              <a:buNone/>
            </a:pPr>
            <a:r>
              <a:rPr lang="en-US" sz="1500" b="1" dirty="0">
                <a:solidFill>
                  <a:srgbClr val="1F4E79"/>
                </a:solidFill>
                <a:latin typeface="Cambria" pitchFamily="34" charset="0"/>
                <a:ea typeface="Cambria" pitchFamily="34" charset="-122"/>
                <a:cs typeface="Cambria" pitchFamily="34" charset="-120"/>
              </a:rPr>
              <a:t>The best schedule works for both. But if you don’t ask, you’ll never know.</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Listen to Them All, Not Just the Loudest</a:t>
            </a:r>
            <a:endParaRPr lang="en-US" sz="2600" dirty="0"/>
          </a:p>
        </p:txBody>
      </p:sp>
      <p:sp>
        <p:nvSpPr>
          <p:cNvPr id="3" name="Text 1"/>
          <p:cNvSpPr/>
          <p:nvPr/>
        </p:nvSpPr>
        <p:spPr>
          <a:xfrm>
            <a:off x="457200" y="795528"/>
            <a:ext cx="8229600" cy="274320"/>
          </a:xfrm>
          <a:prstGeom prst="rect">
            <a:avLst/>
          </a:prstGeom>
          <a:noFill/>
          <a:ln/>
        </p:spPr>
        <p:txBody>
          <a:bodyPr wrap="square" rtlCol="0" anchor="ctr"/>
          <a:lstStyle/>
          <a:p>
            <a:pPr marL="0" indent="0">
              <a:buNone/>
            </a:pPr>
            <a:r>
              <a:rPr lang="en-US" sz="1300" i="1" dirty="0">
                <a:solidFill>
                  <a:srgbClr val="E8610A"/>
                </a:solidFill>
                <a:latin typeface="Arial" pitchFamily="34" charset="0"/>
                <a:ea typeface="Arial" pitchFamily="34" charset="-122"/>
                <a:cs typeface="Arial" pitchFamily="34" charset="-120"/>
              </a:rPr>
              <a:t>Survey the whole workforce, break it out by who they are, and the right decision gets obvious.</a:t>
            </a:r>
            <a:endParaRPr lang="en-US" sz="1300" dirty="0"/>
          </a:p>
        </p:txBody>
      </p:sp>
      <p:sp>
        <p:nvSpPr>
          <p:cNvPr id="4" name="pan"/>
          <p:cNvSpPr/>
          <p:nvPr/>
        </p:nvSpPr>
        <p:spPr>
          <a:xfrm>
            <a:off x="457200" y="1371600"/>
            <a:ext cx="3017520" cy="2606040"/>
          </a:xfrm>
          <a:prstGeom prst="roundRect">
            <a:avLst>
              <a:gd name="adj" fmla="val 5000"/>
            </a:avLst>
          </a:prstGeom>
          <a:solidFill>
            <a:srgbClr val="F0F4F8"/>
          </a:solidFill>
          <a:ln w="15875">
            <a:solidFill>
              <a:srgbClr val="1F4E79"/>
            </a:solidFill>
          </a:ln>
        </p:spPr>
        <p:txBody>
          <a:bodyPr/>
          <a:lstStyle/>
          <a:p>
            <a:endParaRPr lang="en-US"/>
          </a:p>
        </p:txBody>
      </p:sp>
      <p:sp>
        <p:nvSpPr>
          <p:cNvPr id="5" name="t"/>
          <p:cNvSpPr/>
          <p:nvPr/>
        </p:nvSpPr>
        <p:spPr>
          <a:xfrm>
            <a:off x="457200" y="1481328"/>
            <a:ext cx="3017520" cy="310896"/>
          </a:xfrm>
          <a:prstGeom prst="rect">
            <a:avLst/>
          </a:prstGeom>
        </p:spPr>
        <p:txBody>
          <a:bodyPr wrap="square" lIns="12000" tIns="6000" rIns="12000" bIns="6000" rtlCol="0" anchor="t"/>
          <a:lstStyle/>
          <a:p>
            <a:pPr marL="0" indent="0" algn="ctr">
              <a:buNone/>
            </a:pPr>
            <a:r>
              <a:rPr lang="en-US" sz="1000" b="1" dirty="0">
                <a:solidFill>
                  <a:srgbClr val="1F4E79"/>
                </a:solidFill>
                <a:latin typeface="Arial" pitchFamily="34" charset="0"/>
                <a:cs typeface="Arial" pitchFamily="34" charset="0"/>
              </a:rPr>
              <a:t>ASK EVERYONE ABOUT</a:t>
            </a:r>
          </a:p>
        </p:txBody>
      </p:sp>
      <p:sp>
        <p:nvSpPr>
          <p:cNvPr id="6" name="chip"/>
          <p:cNvSpPr/>
          <p:nvPr/>
        </p:nvSpPr>
        <p:spPr>
          <a:xfrm>
            <a:off x="731520" y="1901952"/>
            <a:ext cx="2468880" cy="329184"/>
          </a:xfrm>
          <a:prstGeom prst="roundRect">
            <a:avLst>
              <a:gd name="adj" fmla="val 30000"/>
            </a:avLst>
          </a:prstGeom>
          <a:solidFill>
            <a:srgbClr val="1F4E79"/>
          </a:solidFill>
          <a:ln>
            <a:noFill/>
          </a:ln>
        </p:spPr>
        <p:txBody>
          <a:bodyPr lIns="0" tIns="0" rIns="0" bIns="0" anchor="ctr"/>
          <a:lstStyle/>
          <a:p>
            <a:pPr algn="ctr">
              <a:buNone/>
            </a:pPr>
            <a:r>
              <a:rPr lang="en-US" sz="1050" b="1" dirty="0">
                <a:solidFill>
                  <a:srgbClr val="FFFFFF"/>
                </a:solidFill>
                <a:latin typeface="Arial" pitchFamily="34" charset="0"/>
              </a:rPr>
              <a:t>Shift length</a:t>
            </a:r>
          </a:p>
        </p:txBody>
      </p:sp>
      <p:sp>
        <p:nvSpPr>
          <p:cNvPr id="7" name="chip"/>
          <p:cNvSpPr/>
          <p:nvPr/>
        </p:nvSpPr>
        <p:spPr>
          <a:xfrm>
            <a:off x="731520" y="2304288"/>
            <a:ext cx="2468880" cy="329184"/>
          </a:xfrm>
          <a:prstGeom prst="roundRect">
            <a:avLst>
              <a:gd name="adj" fmla="val 30000"/>
            </a:avLst>
          </a:prstGeom>
          <a:solidFill>
            <a:srgbClr val="1F4E79"/>
          </a:solidFill>
          <a:ln>
            <a:noFill/>
          </a:ln>
        </p:spPr>
        <p:txBody>
          <a:bodyPr lIns="0" tIns="0" rIns="0" bIns="0" anchor="ctr"/>
          <a:lstStyle/>
          <a:p>
            <a:pPr algn="ctr">
              <a:buNone/>
            </a:pPr>
            <a:r>
              <a:rPr lang="en-US" sz="1050" b="1" dirty="0">
                <a:solidFill>
                  <a:srgbClr val="FFFFFF"/>
                </a:solidFill>
                <a:latin typeface="Arial" pitchFamily="34" charset="0"/>
              </a:rPr>
              <a:t>Overtime</a:t>
            </a:r>
          </a:p>
        </p:txBody>
      </p:sp>
      <p:sp>
        <p:nvSpPr>
          <p:cNvPr id="8" name="chip"/>
          <p:cNvSpPr/>
          <p:nvPr/>
        </p:nvSpPr>
        <p:spPr>
          <a:xfrm>
            <a:off x="731520" y="2706624"/>
            <a:ext cx="2468880" cy="329184"/>
          </a:xfrm>
          <a:prstGeom prst="roundRect">
            <a:avLst>
              <a:gd name="adj" fmla="val 30000"/>
            </a:avLst>
          </a:prstGeom>
          <a:solidFill>
            <a:srgbClr val="1F4E79"/>
          </a:solidFill>
          <a:ln>
            <a:noFill/>
          </a:ln>
        </p:spPr>
        <p:txBody>
          <a:bodyPr lIns="0" tIns="0" rIns="0" bIns="0" anchor="ctr"/>
          <a:lstStyle/>
          <a:p>
            <a:pPr algn="ctr">
              <a:buNone/>
            </a:pPr>
            <a:r>
              <a:rPr lang="en-US" sz="1050" b="1" dirty="0">
                <a:solidFill>
                  <a:srgbClr val="FFFFFF"/>
                </a:solidFill>
                <a:latin typeface="Arial" pitchFamily="34" charset="0"/>
              </a:rPr>
              <a:t>Start times</a:t>
            </a:r>
          </a:p>
        </p:txBody>
      </p:sp>
      <p:sp>
        <p:nvSpPr>
          <p:cNvPr id="9" name="chip"/>
          <p:cNvSpPr/>
          <p:nvPr/>
        </p:nvSpPr>
        <p:spPr>
          <a:xfrm>
            <a:off x="731520" y="3108960"/>
            <a:ext cx="2468880" cy="329184"/>
          </a:xfrm>
          <a:prstGeom prst="roundRect">
            <a:avLst>
              <a:gd name="adj" fmla="val 30000"/>
            </a:avLst>
          </a:prstGeom>
          <a:solidFill>
            <a:srgbClr val="1F4E79"/>
          </a:solidFill>
          <a:ln>
            <a:noFill/>
          </a:ln>
        </p:spPr>
        <p:txBody>
          <a:bodyPr lIns="0" tIns="0" rIns="0" bIns="0" anchor="ctr"/>
          <a:lstStyle/>
          <a:p>
            <a:pPr algn="ctr">
              <a:buNone/>
            </a:pPr>
            <a:r>
              <a:rPr lang="en-US" sz="1050" b="1" dirty="0">
                <a:solidFill>
                  <a:srgbClr val="FFFFFF"/>
                </a:solidFill>
                <a:latin typeface="Arial" pitchFamily="34" charset="0"/>
              </a:rPr>
              <a:t>Work environment</a:t>
            </a:r>
          </a:p>
        </p:txBody>
      </p:sp>
      <p:sp>
        <p:nvSpPr>
          <p:cNvPr id="10" name="chip"/>
          <p:cNvSpPr/>
          <p:nvPr/>
        </p:nvSpPr>
        <p:spPr>
          <a:xfrm>
            <a:off x="731520" y="3511296"/>
            <a:ext cx="2468880" cy="329184"/>
          </a:xfrm>
          <a:prstGeom prst="roundRect">
            <a:avLst>
              <a:gd name="adj" fmla="val 30000"/>
            </a:avLst>
          </a:prstGeom>
          <a:solidFill>
            <a:srgbClr val="1F4E79"/>
          </a:solidFill>
          <a:ln>
            <a:noFill/>
          </a:ln>
        </p:spPr>
        <p:txBody>
          <a:bodyPr lIns="0" tIns="0" rIns="0" bIns="0" anchor="ctr"/>
          <a:lstStyle/>
          <a:p>
            <a:pPr algn="ctr">
              <a:buNone/>
            </a:pPr>
            <a:r>
              <a:rPr lang="en-US" sz="1050" b="1" dirty="0">
                <a:solidFill>
                  <a:srgbClr val="FFFFFF"/>
                </a:solidFill>
                <a:latin typeface="Arial" pitchFamily="34" charset="0"/>
              </a:rPr>
              <a:t>Their own ideas</a:t>
            </a:r>
          </a:p>
        </p:txBody>
      </p:sp>
      <p:sp>
        <p:nvSpPr>
          <p:cNvPr id="11" name="arr"/>
          <p:cNvSpPr/>
          <p:nvPr/>
        </p:nvSpPr>
        <p:spPr>
          <a:xfrm>
            <a:off x="3520440" y="2674620"/>
            <a:ext cx="365760" cy="0"/>
          </a:xfrm>
          <a:prstGeom prst="line">
            <a:avLst/>
          </a:prstGeom>
          <a:ln w="22225">
            <a:solidFill>
              <a:srgbClr val="94A3B8"/>
            </a:solidFill>
            <a:tailEnd type="triangle" w="med" len="med"/>
          </a:ln>
        </p:spPr>
        <p:txBody>
          <a:bodyPr/>
          <a:lstStyle/>
          <a:p>
            <a:endParaRPr lang="en-US"/>
          </a:p>
        </p:txBody>
      </p:sp>
      <p:sp>
        <p:nvSpPr>
          <p:cNvPr id="12" name="pan"/>
          <p:cNvSpPr/>
          <p:nvPr/>
        </p:nvSpPr>
        <p:spPr>
          <a:xfrm>
            <a:off x="3931920" y="1371600"/>
            <a:ext cx="2468880" cy="2606040"/>
          </a:xfrm>
          <a:prstGeom prst="roundRect">
            <a:avLst>
              <a:gd name="adj" fmla="val 5000"/>
            </a:avLst>
          </a:prstGeom>
          <a:solidFill>
            <a:srgbClr val="F0F4F8"/>
          </a:solidFill>
          <a:ln w="15875">
            <a:solidFill>
              <a:srgbClr val="1D6A72"/>
            </a:solidFill>
          </a:ln>
        </p:spPr>
        <p:txBody>
          <a:bodyPr/>
          <a:lstStyle/>
          <a:p>
            <a:endParaRPr lang="en-US"/>
          </a:p>
        </p:txBody>
      </p:sp>
      <p:sp>
        <p:nvSpPr>
          <p:cNvPr id="13" name="t"/>
          <p:cNvSpPr/>
          <p:nvPr/>
        </p:nvSpPr>
        <p:spPr>
          <a:xfrm>
            <a:off x="3931920" y="1481328"/>
            <a:ext cx="2468880" cy="310896"/>
          </a:xfrm>
          <a:prstGeom prst="rect">
            <a:avLst/>
          </a:prstGeom>
        </p:spPr>
        <p:txBody>
          <a:bodyPr wrap="square" lIns="12000" tIns="6000" rIns="12000" bIns="6000" rtlCol="0" anchor="t"/>
          <a:lstStyle/>
          <a:p>
            <a:pPr marL="0" indent="0" algn="ctr">
              <a:buNone/>
            </a:pPr>
            <a:r>
              <a:rPr lang="en-US" sz="1000" b="1" dirty="0">
                <a:solidFill>
                  <a:srgbClr val="1D6A72"/>
                </a:solidFill>
                <a:latin typeface="Arial" pitchFamily="34" charset="0"/>
                <a:cs typeface="Arial" pitchFamily="34" charset="0"/>
              </a:rPr>
              <a:t>BREAK IT OUT BY</a:t>
            </a:r>
          </a:p>
        </p:txBody>
      </p:sp>
      <p:sp>
        <p:nvSpPr>
          <p:cNvPr id="14" name="chip"/>
          <p:cNvSpPr/>
          <p:nvPr/>
        </p:nvSpPr>
        <p:spPr>
          <a:xfrm>
            <a:off x="4206240" y="1975104"/>
            <a:ext cx="1920240" cy="329184"/>
          </a:xfrm>
          <a:prstGeom prst="roundRect">
            <a:avLst>
              <a:gd name="adj" fmla="val 30000"/>
            </a:avLst>
          </a:prstGeom>
          <a:solidFill>
            <a:srgbClr val="1D6A72"/>
          </a:solidFill>
          <a:ln>
            <a:noFill/>
          </a:ln>
        </p:spPr>
        <p:txBody>
          <a:bodyPr lIns="0" tIns="0" rIns="0" bIns="0" anchor="ctr"/>
          <a:lstStyle/>
          <a:p>
            <a:pPr algn="ctr">
              <a:buNone/>
            </a:pPr>
            <a:r>
              <a:rPr lang="en-US" sz="1050" b="1" dirty="0">
                <a:solidFill>
                  <a:srgbClr val="FFFFFF"/>
                </a:solidFill>
                <a:latin typeface="Arial" pitchFamily="34" charset="0"/>
              </a:rPr>
              <a:t>Job</a:t>
            </a:r>
          </a:p>
        </p:txBody>
      </p:sp>
      <p:sp>
        <p:nvSpPr>
          <p:cNvPr id="15" name="chip"/>
          <p:cNvSpPr/>
          <p:nvPr/>
        </p:nvSpPr>
        <p:spPr>
          <a:xfrm>
            <a:off x="4206240" y="2432304"/>
            <a:ext cx="1920240" cy="329184"/>
          </a:xfrm>
          <a:prstGeom prst="roundRect">
            <a:avLst>
              <a:gd name="adj" fmla="val 30000"/>
            </a:avLst>
          </a:prstGeom>
          <a:solidFill>
            <a:srgbClr val="1D6A72"/>
          </a:solidFill>
          <a:ln>
            <a:noFill/>
          </a:ln>
        </p:spPr>
        <p:txBody>
          <a:bodyPr lIns="0" tIns="0" rIns="0" bIns="0" anchor="ctr"/>
          <a:lstStyle/>
          <a:p>
            <a:pPr algn="ctr">
              <a:buNone/>
            </a:pPr>
            <a:r>
              <a:rPr lang="en-US" sz="1050" b="1" dirty="0">
                <a:solidFill>
                  <a:srgbClr val="FFFFFF"/>
                </a:solidFill>
                <a:latin typeface="Arial" pitchFamily="34" charset="0"/>
              </a:rPr>
              <a:t>Seniority</a:t>
            </a:r>
          </a:p>
        </p:txBody>
      </p:sp>
      <p:sp>
        <p:nvSpPr>
          <p:cNvPr id="16" name="chip"/>
          <p:cNvSpPr/>
          <p:nvPr/>
        </p:nvSpPr>
        <p:spPr>
          <a:xfrm>
            <a:off x="4206240" y="2889504"/>
            <a:ext cx="1920240" cy="329184"/>
          </a:xfrm>
          <a:prstGeom prst="roundRect">
            <a:avLst>
              <a:gd name="adj" fmla="val 30000"/>
            </a:avLst>
          </a:prstGeom>
          <a:solidFill>
            <a:srgbClr val="1D6A72"/>
          </a:solidFill>
          <a:ln>
            <a:noFill/>
          </a:ln>
        </p:spPr>
        <p:txBody>
          <a:bodyPr lIns="0" tIns="0" rIns="0" bIns="0" anchor="ctr"/>
          <a:lstStyle/>
          <a:p>
            <a:pPr algn="ctr">
              <a:buNone/>
            </a:pPr>
            <a:r>
              <a:rPr lang="en-US" sz="1050" b="1" dirty="0">
                <a:solidFill>
                  <a:srgbClr val="FFFFFF"/>
                </a:solidFill>
                <a:latin typeface="Arial" pitchFamily="34" charset="0"/>
              </a:rPr>
              <a:t>Age</a:t>
            </a:r>
          </a:p>
        </p:txBody>
      </p:sp>
      <p:sp>
        <p:nvSpPr>
          <p:cNvPr id="17" name="chip"/>
          <p:cNvSpPr/>
          <p:nvPr/>
        </p:nvSpPr>
        <p:spPr>
          <a:xfrm>
            <a:off x="4206240" y="3346704"/>
            <a:ext cx="1920240" cy="329184"/>
          </a:xfrm>
          <a:prstGeom prst="roundRect">
            <a:avLst>
              <a:gd name="adj" fmla="val 30000"/>
            </a:avLst>
          </a:prstGeom>
          <a:solidFill>
            <a:srgbClr val="1D6A72"/>
          </a:solidFill>
          <a:ln>
            <a:noFill/>
          </a:ln>
        </p:spPr>
        <p:txBody>
          <a:bodyPr lIns="0" tIns="0" rIns="0" bIns="0" anchor="ctr"/>
          <a:lstStyle/>
          <a:p>
            <a:pPr algn="ctr">
              <a:buNone/>
            </a:pPr>
            <a:r>
              <a:rPr lang="en-US" sz="1050" b="1" dirty="0">
                <a:solidFill>
                  <a:srgbClr val="FFFFFF"/>
                </a:solidFill>
                <a:latin typeface="Arial" pitchFamily="34" charset="0"/>
              </a:rPr>
              <a:t>Department</a:t>
            </a:r>
          </a:p>
        </p:txBody>
      </p:sp>
      <p:sp>
        <p:nvSpPr>
          <p:cNvPr id="18" name="arr"/>
          <p:cNvSpPr/>
          <p:nvPr/>
        </p:nvSpPr>
        <p:spPr>
          <a:xfrm>
            <a:off x="6446520" y="2674620"/>
            <a:ext cx="365760" cy="0"/>
          </a:xfrm>
          <a:prstGeom prst="line">
            <a:avLst/>
          </a:prstGeom>
          <a:ln w="22225">
            <a:solidFill>
              <a:srgbClr val="94A3B8"/>
            </a:solidFill>
            <a:tailEnd type="triangle" w="med" len="med"/>
          </a:ln>
        </p:spPr>
        <p:txBody>
          <a:bodyPr/>
          <a:lstStyle/>
          <a:p>
            <a:endParaRPr lang="en-US"/>
          </a:p>
        </p:txBody>
      </p:sp>
      <p:sp>
        <p:nvSpPr>
          <p:cNvPr id="19" name="pan"/>
          <p:cNvSpPr/>
          <p:nvPr/>
        </p:nvSpPr>
        <p:spPr>
          <a:xfrm>
            <a:off x="6858000" y="1371600"/>
            <a:ext cx="1828800" cy="2606040"/>
          </a:xfrm>
          <a:prstGeom prst="roundRect">
            <a:avLst>
              <a:gd name="adj" fmla="val 5000"/>
            </a:avLst>
          </a:prstGeom>
          <a:solidFill>
            <a:srgbClr val="E8610A">
              <a:alpha val="10000"/>
            </a:srgbClr>
          </a:solidFill>
          <a:ln w="15875">
            <a:solidFill>
              <a:srgbClr val="E8610A"/>
            </a:solidFill>
          </a:ln>
        </p:spPr>
        <p:txBody>
          <a:bodyPr/>
          <a:lstStyle/>
          <a:p>
            <a:endParaRPr lang="en-US"/>
          </a:p>
        </p:txBody>
      </p:sp>
      <p:sp>
        <p:nvSpPr>
          <p:cNvPr id="20" name="t"/>
          <p:cNvSpPr/>
          <p:nvPr/>
        </p:nvSpPr>
        <p:spPr>
          <a:xfrm>
            <a:off x="6858000" y="1481328"/>
            <a:ext cx="1828800" cy="310896"/>
          </a:xfrm>
          <a:prstGeom prst="rect">
            <a:avLst/>
          </a:prstGeom>
        </p:spPr>
        <p:txBody>
          <a:bodyPr wrap="square" lIns="12000" tIns="6000" rIns="12000" bIns="6000" rtlCol="0" anchor="t"/>
          <a:lstStyle/>
          <a:p>
            <a:pPr marL="0" indent="0" algn="ctr">
              <a:buNone/>
            </a:pPr>
            <a:r>
              <a:rPr lang="en-US" sz="1000" b="1" dirty="0">
                <a:solidFill>
                  <a:srgbClr val="E8610A"/>
                </a:solidFill>
                <a:latin typeface="Arial" pitchFamily="34" charset="0"/>
                <a:cs typeface="Arial" pitchFamily="34" charset="0"/>
              </a:rPr>
              <a:t>THE RESULT</a:t>
            </a:r>
          </a:p>
        </p:txBody>
      </p:sp>
      <p:sp>
        <p:nvSpPr>
          <p:cNvPr id="21" name="t"/>
          <p:cNvSpPr/>
          <p:nvPr/>
        </p:nvSpPr>
        <p:spPr>
          <a:xfrm>
            <a:off x="6995160" y="2057400"/>
            <a:ext cx="1554480" cy="1280160"/>
          </a:xfrm>
          <a:prstGeom prst="rect">
            <a:avLst/>
          </a:prstGeom>
        </p:spPr>
        <p:txBody>
          <a:bodyPr wrap="square" lIns="12000" tIns="6000" rIns="12000" bIns="6000" rtlCol="0" anchor="ctr"/>
          <a:lstStyle/>
          <a:p>
            <a:pPr marL="0" indent="0" algn="ctr">
              <a:buNone/>
            </a:pPr>
            <a:r>
              <a:rPr lang="en-US" sz="1450" b="1" dirty="0">
                <a:solidFill>
                  <a:srgbClr val="E8610A"/>
                </a:solidFill>
                <a:latin typeface="Cambria" pitchFamily="34" charset="0"/>
                <a:cs typeface="Cambria" pitchFamily="34" charset="0"/>
              </a:rPr>
              <a:t>Perfect</a:t>
            </a:r>
          </a:p>
          <a:p>
            <a:pPr marL="0" indent="0" algn="ctr">
              <a:buNone/>
            </a:pPr>
            <a:r>
              <a:rPr lang="en-US" sz="1450" b="1" dirty="0">
                <a:solidFill>
                  <a:srgbClr val="E8610A"/>
                </a:solidFill>
                <a:latin typeface="Cambria" pitchFamily="34" charset="0"/>
                <a:cs typeface="Cambria" pitchFamily="34" charset="0"/>
              </a:rPr>
              <a:t>information</a:t>
            </a:r>
          </a:p>
          <a:p>
            <a:pPr marL="0" indent="0" algn="ctr">
              <a:buNone/>
            </a:pPr>
            <a:r>
              <a:rPr lang="en-US" sz="1400" b="1" dirty="0">
                <a:solidFill>
                  <a:srgbClr val="64748B"/>
                </a:solidFill>
                <a:latin typeface="Cambria" pitchFamily="34" charset="0"/>
                <a:cs typeface="Cambria" pitchFamily="34" charset="0"/>
              </a:rPr>
              <a:t>=</a:t>
            </a:r>
          </a:p>
          <a:p>
            <a:pPr marL="0" indent="0" algn="ctr">
              <a:buNone/>
            </a:pPr>
            <a:r>
              <a:rPr lang="en-US" sz="1150" b="1" dirty="0">
                <a:solidFill>
                  <a:srgbClr val="1A1A2E"/>
                </a:solidFill>
                <a:latin typeface="Arial" pitchFamily="34" charset="0"/>
                <a:cs typeface="Arial" pitchFamily="34" charset="0"/>
              </a:rPr>
              <a:t>better decisions</a:t>
            </a:r>
          </a:p>
        </p:txBody>
      </p:sp>
      <p:sp>
        <p:nvSpPr>
          <p:cNvPr id="22" name="t"/>
          <p:cNvSpPr/>
          <p:nvPr/>
        </p:nvSpPr>
        <p:spPr>
          <a:xfrm>
            <a:off x="457200" y="4251960"/>
            <a:ext cx="8229600" cy="457200"/>
          </a:xfrm>
          <a:prstGeom prst="rect">
            <a:avLst/>
          </a:prstGeom>
        </p:spPr>
        <p:txBody>
          <a:bodyPr wrap="square" lIns="12000" tIns="6000" rIns="12000" bIns="6000" rtlCol="0" anchor="ctr"/>
          <a:lstStyle/>
          <a:p>
            <a:pPr marL="0" indent="0" algn="ctr">
              <a:buNone/>
            </a:pPr>
            <a:r>
              <a:rPr lang="en-US" sz="1250" b="1" dirty="0">
                <a:solidFill>
                  <a:srgbClr val="1F4E79"/>
                </a:solidFill>
                <a:latin typeface="Arial" pitchFamily="34" charset="0"/>
                <a:cs typeface="Arial" pitchFamily="34" charset="0"/>
              </a:rPr>
              <a:t>Don’t let the loudest voice set the schedule for everyone. The data speaks for the whole floor.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Which Do You Prefer? It Depends on Who You Ask.</a:t>
            </a:r>
            <a:endParaRPr lang="en-US" sz="2600" dirty="0"/>
          </a:p>
        </p:txBody>
      </p:sp>
      <p:sp>
        <p:nvSpPr>
          <p:cNvPr id="3" name="Text 1"/>
          <p:cNvSpPr/>
          <p:nvPr/>
        </p:nvSpPr>
        <p:spPr>
          <a:xfrm>
            <a:off x="457200" y="795528"/>
            <a:ext cx="8229600" cy="274320"/>
          </a:xfrm>
          <a:prstGeom prst="rect">
            <a:avLst/>
          </a:prstGeom>
          <a:noFill/>
          <a:ln/>
        </p:spPr>
        <p:txBody>
          <a:bodyPr wrap="square" rtlCol="0" anchor="ctr"/>
          <a:lstStyle/>
          <a:p>
            <a:pPr marL="0" indent="0">
              <a:buNone/>
            </a:pPr>
            <a:r>
              <a:rPr lang="en-US" sz="1200" i="1" dirty="0">
                <a:solidFill>
                  <a:srgbClr val="64748B"/>
                </a:solidFill>
                <a:latin typeface="Arial" pitchFamily="34" charset="0"/>
                <a:ea typeface="Arial" pitchFamily="34" charset="-122"/>
                <a:cs typeface="Arial" pitchFamily="34" charset="-120"/>
              </a:rPr>
              <a:t>Based on hundreds of employee surveys across all industries</a:t>
            </a:r>
            <a:endParaRPr lang="en-US" sz="1200" dirty="0"/>
          </a:p>
        </p:txBody>
      </p:sp>
      <p:sp>
        <p:nvSpPr>
          <p:cNvPr id="4" name="Shape 2"/>
          <p:cNvSpPr/>
          <p:nvPr/>
        </p:nvSpPr>
        <p:spPr>
          <a:xfrm>
            <a:off x="365760" y="1188720"/>
            <a:ext cx="2651760" cy="3566160"/>
          </a:xfrm>
          <a:prstGeom prst="roundRect">
            <a:avLst>
              <a:gd name="adj" fmla="val 4138"/>
            </a:avLst>
          </a:prstGeom>
          <a:solidFill>
            <a:srgbClr val="FFFFFF"/>
          </a:solidFill>
          <a:ln w="25400">
            <a:solidFill>
              <a:srgbClr val="1D6A72"/>
            </a:solidFill>
            <a:prstDash val="solid"/>
          </a:ln>
          <a:effectLst>
            <a:outerShdw blurRad="101600" dist="38100" dir="2700000" algn="bl" rotWithShape="0">
              <a:srgbClr val="000000">
                <a:alpha val="12000"/>
              </a:srgbClr>
            </a:outerShdw>
          </a:effectLst>
        </p:spPr>
        <p:txBody>
          <a:bodyPr/>
          <a:lstStyle/>
          <a:p>
            <a:endParaRPr lang="en-US"/>
          </a:p>
        </p:txBody>
      </p:sp>
      <p:sp>
        <p:nvSpPr>
          <p:cNvPr id="5" name="Shape 3"/>
          <p:cNvSpPr/>
          <p:nvPr/>
        </p:nvSpPr>
        <p:spPr>
          <a:xfrm>
            <a:off x="365760" y="1188720"/>
            <a:ext cx="2651760" cy="594360"/>
          </a:xfrm>
          <a:prstGeom prst="roundRect">
            <a:avLst>
              <a:gd name="adj" fmla="val 18462"/>
            </a:avLst>
          </a:prstGeom>
          <a:solidFill>
            <a:srgbClr val="1D6A72"/>
          </a:solidFill>
          <a:ln w="12700">
            <a:solidFill>
              <a:srgbClr val="1D6A72"/>
            </a:solidFill>
            <a:prstDash val="solid"/>
          </a:ln>
        </p:spPr>
        <p:txBody>
          <a:bodyPr/>
          <a:lstStyle/>
          <a:p>
            <a:endParaRPr lang="en-US"/>
          </a:p>
        </p:txBody>
      </p:sp>
      <p:sp>
        <p:nvSpPr>
          <p:cNvPr id="6" name="Shape 4"/>
          <p:cNvSpPr/>
          <p:nvPr/>
        </p:nvSpPr>
        <p:spPr>
          <a:xfrm>
            <a:off x="365760" y="1600200"/>
            <a:ext cx="2651760" cy="182880"/>
          </a:xfrm>
          <a:prstGeom prst="rect">
            <a:avLst/>
          </a:prstGeom>
          <a:solidFill>
            <a:srgbClr val="1D6A72"/>
          </a:solidFill>
          <a:ln w="12700">
            <a:solidFill>
              <a:srgbClr val="1D6A72"/>
            </a:solidFill>
            <a:prstDash val="solid"/>
          </a:ln>
        </p:spPr>
        <p:txBody>
          <a:bodyPr/>
          <a:lstStyle/>
          <a:p>
            <a:endParaRPr lang="en-US"/>
          </a:p>
        </p:txBody>
      </p:sp>
      <p:sp>
        <p:nvSpPr>
          <p:cNvPr id="7" name="Text 5"/>
          <p:cNvSpPr/>
          <p:nvPr/>
        </p:nvSpPr>
        <p:spPr>
          <a:xfrm>
            <a:off x="457200" y="1216152"/>
            <a:ext cx="2468880" cy="5486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Already on</a:t>
            </a:r>
            <a:endParaRPr lang="en-US" sz="1300" dirty="0"/>
          </a:p>
          <a:p>
            <a:pPr marL="0" indent="0" algn="ctr">
              <a:buNone/>
            </a:pPr>
            <a:r>
              <a:rPr lang="en-US" sz="1300" b="1" dirty="0">
                <a:solidFill>
                  <a:srgbClr val="FFFFFF"/>
                </a:solidFill>
                <a:latin typeface="Arial" pitchFamily="34" charset="0"/>
                <a:ea typeface="Arial" pitchFamily="34" charset="-122"/>
                <a:cs typeface="Arial" pitchFamily="34" charset="-120"/>
              </a:rPr>
              <a:t>Rotating Shifts</a:t>
            </a:r>
            <a:endParaRPr lang="en-US" sz="1300" dirty="0"/>
          </a:p>
        </p:txBody>
      </p:sp>
      <p:sp>
        <p:nvSpPr>
          <p:cNvPr id="8" name="Text 6"/>
          <p:cNvSpPr/>
          <p:nvPr/>
        </p:nvSpPr>
        <p:spPr>
          <a:xfrm>
            <a:off x="457200" y="1874520"/>
            <a:ext cx="2468880" cy="1005840"/>
          </a:xfrm>
          <a:prstGeom prst="rect">
            <a:avLst/>
          </a:prstGeom>
          <a:noFill/>
          <a:ln/>
        </p:spPr>
        <p:txBody>
          <a:bodyPr wrap="square" rtlCol="0" anchor="ctr"/>
          <a:lstStyle/>
          <a:p>
            <a:pPr marL="0" indent="0" algn="ctr">
              <a:buNone/>
            </a:pPr>
            <a:r>
              <a:rPr lang="en-US" sz="5200" b="1" dirty="0">
                <a:solidFill>
                  <a:srgbClr val="1D6A72"/>
                </a:solidFill>
                <a:latin typeface="Cambria" pitchFamily="34" charset="0"/>
                <a:ea typeface="Cambria" pitchFamily="34" charset="-122"/>
                <a:cs typeface="Cambria" pitchFamily="34" charset="-120"/>
              </a:rPr>
              <a:t>~60%</a:t>
            </a:r>
            <a:endParaRPr lang="en-US" sz="5200" dirty="0"/>
          </a:p>
        </p:txBody>
      </p:sp>
      <p:sp>
        <p:nvSpPr>
          <p:cNvPr id="9" name="Text 7"/>
          <p:cNvSpPr/>
          <p:nvPr/>
        </p:nvSpPr>
        <p:spPr>
          <a:xfrm>
            <a:off x="457200" y="2834640"/>
            <a:ext cx="2468880" cy="274320"/>
          </a:xfrm>
          <a:prstGeom prst="rect">
            <a:avLst/>
          </a:prstGeom>
          <a:noFill/>
          <a:ln/>
        </p:spPr>
        <p:txBody>
          <a:bodyPr wrap="square" rtlCol="0" anchor="ctr"/>
          <a:lstStyle/>
          <a:p>
            <a:pPr marL="0" indent="0" algn="ctr">
              <a:buNone/>
            </a:pPr>
            <a:r>
              <a:rPr lang="en-US" sz="1100" dirty="0">
                <a:solidFill>
                  <a:srgbClr val="64748B"/>
                </a:solidFill>
                <a:latin typeface="Arial" pitchFamily="34" charset="0"/>
                <a:ea typeface="Arial" pitchFamily="34" charset="-122"/>
                <a:cs typeface="Arial" pitchFamily="34" charset="-120"/>
              </a:rPr>
              <a:t>prefer fixed shifts</a:t>
            </a:r>
            <a:endParaRPr lang="en-US" sz="1100" dirty="0"/>
          </a:p>
        </p:txBody>
      </p:sp>
      <p:sp>
        <p:nvSpPr>
          <p:cNvPr id="10" name="Shape 8"/>
          <p:cNvSpPr/>
          <p:nvPr/>
        </p:nvSpPr>
        <p:spPr>
          <a:xfrm>
            <a:off x="548640" y="3154680"/>
            <a:ext cx="2286000" cy="0"/>
          </a:xfrm>
          <a:prstGeom prst="line">
            <a:avLst/>
          </a:prstGeom>
          <a:noFill/>
          <a:ln w="6350">
            <a:solidFill>
              <a:srgbClr val="E2E8F0"/>
            </a:solidFill>
            <a:prstDash val="solid"/>
          </a:ln>
        </p:spPr>
        <p:txBody>
          <a:bodyPr/>
          <a:lstStyle/>
          <a:p>
            <a:endParaRPr lang="en-US"/>
          </a:p>
        </p:txBody>
      </p:sp>
      <p:sp>
        <p:nvSpPr>
          <p:cNvPr id="11" name="Text 9"/>
          <p:cNvSpPr/>
          <p:nvPr/>
        </p:nvSpPr>
        <p:spPr>
          <a:xfrm>
            <a:off x="457200" y="3218688"/>
            <a:ext cx="2468880" cy="502920"/>
          </a:xfrm>
          <a:prstGeom prst="rect">
            <a:avLst/>
          </a:prstGeom>
          <a:noFill/>
          <a:ln/>
        </p:spPr>
        <p:txBody>
          <a:bodyPr wrap="square" rtlCol="0" anchor="ctr"/>
          <a:lstStyle/>
          <a:p>
            <a:pPr marL="0" indent="0" algn="ctr">
              <a:buNone/>
            </a:pPr>
            <a:r>
              <a:rPr lang="en-US" sz="1200" b="1" dirty="0">
                <a:solidFill>
                  <a:srgbClr val="1D6A72"/>
                </a:solidFill>
                <a:latin typeface="Arial" pitchFamily="34" charset="0"/>
                <a:ea typeface="Arial" pitchFamily="34" charset="-122"/>
                <a:cs typeface="Arial" pitchFamily="34" charset="-120"/>
              </a:rPr>
              <a:t>Prefer fixed...</a:t>
            </a:r>
            <a:endParaRPr lang="en-US" sz="1200" dirty="0"/>
          </a:p>
        </p:txBody>
      </p:sp>
      <p:sp>
        <p:nvSpPr>
          <p:cNvPr id="12" name="Text 10"/>
          <p:cNvSpPr/>
          <p:nvPr/>
        </p:nvSpPr>
        <p:spPr>
          <a:xfrm>
            <a:off x="457200" y="3749040"/>
            <a:ext cx="2468880" cy="822960"/>
          </a:xfrm>
          <a:prstGeom prst="rect">
            <a:avLst/>
          </a:prstGeom>
          <a:noFill/>
          <a:ln/>
        </p:spPr>
        <p:txBody>
          <a:bodyPr wrap="square" rtlCol="0" anchor="ctr"/>
          <a:lstStyle/>
          <a:p>
            <a:pPr marL="0" indent="0" algn="ctr">
              <a:buNone/>
            </a:pPr>
            <a:r>
              <a:rPr lang="en-US" sz="1050" i="1" dirty="0">
                <a:solidFill>
                  <a:srgbClr val="64748B"/>
                </a:solidFill>
                <a:latin typeface="Arial" pitchFamily="34" charset="0"/>
                <a:ea typeface="Arial" pitchFamily="34" charset="-122"/>
                <a:cs typeface="Arial" pitchFamily="34" charset="-120"/>
              </a:rPr>
              <a:t>...but by a lesser margin.</a:t>
            </a:r>
            <a:endParaRPr lang="en-US" sz="1050" dirty="0"/>
          </a:p>
          <a:p>
            <a:pPr marL="0" indent="0" algn="ctr">
              <a:buNone/>
            </a:pPr>
            <a:r>
              <a:rPr lang="en-US" sz="1050" i="1" dirty="0">
                <a:solidFill>
                  <a:srgbClr val="64748B"/>
                </a:solidFill>
                <a:latin typeface="Arial" pitchFamily="34" charset="0"/>
                <a:ea typeface="Arial" pitchFamily="34" charset="-122"/>
                <a:cs typeface="Arial" pitchFamily="34" charset="-120"/>
              </a:rPr>
              <a:t>They've adjusted their lives</a:t>
            </a:r>
            <a:endParaRPr lang="en-US" sz="1050" dirty="0"/>
          </a:p>
          <a:p>
            <a:pPr marL="0" indent="0" algn="ctr">
              <a:buNone/>
            </a:pPr>
            <a:r>
              <a:rPr lang="en-US" sz="1050" i="1" dirty="0">
                <a:solidFill>
                  <a:srgbClr val="64748B"/>
                </a:solidFill>
                <a:latin typeface="Arial" pitchFamily="34" charset="0"/>
                <a:ea typeface="Arial" pitchFamily="34" charset="-122"/>
                <a:cs typeface="Arial" pitchFamily="34" charset="-120"/>
              </a:rPr>
              <a:t>around rotation.</a:t>
            </a:r>
            <a:endParaRPr lang="en-US" sz="1050" dirty="0"/>
          </a:p>
        </p:txBody>
      </p:sp>
      <p:sp>
        <p:nvSpPr>
          <p:cNvPr id="13" name="Shape 11"/>
          <p:cNvSpPr/>
          <p:nvPr/>
        </p:nvSpPr>
        <p:spPr>
          <a:xfrm>
            <a:off x="3200400" y="1188720"/>
            <a:ext cx="2651760" cy="3566160"/>
          </a:xfrm>
          <a:prstGeom prst="roundRect">
            <a:avLst>
              <a:gd name="adj" fmla="val 4138"/>
            </a:avLst>
          </a:prstGeom>
          <a:solidFill>
            <a:srgbClr val="FFFFFF"/>
          </a:solidFill>
          <a:ln w="25400">
            <a:solidFill>
              <a:srgbClr val="1F4E79"/>
            </a:solidFill>
            <a:prstDash val="solid"/>
          </a:ln>
          <a:effectLst>
            <a:outerShdw blurRad="101600" dist="38100" dir="2700000" algn="bl" rotWithShape="0">
              <a:srgbClr val="000000">
                <a:alpha val="12000"/>
              </a:srgbClr>
            </a:outerShdw>
          </a:effectLst>
        </p:spPr>
        <p:txBody>
          <a:bodyPr/>
          <a:lstStyle/>
          <a:p>
            <a:endParaRPr lang="en-US"/>
          </a:p>
        </p:txBody>
      </p:sp>
      <p:sp>
        <p:nvSpPr>
          <p:cNvPr id="14" name="Shape 12"/>
          <p:cNvSpPr/>
          <p:nvPr/>
        </p:nvSpPr>
        <p:spPr>
          <a:xfrm>
            <a:off x="3200400" y="1188720"/>
            <a:ext cx="2651760" cy="594360"/>
          </a:xfrm>
          <a:prstGeom prst="roundRect">
            <a:avLst>
              <a:gd name="adj" fmla="val 18462"/>
            </a:avLst>
          </a:prstGeom>
          <a:solidFill>
            <a:srgbClr val="1F4E79"/>
          </a:solidFill>
          <a:ln w="12700">
            <a:solidFill>
              <a:srgbClr val="1F4E79"/>
            </a:solidFill>
            <a:prstDash val="solid"/>
          </a:ln>
        </p:spPr>
        <p:txBody>
          <a:bodyPr/>
          <a:lstStyle/>
          <a:p>
            <a:endParaRPr lang="en-US"/>
          </a:p>
        </p:txBody>
      </p:sp>
      <p:sp>
        <p:nvSpPr>
          <p:cNvPr id="15" name="Shape 13"/>
          <p:cNvSpPr/>
          <p:nvPr/>
        </p:nvSpPr>
        <p:spPr>
          <a:xfrm>
            <a:off x="3200400" y="1600200"/>
            <a:ext cx="2651760" cy="182880"/>
          </a:xfrm>
          <a:prstGeom prst="rect">
            <a:avLst/>
          </a:prstGeom>
          <a:solidFill>
            <a:srgbClr val="1F4E79"/>
          </a:solidFill>
          <a:ln w="12700">
            <a:solidFill>
              <a:srgbClr val="1F4E79"/>
            </a:solidFill>
            <a:prstDash val="solid"/>
          </a:ln>
        </p:spPr>
        <p:txBody>
          <a:bodyPr/>
          <a:lstStyle/>
          <a:p>
            <a:endParaRPr lang="en-US"/>
          </a:p>
        </p:txBody>
      </p:sp>
      <p:sp>
        <p:nvSpPr>
          <p:cNvPr id="16" name="Text 14"/>
          <p:cNvSpPr/>
          <p:nvPr/>
        </p:nvSpPr>
        <p:spPr>
          <a:xfrm>
            <a:off x="3291840" y="1216152"/>
            <a:ext cx="2468880" cy="5486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Already on</a:t>
            </a:r>
            <a:endParaRPr lang="en-US" sz="1300" dirty="0"/>
          </a:p>
          <a:p>
            <a:pPr marL="0" indent="0" algn="ctr">
              <a:buNone/>
            </a:pPr>
            <a:r>
              <a:rPr lang="en-US" sz="1300" b="1" dirty="0">
                <a:solidFill>
                  <a:srgbClr val="FFFFFF"/>
                </a:solidFill>
                <a:latin typeface="Arial" pitchFamily="34" charset="0"/>
                <a:ea typeface="Arial" pitchFamily="34" charset="-122"/>
                <a:cs typeface="Arial" pitchFamily="34" charset="-120"/>
              </a:rPr>
              <a:t>Fixed Shifts</a:t>
            </a:r>
            <a:endParaRPr lang="en-US" sz="1300" dirty="0"/>
          </a:p>
        </p:txBody>
      </p:sp>
      <p:sp>
        <p:nvSpPr>
          <p:cNvPr id="17" name="Text 15"/>
          <p:cNvSpPr/>
          <p:nvPr/>
        </p:nvSpPr>
        <p:spPr>
          <a:xfrm>
            <a:off x="3291840" y="1874520"/>
            <a:ext cx="2468880" cy="1005840"/>
          </a:xfrm>
          <a:prstGeom prst="rect">
            <a:avLst/>
          </a:prstGeom>
          <a:noFill/>
          <a:ln/>
        </p:spPr>
        <p:txBody>
          <a:bodyPr wrap="square" rtlCol="0" anchor="ctr"/>
          <a:lstStyle/>
          <a:p>
            <a:pPr marL="0" indent="0" algn="ctr">
              <a:buNone/>
            </a:pPr>
            <a:r>
              <a:rPr lang="en-US" sz="5200" b="1" dirty="0">
                <a:solidFill>
                  <a:srgbClr val="1F4E79"/>
                </a:solidFill>
                <a:latin typeface="Cambria" pitchFamily="34" charset="0"/>
                <a:ea typeface="Cambria" pitchFamily="34" charset="-122"/>
                <a:cs typeface="Cambria" pitchFamily="34" charset="-120"/>
              </a:rPr>
              <a:t>~85%</a:t>
            </a:r>
            <a:endParaRPr lang="en-US" sz="5200" dirty="0"/>
          </a:p>
        </p:txBody>
      </p:sp>
      <p:sp>
        <p:nvSpPr>
          <p:cNvPr id="18" name="Text 16"/>
          <p:cNvSpPr/>
          <p:nvPr/>
        </p:nvSpPr>
        <p:spPr>
          <a:xfrm>
            <a:off x="3291840" y="2834640"/>
            <a:ext cx="2468880" cy="274320"/>
          </a:xfrm>
          <a:prstGeom prst="rect">
            <a:avLst/>
          </a:prstGeom>
          <a:noFill/>
          <a:ln/>
        </p:spPr>
        <p:txBody>
          <a:bodyPr wrap="square" rtlCol="0" anchor="ctr"/>
          <a:lstStyle/>
          <a:p>
            <a:pPr marL="0" indent="0" algn="ctr">
              <a:buNone/>
            </a:pPr>
            <a:r>
              <a:rPr lang="en-US" sz="1100" dirty="0">
                <a:solidFill>
                  <a:srgbClr val="64748B"/>
                </a:solidFill>
                <a:latin typeface="Arial" pitchFamily="34" charset="0"/>
                <a:ea typeface="Arial" pitchFamily="34" charset="-122"/>
                <a:cs typeface="Arial" pitchFamily="34" charset="-120"/>
              </a:rPr>
              <a:t>prefer fixed shifts</a:t>
            </a:r>
            <a:endParaRPr lang="en-US" sz="1100" dirty="0"/>
          </a:p>
        </p:txBody>
      </p:sp>
      <p:sp>
        <p:nvSpPr>
          <p:cNvPr id="19" name="Shape 17"/>
          <p:cNvSpPr/>
          <p:nvPr/>
        </p:nvSpPr>
        <p:spPr>
          <a:xfrm>
            <a:off x="3383280" y="3154680"/>
            <a:ext cx="2286000" cy="0"/>
          </a:xfrm>
          <a:prstGeom prst="line">
            <a:avLst/>
          </a:prstGeom>
          <a:noFill/>
          <a:ln w="6350">
            <a:solidFill>
              <a:srgbClr val="E2E8F0"/>
            </a:solidFill>
            <a:prstDash val="solid"/>
          </a:ln>
        </p:spPr>
        <p:txBody>
          <a:bodyPr/>
          <a:lstStyle/>
          <a:p>
            <a:endParaRPr lang="en-US"/>
          </a:p>
        </p:txBody>
      </p:sp>
      <p:sp>
        <p:nvSpPr>
          <p:cNvPr id="20" name="Text 18"/>
          <p:cNvSpPr/>
          <p:nvPr/>
        </p:nvSpPr>
        <p:spPr>
          <a:xfrm>
            <a:off x="3291840" y="3218688"/>
            <a:ext cx="2468880" cy="502920"/>
          </a:xfrm>
          <a:prstGeom prst="rect">
            <a:avLst/>
          </a:prstGeom>
          <a:noFill/>
          <a:ln/>
        </p:spPr>
        <p:txBody>
          <a:bodyPr wrap="square" rtlCol="0" anchor="ctr"/>
          <a:lstStyle/>
          <a:p>
            <a:pPr marL="0" indent="0" algn="ctr">
              <a:buNone/>
            </a:pPr>
            <a:r>
              <a:rPr lang="en-US" sz="1200" b="1" dirty="0">
                <a:solidFill>
                  <a:srgbClr val="1F4E79"/>
                </a:solidFill>
                <a:latin typeface="Arial" pitchFamily="34" charset="0"/>
                <a:ea typeface="Arial" pitchFamily="34" charset="-122"/>
                <a:cs typeface="Arial" pitchFamily="34" charset="-120"/>
              </a:rPr>
              <a:t>Strongly prefer</a:t>
            </a:r>
            <a:endParaRPr lang="en-US" sz="1200" dirty="0"/>
          </a:p>
          <a:p>
            <a:pPr marL="0" indent="0" algn="ctr">
              <a:buNone/>
            </a:pPr>
            <a:r>
              <a:rPr lang="en-US" sz="1200" b="1" dirty="0">
                <a:solidFill>
                  <a:srgbClr val="1F4E79"/>
                </a:solidFill>
                <a:latin typeface="Arial" pitchFamily="34" charset="0"/>
                <a:ea typeface="Arial" pitchFamily="34" charset="-122"/>
                <a:cs typeface="Arial" pitchFamily="34" charset="-120"/>
              </a:rPr>
              <a:t>fixed shifts</a:t>
            </a:r>
            <a:endParaRPr lang="en-US" sz="1200" dirty="0"/>
          </a:p>
        </p:txBody>
      </p:sp>
      <p:sp>
        <p:nvSpPr>
          <p:cNvPr id="21" name="Text 19"/>
          <p:cNvSpPr/>
          <p:nvPr/>
        </p:nvSpPr>
        <p:spPr>
          <a:xfrm>
            <a:off x="3291840" y="3749040"/>
            <a:ext cx="2468880" cy="822960"/>
          </a:xfrm>
          <a:prstGeom prst="rect">
            <a:avLst/>
          </a:prstGeom>
          <a:noFill/>
          <a:ln/>
        </p:spPr>
        <p:txBody>
          <a:bodyPr wrap="square" rtlCol="0" anchor="ctr"/>
          <a:lstStyle/>
          <a:p>
            <a:pPr marL="0" indent="0" algn="ctr">
              <a:buNone/>
            </a:pPr>
            <a:r>
              <a:rPr lang="en-US" sz="1050" i="1" dirty="0">
                <a:solidFill>
                  <a:srgbClr val="64748B"/>
                </a:solidFill>
                <a:latin typeface="Arial" pitchFamily="34" charset="0"/>
                <a:ea typeface="Arial" pitchFamily="34" charset="-122"/>
                <a:cs typeface="Arial" pitchFamily="34" charset="-120"/>
              </a:rPr>
              <a:t>By a wide margin.</a:t>
            </a:r>
            <a:endParaRPr lang="en-US" sz="1050" dirty="0"/>
          </a:p>
          <a:p>
            <a:pPr marL="0" indent="0" algn="ctr">
              <a:buNone/>
            </a:pPr>
            <a:r>
              <a:rPr lang="en-US" sz="1050" i="1" dirty="0">
                <a:solidFill>
                  <a:srgbClr val="64748B"/>
                </a:solidFill>
                <a:latin typeface="Arial" pitchFamily="34" charset="0"/>
                <a:ea typeface="Arial" pitchFamily="34" charset="-122"/>
                <a:cs typeface="Arial" pitchFamily="34" charset="-120"/>
              </a:rPr>
              <a:t>They know what they have</a:t>
            </a:r>
            <a:endParaRPr lang="en-US" sz="1050" dirty="0"/>
          </a:p>
          <a:p>
            <a:pPr marL="0" indent="0" algn="ctr">
              <a:buNone/>
            </a:pPr>
            <a:r>
              <a:rPr lang="en-US" sz="1050" i="1" dirty="0">
                <a:solidFill>
                  <a:srgbClr val="64748B"/>
                </a:solidFill>
                <a:latin typeface="Arial" pitchFamily="34" charset="0"/>
                <a:ea typeface="Arial" pitchFamily="34" charset="-122"/>
                <a:cs typeface="Arial" pitchFamily="34" charset="-120"/>
              </a:rPr>
              <a:t>and don't want to lose it.</a:t>
            </a:r>
            <a:endParaRPr lang="en-US" sz="1050" dirty="0"/>
          </a:p>
        </p:txBody>
      </p:sp>
      <p:sp>
        <p:nvSpPr>
          <p:cNvPr id="22" name="Shape 20"/>
          <p:cNvSpPr/>
          <p:nvPr/>
        </p:nvSpPr>
        <p:spPr>
          <a:xfrm>
            <a:off x="6035040" y="1188720"/>
            <a:ext cx="2651760" cy="3566160"/>
          </a:xfrm>
          <a:prstGeom prst="roundRect">
            <a:avLst>
              <a:gd name="adj" fmla="val 4138"/>
            </a:avLst>
          </a:prstGeom>
          <a:solidFill>
            <a:srgbClr val="FFFFFF"/>
          </a:solidFill>
          <a:ln w="25400">
            <a:solidFill>
              <a:srgbClr val="E8610A"/>
            </a:solidFill>
            <a:prstDash val="solid"/>
          </a:ln>
          <a:effectLst>
            <a:outerShdw blurRad="101600" dist="38100" dir="2700000" algn="bl" rotWithShape="0">
              <a:srgbClr val="000000">
                <a:alpha val="12000"/>
              </a:srgbClr>
            </a:outerShdw>
          </a:effectLst>
        </p:spPr>
        <p:txBody>
          <a:bodyPr/>
          <a:lstStyle/>
          <a:p>
            <a:endParaRPr lang="en-US"/>
          </a:p>
        </p:txBody>
      </p:sp>
      <p:sp>
        <p:nvSpPr>
          <p:cNvPr id="23" name="Shape 21"/>
          <p:cNvSpPr/>
          <p:nvPr/>
        </p:nvSpPr>
        <p:spPr>
          <a:xfrm>
            <a:off x="6035040" y="1188720"/>
            <a:ext cx="2651760" cy="594360"/>
          </a:xfrm>
          <a:prstGeom prst="roundRect">
            <a:avLst>
              <a:gd name="adj" fmla="val 18462"/>
            </a:avLst>
          </a:prstGeom>
          <a:solidFill>
            <a:srgbClr val="E8610A"/>
          </a:solidFill>
          <a:ln w="12700">
            <a:solidFill>
              <a:srgbClr val="E8610A"/>
            </a:solidFill>
            <a:prstDash val="solid"/>
          </a:ln>
        </p:spPr>
        <p:txBody>
          <a:bodyPr/>
          <a:lstStyle/>
          <a:p>
            <a:endParaRPr lang="en-US"/>
          </a:p>
        </p:txBody>
      </p:sp>
      <p:sp>
        <p:nvSpPr>
          <p:cNvPr id="24" name="Shape 22"/>
          <p:cNvSpPr/>
          <p:nvPr/>
        </p:nvSpPr>
        <p:spPr>
          <a:xfrm>
            <a:off x="6035040" y="1600200"/>
            <a:ext cx="2651760" cy="182880"/>
          </a:xfrm>
          <a:prstGeom prst="rect">
            <a:avLst/>
          </a:prstGeom>
          <a:solidFill>
            <a:srgbClr val="E8610A"/>
          </a:solidFill>
          <a:ln w="12700">
            <a:solidFill>
              <a:srgbClr val="E8610A"/>
            </a:solidFill>
            <a:prstDash val="solid"/>
          </a:ln>
        </p:spPr>
        <p:txBody>
          <a:bodyPr/>
          <a:lstStyle/>
          <a:p>
            <a:endParaRPr lang="en-US"/>
          </a:p>
        </p:txBody>
      </p:sp>
      <p:sp>
        <p:nvSpPr>
          <p:cNvPr id="25" name="Text 23"/>
          <p:cNvSpPr/>
          <p:nvPr/>
        </p:nvSpPr>
        <p:spPr>
          <a:xfrm>
            <a:off x="6126480" y="1216152"/>
            <a:ext cx="2468880" cy="5486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Not Yet in</a:t>
            </a:r>
            <a:endParaRPr lang="en-US" sz="1300" dirty="0"/>
          </a:p>
          <a:p>
            <a:pPr marL="0" indent="0" algn="ctr">
              <a:buNone/>
            </a:pPr>
            <a:r>
              <a:rPr lang="en-US" sz="1300" b="1" dirty="0">
                <a:solidFill>
                  <a:srgbClr val="FFFFFF"/>
                </a:solidFill>
                <a:latin typeface="Arial" pitchFamily="34" charset="0"/>
                <a:ea typeface="Arial" pitchFamily="34" charset="-122"/>
                <a:cs typeface="Arial" pitchFamily="34" charset="-120"/>
              </a:rPr>
              <a:t>Shift Work</a:t>
            </a:r>
            <a:endParaRPr lang="en-US" sz="1300" dirty="0"/>
          </a:p>
        </p:txBody>
      </p:sp>
      <p:sp>
        <p:nvSpPr>
          <p:cNvPr id="26" name="Text 24"/>
          <p:cNvSpPr/>
          <p:nvPr/>
        </p:nvSpPr>
        <p:spPr>
          <a:xfrm>
            <a:off x="6126480" y="1874520"/>
            <a:ext cx="2468880" cy="1005840"/>
          </a:xfrm>
          <a:prstGeom prst="rect">
            <a:avLst/>
          </a:prstGeom>
          <a:noFill/>
          <a:ln/>
        </p:spPr>
        <p:txBody>
          <a:bodyPr wrap="square" rtlCol="0" anchor="ctr"/>
          <a:lstStyle/>
          <a:p>
            <a:pPr marL="0" indent="0" algn="ctr">
              <a:buNone/>
            </a:pPr>
            <a:r>
              <a:rPr lang="en-US" sz="5200" b="1" dirty="0">
                <a:solidFill>
                  <a:srgbClr val="E8610A"/>
                </a:solidFill>
                <a:latin typeface="Cambria" pitchFamily="34" charset="0"/>
                <a:ea typeface="Cambria" pitchFamily="34" charset="-122"/>
                <a:cs typeface="Cambria" pitchFamily="34" charset="-120"/>
              </a:rPr>
              <a:t>~95%</a:t>
            </a:r>
            <a:endParaRPr lang="en-US" sz="5200" dirty="0"/>
          </a:p>
        </p:txBody>
      </p:sp>
      <p:sp>
        <p:nvSpPr>
          <p:cNvPr id="27" name="Text 25"/>
          <p:cNvSpPr/>
          <p:nvPr/>
        </p:nvSpPr>
        <p:spPr>
          <a:xfrm>
            <a:off x="6126480" y="2834640"/>
            <a:ext cx="2468880" cy="274320"/>
          </a:xfrm>
          <a:prstGeom prst="rect">
            <a:avLst/>
          </a:prstGeom>
          <a:noFill/>
          <a:ln/>
        </p:spPr>
        <p:txBody>
          <a:bodyPr wrap="square" rtlCol="0" anchor="ctr"/>
          <a:lstStyle/>
          <a:p>
            <a:pPr marL="0" indent="0" algn="ctr">
              <a:buNone/>
            </a:pPr>
            <a:r>
              <a:rPr lang="en-US" sz="1100" dirty="0">
                <a:solidFill>
                  <a:srgbClr val="64748B"/>
                </a:solidFill>
                <a:latin typeface="Arial" pitchFamily="34" charset="0"/>
                <a:ea typeface="Arial" pitchFamily="34" charset="-122"/>
                <a:cs typeface="Arial" pitchFamily="34" charset="-120"/>
              </a:rPr>
              <a:t>prefer fixed shifts</a:t>
            </a:r>
            <a:endParaRPr lang="en-US" sz="1100" dirty="0"/>
          </a:p>
        </p:txBody>
      </p:sp>
      <p:sp>
        <p:nvSpPr>
          <p:cNvPr id="28" name="Shape 26"/>
          <p:cNvSpPr/>
          <p:nvPr/>
        </p:nvSpPr>
        <p:spPr>
          <a:xfrm>
            <a:off x="6217920" y="3154680"/>
            <a:ext cx="2286000" cy="0"/>
          </a:xfrm>
          <a:prstGeom prst="line">
            <a:avLst/>
          </a:prstGeom>
          <a:noFill/>
          <a:ln w="6350">
            <a:solidFill>
              <a:srgbClr val="E2E8F0"/>
            </a:solidFill>
            <a:prstDash val="solid"/>
          </a:ln>
        </p:spPr>
        <p:txBody>
          <a:bodyPr/>
          <a:lstStyle/>
          <a:p>
            <a:endParaRPr lang="en-US"/>
          </a:p>
        </p:txBody>
      </p:sp>
      <p:sp>
        <p:nvSpPr>
          <p:cNvPr id="29" name="Text 27"/>
          <p:cNvSpPr/>
          <p:nvPr/>
        </p:nvSpPr>
        <p:spPr>
          <a:xfrm>
            <a:off x="6126480" y="3218688"/>
            <a:ext cx="2468880" cy="502920"/>
          </a:xfrm>
          <a:prstGeom prst="rect">
            <a:avLst/>
          </a:prstGeom>
          <a:noFill/>
          <a:ln/>
        </p:spPr>
        <p:txBody>
          <a:bodyPr wrap="square" rtlCol="0" anchor="ctr"/>
          <a:lstStyle/>
          <a:p>
            <a:pPr marL="0" indent="0" algn="ctr">
              <a:buNone/>
            </a:pPr>
            <a:r>
              <a:rPr lang="en-US" sz="1200" b="1" dirty="0">
                <a:solidFill>
                  <a:srgbClr val="E8610A"/>
                </a:solidFill>
                <a:latin typeface="Arial" pitchFamily="34" charset="0"/>
                <a:ea typeface="Arial" pitchFamily="34" charset="-122"/>
                <a:cs typeface="Arial" pitchFamily="34" charset="-120"/>
              </a:rPr>
              <a:t>Fixed only —</a:t>
            </a:r>
            <a:endParaRPr lang="en-US" sz="1200" dirty="0"/>
          </a:p>
          <a:p>
            <a:pPr marL="0" indent="0" algn="ctr">
              <a:buNone/>
            </a:pPr>
            <a:r>
              <a:rPr lang="en-US" sz="1200" b="1" dirty="0">
                <a:solidFill>
                  <a:srgbClr val="E8610A"/>
                </a:solidFill>
                <a:latin typeface="Arial" pitchFamily="34" charset="0"/>
                <a:ea typeface="Arial" pitchFamily="34" charset="-122"/>
                <a:cs typeface="Arial" pitchFamily="34" charset="-120"/>
              </a:rPr>
              <a:t>rotation is a</a:t>
            </a:r>
            <a:endParaRPr lang="en-US" sz="1200" dirty="0"/>
          </a:p>
          <a:p>
            <a:pPr marL="0" indent="0" algn="ctr">
              <a:buNone/>
            </a:pPr>
            <a:r>
              <a:rPr lang="en-US" sz="1200" b="1" dirty="0">
                <a:solidFill>
                  <a:srgbClr val="E8610A"/>
                </a:solidFill>
                <a:latin typeface="Arial" pitchFamily="34" charset="0"/>
                <a:ea typeface="Arial" pitchFamily="34" charset="-122"/>
                <a:cs typeface="Arial" pitchFamily="34" charset="-120"/>
              </a:rPr>
              <a:t>deal-breaker</a:t>
            </a:r>
            <a:endParaRPr lang="en-US" sz="1200" dirty="0"/>
          </a:p>
        </p:txBody>
      </p:sp>
      <p:sp>
        <p:nvSpPr>
          <p:cNvPr id="30" name="Text 28"/>
          <p:cNvSpPr/>
          <p:nvPr/>
        </p:nvSpPr>
        <p:spPr>
          <a:xfrm>
            <a:off x="6126480" y="3749040"/>
            <a:ext cx="2468880" cy="822960"/>
          </a:xfrm>
          <a:prstGeom prst="rect">
            <a:avLst/>
          </a:prstGeom>
          <a:noFill/>
          <a:ln/>
        </p:spPr>
        <p:txBody>
          <a:bodyPr wrap="square" rtlCol="0" anchor="ctr"/>
          <a:lstStyle/>
          <a:p>
            <a:pPr marL="0" indent="0" algn="ctr">
              <a:buNone/>
            </a:pPr>
            <a:r>
              <a:rPr lang="en-US" sz="1050" i="1" dirty="0">
                <a:solidFill>
                  <a:srgbClr val="64748B"/>
                </a:solidFill>
                <a:latin typeface="Arial" pitchFamily="34" charset="0"/>
                <a:ea typeface="Arial" pitchFamily="34" charset="-122"/>
                <a:cs typeface="Arial" pitchFamily="34" charset="-120"/>
              </a:rPr>
              <a:t>Tell a candidate they'll</a:t>
            </a:r>
            <a:endParaRPr lang="en-US" sz="1050" dirty="0"/>
          </a:p>
          <a:p>
            <a:pPr marL="0" indent="0" algn="ctr">
              <a:buNone/>
            </a:pPr>
            <a:r>
              <a:rPr lang="en-US" sz="1050" i="1" dirty="0">
                <a:solidFill>
                  <a:srgbClr val="64748B"/>
                </a:solidFill>
                <a:latin typeface="Arial" pitchFamily="34" charset="0"/>
                <a:ea typeface="Arial" pitchFamily="34" charset="-122"/>
                <a:cs typeface="Arial" pitchFamily="34" charset="-120"/>
              </a:rPr>
              <a:t>rotate days and nights</a:t>
            </a:r>
            <a:endParaRPr lang="en-US" sz="1050" dirty="0"/>
          </a:p>
          <a:p>
            <a:pPr marL="0" indent="0" algn="ctr">
              <a:buNone/>
            </a:pPr>
            <a:r>
              <a:rPr lang="en-US" sz="1050" i="1" dirty="0">
                <a:solidFill>
                  <a:srgbClr val="64748B"/>
                </a:solidFill>
                <a:latin typeface="Arial" pitchFamily="34" charset="0"/>
                <a:ea typeface="Arial" pitchFamily="34" charset="-122"/>
                <a:cs typeface="Arial" pitchFamily="34" charset="-120"/>
              </a:rPr>
              <a:t>for 40 years. Watch them walk.</a:t>
            </a:r>
            <a:endParaRPr lang="en-US" sz="1050" dirty="0"/>
          </a:p>
        </p:txBody>
      </p:sp>
      <p:sp>
        <p:nvSpPr>
          <p:cNvPr id="31" name="Shape 29"/>
          <p:cNvSpPr/>
          <p:nvPr/>
        </p:nvSpPr>
        <p:spPr>
          <a:xfrm>
            <a:off x="365760" y="4828032"/>
            <a:ext cx="8412480" cy="274320"/>
          </a:xfrm>
          <a:prstGeom prst="roundRect">
            <a:avLst>
              <a:gd name="adj" fmla="val 20000"/>
            </a:avLst>
          </a:prstGeom>
          <a:solidFill>
            <a:srgbClr val="1F4E79">
              <a:alpha val="10000"/>
            </a:srgbClr>
          </a:solidFill>
          <a:ln w="12700">
            <a:solidFill>
              <a:srgbClr val="1F4E79"/>
            </a:solidFill>
            <a:prstDash val="solid"/>
          </a:ln>
        </p:spPr>
        <p:txBody>
          <a:bodyPr/>
          <a:lstStyle/>
          <a:p>
            <a:endParaRPr lang="en-US"/>
          </a:p>
        </p:txBody>
      </p:sp>
      <p:sp>
        <p:nvSpPr>
          <p:cNvPr id="32" name="Text 30"/>
          <p:cNvSpPr/>
          <p:nvPr/>
        </p:nvSpPr>
        <p:spPr>
          <a:xfrm>
            <a:off x="457200" y="4846320"/>
            <a:ext cx="8229600" cy="237744"/>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Your rotating schedule isn’t just a retention problem. It’s a recruiting problem before the person ever applies.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marL="0" indent="0">
              <a:buNone/>
            </a:pPr>
            <a:r>
              <a:rPr lang="en-US" sz="2000" b="1" dirty="0">
                <a:solidFill>
                  <a:srgbClr val="1F4E79"/>
                </a:solidFill>
                <a:latin typeface="Cambria" pitchFamily="34" charset="0"/>
                <a:ea typeface="Cambria" pitchFamily="34" charset="-122"/>
                <a:cs typeface="Cambria" pitchFamily="34" charset="-120"/>
              </a:rPr>
              <a:t>The Choice Between 12-Hour and 8-Hour Shifts Has Been Made.</a:t>
            </a:r>
            <a:endParaRPr lang="en-US" sz="2000" dirty="0"/>
          </a:p>
        </p:txBody>
      </p:sp>
      <p:sp>
        <p:nvSpPr>
          <p:cNvPr id="3" name="Text 1"/>
          <p:cNvSpPr/>
          <p:nvPr/>
        </p:nvSpPr>
        <p:spPr>
          <a:xfrm>
            <a:off x="457200" y="795528"/>
            <a:ext cx="8229600" cy="274320"/>
          </a:xfrm>
          <a:prstGeom prst="rect">
            <a:avLst/>
          </a:prstGeom>
          <a:noFill/>
          <a:ln/>
        </p:spPr>
        <p:txBody>
          <a:bodyPr wrap="square" rtlCol="0" anchor="ctr"/>
          <a:lstStyle/>
          <a:p>
            <a:pPr marL="0" indent="0">
              <a:buNone/>
            </a:pPr>
            <a:r>
              <a:rPr lang="en-US" sz="1200" i="1" dirty="0">
                <a:solidFill>
                  <a:srgbClr val="64748B"/>
                </a:solidFill>
                <a:latin typeface="Arial" pitchFamily="34" charset="0"/>
                <a:ea typeface="Arial" pitchFamily="34" charset="-122"/>
                <a:cs typeface="Arial" pitchFamily="34" charset="-120"/>
              </a:rPr>
              <a:t>Assuming the same amount of pay, which is more important to you?</a:t>
            </a:r>
            <a:endParaRPr lang="en-US" sz="1200" dirty="0"/>
          </a:p>
        </p:txBody>
      </p:sp>
      <p:sp>
        <p:nvSpPr>
          <p:cNvPr id="4" name="Shape 2"/>
          <p:cNvSpPr/>
          <p:nvPr/>
        </p:nvSpPr>
        <p:spPr>
          <a:xfrm>
            <a:off x="365760" y="1143000"/>
            <a:ext cx="3931920" cy="3474720"/>
          </a:xfrm>
          <a:prstGeom prst="roundRect">
            <a:avLst>
              <a:gd name="adj" fmla="val 3158"/>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US"/>
          </a:p>
        </p:txBody>
      </p:sp>
      <p:sp>
        <p:nvSpPr>
          <p:cNvPr id="5" name="Text 3"/>
          <p:cNvSpPr/>
          <p:nvPr/>
        </p:nvSpPr>
        <p:spPr>
          <a:xfrm>
            <a:off x="365760" y="1371600"/>
            <a:ext cx="3931920" cy="1280160"/>
          </a:xfrm>
          <a:prstGeom prst="rect">
            <a:avLst/>
          </a:prstGeom>
          <a:noFill/>
          <a:ln/>
        </p:spPr>
        <p:txBody>
          <a:bodyPr wrap="square" rtlCol="0" anchor="ctr"/>
          <a:lstStyle/>
          <a:p>
            <a:pPr marL="0" indent="0" algn="ctr">
              <a:buNone/>
            </a:pPr>
            <a:r>
              <a:rPr lang="en-US" sz="8400" b="1" dirty="0">
                <a:solidFill>
                  <a:srgbClr val="1D6A72"/>
                </a:solidFill>
                <a:latin typeface="Cambria" pitchFamily="34" charset="0"/>
                <a:ea typeface="Cambria" pitchFamily="34" charset="-122"/>
                <a:cs typeface="Cambria" pitchFamily="34" charset="-120"/>
              </a:rPr>
              <a:t>75%</a:t>
            </a:r>
            <a:endParaRPr lang="en-US" sz="8400" dirty="0"/>
          </a:p>
        </p:txBody>
      </p:sp>
      <p:sp>
        <p:nvSpPr>
          <p:cNvPr id="6" name="Text 4"/>
          <p:cNvSpPr/>
          <p:nvPr/>
        </p:nvSpPr>
        <p:spPr>
          <a:xfrm>
            <a:off x="457200" y="2697480"/>
            <a:ext cx="3749040" cy="731520"/>
          </a:xfrm>
          <a:prstGeom prst="rect">
            <a:avLst/>
          </a:prstGeom>
          <a:noFill/>
          <a:ln/>
        </p:spPr>
        <p:txBody>
          <a:bodyPr wrap="square" rtlCol="0" anchor="ctr"/>
          <a:lstStyle/>
          <a:p>
            <a:pPr marL="0" indent="0" algn="ctr">
              <a:buNone/>
            </a:pPr>
            <a:r>
              <a:rPr lang="en-US" sz="1300" b="1" dirty="0">
                <a:solidFill>
                  <a:srgbClr val="1A1A2E"/>
                </a:solidFill>
                <a:latin typeface="Arial" pitchFamily="34" charset="0"/>
                <a:ea typeface="Arial" pitchFamily="34" charset="-122"/>
                <a:cs typeface="Arial" pitchFamily="34" charset="-120"/>
              </a:rPr>
              <a:t>Want to work MORE hours per day</a:t>
            </a:r>
            <a:endParaRPr lang="en-US" sz="1300" dirty="0"/>
          </a:p>
          <a:p>
            <a:pPr marL="0" indent="0" algn="ctr">
              <a:buNone/>
            </a:pPr>
            <a:r>
              <a:rPr lang="en-US" sz="1300" b="1" dirty="0">
                <a:solidFill>
                  <a:srgbClr val="1A1A2E"/>
                </a:solidFill>
                <a:latin typeface="Arial" pitchFamily="34" charset="0"/>
                <a:ea typeface="Arial" pitchFamily="34" charset="-122"/>
                <a:cs typeface="Arial" pitchFamily="34" charset="-120"/>
              </a:rPr>
              <a:t>for MORE days off per week</a:t>
            </a:r>
            <a:endParaRPr lang="en-US" sz="1300" dirty="0"/>
          </a:p>
        </p:txBody>
      </p:sp>
      <p:sp>
        <p:nvSpPr>
          <p:cNvPr id="7" name="Text 5"/>
          <p:cNvSpPr/>
          <p:nvPr/>
        </p:nvSpPr>
        <p:spPr>
          <a:xfrm>
            <a:off x="457200" y="3474720"/>
            <a:ext cx="3749040" cy="365760"/>
          </a:xfrm>
          <a:prstGeom prst="rect">
            <a:avLst/>
          </a:prstGeom>
          <a:noFill/>
          <a:ln/>
        </p:spPr>
        <p:txBody>
          <a:bodyPr wrap="square" rtlCol="0" anchor="ctr"/>
          <a:lstStyle/>
          <a:p>
            <a:pPr marL="0" indent="0" algn="ctr">
              <a:buNone/>
            </a:pPr>
            <a:r>
              <a:rPr lang="en-US" sz="1100" i="1" dirty="0">
                <a:solidFill>
                  <a:srgbClr val="64748B"/>
                </a:solidFill>
                <a:latin typeface="Arial" pitchFamily="34" charset="0"/>
                <a:ea typeface="Arial" pitchFamily="34" charset="-122"/>
                <a:cs typeface="Arial" pitchFamily="34" charset="-120"/>
              </a:rPr>
              <a:t>Longer shifts = fewer days at work</a:t>
            </a:r>
            <a:endParaRPr lang="en-US" sz="1100" dirty="0"/>
          </a:p>
        </p:txBody>
      </p:sp>
      <p:sp>
        <p:nvSpPr>
          <p:cNvPr id="8" name="Shape 6"/>
          <p:cNvSpPr/>
          <p:nvPr/>
        </p:nvSpPr>
        <p:spPr>
          <a:xfrm>
            <a:off x="4846320" y="1143000"/>
            <a:ext cx="3931920" cy="3474720"/>
          </a:xfrm>
          <a:prstGeom prst="roundRect">
            <a:avLst>
              <a:gd name="adj" fmla="val 3158"/>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US"/>
          </a:p>
        </p:txBody>
      </p:sp>
      <p:sp>
        <p:nvSpPr>
          <p:cNvPr id="9" name="Text 7"/>
          <p:cNvSpPr/>
          <p:nvPr/>
        </p:nvSpPr>
        <p:spPr>
          <a:xfrm>
            <a:off x="4846320" y="1371600"/>
            <a:ext cx="3931920" cy="1280160"/>
          </a:xfrm>
          <a:prstGeom prst="rect">
            <a:avLst/>
          </a:prstGeom>
          <a:noFill/>
          <a:ln/>
        </p:spPr>
        <p:txBody>
          <a:bodyPr wrap="square" rtlCol="0" anchor="ctr"/>
          <a:lstStyle/>
          <a:p>
            <a:pPr marL="0" indent="0" algn="ctr">
              <a:buNone/>
            </a:pPr>
            <a:r>
              <a:rPr lang="en-US" sz="8400" b="1" dirty="0">
                <a:solidFill>
                  <a:srgbClr val="94A3B8"/>
                </a:solidFill>
                <a:latin typeface="Cambria" pitchFamily="34" charset="0"/>
                <a:ea typeface="Cambria" pitchFamily="34" charset="-122"/>
                <a:cs typeface="Cambria" pitchFamily="34" charset="-120"/>
              </a:rPr>
              <a:t>25%</a:t>
            </a:r>
            <a:endParaRPr lang="en-US" sz="8400" dirty="0"/>
          </a:p>
        </p:txBody>
      </p:sp>
      <p:sp>
        <p:nvSpPr>
          <p:cNvPr id="10" name="Text 8"/>
          <p:cNvSpPr/>
          <p:nvPr/>
        </p:nvSpPr>
        <p:spPr>
          <a:xfrm>
            <a:off x="4937760" y="2697480"/>
            <a:ext cx="3749040" cy="731520"/>
          </a:xfrm>
          <a:prstGeom prst="rect">
            <a:avLst/>
          </a:prstGeom>
          <a:noFill/>
          <a:ln/>
        </p:spPr>
        <p:txBody>
          <a:bodyPr wrap="square" rtlCol="0" anchor="ctr"/>
          <a:lstStyle/>
          <a:p>
            <a:pPr marL="0" indent="0" algn="ctr">
              <a:buNone/>
            </a:pPr>
            <a:r>
              <a:rPr lang="en-US" sz="1300" b="1" dirty="0">
                <a:solidFill>
                  <a:srgbClr val="1A1A2E"/>
                </a:solidFill>
                <a:latin typeface="Arial" pitchFamily="34" charset="0"/>
                <a:ea typeface="Arial" pitchFamily="34" charset="-122"/>
                <a:cs typeface="Arial" pitchFamily="34" charset="-120"/>
              </a:rPr>
              <a:t>Want to work FEWER hours per day</a:t>
            </a:r>
            <a:endParaRPr lang="en-US" sz="1300" dirty="0"/>
          </a:p>
          <a:p>
            <a:pPr marL="0" indent="0" algn="ctr">
              <a:buNone/>
            </a:pPr>
            <a:r>
              <a:rPr lang="en-US" sz="1300" b="1" dirty="0">
                <a:solidFill>
                  <a:srgbClr val="1A1A2E"/>
                </a:solidFill>
                <a:latin typeface="Arial" pitchFamily="34" charset="0"/>
                <a:ea typeface="Arial" pitchFamily="34" charset="-122"/>
                <a:cs typeface="Arial" pitchFamily="34" charset="-120"/>
              </a:rPr>
              <a:t>even with fewer days off</a:t>
            </a:r>
            <a:endParaRPr lang="en-US" sz="1300" dirty="0"/>
          </a:p>
        </p:txBody>
      </p:sp>
      <p:sp>
        <p:nvSpPr>
          <p:cNvPr id="11" name="Text 9"/>
          <p:cNvSpPr/>
          <p:nvPr/>
        </p:nvSpPr>
        <p:spPr>
          <a:xfrm>
            <a:off x="4937760" y="3474720"/>
            <a:ext cx="3749040" cy="365760"/>
          </a:xfrm>
          <a:prstGeom prst="rect">
            <a:avLst/>
          </a:prstGeom>
          <a:noFill/>
          <a:ln/>
        </p:spPr>
        <p:txBody>
          <a:bodyPr wrap="square" rtlCol="0" anchor="ctr"/>
          <a:lstStyle/>
          <a:p>
            <a:pPr marL="0" indent="0" algn="ctr">
              <a:buNone/>
            </a:pPr>
            <a:r>
              <a:rPr lang="en-US" sz="1100" i="1" dirty="0">
                <a:solidFill>
                  <a:srgbClr val="64748B"/>
                </a:solidFill>
                <a:latin typeface="Arial" pitchFamily="34" charset="0"/>
                <a:ea typeface="Arial" pitchFamily="34" charset="-122"/>
                <a:cs typeface="Arial" pitchFamily="34" charset="-120"/>
              </a:rPr>
              <a:t>Shorter shifts = more days at work</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marL="0" indent="0">
              <a:buNone/>
            </a:pPr>
            <a:r>
              <a:rPr lang="en-US" sz="2400" b="1" dirty="0">
                <a:solidFill>
                  <a:srgbClr val="1F4E79"/>
                </a:solidFill>
                <a:latin typeface="Cambria" pitchFamily="34" charset="0"/>
                <a:ea typeface="Cambria" pitchFamily="34" charset="-122"/>
                <a:cs typeface="Cambria" pitchFamily="34" charset="-120"/>
              </a:rPr>
              <a:t>If You Want to Know What Your Workforce Wants — Ask Them</a:t>
            </a:r>
            <a:endParaRPr lang="en-US" sz="2400" dirty="0"/>
          </a:p>
        </p:txBody>
      </p:sp>
      <p:sp>
        <p:nvSpPr>
          <p:cNvPr id="3" name="Text 1"/>
          <p:cNvSpPr/>
          <p:nvPr/>
        </p:nvSpPr>
        <p:spPr>
          <a:xfrm>
            <a:off x="457200" y="795528"/>
            <a:ext cx="8229600" cy="256032"/>
          </a:xfrm>
          <a:prstGeom prst="rect">
            <a:avLst/>
          </a:prstGeom>
          <a:noFill/>
          <a:ln/>
        </p:spPr>
        <p:txBody>
          <a:bodyPr wrap="square" rtlCol="0" anchor="ctr"/>
          <a:lstStyle/>
          <a:p>
            <a:pPr marL="0" indent="0">
              <a:buNone/>
            </a:pPr>
            <a:r>
              <a:rPr lang="en-US" sz="1200" i="1" dirty="0">
                <a:solidFill>
                  <a:srgbClr val="64748B"/>
                </a:solidFill>
                <a:latin typeface="Arial" pitchFamily="34" charset="0"/>
                <a:ea typeface="Arial" pitchFamily="34" charset="-122"/>
                <a:cs typeface="Arial" pitchFamily="34" charset="-120"/>
              </a:rPr>
              <a:t>What 20,000+ shift workers across hundreds of facilities actually tell us</a:t>
            </a:r>
            <a:endParaRPr lang="en-US" sz="1200" dirty="0"/>
          </a:p>
        </p:txBody>
      </p:sp>
      <p:sp>
        <p:nvSpPr>
          <p:cNvPr id="4" name="Shape 2"/>
          <p:cNvSpPr/>
          <p:nvPr/>
        </p:nvSpPr>
        <p:spPr>
          <a:xfrm>
            <a:off x="365760" y="1170432"/>
            <a:ext cx="3931920" cy="1664208"/>
          </a:xfrm>
          <a:prstGeom prst="roundRect">
            <a:avLst>
              <a:gd name="adj" fmla="val 6593"/>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US"/>
          </a:p>
        </p:txBody>
      </p:sp>
      <p:sp>
        <p:nvSpPr>
          <p:cNvPr id="5" name="Shape 3"/>
          <p:cNvSpPr/>
          <p:nvPr/>
        </p:nvSpPr>
        <p:spPr>
          <a:xfrm>
            <a:off x="365760" y="1170432"/>
            <a:ext cx="1353312" cy="1664208"/>
          </a:xfrm>
          <a:prstGeom prst="roundRect">
            <a:avLst>
              <a:gd name="adj" fmla="val 8108"/>
            </a:avLst>
          </a:prstGeom>
          <a:solidFill>
            <a:srgbClr val="1F4E79"/>
          </a:solidFill>
          <a:ln w="12700">
            <a:solidFill>
              <a:srgbClr val="1F4E79"/>
            </a:solidFill>
            <a:prstDash val="solid"/>
          </a:ln>
        </p:spPr>
        <p:txBody>
          <a:bodyPr/>
          <a:lstStyle/>
          <a:p>
            <a:endParaRPr lang="en-US"/>
          </a:p>
        </p:txBody>
      </p:sp>
      <p:sp>
        <p:nvSpPr>
          <p:cNvPr id="6" name="Shape 4"/>
          <p:cNvSpPr/>
          <p:nvPr/>
        </p:nvSpPr>
        <p:spPr>
          <a:xfrm>
            <a:off x="1353312" y="1170432"/>
            <a:ext cx="365760" cy="1664208"/>
          </a:xfrm>
          <a:prstGeom prst="rect">
            <a:avLst/>
          </a:prstGeom>
          <a:solidFill>
            <a:srgbClr val="1F4E79"/>
          </a:solidFill>
          <a:ln w="12700">
            <a:solidFill>
              <a:srgbClr val="1F4E79"/>
            </a:solidFill>
            <a:prstDash val="solid"/>
          </a:ln>
        </p:spPr>
        <p:txBody>
          <a:bodyPr/>
          <a:lstStyle/>
          <a:p>
            <a:endParaRPr lang="en-US"/>
          </a:p>
        </p:txBody>
      </p:sp>
      <p:sp>
        <p:nvSpPr>
          <p:cNvPr id="7" name="Text 5"/>
          <p:cNvSpPr/>
          <p:nvPr/>
        </p:nvSpPr>
        <p:spPr>
          <a:xfrm>
            <a:off x="402336" y="1426464"/>
            <a:ext cx="1280160" cy="621792"/>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80%+</a:t>
            </a:r>
            <a:endParaRPr lang="en-US" sz="2600" dirty="0"/>
          </a:p>
        </p:txBody>
      </p:sp>
      <p:sp>
        <p:nvSpPr>
          <p:cNvPr id="8" name="Text 6"/>
          <p:cNvSpPr/>
          <p:nvPr/>
        </p:nvSpPr>
        <p:spPr>
          <a:xfrm>
            <a:off x="402336" y="2039112"/>
            <a:ext cx="1280160" cy="658368"/>
          </a:xfrm>
          <a:prstGeom prst="rect">
            <a:avLst/>
          </a:prstGeom>
          <a:noFill/>
          <a:ln/>
        </p:spPr>
        <p:txBody>
          <a:bodyPr wrap="square" rtlCol="0" anchor="ctr"/>
          <a:lstStyle/>
          <a:p>
            <a:pPr marL="0" indent="0" algn="ctr">
              <a:buNone/>
            </a:pPr>
            <a:r>
              <a:rPr lang="en-US" sz="950" dirty="0">
                <a:solidFill>
                  <a:srgbClr val="FFFFFF"/>
                </a:solidFill>
                <a:latin typeface="Arial" pitchFamily="34" charset="0"/>
                <a:ea typeface="Arial" pitchFamily="34" charset="-122"/>
                <a:cs typeface="Arial" pitchFamily="34" charset="-120"/>
              </a:rPr>
              <a:t>prefer fixed shifts</a:t>
            </a:r>
            <a:endParaRPr lang="en-US" sz="950" dirty="0"/>
          </a:p>
        </p:txBody>
      </p:sp>
      <p:sp>
        <p:nvSpPr>
          <p:cNvPr id="9" name="Text 7"/>
          <p:cNvSpPr/>
          <p:nvPr/>
        </p:nvSpPr>
        <p:spPr>
          <a:xfrm>
            <a:off x="1810512" y="1280160"/>
            <a:ext cx="2359152" cy="1444752"/>
          </a:xfrm>
          <a:prstGeom prst="rect">
            <a:avLst/>
          </a:prstGeom>
          <a:noFill/>
          <a:ln/>
        </p:spPr>
        <p:txBody>
          <a:bodyPr wrap="square" rtlCol="0" anchor="ctr"/>
          <a:lstStyle/>
          <a:p>
            <a:pPr marL="0" indent="0">
              <a:buNone/>
            </a:pPr>
            <a:r>
              <a:rPr lang="en-US" sz="1050" dirty="0">
                <a:solidFill>
                  <a:srgbClr val="1A1A2E"/>
                </a:solidFill>
                <a:latin typeface="Arial" pitchFamily="34" charset="0"/>
                <a:ea typeface="Arial" pitchFamily="34" charset="-122"/>
                <a:cs typeface="Arial" pitchFamily="34" charset="-120"/>
              </a:rPr>
              <a:t>More than 80% of shift workers prefer fixed over rotating. More than 60% would accept a fixed shift they don’t prefer rather than rotate through shifts they find disruptive.</a:t>
            </a:r>
            <a:endParaRPr lang="en-US" sz="1050" dirty="0"/>
          </a:p>
        </p:txBody>
      </p:sp>
      <p:sp>
        <p:nvSpPr>
          <p:cNvPr id="10" name="Shape 8"/>
          <p:cNvSpPr/>
          <p:nvPr/>
        </p:nvSpPr>
        <p:spPr>
          <a:xfrm>
            <a:off x="4663440" y="1170432"/>
            <a:ext cx="3931920" cy="1664208"/>
          </a:xfrm>
          <a:prstGeom prst="roundRect">
            <a:avLst>
              <a:gd name="adj" fmla="val 6593"/>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US"/>
          </a:p>
        </p:txBody>
      </p:sp>
      <p:sp>
        <p:nvSpPr>
          <p:cNvPr id="11" name="Shape 9"/>
          <p:cNvSpPr/>
          <p:nvPr/>
        </p:nvSpPr>
        <p:spPr>
          <a:xfrm>
            <a:off x="4663440" y="1170432"/>
            <a:ext cx="1353312" cy="1664208"/>
          </a:xfrm>
          <a:prstGeom prst="roundRect">
            <a:avLst>
              <a:gd name="adj" fmla="val 8108"/>
            </a:avLst>
          </a:prstGeom>
          <a:solidFill>
            <a:srgbClr val="E8610A"/>
          </a:solidFill>
          <a:ln w="12700">
            <a:solidFill>
              <a:srgbClr val="E8610A"/>
            </a:solidFill>
            <a:prstDash val="solid"/>
          </a:ln>
        </p:spPr>
        <p:txBody>
          <a:bodyPr/>
          <a:lstStyle/>
          <a:p>
            <a:endParaRPr lang="en-US"/>
          </a:p>
        </p:txBody>
      </p:sp>
      <p:sp>
        <p:nvSpPr>
          <p:cNvPr id="12" name="Shape 10"/>
          <p:cNvSpPr/>
          <p:nvPr/>
        </p:nvSpPr>
        <p:spPr>
          <a:xfrm>
            <a:off x="5650992" y="1170432"/>
            <a:ext cx="365760" cy="1664208"/>
          </a:xfrm>
          <a:prstGeom prst="rect">
            <a:avLst/>
          </a:prstGeom>
          <a:solidFill>
            <a:srgbClr val="E8610A"/>
          </a:solidFill>
          <a:ln w="12700">
            <a:solidFill>
              <a:srgbClr val="E8610A"/>
            </a:solidFill>
            <a:prstDash val="solid"/>
          </a:ln>
        </p:spPr>
        <p:txBody>
          <a:bodyPr/>
          <a:lstStyle/>
          <a:p>
            <a:endParaRPr lang="en-US"/>
          </a:p>
        </p:txBody>
      </p:sp>
      <p:sp>
        <p:nvSpPr>
          <p:cNvPr id="13" name="Text 11"/>
          <p:cNvSpPr/>
          <p:nvPr/>
        </p:nvSpPr>
        <p:spPr>
          <a:xfrm>
            <a:off x="4700016" y="1426464"/>
            <a:ext cx="1280160" cy="621792"/>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~50%</a:t>
            </a:r>
            <a:endParaRPr lang="en-US" sz="2600" dirty="0"/>
          </a:p>
        </p:txBody>
      </p:sp>
      <p:sp>
        <p:nvSpPr>
          <p:cNvPr id="14" name="Text 12"/>
          <p:cNvSpPr/>
          <p:nvPr/>
        </p:nvSpPr>
        <p:spPr>
          <a:xfrm>
            <a:off x="4700016" y="2039112"/>
            <a:ext cx="1280160" cy="658368"/>
          </a:xfrm>
          <a:prstGeom prst="rect">
            <a:avLst/>
          </a:prstGeom>
          <a:noFill/>
          <a:ln/>
        </p:spPr>
        <p:txBody>
          <a:bodyPr wrap="square" rtlCol="0" anchor="ctr"/>
          <a:lstStyle/>
          <a:p>
            <a:pPr marL="0" indent="0" algn="ctr">
              <a:buNone/>
            </a:pPr>
            <a:r>
              <a:rPr lang="en-US" sz="950" dirty="0">
                <a:solidFill>
                  <a:srgbClr val="FFFFFF"/>
                </a:solidFill>
                <a:latin typeface="Arial" pitchFamily="34" charset="0"/>
                <a:ea typeface="Arial" pitchFamily="34" charset="-122"/>
                <a:cs typeface="Arial" pitchFamily="34" charset="-120"/>
              </a:rPr>
              <a:t>feel part of</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the company</a:t>
            </a:r>
            <a:endParaRPr lang="en-US" sz="950" dirty="0"/>
          </a:p>
        </p:txBody>
      </p:sp>
      <p:sp>
        <p:nvSpPr>
          <p:cNvPr id="15" name="Text 13"/>
          <p:cNvSpPr/>
          <p:nvPr/>
        </p:nvSpPr>
        <p:spPr>
          <a:xfrm>
            <a:off x="6108192" y="1280160"/>
            <a:ext cx="2359152" cy="1444752"/>
          </a:xfrm>
          <a:prstGeom prst="rect">
            <a:avLst/>
          </a:prstGeom>
          <a:noFill/>
          <a:ln/>
        </p:spPr>
        <p:txBody>
          <a:bodyPr wrap="square" rtlCol="0" anchor="ctr"/>
          <a:lstStyle/>
          <a:p>
            <a:pPr marL="0" indent="0">
              <a:buNone/>
            </a:pPr>
            <a:r>
              <a:rPr lang="en-US" sz="1050" dirty="0">
                <a:solidFill>
                  <a:srgbClr val="1A1A2E"/>
                </a:solidFill>
                <a:latin typeface="Arial" pitchFamily="34" charset="0"/>
                <a:ea typeface="Arial" pitchFamily="34" charset="-122"/>
                <a:cs typeface="Arial" pitchFamily="34" charset="-120"/>
              </a:rPr>
              <a:t>Only about half of shift workers say they feel like a part of the company. The rest are neutral or checked out — and that gap predicts who leaves.</a:t>
            </a:r>
            <a:endParaRPr lang="en-US" sz="1050" dirty="0"/>
          </a:p>
        </p:txBody>
      </p:sp>
      <p:sp>
        <p:nvSpPr>
          <p:cNvPr id="16" name="Shape 14"/>
          <p:cNvSpPr/>
          <p:nvPr/>
        </p:nvSpPr>
        <p:spPr>
          <a:xfrm>
            <a:off x="365760" y="2980944"/>
            <a:ext cx="3931920" cy="1664208"/>
          </a:xfrm>
          <a:prstGeom prst="roundRect">
            <a:avLst>
              <a:gd name="adj" fmla="val 6593"/>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US"/>
          </a:p>
        </p:txBody>
      </p:sp>
      <p:sp>
        <p:nvSpPr>
          <p:cNvPr id="17" name="Shape 15"/>
          <p:cNvSpPr/>
          <p:nvPr/>
        </p:nvSpPr>
        <p:spPr>
          <a:xfrm>
            <a:off x="365760" y="2980944"/>
            <a:ext cx="1353312" cy="1664208"/>
          </a:xfrm>
          <a:prstGeom prst="roundRect">
            <a:avLst>
              <a:gd name="adj" fmla="val 8108"/>
            </a:avLst>
          </a:prstGeom>
          <a:solidFill>
            <a:srgbClr val="1D6A72"/>
          </a:solidFill>
          <a:ln w="12700">
            <a:solidFill>
              <a:srgbClr val="1D6A72"/>
            </a:solidFill>
            <a:prstDash val="solid"/>
          </a:ln>
        </p:spPr>
        <p:txBody>
          <a:bodyPr/>
          <a:lstStyle/>
          <a:p>
            <a:endParaRPr lang="en-US"/>
          </a:p>
        </p:txBody>
      </p:sp>
      <p:sp>
        <p:nvSpPr>
          <p:cNvPr id="18" name="Shape 16"/>
          <p:cNvSpPr/>
          <p:nvPr/>
        </p:nvSpPr>
        <p:spPr>
          <a:xfrm>
            <a:off x="1353312" y="2980944"/>
            <a:ext cx="365760" cy="1664208"/>
          </a:xfrm>
          <a:prstGeom prst="rect">
            <a:avLst/>
          </a:prstGeom>
          <a:solidFill>
            <a:srgbClr val="1D6A72"/>
          </a:solidFill>
          <a:ln w="12700">
            <a:solidFill>
              <a:srgbClr val="1D6A72"/>
            </a:solidFill>
            <a:prstDash val="solid"/>
          </a:ln>
        </p:spPr>
        <p:txBody>
          <a:bodyPr/>
          <a:lstStyle/>
          <a:p>
            <a:endParaRPr lang="en-US"/>
          </a:p>
        </p:txBody>
      </p:sp>
      <p:sp>
        <p:nvSpPr>
          <p:cNvPr id="19" name="Text 17"/>
          <p:cNvSpPr/>
          <p:nvPr/>
        </p:nvSpPr>
        <p:spPr>
          <a:xfrm>
            <a:off x="402336" y="3236976"/>
            <a:ext cx="1280160" cy="621792"/>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20" name="Text 18"/>
          <p:cNvSpPr/>
          <p:nvPr/>
        </p:nvSpPr>
        <p:spPr>
          <a:xfrm>
            <a:off x="402336" y="3849624"/>
            <a:ext cx="1280160" cy="658368"/>
          </a:xfrm>
          <a:prstGeom prst="rect">
            <a:avLst/>
          </a:prstGeom>
          <a:noFill/>
          <a:ln/>
        </p:spPr>
        <p:txBody>
          <a:bodyPr wrap="square" rtlCol="0" anchor="ctr"/>
          <a:lstStyle/>
          <a:p>
            <a:pPr marL="0" indent="0" algn="ctr">
              <a:buNone/>
            </a:pPr>
            <a:r>
              <a:rPr lang="en-US" sz="950" dirty="0">
                <a:solidFill>
                  <a:srgbClr val="FFFFFF"/>
                </a:solidFill>
                <a:latin typeface="Arial" pitchFamily="34" charset="0"/>
                <a:ea typeface="Arial" pitchFamily="34" charset="-122"/>
                <a:cs typeface="Arial" pitchFamily="34" charset="-120"/>
              </a:rPr>
              <a:t>satisfaction driver is</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work-life balance</a:t>
            </a:r>
            <a:endParaRPr lang="en-US" sz="950" dirty="0"/>
          </a:p>
        </p:txBody>
      </p:sp>
      <p:sp>
        <p:nvSpPr>
          <p:cNvPr id="21" name="Text 19"/>
          <p:cNvSpPr/>
          <p:nvPr/>
        </p:nvSpPr>
        <p:spPr>
          <a:xfrm>
            <a:off x="1810512" y="3090672"/>
            <a:ext cx="2359152" cy="1444752"/>
          </a:xfrm>
          <a:prstGeom prst="rect">
            <a:avLst/>
          </a:prstGeom>
          <a:noFill/>
          <a:ln/>
        </p:spPr>
        <p:txBody>
          <a:bodyPr wrap="square" rtlCol="0" anchor="ctr"/>
          <a:lstStyle/>
          <a:p>
            <a:pPr marL="0" indent="0">
              <a:buNone/>
            </a:pPr>
            <a:r>
              <a:rPr lang="en-US" sz="1050" dirty="0">
                <a:solidFill>
                  <a:srgbClr val="1A1A2E"/>
                </a:solidFill>
                <a:latin typeface="Arial" pitchFamily="34" charset="0"/>
                <a:ea typeface="Arial" pitchFamily="34" charset="-122"/>
                <a:cs typeface="Arial" pitchFamily="34" charset="-120"/>
              </a:rPr>
              <a:t>Work-life balance and public recognition rank as the top satisfaction drivers — both consistently higher than wages alone. Recognition outranks pay in most surveys.</a:t>
            </a:r>
            <a:endParaRPr lang="en-US" sz="1050" dirty="0"/>
          </a:p>
        </p:txBody>
      </p:sp>
      <p:sp>
        <p:nvSpPr>
          <p:cNvPr id="22" name="Shape 20"/>
          <p:cNvSpPr/>
          <p:nvPr/>
        </p:nvSpPr>
        <p:spPr>
          <a:xfrm>
            <a:off x="4663440" y="2980944"/>
            <a:ext cx="3931920" cy="1664208"/>
          </a:xfrm>
          <a:prstGeom prst="roundRect">
            <a:avLst>
              <a:gd name="adj" fmla="val 6593"/>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US"/>
          </a:p>
        </p:txBody>
      </p:sp>
      <p:sp>
        <p:nvSpPr>
          <p:cNvPr id="23" name="Shape 21"/>
          <p:cNvSpPr/>
          <p:nvPr/>
        </p:nvSpPr>
        <p:spPr>
          <a:xfrm>
            <a:off x="4663440" y="2980944"/>
            <a:ext cx="1353312" cy="1664208"/>
          </a:xfrm>
          <a:prstGeom prst="roundRect">
            <a:avLst>
              <a:gd name="adj" fmla="val 8108"/>
            </a:avLst>
          </a:prstGeom>
          <a:solidFill>
            <a:srgbClr val="64748B"/>
          </a:solidFill>
          <a:ln w="12700">
            <a:solidFill>
              <a:srgbClr val="64748B"/>
            </a:solidFill>
            <a:prstDash val="solid"/>
          </a:ln>
        </p:spPr>
        <p:txBody>
          <a:bodyPr/>
          <a:lstStyle/>
          <a:p>
            <a:endParaRPr lang="en-US"/>
          </a:p>
        </p:txBody>
      </p:sp>
      <p:sp>
        <p:nvSpPr>
          <p:cNvPr id="24" name="Shape 22"/>
          <p:cNvSpPr/>
          <p:nvPr/>
        </p:nvSpPr>
        <p:spPr>
          <a:xfrm>
            <a:off x="5650992" y="2980944"/>
            <a:ext cx="365760" cy="1664208"/>
          </a:xfrm>
          <a:prstGeom prst="rect">
            <a:avLst/>
          </a:prstGeom>
          <a:solidFill>
            <a:srgbClr val="64748B"/>
          </a:solidFill>
          <a:ln w="12700">
            <a:solidFill>
              <a:srgbClr val="64748B"/>
            </a:solidFill>
            <a:prstDash val="solid"/>
          </a:ln>
        </p:spPr>
        <p:txBody>
          <a:bodyPr/>
          <a:lstStyle/>
          <a:p>
            <a:endParaRPr lang="en-US"/>
          </a:p>
        </p:txBody>
      </p:sp>
      <p:sp>
        <p:nvSpPr>
          <p:cNvPr id="25" name="Text 23"/>
          <p:cNvSpPr/>
          <p:nvPr/>
        </p:nvSpPr>
        <p:spPr>
          <a:xfrm>
            <a:off x="4700016" y="3236976"/>
            <a:ext cx="1280160" cy="621792"/>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~5%</a:t>
            </a:r>
            <a:endParaRPr lang="en-US" sz="2600" dirty="0"/>
          </a:p>
        </p:txBody>
      </p:sp>
      <p:sp>
        <p:nvSpPr>
          <p:cNvPr id="26" name="Text 24"/>
          <p:cNvSpPr/>
          <p:nvPr/>
        </p:nvSpPr>
        <p:spPr>
          <a:xfrm>
            <a:off x="4700016" y="3849624"/>
            <a:ext cx="1280160" cy="658368"/>
          </a:xfrm>
          <a:prstGeom prst="rect">
            <a:avLst/>
          </a:prstGeom>
          <a:noFill/>
          <a:ln/>
        </p:spPr>
        <p:txBody>
          <a:bodyPr wrap="square" rtlCol="0" anchor="ctr"/>
          <a:lstStyle/>
          <a:p>
            <a:pPr marL="0" indent="0" algn="ctr">
              <a:buNone/>
            </a:pPr>
            <a:r>
              <a:rPr lang="en-US" sz="950" dirty="0">
                <a:solidFill>
                  <a:srgbClr val="FFFFFF"/>
                </a:solidFill>
                <a:latin typeface="Arial" pitchFamily="34" charset="0"/>
                <a:ea typeface="Arial" pitchFamily="34" charset="-122"/>
                <a:cs typeface="Arial" pitchFamily="34" charset="-120"/>
              </a:rPr>
              <a:t>will be dissatisfied</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no matter what</a:t>
            </a:r>
            <a:endParaRPr lang="en-US" sz="950" dirty="0"/>
          </a:p>
        </p:txBody>
      </p:sp>
      <p:sp>
        <p:nvSpPr>
          <p:cNvPr id="27" name="Text 25"/>
          <p:cNvSpPr/>
          <p:nvPr/>
        </p:nvSpPr>
        <p:spPr>
          <a:xfrm>
            <a:off x="6108192" y="3090672"/>
            <a:ext cx="2359152" cy="1444752"/>
          </a:xfrm>
          <a:prstGeom prst="rect">
            <a:avLst/>
          </a:prstGeom>
          <a:noFill/>
          <a:ln/>
        </p:spPr>
        <p:txBody>
          <a:bodyPr wrap="square" rtlCol="0" anchor="ctr"/>
          <a:lstStyle/>
          <a:p>
            <a:pPr marL="0" indent="0">
              <a:buNone/>
            </a:pPr>
            <a:r>
              <a:rPr lang="en-US" sz="1050" dirty="0">
                <a:solidFill>
                  <a:srgbClr val="1A1A2E"/>
                </a:solidFill>
                <a:latin typeface="Arial" pitchFamily="34" charset="0"/>
                <a:ea typeface="Arial" pitchFamily="34" charset="-122"/>
                <a:cs typeface="Arial" pitchFamily="34" charset="-120"/>
              </a:rPr>
              <a:t>Approximately 5% of any workforce will oppose any option offered. Don’t let them paralyze decisions that benefit the other 95%. Survey data makes this distinction visible and defensible.</a:t>
            </a:r>
            <a:endParaRPr lang="en-US" sz="1050" dirty="0"/>
          </a:p>
        </p:txBody>
      </p:sp>
      <p:sp>
        <p:nvSpPr>
          <p:cNvPr id="28" name="Shape 26"/>
          <p:cNvSpPr/>
          <p:nvPr/>
        </p:nvSpPr>
        <p:spPr>
          <a:xfrm>
            <a:off x="365760" y="4773168"/>
            <a:ext cx="8412480" cy="329184"/>
          </a:xfrm>
          <a:prstGeom prst="roundRect">
            <a:avLst>
              <a:gd name="adj" fmla="val 22222"/>
            </a:avLst>
          </a:prstGeom>
          <a:solidFill>
            <a:srgbClr val="1F4E79"/>
          </a:solidFill>
          <a:ln w="12700">
            <a:solidFill>
              <a:srgbClr val="1F4E79"/>
            </a:solidFill>
            <a:prstDash val="solid"/>
          </a:ln>
        </p:spPr>
        <p:txBody>
          <a:bodyPr/>
          <a:lstStyle/>
          <a:p>
            <a:endParaRPr lang="en-US"/>
          </a:p>
        </p:txBody>
      </p:sp>
      <p:sp>
        <p:nvSpPr>
          <p:cNvPr id="29" name="Text 27"/>
          <p:cNvSpPr/>
          <p:nvPr/>
        </p:nvSpPr>
        <p:spPr>
          <a:xfrm>
            <a:off x="457200" y="4791456"/>
            <a:ext cx="8229600" cy="292608"/>
          </a:xfrm>
          <a:prstGeom prst="rect">
            <a:avLst/>
          </a:prstGeom>
          <a:noFill/>
          <a:ln/>
        </p:spPr>
        <p:txBody>
          <a:bodyPr wrap="squar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The gap between what management assumes and what employees actually want is almost always larger than expected.</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30352"/>
          </a:xfrm>
          <a:prstGeom prst="rect">
            <a:avLst/>
          </a:prstGeom>
          <a:noFill/>
          <a:ln/>
        </p:spPr>
        <p:txBody>
          <a:bodyPr wrap="square"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Only Half Feel Like They Belong</a:t>
            </a:r>
            <a:endParaRPr lang="en-US" sz="2600" dirty="0"/>
          </a:p>
        </p:txBody>
      </p:sp>
      <p:sp>
        <p:nvSpPr>
          <p:cNvPr id="3" name="Text 1"/>
          <p:cNvSpPr/>
          <p:nvPr/>
        </p:nvSpPr>
        <p:spPr>
          <a:xfrm>
            <a:off x="457200" y="731520"/>
            <a:ext cx="8229600" cy="256032"/>
          </a:xfrm>
          <a:prstGeom prst="rect">
            <a:avLst/>
          </a:prstGeom>
          <a:noFill/>
          <a:ln/>
        </p:spPr>
        <p:txBody>
          <a:bodyPr wrap="square" rtlCol="0" anchor="ctr"/>
          <a:lstStyle/>
          <a:p>
            <a:pPr marL="0" indent="0">
              <a:buNone/>
            </a:pPr>
            <a:r>
              <a:rPr lang="en-US" sz="1100" i="1" dirty="0">
                <a:solidFill>
                  <a:srgbClr val="64748B"/>
                </a:solidFill>
                <a:latin typeface="Arial" pitchFamily="34" charset="0"/>
                <a:ea typeface="Arial" pitchFamily="34" charset="-122"/>
                <a:cs typeface="Arial" pitchFamily="34" charset="-120"/>
              </a:rPr>
              <a:t>“I feel like I am a part of this company” — how shift workers across hundreds of facilities answer.</a:t>
            </a:r>
            <a:endParaRPr lang="en-US" sz="1100" dirty="0"/>
          </a:p>
        </p:txBody>
      </p:sp>
      <p:sp>
        <p:nvSpPr>
          <p:cNvPr id="4" name="bar"/>
          <p:cNvSpPr/>
          <p:nvPr/>
        </p:nvSpPr>
        <p:spPr>
          <a:xfrm>
            <a:off x="5669280" y="1828800"/>
            <a:ext cx="2743200" cy="2148840"/>
          </a:xfrm>
          <a:prstGeom prst="rect">
            <a:avLst/>
          </a:prstGeom>
          <a:solidFill>
            <a:srgbClr val="1D9E75">
              <a:alpha val="10000"/>
            </a:srgbClr>
          </a:solidFill>
        </p:spPr>
        <p:txBody>
          <a:bodyPr/>
          <a:lstStyle/>
          <a:p>
            <a:endParaRPr lang="en-US"/>
          </a:p>
        </p:txBody>
      </p:sp>
      <p:sp>
        <p:nvSpPr>
          <p:cNvPr id="5" name="ln"/>
          <p:cNvSpPr/>
          <p:nvPr/>
        </p:nvSpPr>
        <p:spPr>
          <a:xfrm>
            <a:off x="1554480" y="1828800"/>
            <a:ext cx="0" cy="2148840"/>
          </a:xfrm>
          <a:prstGeom prst="line">
            <a:avLst/>
          </a:prstGeom>
          <a:ln w="9525" cap="rnd">
            <a:solidFill>
              <a:srgbClr val="94A3B8"/>
            </a:solidFill>
            <a:prstDash val="solid"/>
          </a:ln>
        </p:spPr>
        <p:txBody>
          <a:bodyPr/>
          <a:lstStyle/>
          <a:p>
            <a:endParaRPr lang="en-US"/>
          </a:p>
        </p:txBody>
      </p:sp>
      <p:sp>
        <p:nvSpPr>
          <p:cNvPr id="6" name="ln"/>
          <p:cNvSpPr/>
          <p:nvPr/>
        </p:nvSpPr>
        <p:spPr>
          <a:xfrm>
            <a:off x="1554480" y="3977640"/>
            <a:ext cx="6858000" cy="0"/>
          </a:xfrm>
          <a:prstGeom prst="line">
            <a:avLst/>
          </a:prstGeom>
          <a:ln w="9525" cap="rnd">
            <a:solidFill>
              <a:srgbClr val="94A3B8"/>
            </a:solidFill>
            <a:prstDash val="solid"/>
          </a:ln>
        </p:spPr>
        <p:txBody>
          <a:bodyPr/>
          <a:lstStyle/>
          <a:p>
            <a:endParaRPr lang="en-US"/>
          </a:p>
        </p:txBody>
      </p:sp>
      <p:sp>
        <p:nvSpPr>
          <p:cNvPr id="7" name="ln"/>
          <p:cNvSpPr/>
          <p:nvPr/>
        </p:nvSpPr>
        <p:spPr>
          <a:xfrm>
            <a:off x="1554480" y="3363686"/>
            <a:ext cx="6858000" cy="0"/>
          </a:xfrm>
          <a:prstGeom prst="line">
            <a:avLst/>
          </a:prstGeom>
          <a:ln w="6350" cap="rnd">
            <a:solidFill>
              <a:srgbClr val="E2E8F0"/>
            </a:solidFill>
            <a:prstDash val="solid"/>
          </a:ln>
        </p:spPr>
        <p:txBody>
          <a:bodyPr/>
          <a:lstStyle/>
          <a:p>
            <a:endParaRPr lang="en-US"/>
          </a:p>
        </p:txBody>
      </p:sp>
      <p:sp>
        <p:nvSpPr>
          <p:cNvPr id="8" name="t"/>
          <p:cNvSpPr/>
          <p:nvPr/>
        </p:nvSpPr>
        <p:spPr>
          <a:xfrm>
            <a:off x="1005840" y="3263102"/>
            <a:ext cx="457200" cy="201168"/>
          </a:xfrm>
          <a:prstGeom prst="rect">
            <a:avLst/>
          </a:prstGeom>
        </p:spPr>
        <p:txBody>
          <a:bodyPr wrap="square" lIns="18000" tIns="9000" rIns="18000" bIns="9000" rtlCol="0" anchor="ctr"/>
          <a:lstStyle/>
          <a:p>
            <a:pPr marL="0" indent="0" algn="r">
              <a:buNone/>
            </a:pPr>
            <a:r>
              <a:rPr lang="en-US" sz="800" dirty="0">
                <a:solidFill>
                  <a:srgbClr val="64748B"/>
                </a:solidFill>
                <a:latin typeface="Arial" pitchFamily="34" charset="0"/>
                <a:cs typeface="Arial" pitchFamily="34" charset="0"/>
              </a:rPr>
              <a:t>10%</a:t>
            </a:r>
          </a:p>
        </p:txBody>
      </p:sp>
      <p:sp>
        <p:nvSpPr>
          <p:cNvPr id="9" name="ln"/>
          <p:cNvSpPr/>
          <p:nvPr/>
        </p:nvSpPr>
        <p:spPr>
          <a:xfrm>
            <a:off x="1554480" y="2749731"/>
            <a:ext cx="6858000" cy="0"/>
          </a:xfrm>
          <a:prstGeom prst="line">
            <a:avLst/>
          </a:prstGeom>
          <a:ln w="6350" cap="rnd">
            <a:solidFill>
              <a:srgbClr val="E2E8F0"/>
            </a:solidFill>
            <a:prstDash val="solid"/>
          </a:ln>
        </p:spPr>
        <p:txBody>
          <a:bodyPr/>
          <a:lstStyle/>
          <a:p>
            <a:endParaRPr lang="en-US"/>
          </a:p>
        </p:txBody>
      </p:sp>
      <p:sp>
        <p:nvSpPr>
          <p:cNvPr id="10" name="t"/>
          <p:cNvSpPr/>
          <p:nvPr/>
        </p:nvSpPr>
        <p:spPr>
          <a:xfrm>
            <a:off x="1005840" y="2649147"/>
            <a:ext cx="457200" cy="201168"/>
          </a:xfrm>
          <a:prstGeom prst="rect">
            <a:avLst/>
          </a:prstGeom>
        </p:spPr>
        <p:txBody>
          <a:bodyPr wrap="square" lIns="18000" tIns="9000" rIns="18000" bIns="9000" rtlCol="0" anchor="ctr"/>
          <a:lstStyle/>
          <a:p>
            <a:pPr marL="0" indent="0" algn="r">
              <a:buNone/>
            </a:pPr>
            <a:r>
              <a:rPr lang="en-US" sz="800" dirty="0">
                <a:solidFill>
                  <a:srgbClr val="64748B"/>
                </a:solidFill>
                <a:latin typeface="Arial" pitchFamily="34" charset="0"/>
                <a:cs typeface="Arial" pitchFamily="34" charset="0"/>
              </a:rPr>
              <a:t>20%</a:t>
            </a:r>
          </a:p>
        </p:txBody>
      </p:sp>
      <p:sp>
        <p:nvSpPr>
          <p:cNvPr id="11" name="ln"/>
          <p:cNvSpPr/>
          <p:nvPr/>
        </p:nvSpPr>
        <p:spPr>
          <a:xfrm>
            <a:off x="1554480" y="2135777"/>
            <a:ext cx="6858000" cy="0"/>
          </a:xfrm>
          <a:prstGeom prst="line">
            <a:avLst/>
          </a:prstGeom>
          <a:ln w="6350" cap="rnd">
            <a:solidFill>
              <a:srgbClr val="E2E8F0"/>
            </a:solidFill>
            <a:prstDash val="solid"/>
          </a:ln>
        </p:spPr>
        <p:txBody>
          <a:bodyPr/>
          <a:lstStyle/>
          <a:p>
            <a:endParaRPr lang="en-US"/>
          </a:p>
        </p:txBody>
      </p:sp>
      <p:sp>
        <p:nvSpPr>
          <p:cNvPr id="12" name="t"/>
          <p:cNvSpPr/>
          <p:nvPr/>
        </p:nvSpPr>
        <p:spPr>
          <a:xfrm>
            <a:off x="1005840" y="2035193"/>
            <a:ext cx="457200" cy="201168"/>
          </a:xfrm>
          <a:prstGeom prst="rect">
            <a:avLst/>
          </a:prstGeom>
        </p:spPr>
        <p:txBody>
          <a:bodyPr wrap="square" lIns="18000" tIns="9000" rIns="18000" bIns="9000" rtlCol="0" anchor="ctr"/>
          <a:lstStyle/>
          <a:p>
            <a:pPr marL="0" indent="0" algn="r">
              <a:buNone/>
            </a:pPr>
            <a:r>
              <a:rPr lang="en-US" sz="800" dirty="0">
                <a:solidFill>
                  <a:srgbClr val="64748B"/>
                </a:solidFill>
                <a:latin typeface="Arial" pitchFamily="34" charset="0"/>
                <a:cs typeface="Arial" pitchFamily="34" charset="0"/>
              </a:rPr>
              <a:t>30%</a:t>
            </a:r>
          </a:p>
        </p:txBody>
      </p:sp>
      <p:sp>
        <p:nvSpPr>
          <p:cNvPr id="13" name="rt"/>
          <p:cNvSpPr/>
          <p:nvPr/>
        </p:nvSpPr>
        <p:spPr>
          <a:xfrm rot="-5400000">
            <a:off x="274320" y="2766060"/>
            <a:ext cx="1828800" cy="274320"/>
          </a:xfrm>
          <a:prstGeom prst="rect">
            <a:avLst/>
          </a:prstGeom>
        </p:spPr>
        <p:txBody>
          <a:bodyPr wrap="square" lIns="0" tIns="0" rIns="0" bIns="0" rtlCol="0" anchor="ctr"/>
          <a:lstStyle/>
          <a:p>
            <a:pPr algn="ctr">
              <a:buNone/>
            </a:pPr>
            <a:r>
              <a:rPr lang="en-US" sz="850" dirty="0">
                <a:solidFill>
                  <a:srgbClr val="64748B"/>
                </a:solidFill>
                <a:latin typeface="Arial" pitchFamily="34" charset="0"/>
              </a:rPr>
              <a:t>% of shift workers</a:t>
            </a:r>
          </a:p>
        </p:txBody>
      </p:sp>
      <p:sp>
        <p:nvSpPr>
          <p:cNvPr id="14" name="bar"/>
          <p:cNvSpPr/>
          <p:nvPr/>
        </p:nvSpPr>
        <p:spPr>
          <a:xfrm>
            <a:off x="1819656" y="3525770"/>
            <a:ext cx="841248" cy="451870"/>
          </a:xfrm>
          <a:prstGeom prst="rect">
            <a:avLst/>
          </a:prstGeom>
          <a:solidFill>
            <a:srgbClr val="E8610A"/>
          </a:solidFill>
        </p:spPr>
        <p:txBody>
          <a:bodyPr/>
          <a:lstStyle/>
          <a:p>
            <a:endParaRPr lang="en-US"/>
          </a:p>
        </p:txBody>
      </p:sp>
      <p:sp>
        <p:nvSpPr>
          <p:cNvPr id="15" name="t"/>
          <p:cNvSpPr/>
          <p:nvPr/>
        </p:nvSpPr>
        <p:spPr>
          <a:xfrm>
            <a:off x="1819656" y="3288026"/>
            <a:ext cx="841248" cy="219456"/>
          </a:xfrm>
          <a:prstGeom prst="rect">
            <a:avLst/>
          </a:prstGeom>
        </p:spPr>
        <p:txBody>
          <a:bodyPr wrap="square" lIns="18000" tIns="9000" rIns="18000" bIns="9000" rtlCol="0" anchor="ctr"/>
          <a:lstStyle/>
          <a:p>
            <a:pPr marL="0" indent="0" algn="ctr">
              <a:buNone/>
            </a:pPr>
            <a:r>
              <a:rPr lang="en-US" sz="1100" b="1" dirty="0">
                <a:solidFill>
                  <a:srgbClr val="E8610A"/>
                </a:solidFill>
                <a:latin typeface="Arial" pitchFamily="34" charset="0"/>
                <a:cs typeface="Arial" pitchFamily="34" charset="0"/>
              </a:rPr>
              <a:t>7%</a:t>
            </a:r>
          </a:p>
        </p:txBody>
      </p:sp>
      <p:sp>
        <p:nvSpPr>
          <p:cNvPr id="16" name="bar"/>
          <p:cNvSpPr/>
          <p:nvPr/>
        </p:nvSpPr>
        <p:spPr>
          <a:xfrm>
            <a:off x="3191256" y="3245193"/>
            <a:ext cx="841248" cy="732447"/>
          </a:xfrm>
          <a:prstGeom prst="rect">
            <a:avLst/>
          </a:prstGeom>
          <a:solidFill>
            <a:srgbClr val="D97706"/>
          </a:solidFill>
        </p:spPr>
        <p:txBody>
          <a:bodyPr/>
          <a:lstStyle/>
          <a:p>
            <a:endParaRPr lang="en-US"/>
          </a:p>
        </p:txBody>
      </p:sp>
      <p:sp>
        <p:nvSpPr>
          <p:cNvPr id="17" name="t"/>
          <p:cNvSpPr/>
          <p:nvPr/>
        </p:nvSpPr>
        <p:spPr>
          <a:xfrm>
            <a:off x="3191256" y="3007449"/>
            <a:ext cx="841248" cy="219456"/>
          </a:xfrm>
          <a:prstGeom prst="rect">
            <a:avLst/>
          </a:prstGeom>
        </p:spPr>
        <p:txBody>
          <a:bodyPr wrap="square" lIns="18000" tIns="9000" rIns="18000" bIns="9000" rtlCol="0" anchor="ctr"/>
          <a:lstStyle/>
          <a:p>
            <a:pPr marL="0" indent="0" algn="ctr">
              <a:buNone/>
            </a:pPr>
            <a:r>
              <a:rPr lang="en-US" sz="1100" b="1" dirty="0">
                <a:solidFill>
                  <a:srgbClr val="D97706"/>
                </a:solidFill>
                <a:latin typeface="Arial" pitchFamily="34" charset="0"/>
                <a:cs typeface="Arial" pitchFamily="34" charset="0"/>
              </a:rPr>
              <a:t>12%</a:t>
            </a:r>
          </a:p>
        </p:txBody>
      </p:sp>
      <p:sp>
        <p:nvSpPr>
          <p:cNvPr id="18" name="bar"/>
          <p:cNvSpPr/>
          <p:nvPr/>
        </p:nvSpPr>
        <p:spPr>
          <a:xfrm>
            <a:off x="4562856" y="2102624"/>
            <a:ext cx="841248" cy="1875016"/>
          </a:xfrm>
          <a:prstGeom prst="rect">
            <a:avLst/>
          </a:prstGeom>
          <a:solidFill>
            <a:srgbClr val="94A3B8"/>
          </a:solidFill>
        </p:spPr>
        <p:txBody>
          <a:bodyPr/>
          <a:lstStyle/>
          <a:p>
            <a:endParaRPr lang="en-US"/>
          </a:p>
        </p:txBody>
      </p:sp>
      <p:sp>
        <p:nvSpPr>
          <p:cNvPr id="19" name="t"/>
          <p:cNvSpPr/>
          <p:nvPr/>
        </p:nvSpPr>
        <p:spPr>
          <a:xfrm>
            <a:off x="4562856" y="1864880"/>
            <a:ext cx="841248" cy="219456"/>
          </a:xfrm>
          <a:prstGeom prst="rect">
            <a:avLst/>
          </a:prstGeom>
        </p:spPr>
        <p:txBody>
          <a:bodyPr wrap="square" lIns="18000" tIns="9000" rIns="18000" bIns="9000" rtlCol="0" anchor="ctr"/>
          <a:lstStyle/>
          <a:p>
            <a:pPr marL="0" indent="0" algn="ctr">
              <a:buNone/>
            </a:pPr>
            <a:r>
              <a:rPr lang="en-US" sz="1100" b="1" dirty="0">
                <a:solidFill>
                  <a:srgbClr val="94A3B8"/>
                </a:solidFill>
                <a:latin typeface="Arial" pitchFamily="34" charset="0"/>
                <a:cs typeface="Arial" pitchFamily="34" charset="0"/>
              </a:rPr>
              <a:t>31%</a:t>
            </a:r>
          </a:p>
        </p:txBody>
      </p:sp>
      <p:sp>
        <p:nvSpPr>
          <p:cNvPr id="20" name="bar"/>
          <p:cNvSpPr/>
          <p:nvPr/>
        </p:nvSpPr>
        <p:spPr>
          <a:xfrm>
            <a:off x="5934456" y="2253656"/>
            <a:ext cx="841248" cy="1723984"/>
          </a:xfrm>
          <a:prstGeom prst="rect">
            <a:avLst/>
          </a:prstGeom>
          <a:solidFill>
            <a:srgbClr val="1D9E75"/>
          </a:solidFill>
        </p:spPr>
        <p:txBody>
          <a:bodyPr/>
          <a:lstStyle/>
          <a:p>
            <a:endParaRPr lang="en-US"/>
          </a:p>
        </p:txBody>
      </p:sp>
      <p:sp>
        <p:nvSpPr>
          <p:cNvPr id="21" name="t"/>
          <p:cNvSpPr/>
          <p:nvPr/>
        </p:nvSpPr>
        <p:spPr>
          <a:xfrm>
            <a:off x="5934456" y="2015912"/>
            <a:ext cx="841248" cy="219456"/>
          </a:xfrm>
          <a:prstGeom prst="rect">
            <a:avLst/>
          </a:prstGeom>
        </p:spPr>
        <p:txBody>
          <a:bodyPr wrap="square" lIns="18000" tIns="9000" rIns="18000" bIns="9000" rtlCol="0" anchor="ctr"/>
          <a:lstStyle/>
          <a:p>
            <a:pPr marL="0" indent="0" algn="ctr">
              <a:buNone/>
            </a:pPr>
            <a:r>
              <a:rPr lang="en-US" sz="1100" b="1" dirty="0">
                <a:solidFill>
                  <a:srgbClr val="1D9E75"/>
                </a:solidFill>
                <a:latin typeface="Arial" pitchFamily="34" charset="0"/>
                <a:cs typeface="Arial" pitchFamily="34" charset="0"/>
              </a:rPr>
              <a:t>28%</a:t>
            </a:r>
          </a:p>
        </p:txBody>
      </p:sp>
      <p:sp>
        <p:nvSpPr>
          <p:cNvPr id="22" name="bar"/>
          <p:cNvSpPr/>
          <p:nvPr/>
        </p:nvSpPr>
        <p:spPr>
          <a:xfrm>
            <a:off x="7306056" y="2625099"/>
            <a:ext cx="841248" cy="1352541"/>
          </a:xfrm>
          <a:prstGeom prst="rect">
            <a:avLst/>
          </a:prstGeom>
          <a:solidFill>
            <a:srgbClr val="1D6A72"/>
          </a:solidFill>
        </p:spPr>
        <p:txBody>
          <a:bodyPr/>
          <a:lstStyle/>
          <a:p>
            <a:endParaRPr lang="en-US"/>
          </a:p>
        </p:txBody>
      </p:sp>
      <p:sp>
        <p:nvSpPr>
          <p:cNvPr id="23" name="t"/>
          <p:cNvSpPr/>
          <p:nvPr/>
        </p:nvSpPr>
        <p:spPr>
          <a:xfrm>
            <a:off x="7306056" y="2387355"/>
            <a:ext cx="841248" cy="219456"/>
          </a:xfrm>
          <a:prstGeom prst="rect">
            <a:avLst/>
          </a:prstGeom>
        </p:spPr>
        <p:txBody>
          <a:bodyPr wrap="square" lIns="18000" tIns="9000" rIns="18000" bIns="9000" rtlCol="0" anchor="ctr"/>
          <a:lstStyle/>
          <a:p>
            <a:pPr marL="0" indent="0" algn="ctr">
              <a:buNone/>
            </a:pPr>
            <a:r>
              <a:rPr lang="en-US" sz="1100" b="1" dirty="0">
                <a:solidFill>
                  <a:srgbClr val="1D6A72"/>
                </a:solidFill>
                <a:latin typeface="Arial" pitchFamily="34" charset="0"/>
                <a:cs typeface="Arial" pitchFamily="34" charset="0"/>
              </a:rPr>
              <a:t>22%</a:t>
            </a:r>
          </a:p>
        </p:txBody>
      </p:sp>
      <p:sp>
        <p:nvSpPr>
          <p:cNvPr id="24" name="t"/>
          <p:cNvSpPr/>
          <p:nvPr/>
        </p:nvSpPr>
        <p:spPr>
          <a:xfrm>
            <a:off x="1600200" y="4023360"/>
            <a:ext cx="1280160" cy="201168"/>
          </a:xfrm>
          <a:prstGeom prst="rect">
            <a:avLst/>
          </a:prstGeom>
        </p:spPr>
        <p:txBody>
          <a:bodyPr wrap="square" lIns="18000" tIns="9000" rIns="18000" bIns="9000" rtlCol="0" anchor="ctr"/>
          <a:lstStyle/>
          <a:p>
            <a:pPr marL="0" indent="0" algn="ctr">
              <a:buNone/>
            </a:pPr>
            <a:r>
              <a:rPr lang="en-US" sz="1050" b="1" dirty="0">
                <a:solidFill>
                  <a:srgbClr val="64748B"/>
                </a:solidFill>
                <a:latin typeface="Arial" pitchFamily="34" charset="0"/>
                <a:cs typeface="Arial" pitchFamily="34" charset="0"/>
              </a:rPr>
              <a:t>1</a:t>
            </a:r>
          </a:p>
        </p:txBody>
      </p:sp>
      <p:sp>
        <p:nvSpPr>
          <p:cNvPr id="25" name="t"/>
          <p:cNvSpPr/>
          <p:nvPr/>
        </p:nvSpPr>
        <p:spPr>
          <a:xfrm>
            <a:off x="1463040" y="4224528"/>
            <a:ext cx="1554480" cy="182880"/>
          </a:xfrm>
          <a:prstGeom prst="rect">
            <a:avLst/>
          </a:prstGeom>
        </p:spPr>
        <p:txBody>
          <a:bodyPr wrap="square" lIns="18000" tIns="9000" rIns="18000" bIns="9000" rtlCol="0" anchor="ctr"/>
          <a:lstStyle/>
          <a:p>
            <a:pPr marL="0" indent="0" algn="ctr">
              <a:buNone/>
            </a:pPr>
            <a:r>
              <a:rPr lang="en-US" sz="800" dirty="0">
                <a:solidFill>
                  <a:srgbClr val="94A3B8"/>
                </a:solidFill>
                <a:latin typeface="Arial" pitchFamily="34" charset="0"/>
                <a:cs typeface="Arial" pitchFamily="34" charset="0"/>
              </a:rPr>
              <a:t>Strongly Disagree</a:t>
            </a:r>
          </a:p>
        </p:txBody>
      </p:sp>
      <p:sp>
        <p:nvSpPr>
          <p:cNvPr id="26" name="t"/>
          <p:cNvSpPr/>
          <p:nvPr/>
        </p:nvSpPr>
        <p:spPr>
          <a:xfrm>
            <a:off x="2971800" y="4023360"/>
            <a:ext cx="1280160" cy="201168"/>
          </a:xfrm>
          <a:prstGeom prst="rect">
            <a:avLst/>
          </a:prstGeom>
        </p:spPr>
        <p:txBody>
          <a:bodyPr wrap="square" lIns="18000" tIns="9000" rIns="18000" bIns="9000" rtlCol="0" anchor="ctr"/>
          <a:lstStyle/>
          <a:p>
            <a:pPr marL="0" indent="0" algn="ctr">
              <a:buNone/>
            </a:pPr>
            <a:r>
              <a:rPr lang="en-US" sz="1050" b="1" dirty="0">
                <a:solidFill>
                  <a:srgbClr val="64748B"/>
                </a:solidFill>
                <a:latin typeface="Arial" pitchFamily="34" charset="0"/>
                <a:cs typeface="Arial" pitchFamily="34" charset="0"/>
              </a:rPr>
              <a:t>2</a:t>
            </a:r>
          </a:p>
        </p:txBody>
      </p:sp>
      <p:sp>
        <p:nvSpPr>
          <p:cNvPr id="27" name="t"/>
          <p:cNvSpPr/>
          <p:nvPr/>
        </p:nvSpPr>
        <p:spPr>
          <a:xfrm>
            <a:off x="4343400" y="4023360"/>
            <a:ext cx="1280160" cy="201168"/>
          </a:xfrm>
          <a:prstGeom prst="rect">
            <a:avLst/>
          </a:prstGeom>
        </p:spPr>
        <p:txBody>
          <a:bodyPr wrap="square" lIns="18000" tIns="9000" rIns="18000" bIns="9000" rtlCol="0" anchor="ctr"/>
          <a:lstStyle/>
          <a:p>
            <a:pPr marL="0" indent="0" algn="ctr">
              <a:buNone/>
            </a:pPr>
            <a:r>
              <a:rPr lang="en-US" sz="1050" b="1" dirty="0">
                <a:solidFill>
                  <a:srgbClr val="64748B"/>
                </a:solidFill>
                <a:latin typeface="Arial" pitchFamily="34" charset="0"/>
                <a:cs typeface="Arial" pitchFamily="34" charset="0"/>
              </a:rPr>
              <a:t>3</a:t>
            </a:r>
          </a:p>
        </p:txBody>
      </p:sp>
      <p:sp>
        <p:nvSpPr>
          <p:cNvPr id="28" name="t"/>
          <p:cNvSpPr/>
          <p:nvPr/>
        </p:nvSpPr>
        <p:spPr>
          <a:xfrm>
            <a:off x="4206240" y="4224528"/>
            <a:ext cx="1554480" cy="182880"/>
          </a:xfrm>
          <a:prstGeom prst="rect">
            <a:avLst/>
          </a:prstGeom>
        </p:spPr>
        <p:txBody>
          <a:bodyPr wrap="square" lIns="18000" tIns="9000" rIns="18000" bIns="9000" rtlCol="0" anchor="ctr"/>
          <a:lstStyle/>
          <a:p>
            <a:pPr marL="0" indent="0" algn="ctr">
              <a:buNone/>
            </a:pPr>
            <a:r>
              <a:rPr lang="en-US" sz="800" dirty="0">
                <a:solidFill>
                  <a:srgbClr val="94A3B8"/>
                </a:solidFill>
                <a:latin typeface="Arial" pitchFamily="34" charset="0"/>
                <a:cs typeface="Arial" pitchFamily="34" charset="0"/>
              </a:rPr>
              <a:t>Neutral</a:t>
            </a:r>
          </a:p>
        </p:txBody>
      </p:sp>
      <p:sp>
        <p:nvSpPr>
          <p:cNvPr id="29" name="t"/>
          <p:cNvSpPr/>
          <p:nvPr/>
        </p:nvSpPr>
        <p:spPr>
          <a:xfrm>
            <a:off x="5715000" y="4023360"/>
            <a:ext cx="1280160" cy="201168"/>
          </a:xfrm>
          <a:prstGeom prst="rect">
            <a:avLst/>
          </a:prstGeom>
        </p:spPr>
        <p:txBody>
          <a:bodyPr wrap="square" lIns="18000" tIns="9000" rIns="18000" bIns="9000" rtlCol="0" anchor="ctr"/>
          <a:lstStyle/>
          <a:p>
            <a:pPr marL="0" indent="0" algn="ctr">
              <a:buNone/>
            </a:pPr>
            <a:r>
              <a:rPr lang="en-US" sz="1050" b="1" dirty="0">
                <a:solidFill>
                  <a:srgbClr val="64748B"/>
                </a:solidFill>
                <a:latin typeface="Arial" pitchFamily="34" charset="0"/>
                <a:cs typeface="Arial" pitchFamily="34" charset="0"/>
              </a:rPr>
              <a:t>4</a:t>
            </a:r>
          </a:p>
        </p:txBody>
      </p:sp>
      <p:sp>
        <p:nvSpPr>
          <p:cNvPr id="30" name="t"/>
          <p:cNvSpPr/>
          <p:nvPr/>
        </p:nvSpPr>
        <p:spPr>
          <a:xfrm>
            <a:off x="7086600" y="4023360"/>
            <a:ext cx="1280160" cy="201168"/>
          </a:xfrm>
          <a:prstGeom prst="rect">
            <a:avLst/>
          </a:prstGeom>
        </p:spPr>
        <p:txBody>
          <a:bodyPr wrap="square" lIns="18000" tIns="9000" rIns="18000" bIns="9000" rtlCol="0" anchor="ctr"/>
          <a:lstStyle/>
          <a:p>
            <a:pPr marL="0" indent="0" algn="ctr">
              <a:buNone/>
            </a:pPr>
            <a:r>
              <a:rPr lang="en-US" sz="1050" b="1" dirty="0">
                <a:solidFill>
                  <a:srgbClr val="64748B"/>
                </a:solidFill>
                <a:latin typeface="Arial" pitchFamily="34" charset="0"/>
                <a:cs typeface="Arial" pitchFamily="34" charset="0"/>
              </a:rPr>
              <a:t>5</a:t>
            </a:r>
          </a:p>
        </p:txBody>
      </p:sp>
      <p:sp>
        <p:nvSpPr>
          <p:cNvPr id="31" name="t"/>
          <p:cNvSpPr/>
          <p:nvPr/>
        </p:nvSpPr>
        <p:spPr>
          <a:xfrm>
            <a:off x="6949440" y="4224528"/>
            <a:ext cx="1554480" cy="182880"/>
          </a:xfrm>
          <a:prstGeom prst="rect">
            <a:avLst/>
          </a:prstGeom>
        </p:spPr>
        <p:txBody>
          <a:bodyPr wrap="square" lIns="18000" tIns="9000" rIns="18000" bIns="9000" rtlCol="0" anchor="ctr"/>
          <a:lstStyle/>
          <a:p>
            <a:pPr marL="0" indent="0" algn="ctr">
              <a:buNone/>
            </a:pPr>
            <a:r>
              <a:rPr lang="en-US" sz="800" dirty="0">
                <a:solidFill>
                  <a:srgbClr val="94A3B8"/>
                </a:solidFill>
                <a:latin typeface="Arial" pitchFamily="34" charset="0"/>
                <a:cs typeface="Arial" pitchFamily="34" charset="0"/>
              </a:rPr>
              <a:t>Strongly Agree</a:t>
            </a:r>
          </a:p>
        </p:txBody>
      </p:sp>
      <p:sp>
        <p:nvSpPr>
          <p:cNvPr id="32" name="ln"/>
          <p:cNvSpPr/>
          <p:nvPr/>
        </p:nvSpPr>
        <p:spPr>
          <a:xfrm>
            <a:off x="5669280" y="1792224"/>
            <a:ext cx="0" cy="2185416"/>
          </a:xfrm>
          <a:prstGeom prst="line">
            <a:avLst/>
          </a:prstGeom>
          <a:ln w="12700" cap="rnd">
            <a:solidFill>
              <a:srgbClr val="1F4E79"/>
            </a:solidFill>
            <a:prstDash val="dash"/>
          </a:ln>
        </p:spPr>
        <p:txBody>
          <a:bodyPr/>
          <a:lstStyle/>
          <a:p>
            <a:endParaRPr lang="en-US"/>
          </a:p>
        </p:txBody>
      </p:sp>
      <p:sp>
        <p:nvSpPr>
          <p:cNvPr id="33" name="t"/>
          <p:cNvSpPr/>
          <p:nvPr/>
        </p:nvSpPr>
        <p:spPr>
          <a:xfrm>
            <a:off x="5715000" y="1810512"/>
            <a:ext cx="2697480" cy="237744"/>
          </a:xfrm>
          <a:prstGeom prst="rect">
            <a:avLst/>
          </a:prstGeom>
        </p:spPr>
        <p:txBody>
          <a:bodyPr wrap="square" lIns="18000" tIns="9000" rIns="18000" bIns="9000" rtlCol="0" anchor="ctr"/>
          <a:lstStyle/>
          <a:p>
            <a:pPr marL="0" indent="0" algn="ctr">
              <a:buNone/>
            </a:pPr>
            <a:r>
              <a:rPr lang="en-US" sz="950" b="1" dirty="0">
                <a:solidFill>
                  <a:srgbClr val="1D6A72"/>
                </a:solidFill>
                <a:latin typeface="Arial" pitchFamily="34" charset="0"/>
                <a:cs typeface="Arial" pitchFamily="34" charset="0"/>
              </a:rPr>
              <a:t>RETAINED ZONE — new hires</a:t>
            </a:r>
          </a:p>
        </p:txBody>
      </p:sp>
      <p:sp>
        <p:nvSpPr>
          <p:cNvPr id="34" name="t"/>
          <p:cNvSpPr/>
          <p:nvPr/>
        </p:nvSpPr>
        <p:spPr>
          <a:xfrm>
            <a:off x="4480560" y="2267216"/>
            <a:ext cx="1005840" cy="182880"/>
          </a:xfrm>
          <a:prstGeom prst="rect">
            <a:avLst/>
          </a:prstGeom>
        </p:spPr>
        <p:txBody>
          <a:bodyPr wrap="square" lIns="18000" tIns="9000" rIns="18000" bIns="9000" rtlCol="0" anchor="ctr"/>
          <a:lstStyle/>
          <a:p>
            <a:pPr marL="0" indent="0" algn="ctr">
              <a:buNone/>
            </a:pPr>
            <a:r>
              <a:rPr lang="en-US" sz="800" b="1" i="1" dirty="0">
                <a:solidFill>
                  <a:srgbClr val="FFFFFF"/>
                </a:solidFill>
                <a:latin typeface="Arial" pitchFamily="34" charset="0"/>
                <a:cs typeface="Arial" pitchFamily="34" charset="0"/>
              </a:rPr>
              <a:t>avg 3.45</a:t>
            </a:r>
          </a:p>
        </p:txBody>
      </p:sp>
      <p:sp>
        <p:nvSpPr>
          <p:cNvPr id="35" name="rr"/>
          <p:cNvSpPr/>
          <p:nvPr/>
        </p:nvSpPr>
        <p:spPr>
          <a:xfrm>
            <a:off x="1783080" y="1874520"/>
            <a:ext cx="2468880" cy="566928"/>
          </a:xfrm>
          <a:prstGeom prst="roundRect">
            <a:avLst>
              <a:gd name="adj" fmla="val 16000"/>
            </a:avLst>
          </a:prstGeom>
          <a:solidFill>
            <a:srgbClr val="1F4E79"/>
          </a:solidFill>
          <a:ln w="12700">
            <a:solidFill>
              <a:srgbClr val="1F4E79"/>
            </a:solidFill>
          </a:ln>
        </p:spPr>
        <p:txBody>
          <a:bodyPr/>
          <a:lstStyle/>
          <a:p>
            <a:endParaRPr lang="en-US"/>
          </a:p>
        </p:txBody>
      </p:sp>
      <p:sp>
        <p:nvSpPr>
          <p:cNvPr id="36" name="t"/>
          <p:cNvSpPr/>
          <p:nvPr/>
        </p:nvSpPr>
        <p:spPr>
          <a:xfrm>
            <a:off x="1828800" y="1892808"/>
            <a:ext cx="2377440" cy="530352"/>
          </a:xfrm>
          <a:prstGeom prst="rect">
            <a:avLst/>
          </a:prstGeom>
        </p:spPr>
        <p:txBody>
          <a:bodyPr wrap="square" lIns="18000" tIns="9000" rIns="18000" bIns="9000" rtlCol="0" anchor="ctr"/>
          <a:lstStyle/>
          <a:p>
            <a:pPr marL="0" indent="0" algn="ctr">
              <a:buNone/>
            </a:pPr>
            <a:r>
              <a:rPr lang="en-US" sz="850" b="1" dirty="0">
                <a:solidFill>
                  <a:srgbClr val="BFD4E8"/>
                </a:solidFill>
                <a:latin typeface="Arial" pitchFamily="34" charset="0"/>
                <a:cs typeface="Arial" pitchFamily="34" charset="0"/>
              </a:rPr>
              <a:t>NEW-HIRE GOAL</a:t>
            </a:r>
          </a:p>
          <a:p>
            <a:pPr marL="0" indent="0" algn="ctr">
              <a:buNone/>
            </a:pPr>
            <a:r>
              <a:rPr lang="en-US" sz="1000" b="1" dirty="0">
                <a:solidFill>
                  <a:srgbClr val="FFFFFF"/>
                </a:solidFill>
                <a:latin typeface="Arial" pitchFamily="34" charset="0"/>
                <a:cs typeface="Arial" pitchFamily="34" charset="0"/>
              </a:rPr>
              <a:t>Reach a 4 or higher within 6 months</a:t>
            </a:r>
          </a:p>
        </p:txBody>
      </p:sp>
      <p:sp>
        <p:nvSpPr>
          <p:cNvPr id="37" name="t"/>
          <p:cNvSpPr/>
          <p:nvPr/>
        </p:nvSpPr>
        <p:spPr>
          <a:xfrm>
            <a:off x="457200" y="4572000"/>
            <a:ext cx="8229600" cy="384048"/>
          </a:xfrm>
          <a:prstGeom prst="rect">
            <a:avLst/>
          </a:prstGeom>
        </p:spPr>
        <p:txBody>
          <a:bodyPr wrap="square" lIns="18000" tIns="9000" rIns="18000" bIns="9000" rtlCol="0" anchor="ctr"/>
          <a:lstStyle/>
          <a:p>
            <a:pPr marL="0" indent="0" algn="ctr">
              <a:buNone/>
            </a:pPr>
            <a:r>
              <a:rPr lang="en-US" sz="1200" b="1" dirty="0">
                <a:solidFill>
                  <a:srgbClr val="1F4E79"/>
                </a:solidFill>
                <a:latin typeface="Arial" pitchFamily="34" charset="0"/>
                <a:cs typeface="Arial" pitchFamily="34" charset="0"/>
              </a:rPr>
              <a:t>A new hire still below a 4 at six months is one you possibly lose.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What Is Your Workforce Looking for in a Schedule?</a:t>
            </a:r>
            <a:endParaRPr lang="en-US" sz="2600" dirty="0"/>
          </a:p>
        </p:txBody>
      </p:sp>
      <p:sp>
        <p:nvSpPr>
          <p:cNvPr id="3" name="Text 1"/>
          <p:cNvSpPr/>
          <p:nvPr/>
        </p:nvSpPr>
        <p:spPr>
          <a:xfrm>
            <a:off x="457200" y="795528"/>
            <a:ext cx="8229600" cy="274320"/>
          </a:xfrm>
          <a:prstGeom prst="rect">
            <a:avLst/>
          </a:prstGeom>
          <a:noFill/>
          <a:ln/>
        </p:spPr>
        <p:txBody>
          <a:bodyPr wrap="square" rtlCol="0" anchor="ctr"/>
          <a:lstStyle/>
          <a:p>
            <a:pPr marL="0" indent="0">
              <a:buNone/>
            </a:pPr>
            <a:r>
              <a:rPr lang="en-US" sz="1300" i="1" dirty="0">
                <a:solidFill>
                  <a:srgbClr val="E8610A"/>
                </a:solidFill>
                <a:latin typeface="Arial" pitchFamily="34" charset="0"/>
                <a:ea typeface="Arial" pitchFamily="34" charset="-122"/>
                <a:cs typeface="Arial" pitchFamily="34" charset="-120"/>
              </a:rPr>
              <a:t>The goal isn’t to be perfect in all things — it’s to be the best choice overall.</a:t>
            </a:r>
            <a:endParaRPr lang="en-US" sz="1300" dirty="0"/>
          </a:p>
        </p:txBody>
      </p:sp>
      <p:sp>
        <p:nvSpPr>
          <p:cNvPr id="4" name="Shape 2"/>
          <p:cNvSpPr/>
          <p:nvPr/>
        </p:nvSpPr>
        <p:spPr>
          <a:xfrm>
            <a:off x="365760" y="1170432"/>
            <a:ext cx="5074920" cy="493776"/>
          </a:xfrm>
          <a:prstGeom prst="roundRect">
            <a:avLst>
              <a:gd name="adj" fmla="val 14815"/>
            </a:avLst>
          </a:prstGeom>
          <a:solidFill>
            <a:srgbClr val="F0F4F8"/>
          </a:solidFill>
          <a:ln w="6350">
            <a:solidFill>
              <a:srgbClr val="E2E8F0"/>
            </a:solidFill>
            <a:prstDash val="solid"/>
          </a:ln>
        </p:spPr>
        <p:txBody>
          <a:bodyPr/>
          <a:lstStyle/>
          <a:p>
            <a:endParaRPr lang="en-US"/>
          </a:p>
        </p:txBody>
      </p:sp>
      <p:sp>
        <p:nvSpPr>
          <p:cNvPr id="5" name="Shape 3"/>
          <p:cNvSpPr/>
          <p:nvPr/>
        </p:nvSpPr>
        <p:spPr>
          <a:xfrm>
            <a:off x="365760" y="1170432"/>
            <a:ext cx="1371600" cy="493776"/>
          </a:xfrm>
          <a:prstGeom prst="roundRect">
            <a:avLst>
              <a:gd name="adj" fmla="val 14815"/>
            </a:avLst>
          </a:prstGeom>
          <a:solidFill>
            <a:srgbClr val="1F4E79"/>
          </a:solidFill>
          <a:ln w="12700">
            <a:solidFill>
              <a:srgbClr val="1F4E79"/>
            </a:solidFill>
            <a:prstDash val="solid"/>
          </a:ln>
        </p:spPr>
        <p:txBody>
          <a:bodyPr/>
          <a:lstStyle/>
          <a:p>
            <a:endParaRPr lang="en-US"/>
          </a:p>
        </p:txBody>
      </p:sp>
      <p:sp>
        <p:nvSpPr>
          <p:cNvPr id="6" name="Text 4"/>
          <p:cNvSpPr/>
          <p:nvPr/>
        </p:nvSpPr>
        <p:spPr>
          <a:xfrm>
            <a:off x="365760" y="1170432"/>
            <a:ext cx="1371600" cy="49377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85%</a:t>
            </a:r>
            <a:endParaRPr lang="en-US" sz="2000" dirty="0"/>
          </a:p>
        </p:txBody>
      </p:sp>
      <p:sp>
        <p:nvSpPr>
          <p:cNvPr id="7" name="Text 5"/>
          <p:cNvSpPr/>
          <p:nvPr/>
        </p:nvSpPr>
        <p:spPr>
          <a:xfrm>
            <a:off x="1874520" y="1207008"/>
            <a:ext cx="3383280" cy="420624"/>
          </a:xfrm>
          <a:prstGeom prst="rect">
            <a:avLst/>
          </a:prstGeom>
          <a:noFill/>
          <a:ln/>
        </p:spPr>
        <p:txBody>
          <a:bodyPr wrap="square" rtlCol="0" anchor="ctr"/>
          <a:lstStyle/>
          <a:p>
            <a:pPr marL="0" indent="0">
              <a:buNone/>
            </a:pPr>
            <a:r>
              <a:rPr lang="en-US" sz="1400" dirty="0">
                <a:solidFill>
                  <a:srgbClr val="1A1A2E"/>
                </a:solidFill>
                <a:latin typeface="Arial" pitchFamily="34" charset="0"/>
                <a:ea typeface="Arial" pitchFamily="34" charset="-122"/>
                <a:cs typeface="Arial" pitchFamily="34" charset="-120"/>
              </a:rPr>
              <a:t>prefer fixed shifts over rotating</a:t>
            </a:r>
            <a:endParaRPr lang="en-US" sz="1400" dirty="0"/>
          </a:p>
        </p:txBody>
      </p:sp>
      <p:sp>
        <p:nvSpPr>
          <p:cNvPr id="8" name="Shape 6"/>
          <p:cNvSpPr/>
          <p:nvPr/>
        </p:nvSpPr>
        <p:spPr>
          <a:xfrm>
            <a:off x="365760" y="1755648"/>
            <a:ext cx="5074920" cy="493776"/>
          </a:xfrm>
          <a:prstGeom prst="roundRect">
            <a:avLst>
              <a:gd name="adj" fmla="val 14815"/>
            </a:avLst>
          </a:prstGeom>
          <a:solidFill>
            <a:srgbClr val="F0F4F8"/>
          </a:solidFill>
          <a:ln w="6350">
            <a:solidFill>
              <a:srgbClr val="E2E8F0"/>
            </a:solidFill>
            <a:prstDash val="solid"/>
          </a:ln>
        </p:spPr>
        <p:txBody>
          <a:bodyPr/>
          <a:lstStyle/>
          <a:p>
            <a:endParaRPr lang="en-US"/>
          </a:p>
        </p:txBody>
      </p:sp>
      <p:sp>
        <p:nvSpPr>
          <p:cNvPr id="9" name="Shape 7"/>
          <p:cNvSpPr/>
          <p:nvPr/>
        </p:nvSpPr>
        <p:spPr>
          <a:xfrm>
            <a:off x="365760" y="1755648"/>
            <a:ext cx="1371600" cy="493776"/>
          </a:xfrm>
          <a:prstGeom prst="roundRect">
            <a:avLst>
              <a:gd name="adj" fmla="val 14815"/>
            </a:avLst>
          </a:prstGeom>
          <a:solidFill>
            <a:srgbClr val="1D6A72"/>
          </a:solidFill>
          <a:ln w="12700">
            <a:solidFill>
              <a:srgbClr val="1D6A72"/>
            </a:solidFill>
            <a:prstDash val="solid"/>
          </a:ln>
        </p:spPr>
        <p:txBody>
          <a:bodyPr/>
          <a:lstStyle/>
          <a:p>
            <a:endParaRPr lang="en-US"/>
          </a:p>
        </p:txBody>
      </p:sp>
      <p:sp>
        <p:nvSpPr>
          <p:cNvPr id="10" name="Text 8"/>
          <p:cNvSpPr/>
          <p:nvPr/>
        </p:nvSpPr>
        <p:spPr>
          <a:xfrm>
            <a:off x="365760" y="1755648"/>
            <a:ext cx="1371600" cy="49377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75%</a:t>
            </a:r>
            <a:endParaRPr lang="en-US" sz="2000" dirty="0"/>
          </a:p>
        </p:txBody>
      </p:sp>
      <p:sp>
        <p:nvSpPr>
          <p:cNvPr id="11" name="Text 9"/>
          <p:cNvSpPr/>
          <p:nvPr/>
        </p:nvSpPr>
        <p:spPr>
          <a:xfrm>
            <a:off x="1874520" y="1792224"/>
            <a:ext cx="3383280" cy="420624"/>
          </a:xfrm>
          <a:prstGeom prst="rect">
            <a:avLst/>
          </a:prstGeom>
          <a:noFill/>
          <a:ln/>
        </p:spPr>
        <p:txBody>
          <a:bodyPr wrap="square" rtlCol="0" anchor="ctr"/>
          <a:lstStyle/>
          <a:p>
            <a:pPr marL="0" indent="0">
              <a:buNone/>
            </a:pPr>
            <a:r>
              <a:rPr lang="en-US" sz="1400" dirty="0">
                <a:solidFill>
                  <a:srgbClr val="1A1A2E"/>
                </a:solidFill>
                <a:latin typeface="Arial" pitchFamily="34" charset="0"/>
                <a:ea typeface="Arial" pitchFamily="34" charset="-122"/>
                <a:cs typeface="Arial" pitchFamily="34" charset="-120"/>
              </a:rPr>
              <a:t>want more days off over shorter shifts</a:t>
            </a:r>
            <a:endParaRPr lang="en-US" sz="1400" dirty="0"/>
          </a:p>
        </p:txBody>
      </p:sp>
      <p:sp>
        <p:nvSpPr>
          <p:cNvPr id="12" name="Shape 10"/>
          <p:cNvSpPr/>
          <p:nvPr/>
        </p:nvSpPr>
        <p:spPr>
          <a:xfrm>
            <a:off x="365760" y="2340864"/>
            <a:ext cx="5074920" cy="493776"/>
          </a:xfrm>
          <a:prstGeom prst="roundRect">
            <a:avLst>
              <a:gd name="adj" fmla="val 14815"/>
            </a:avLst>
          </a:prstGeom>
          <a:solidFill>
            <a:srgbClr val="F0F4F8"/>
          </a:solidFill>
          <a:ln w="6350">
            <a:solidFill>
              <a:srgbClr val="E2E8F0"/>
            </a:solidFill>
            <a:prstDash val="solid"/>
          </a:ln>
        </p:spPr>
        <p:txBody>
          <a:bodyPr/>
          <a:lstStyle/>
          <a:p>
            <a:endParaRPr lang="en-US"/>
          </a:p>
        </p:txBody>
      </p:sp>
      <p:sp>
        <p:nvSpPr>
          <p:cNvPr id="13" name="Shape 11"/>
          <p:cNvSpPr/>
          <p:nvPr/>
        </p:nvSpPr>
        <p:spPr>
          <a:xfrm>
            <a:off x="365760" y="2340864"/>
            <a:ext cx="1371600" cy="493776"/>
          </a:xfrm>
          <a:prstGeom prst="roundRect">
            <a:avLst>
              <a:gd name="adj" fmla="val 14815"/>
            </a:avLst>
          </a:prstGeom>
          <a:solidFill>
            <a:srgbClr val="1D6A72"/>
          </a:solidFill>
          <a:ln w="12700">
            <a:solidFill>
              <a:srgbClr val="1D6A72"/>
            </a:solidFill>
            <a:prstDash val="solid"/>
          </a:ln>
        </p:spPr>
        <p:txBody>
          <a:bodyPr/>
          <a:lstStyle/>
          <a:p>
            <a:endParaRPr lang="en-US"/>
          </a:p>
        </p:txBody>
      </p:sp>
      <p:sp>
        <p:nvSpPr>
          <p:cNvPr id="14" name="Text 12"/>
          <p:cNvSpPr/>
          <p:nvPr/>
        </p:nvSpPr>
        <p:spPr>
          <a:xfrm>
            <a:off x="365760" y="2340864"/>
            <a:ext cx="1371600" cy="49377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75%</a:t>
            </a:r>
            <a:endParaRPr lang="en-US" sz="2000" dirty="0"/>
          </a:p>
        </p:txBody>
      </p:sp>
      <p:sp>
        <p:nvSpPr>
          <p:cNvPr id="15" name="Text 13"/>
          <p:cNvSpPr/>
          <p:nvPr/>
        </p:nvSpPr>
        <p:spPr>
          <a:xfrm>
            <a:off x="1874520" y="2377440"/>
            <a:ext cx="3383280" cy="420624"/>
          </a:xfrm>
          <a:prstGeom prst="rect">
            <a:avLst/>
          </a:prstGeom>
          <a:noFill/>
          <a:ln/>
        </p:spPr>
        <p:txBody>
          <a:bodyPr wrap="square" rtlCol="0" anchor="ctr"/>
          <a:lstStyle/>
          <a:p>
            <a:pPr marL="0" indent="0">
              <a:buNone/>
            </a:pPr>
            <a:r>
              <a:rPr lang="en-US" sz="1400" dirty="0">
                <a:solidFill>
                  <a:srgbClr val="1A1A2E"/>
                </a:solidFill>
                <a:latin typeface="Arial" pitchFamily="34" charset="0"/>
                <a:ea typeface="Arial" pitchFamily="34" charset="-122"/>
                <a:cs typeface="Arial" pitchFamily="34" charset="-120"/>
              </a:rPr>
              <a:t>want day shift — plan nights accordingly</a:t>
            </a:r>
            <a:endParaRPr lang="en-US" sz="1400" dirty="0"/>
          </a:p>
        </p:txBody>
      </p:sp>
      <p:sp>
        <p:nvSpPr>
          <p:cNvPr id="16" name="Shape 14"/>
          <p:cNvSpPr/>
          <p:nvPr/>
        </p:nvSpPr>
        <p:spPr>
          <a:xfrm>
            <a:off x="365760" y="2926080"/>
            <a:ext cx="5074920" cy="493776"/>
          </a:xfrm>
          <a:prstGeom prst="roundRect">
            <a:avLst>
              <a:gd name="adj" fmla="val 14815"/>
            </a:avLst>
          </a:prstGeom>
          <a:solidFill>
            <a:srgbClr val="F0F4F8"/>
          </a:solidFill>
          <a:ln w="6350">
            <a:solidFill>
              <a:srgbClr val="E2E8F0"/>
            </a:solidFill>
            <a:prstDash val="solid"/>
          </a:ln>
        </p:spPr>
        <p:txBody>
          <a:bodyPr/>
          <a:lstStyle/>
          <a:p>
            <a:endParaRPr lang="en-US"/>
          </a:p>
        </p:txBody>
      </p:sp>
      <p:sp>
        <p:nvSpPr>
          <p:cNvPr id="17" name="Shape 15"/>
          <p:cNvSpPr/>
          <p:nvPr/>
        </p:nvSpPr>
        <p:spPr>
          <a:xfrm>
            <a:off x="365760" y="2926080"/>
            <a:ext cx="1371600" cy="493776"/>
          </a:xfrm>
          <a:prstGeom prst="roundRect">
            <a:avLst>
              <a:gd name="adj" fmla="val 14815"/>
            </a:avLst>
          </a:prstGeom>
          <a:solidFill>
            <a:srgbClr val="E8610A"/>
          </a:solidFill>
          <a:ln w="12700">
            <a:solidFill>
              <a:srgbClr val="E8610A"/>
            </a:solidFill>
            <a:prstDash val="solid"/>
          </a:ln>
        </p:spPr>
        <p:txBody>
          <a:bodyPr/>
          <a:lstStyle/>
          <a:p>
            <a:endParaRPr lang="en-US"/>
          </a:p>
        </p:txBody>
      </p:sp>
      <p:sp>
        <p:nvSpPr>
          <p:cNvPr id="18" name="Text 16"/>
          <p:cNvSpPr/>
          <p:nvPr/>
        </p:nvSpPr>
        <p:spPr>
          <a:xfrm>
            <a:off x="365760" y="2926080"/>
            <a:ext cx="1371600" cy="49377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20%</a:t>
            </a:r>
            <a:endParaRPr lang="en-US" sz="2000" dirty="0"/>
          </a:p>
        </p:txBody>
      </p:sp>
      <p:sp>
        <p:nvSpPr>
          <p:cNvPr id="19" name="Text 17"/>
          <p:cNvSpPr/>
          <p:nvPr/>
        </p:nvSpPr>
        <p:spPr>
          <a:xfrm>
            <a:off x="1874520" y="2962656"/>
            <a:ext cx="3383280" cy="420624"/>
          </a:xfrm>
          <a:prstGeom prst="rect">
            <a:avLst/>
          </a:prstGeom>
          <a:noFill/>
          <a:ln/>
        </p:spPr>
        <p:txBody>
          <a:bodyPr wrap="square" rtlCol="0" anchor="ctr"/>
          <a:lstStyle/>
          <a:p>
            <a:pPr marL="0" indent="0">
              <a:buNone/>
            </a:pPr>
            <a:r>
              <a:rPr lang="en-US" sz="1400" dirty="0">
                <a:solidFill>
                  <a:srgbClr val="1A1A2E"/>
                </a:solidFill>
                <a:latin typeface="Arial" pitchFamily="34" charset="0"/>
                <a:ea typeface="Arial" pitchFamily="34" charset="-122"/>
                <a:cs typeface="Arial" pitchFamily="34" charset="-120"/>
              </a:rPr>
              <a:t>want all the overtime they can get</a:t>
            </a:r>
            <a:endParaRPr lang="en-US" sz="1400" dirty="0"/>
          </a:p>
        </p:txBody>
      </p:sp>
      <p:sp>
        <p:nvSpPr>
          <p:cNvPr id="20" name="Shape 18"/>
          <p:cNvSpPr/>
          <p:nvPr/>
        </p:nvSpPr>
        <p:spPr>
          <a:xfrm>
            <a:off x="365760" y="3511296"/>
            <a:ext cx="5074920" cy="493776"/>
          </a:xfrm>
          <a:prstGeom prst="roundRect">
            <a:avLst>
              <a:gd name="adj" fmla="val 14815"/>
            </a:avLst>
          </a:prstGeom>
          <a:solidFill>
            <a:srgbClr val="F0F4F8"/>
          </a:solidFill>
          <a:ln w="6350">
            <a:solidFill>
              <a:srgbClr val="E2E8F0"/>
            </a:solidFill>
            <a:prstDash val="solid"/>
          </a:ln>
        </p:spPr>
        <p:txBody>
          <a:bodyPr/>
          <a:lstStyle/>
          <a:p>
            <a:endParaRPr lang="en-US"/>
          </a:p>
        </p:txBody>
      </p:sp>
      <p:sp>
        <p:nvSpPr>
          <p:cNvPr id="21" name="Shape 19"/>
          <p:cNvSpPr/>
          <p:nvPr/>
        </p:nvSpPr>
        <p:spPr>
          <a:xfrm>
            <a:off x="365760" y="3511296"/>
            <a:ext cx="1371600" cy="493776"/>
          </a:xfrm>
          <a:prstGeom prst="roundRect">
            <a:avLst>
              <a:gd name="adj" fmla="val 14815"/>
            </a:avLst>
          </a:prstGeom>
          <a:solidFill>
            <a:srgbClr val="C0392B"/>
          </a:solidFill>
          <a:ln w="12700">
            <a:solidFill>
              <a:srgbClr val="C0392B"/>
            </a:solidFill>
            <a:prstDash val="solid"/>
          </a:ln>
        </p:spPr>
        <p:txBody>
          <a:bodyPr/>
          <a:lstStyle/>
          <a:p>
            <a:endParaRPr lang="en-US"/>
          </a:p>
        </p:txBody>
      </p:sp>
      <p:sp>
        <p:nvSpPr>
          <p:cNvPr id="22" name="Text 20"/>
          <p:cNvSpPr/>
          <p:nvPr/>
        </p:nvSpPr>
        <p:spPr>
          <a:xfrm>
            <a:off x="365760" y="3511296"/>
            <a:ext cx="1371600" cy="49377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20%</a:t>
            </a:r>
            <a:endParaRPr lang="en-US" sz="2000" dirty="0"/>
          </a:p>
        </p:txBody>
      </p:sp>
      <p:sp>
        <p:nvSpPr>
          <p:cNvPr id="23" name="Text 21"/>
          <p:cNvSpPr/>
          <p:nvPr/>
        </p:nvSpPr>
        <p:spPr>
          <a:xfrm>
            <a:off x="1874520" y="3547872"/>
            <a:ext cx="3383280" cy="420624"/>
          </a:xfrm>
          <a:prstGeom prst="rect">
            <a:avLst/>
          </a:prstGeom>
          <a:noFill/>
          <a:ln/>
        </p:spPr>
        <p:txBody>
          <a:bodyPr wrap="square" rtlCol="0" anchor="ctr"/>
          <a:lstStyle/>
          <a:p>
            <a:pPr marL="0" indent="0">
              <a:buNone/>
            </a:pPr>
            <a:r>
              <a:rPr lang="en-US" sz="1400" dirty="0">
                <a:solidFill>
                  <a:srgbClr val="1A1A2E"/>
                </a:solidFill>
                <a:latin typeface="Arial" pitchFamily="34" charset="0"/>
                <a:ea typeface="Arial" pitchFamily="34" charset="-122"/>
                <a:cs typeface="Arial" pitchFamily="34" charset="-120"/>
              </a:rPr>
              <a:t>want no overtime — don’t force them</a:t>
            </a:r>
            <a:endParaRPr lang="en-US" sz="1400" dirty="0"/>
          </a:p>
        </p:txBody>
      </p:sp>
      <p:sp>
        <p:nvSpPr>
          <p:cNvPr id="24" name="Shape 22"/>
          <p:cNvSpPr/>
          <p:nvPr/>
        </p:nvSpPr>
        <p:spPr>
          <a:xfrm>
            <a:off x="365760" y="4096512"/>
            <a:ext cx="5074920" cy="493776"/>
          </a:xfrm>
          <a:prstGeom prst="roundRect">
            <a:avLst>
              <a:gd name="adj" fmla="val 14815"/>
            </a:avLst>
          </a:prstGeom>
          <a:solidFill>
            <a:srgbClr val="F0F4F8"/>
          </a:solidFill>
          <a:ln w="6350">
            <a:solidFill>
              <a:srgbClr val="E2E8F0"/>
            </a:solidFill>
            <a:prstDash val="solid"/>
          </a:ln>
        </p:spPr>
        <p:txBody>
          <a:bodyPr/>
          <a:lstStyle/>
          <a:p>
            <a:endParaRPr lang="en-US"/>
          </a:p>
        </p:txBody>
      </p:sp>
      <p:sp>
        <p:nvSpPr>
          <p:cNvPr id="25" name="Shape 23"/>
          <p:cNvSpPr/>
          <p:nvPr/>
        </p:nvSpPr>
        <p:spPr>
          <a:xfrm>
            <a:off x="365760" y="4096512"/>
            <a:ext cx="1371600" cy="493776"/>
          </a:xfrm>
          <a:prstGeom prst="roundRect">
            <a:avLst>
              <a:gd name="adj" fmla="val 14815"/>
            </a:avLst>
          </a:prstGeom>
          <a:solidFill>
            <a:srgbClr val="1F4E79"/>
          </a:solidFill>
          <a:ln w="12700">
            <a:solidFill>
              <a:srgbClr val="1F4E79"/>
            </a:solidFill>
            <a:prstDash val="solid"/>
          </a:ln>
        </p:spPr>
        <p:txBody>
          <a:bodyPr/>
          <a:lstStyle/>
          <a:p>
            <a:endParaRPr lang="en-US"/>
          </a:p>
        </p:txBody>
      </p:sp>
      <p:sp>
        <p:nvSpPr>
          <p:cNvPr id="26" name="Text 24"/>
          <p:cNvSpPr/>
          <p:nvPr/>
        </p:nvSpPr>
        <p:spPr>
          <a:xfrm>
            <a:off x="365760" y="4096512"/>
            <a:ext cx="1371600" cy="49377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27" name="Text 25"/>
          <p:cNvSpPr/>
          <p:nvPr/>
        </p:nvSpPr>
        <p:spPr>
          <a:xfrm>
            <a:off x="1874520" y="4133088"/>
            <a:ext cx="3383280" cy="420624"/>
          </a:xfrm>
          <a:prstGeom prst="rect">
            <a:avLst/>
          </a:prstGeom>
          <a:noFill/>
          <a:ln/>
        </p:spPr>
        <p:txBody>
          <a:bodyPr wrap="square" rtlCol="0" anchor="ctr"/>
          <a:lstStyle/>
          <a:p>
            <a:pPr marL="0" indent="0">
              <a:buNone/>
            </a:pPr>
            <a:r>
              <a:rPr lang="en-US" sz="1400" dirty="0">
                <a:solidFill>
                  <a:srgbClr val="1A1A2E"/>
                </a:solidFill>
                <a:latin typeface="Arial" pitchFamily="34" charset="0"/>
                <a:ea typeface="Arial" pitchFamily="34" charset="-122"/>
                <a:cs typeface="Arial" pitchFamily="34" charset="-120"/>
              </a:rPr>
              <a:t>most requested feature: weekends off</a:t>
            </a:r>
            <a:endParaRPr lang="en-US" sz="1400" dirty="0"/>
          </a:p>
        </p:txBody>
      </p:sp>
      <p:sp>
        <p:nvSpPr>
          <p:cNvPr id="28" name="Shape 26"/>
          <p:cNvSpPr/>
          <p:nvPr/>
        </p:nvSpPr>
        <p:spPr>
          <a:xfrm>
            <a:off x="365760" y="4709160"/>
            <a:ext cx="8412480" cy="320040"/>
          </a:xfrm>
          <a:prstGeom prst="roundRect">
            <a:avLst>
              <a:gd name="adj" fmla="val 22857"/>
            </a:avLst>
          </a:prstGeom>
          <a:solidFill>
            <a:srgbClr val="1F4E79">
              <a:alpha val="12000"/>
            </a:srgbClr>
          </a:solidFill>
          <a:ln w="12700">
            <a:solidFill>
              <a:srgbClr val="1F4E79"/>
            </a:solidFill>
            <a:prstDash val="solid"/>
          </a:ln>
        </p:spPr>
        <p:txBody>
          <a:bodyPr/>
          <a:lstStyle/>
          <a:p>
            <a:endParaRPr lang="en-US"/>
          </a:p>
        </p:txBody>
      </p:sp>
      <p:sp>
        <p:nvSpPr>
          <p:cNvPr id="29" name="Text 27"/>
          <p:cNvSpPr/>
          <p:nvPr/>
        </p:nvSpPr>
        <p:spPr>
          <a:xfrm>
            <a:off x="457200" y="4727448"/>
            <a:ext cx="8229600" cy="274320"/>
          </a:xfrm>
          <a:prstGeom prst="rect">
            <a:avLst/>
          </a:prstGeom>
          <a:noFill/>
          <a:ln/>
        </p:spPr>
        <p:txBody>
          <a:bodyPr wrap="square" rtlCol="0" anchor="ctr"/>
          <a:lstStyle/>
          <a:p>
            <a:pPr marL="0" indent="0" algn="ctr">
              <a:buNone/>
            </a:pPr>
            <a:r>
              <a:rPr lang="en-US" sz="1100" b="1" dirty="0">
                <a:solidFill>
                  <a:srgbClr val="1F4E79"/>
                </a:solidFill>
                <a:latin typeface="Arial" pitchFamily="34" charset="0"/>
                <a:ea typeface="Arial" pitchFamily="34" charset="-122"/>
                <a:cs typeface="Arial" pitchFamily="34" charset="-120"/>
              </a:rPr>
              <a:t>These aren’t opinions. They are findings from hundreds of surveys across 16+ industries.</a:t>
            </a:r>
            <a:endParaRPr lang="en-US" sz="1100" dirty="0"/>
          </a:p>
        </p:txBody>
      </p:sp>
      <p:sp>
        <p:nvSpPr>
          <p:cNvPr id="30" name="rr"/>
          <p:cNvSpPr/>
          <p:nvPr/>
        </p:nvSpPr>
        <p:spPr>
          <a:xfrm>
            <a:off x="5532120" y="1170432"/>
            <a:ext cx="3246120" cy="3419856"/>
          </a:xfrm>
          <a:prstGeom prst="roundRect">
            <a:avLst>
              <a:gd name="adj" fmla="val 3500"/>
            </a:avLst>
          </a:prstGeom>
          <a:solidFill>
            <a:srgbClr val="F0F4F8"/>
          </a:solidFill>
          <a:ln w="15875">
            <a:solidFill>
              <a:srgbClr val="1F4E79"/>
            </a:solidFill>
          </a:ln>
        </p:spPr>
        <p:txBody>
          <a:bodyPr/>
          <a:lstStyle/>
          <a:p>
            <a:endParaRPr lang="en-US"/>
          </a:p>
        </p:txBody>
      </p:sp>
      <p:sp>
        <p:nvSpPr>
          <p:cNvPr id="31" name="t"/>
          <p:cNvSpPr/>
          <p:nvPr/>
        </p:nvSpPr>
        <p:spPr>
          <a:xfrm>
            <a:off x="5733288" y="1316736"/>
            <a:ext cx="2843784" cy="292608"/>
          </a:xfrm>
          <a:prstGeom prst="rect">
            <a:avLst/>
          </a:prstGeom>
        </p:spPr>
        <p:txBody>
          <a:bodyPr wrap="square" lIns="12000" tIns="3000" rIns="12000" bIns="3000" rtlCol="0" anchor="t"/>
          <a:lstStyle/>
          <a:p>
            <a:pPr marL="0" indent="0" algn="l">
              <a:buNone/>
            </a:pPr>
            <a:r>
              <a:rPr lang="en-US" sz="1100" b="1" dirty="0">
                <a:solidFill>
                  <a:srgbClr val="1F4E79"/>
                </a:solidFill>
                <a:latin typeface="Arial" pitchFamily="34" charset="0"/>
                <a:cs typeface="Arial" pitchFamily="34" charset="0"/>
              </a:rPr>
              <a:t>BY SEGMENT</a:t>
            </a:r>
          </a:p>
        </p:txBody>
      </p:sp>
      <p:sp>
        <p:nvSpPr>
          <p:cNvPr id="32" name="t"/>
          <p:cNvSpPr/>
          <p:nvPr/>
        </p:nvSpPr>
        <p:spPr>
          <a:xfrm>
            <a:off x="5733288" y="1627632"/>
            <a:ext cx="2843784" cy="274320"/>
          </a:xfrm>
          <a:prstGeom prst="rect">
            <a:avLst/>
          </a:prstGeom>
        </p:spPr>
        <p:txBody>
          <a:bodyPr wrap="square" lIns="12000" tIns="3000" rIns="12000" bIns="3000" rtlCol="0" anchor="t"/>
          <a:lstStyle/>
          <a:p>
            <a:pPr marL="0" indent="0" algn="l">
              <a:buNone/>
            </a:pPr>
            <a:r>
              <a:rPr lang="en-US" sz="950" dirty="0">
                <a:solidFill>
                  <a:srgbClr val="64748B"/>
                </a:solidFill>
                <a:latin typeface="Arial" pitchFamily="34" charset="0"/>
                <a:cs typeface="Arial" pitchFamily="34" charset="0"/>
              </a:rPr>
              <a:t>The same survey, broken out by who they are:</a:t>
            </a:r>
          </a:p>
        </p:txBody>
      </p:sp>
      <p:sp>
        <p:nvSpPr>
          <p:cNvPr id="33" name="t"/>
          <p:cNvSpPr/>
          <p:nvPr/>
        </p:nvSpPr>
        <p:spPr>
          <a:xfrm>
            <a:off x="5733288" y="2066544"/>
            <a:ext cx="2843784" cy="292608"/>
          </a:xfrm>
          <a:prstGeom prst="rect">
            <a:avLst/>
          </a:prstGeom>
        </p:spPr>
        <p:txBody>
          <a:bodyPr wrap="square" lIns="12000" tIns="3000" rIns="12000" bIns="3000" rtlCol="0" anchor="t"/>
          <a:lstStyle/>
          <a:p>
            <a:pPr marL="0" indent="0" algn="l">
              <a:buNone/>
            </a:pPr>
            <a:r>
              <a:rPr lang="en-US" sz="1200" b="1" dirty="0">
                <a:solidFill>
                  <a:srgbClr val="1D6A72"/>
                </a:solidFill>
                <a:latin typeface="Arial" pitchFamily="34" charset="0"/>
                <a:cs typeface="Arial" pitchFamily="34" charset="0"/>
              </a:rPr>
              <a:t>Older workers</a:t>
            </a:r>
          </a:p>
        </p:txBody>
      </p:sp>
      <p:sp>
        <p:nvSpPr>
          <p:cNvPr id="34" name="t"/>
          <p:cNvSpPr/>
          <p:nvPr/>
        </p:nvSpPr>
        <p:spPr>
          <a:xfrm>
            <a:off x="5733288" y="2359152"/>
            <a:ext cx="2843784" cy="438912"/>
          </a:xfrm>
          <a:prstGeom prst="rect">
            <a:avLst/>
          </a:prstGeom>
        </p:spPr>
        <p:txBody>
          <a:bodyPr wrap="square" lIns="12000" tIns="3000" rIns="12000" bIns="3000" rtlCol="0" anchor="t"/>
          <a:lstStyle/>
          <a:p>
            <a:pPr marL="0" indent="0" algn="l">
              <a:buNone/>
            </a:pPr>
            <a:r>
              <a:rPr lang="en-US" sz="1050" dirty="0">
                <a:solidFill>
                  <a:srgbClr val="1A1A2E"/>
                </a:solidFill>
                <a:latin typeface="Arial" pitchFamily="34" charset="0"/>
                <a:cs typeface="Arial" pitchFamily="34" charset="0"/>
              </a:rPr>
              <a:t>prefer fewer days in a row</a:t>
            </a:r>
          </a:p>
        </p:txBody>
      </p:sp>
      <p:sp>
        <p:nvSpPr>
          <p:cNvPr id="35" name="t"/>
          <p:cNvSpPr/>
          <p:nvPr/>
        </p:nvSpPr>
        <p:spPr>
          <a:xfrm>
            <a:off x="5733288" y="2871216"/>
            <a:ext cx="2843784" cy="292608"/>
          </a:xfrm>
          <a:prstGeom prst="rect">
            <a:avLst/>
          </a:prstGeom>
        </p:spPr>
        <p:txBody>
          <a:bodyPr wrap="square" lIns="12000" tIns="3000" rIns="12000" bIns="3000" rtlCol="0" anchor="t"/>
          <a:lstStyle/>
          <a:p>
            <a:pPr marL="0" indent="0" algn="l">
              <a:buNone/>
            </a:pPr>
            <a:r>
              <a:rPr lang="en-US" sz="1200" b="1" dirty="0">
                <a:solidFill>
                  <a:srgbClr val="E8610A"/>
                </a:solidFill>
                <a:latin typeface="Arial" pitchFamily="34" charset="0"/>
                <a:cs typeface="Arial" pitchFamily="34" charset="0"/>
              </a:rPr>
              <a:t>Younger workers</a:t>
            </a:r>
          </a:p>
        </p:txBody>
      </p:sp>
      <p:sp>
        <p:nvSpPr>
          <p:cNvPr id="36" name="t"/>
          <p:cNvSpPr/>
          <p:nvPr/>
        </p:nvSpPr>
        <p:spPr>
          <a:xfrm>
            <a:off x="5733288" y="3163824"/>
            <a:ext cx="2843784" cy="438912"/>
          </a:xfrm>
          <a:prstGeom prst="rect">
            <a:avLst/>
          </a:prstGeom>
        </p:spPr>
        <p:txBody>
          <a:bodyPr wrap="square" lIns="12000" tIns="3000" rIns="12000" bIns="3000" rtlCol="0" anchor="t"/>
          <a:lstStyle/>
          <a:p>
            <a:pPr marL="0" indent="0" algn="l">
              <a:buNone/>
            </a:pPr>
            <a:r>
              <a:rPr lang="en-US" sz="1050" dirty="0">
                <a:solidFill>
                  <a:srgbClr val="1A1A2E"/>
                </a:solidFill>
                <a:latin typeface="Arial" pitchFamily="34" charset="0"/>
                <a:cs typeface="Arial" pitchFamily="34" charset="0"/>
              </a:rPr>
              <a:t>weight hourly wage over 401(k) match</a:t>
            </a:r>
          </a:p>
        </p:txBody>
      </p:sp>
      <p:sp>
        <p:nvSpPr>
          <p:cNvPr id="37" name="t"/>
          <p:cNvSpPr/>
          <p:nvPr/>
        </p:nvSpPr>
        <p:spPr>
          <a:xfrm>
            <a:off x="5733288" y="3675888"/>
            <a:ext cx="2843784" cy="292608"/>
          </a:xfrm>
          <a:prstGeom prst="rect">
            <a:avLst/>
          </a:prstGeom>
        </p:spPr>
        <p:txBody>
          <a:bodyPr wrap="square" lIns="12000" tIns="3000" rIns="12000" bIns="3000" rtlCol="0" anchor="t"/>
          <a:lstStyle/>
          <a:p>
            <a:pPr marL="0" indent="0" algn="l">
              <a:buNone/>
            </a:pPr>
            <a:r>
              <a:rPr lang="en-US" sz="1200" b="1" dirty="0">
                <a:solidFill>
                  <a:srgbClr val="1F4E79"/>
                </a:solidFill>
                <a:latin typeface="Arial" pitchFamily="34" charset="0"/>
                <a:cs typeface="Arial" pitchFamily="34" charset="0"/>
              </a:rPr>
              <a:t>Night shift</a:t>
            </a:r>
          </a:p>
        </p:txBody>
      </p:sp>
      <p:sp>
        <p:nvSpPr>
          <p:cNvPr id="38" name="t"/>
          <p:cNvSpPr/>
          <p:nvPr/>
        </p:nvSpPr>
        <p:spPr>
          <a:xfrm>
            <a:off x="5733288" y="3968496"/>
            <a:ext cx="2843784" cy="438912"/>
          </a:xfrm>
          <a:prstGeom prst="rect">
            <a:avLst/>
          </a:prstGeom>
        </p:spPr>
        <p:txBody>
          <a:bodyPr wrap="square" lIns="12000" tIns="3000" rIns="12000" bIns="3000" rtlCol="0" anchor="t"/>
          <a:lstStyle/>
          <a:p>
            <a:pPr marL="0" indent="0" algn="l">
              <a:buNone/>
            </a:pPr>
            <a:r>
              <a:rPr lang="en-US" sz="1050" dirty="0">
                <a:solidFill>
                  <a:srgbClr val="1A1A2E"/>
                </a:solidFill>
                <a:latin typeface="Arial" pitchFamily="34" charset="0"/>
                <a:cs typeface="Arial" pitchFamily="34" charset="0"/>
              </a:rPr>
              <a:t>want more days off in a row</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rtlCol="0" anchor="ctr"/>
          <a:lstStyle/>
          <a:p>
            <a:pPr marL="0" indent="0">
              <a:buNone/>
            </a:pPr>
            <a:r>
              <a:rPr lang="en-US" sz="3000" b="1" dirty="0">
                <a:solidFill>
                  <a:srgbClr val="1F4E79"/>
                </a:solidFill>
                <a:latin typeface="Cambria" pitchFamily="34" charset="0"/>
                <a:ea typeface="Cambria" pitchFamily="34" charset="-122"/>
                <a:cs typeface="Cambria" pitchFamily="34" charset="-120"/>
              </a:rPr>
              <a:t>The Strategic Use of Overtime</a:t>
            </a:r>
            <a:endParaRPr lang="en-US" sz="3000" dirty="0"/>
          </a:p>
        </p:txBody>
      </p:sp>
      <p:sp>
        <p:nvSpPr>
          <p:cNvPr id="3" name="Text 1"/>
          <p:cNvSpPr/>
          <p:nvPr/>
        </p:nvSpPr>
        <p:spPr>
          <a:xfrm>
            <a:off x="457200" y="749808"/>
            <a:ext cx="8229600" cy="274320"/>
          </a:xfrm>
          <a:prstGeom prst="rect">
            <a:avLst/>
          </a:prstGeom>
          <a:noFill/>
          <a:ln/>
        </p:spPr>
        <p:txBody>
          <a:bodyPr wrap="square" rtlCol="0" anchor="ctr"/>
          <a:lstStyle/>
          <a:p>
            <a:pPr marL="0" indent="0">
              <a:buNone/>
            </a:pPr>
            <a:r>
              <a:rPr lang="en-US" sz="1200" i="1" dirty="0">
                <a:solidFill>
                  <a:srgbClr val="64748B"/>
                </a:solidFill>
                <a:latin typeface="Arial" pitchFamily="34" charset="0"/>
                <a:ea typeface="Arial" pitchFamily="34" charset="-122"/>
                <a:cs typeface="Arial" pitchFamily="34" charset="-120"/>
              </a:rPr>
              <a:t>Too much is a problem. The right amount, managed well, is a competitive advantage.</a:t>
            </a:r>
            <a:endParaRPr lang="en-US" sz="1200" dirty="0"/>
          </a:p>
        </p:txBody>
      </p:sp>
      <p:sp>
        <p:nvSpPr>
          <p:cNvPr id="4" name="Shape 2"/>
          <p:cNvSpPr/>
          <p:nvPr/>
        </p:nvSpPr>
        <p:spPr>
          <a:xfrm>
            <a:off x="365760" y="1078992"/>
            <a:ext cx="3931920" cy="1737360"/>
          </a:xfrm>
          <a:prstGeom prst="roundRect">
            <a:avLst>
              <a:gd name="adj" fmla="val 5263"/>
            </a:avLst>
          </a:prstGeom>
          <a:solidFill>
            <a:srgbClr val="C0392B">
              <a:alpha val="8000"/>
            </a:srgbClr>
          </a:solidFill>
          <a:ln w="19050">
            <a:solidFill>
              <a:srgbClr val="C0392B"/>
            </a:solidFill>
            <a:prstDash val="solid"/>
          </a:ln>
        </p:spPr>
        <p:txBody>
          <a:bodyPr/>
          <a:lstStyle/>
          <a:p>
            <a:endParaRPr lang="en-US"/>
          </a:p>
        </p:txBody>
      </p:sp>
      <p:sp>
        <p:nvSpPr>
          <p:cNvPr id="5" name="Text 3"/>
          <p:cNvSpPr/>
          <p:nvPr/>
        </p:nvSpPr>
        <p:spPr>
          <a:xfrm>
            <a:off x="502920" y="1152144"/>
            <a:ext cx="3657600" cy="292608"/>
          </a:xfrm>
          <a:prstGeom prst="rect">
            <a:avLst/>
          </a:prstGeom>
          <a:noFill/>
          <a:ln/>
        </p:spPr>
        <p:txBody>
          <a:bodyPr wrap="square" rtlCol="0" anchor="ctr"/>
          <a:lstStyle/>
          <a:p>
            <a:pPr marL="0" indent="0">
              <a:buNone/>
            </a:pPr>
            <a:r>
              <a:rPr lang="en-US" sz="1300" b="1" dirty="0">
                <a:solidFill>
                  <a:srgbClr val="C0392B"/>
                </a:solidFill>
                <a:latin typeface="Arial" pitchFamily="34" charset="0"/>
                <a:ea typeface="Arial" pitchFamily="34" charset="-122"/>
                <a:cs typeface="Arial" pitchFamily="34" charset="-120"/>
              </a:rPr>
              <a:t>Too much overtime...</a:t>
            </a:r>
            <a:endParaRPr lang="en-US" sz="1300" dirty="0"/>
          </a:p>
        </p:txBody>
      </p:sp>
      <p:pic>
        <p:nvPicPr>
          <p:cNvPr id="6" name="Image 0" descr="preencoded.png"/>
          <p:cNvPicPr>
            <a:picLocks noChangeAspect="1"/>
          </p:cNvPicPr>
          <p:nvPr/>
        </p:nvPicPr>
        <p:blipFill>
          <a:blip r:embed="rId3"/>
          <a:stretch>
            <a:fillRect/>
          </a:stretch>
        </p:blipFill>
        <p:spPr>
          <a:xfrm>
            <a:off x="502920" y="1499616"/>
            <a:ext cx="164592" cy="164592"/>
          </a:xfrm>
          <a:prstGeom prst="rect">
            <a:avLst/>
          </a:prstGeom>
        </p:spPr>
      </p:pic>
      <p:sp>
        <p:nvSpPr>
          <p:cNvPr id="7" name="Text 4"/>
          <p:cNvSpPr/>
          <p:nvPr/>
        </p:nvSpPr>
        <p:spPr>
          <a:xfrm>
            <a:off x="731520" y="1481328"/>
            <a:ext cx="3429000" cy="256032"/>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Drives away employees who don’t want it</a:t>
            </a:r>
            <a:endParaRPr lang="en-US" sz="1100" dirty="0"/>
          </a:p>
        </p:txBody>
      </p:sp>
      <p:pic>
        <p:nvPicPr>
          <p:cNvPr id="8" name="Image 1" descr="preencoded.png"/>
          <p:cNvPicPr>
            <a:picLocks noChangeAspect="1"/>
          </p:cNvPicPr>
          <p:nvPr/>
        </p:nvPicPr>
        <p:blipFill>
          <a:blip r:embed="rId3"/>
          <a:stretch>
            <a:fillRect/>
          </a:stretch>
        </p:blipFill>
        <p:spPr>
          <a:xfrm>
            <a:off x="502920" y="1801368"/>
            <a:ext cx="164592" cy="164592"/>
          </a:xfrm>
          <a:prstGeom prst="rect">
            <a:avLst/>
          </a:prstGeom>
        </p:spPr>
      </p:pic>
      <p:sp>
        <p:nvSpPr>
          <p:cNvPr id="9" name="Text 5"/>
          <p:cNvSpPr/>
          <p:nvPr/>
        </p:nvSpPr>
        <p:spPr>
          <a:xfrm>
            <a:off x="731520" y="1783080"/>
            <a:ext cx="3429000" cy="256032"/>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Increases absenteeism over time</a:t>
            </a:r>
            <a:endParaRPr lang="en-US" sz="1100" dirty="0"/>
          </a:p>
        </p:txBody>
      </p:sp>
      <p:pic>
        <p:nvPicPr>
          <p:cNvPr id="10" name="Image 2" descr="preencoded.png"/>
          <p:cNvPicPr>
            <a:picLocks noChangeAspect="1"/>
          </p:cNvPicPr>
          <p:nvPr/>
        </p:nvPicPr>
        <p:blipFill>
          <a:blip r:embed="rId3"/>
          <a:stretch>
            <a:fillRect/>
          </a:stretch>
        </p:blipFill>
        <p:spPr>
          <a:xfrm>
            <a:off x="502920" y="2103120"/>
            <a:ext cx="164592" cy="164592"/>
          </a:xfrm>
          <a:prstGeom prst="rect">
            <a:avLst/>
          </a:prstGeom>
        </p:spPr>
      </p:pic>
      <p:sp>
        <p:nvSpPr>
          <p:cNvPr id="11" name="Text 6"/>
          <p:cNvSpPr/>
          <p:nvPr/>
        </p:nvSpPr>
        <p:spPr>
          <a:xfrm>
            <a:off x="731520" y="2084832"/>
            <a:ext cx="3429000" cy="256032"/>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Lowers performance and output quality</a:t>
            </a:r>
            <a:endParaRPr lang="en-US" sz="1100" dirty="0"/>
          </a:p>
        </p:txBody>
      </p:sp>
      <p:pic>
        <p:nvPicPr>
          <p:cNvPr id="12" name="Image 3" descr="preencoded.png"/>
          <p:cNvPicPr>
            <a:picLocks noChangeAspect="1"/>
          </p:cNvPicPr>
          <p:nvPr/>
        </p:nvPicPr>
        <p:blipFill>
          <a:blip r:embed="rId3"/>
          <a:stretch>
            <a:fillRect/>
          </a:stretch>
        </p:blipFill>
        <p:spPr>
          <a:xfrm>
            <a:off x="502920" y="2404872"/>
            <a:ext cx="164592" cy="164592"/>
          </a:xfrm>
          <a:prstGeom prst="rect">
            <a:avLst/>
          </a:prstGeom>
        </p:spPr>
      </p:pic>
      <p:sp>
        <p:nvSpPr>
          <p:cNvPr id="13" name="Text 7"/>
          <p:cNvSpPr/>
          <p:nvPr/>
        </p:nvSpPr>
        <p:spPr>
          <a:xfrm>
            <a:off x="731520" y="2386584"/>
            <a:ext cx="3429000" cy="256032"/>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Creates burnout on your most reliable workers</a:t>
            </a:r>
            <a:endParaRPr lang="en-US" sz="1100" dirty="0"/>
          </a:p>
        </p:txBody>
      </p:sp>
      <p:sp>
        <p:nvSpPr>
          <p:cNvPr id="14" name="Shape 8"/>
          <p:cNvSpPr/>
          <p:nvPr/>
        </p:nvSpPr>
        <p:spPr>
          <a:xfrm>
            <a:off x="4663440" y="1078992"/>
            <a:ext cx="4114800" cy="1737360"/>
          </a:xfrm>
          <a:prstGeom prst="roundRect">
            <a:avLst>
              <a:gd name="adj" fmla="val 5263"/>
            </a:avLst>
          </a:prstGeom>
          <a:solidFill>
            <a:srgbClr val="1D9E75">
              <a:alpha val="8000"/>
            </a:srgbClr>
          </a:solidFill>
          <a:ln w="19050">
            <a:solidFill>
              <a:srgbClr val="1D9E75"/>
            </a:solidFill>
            <a:prstDash val="solid"/>
          </a:ln>
        </p:spPr>
        <p:txBody>
          <a:bodyPr/>
          <a:lstStyle/>
          <a:p>
            <a:endParaRPr lang="en-US"/>
          </a:p>
        </p:txBody>
      </p:sp>
      <p:sp>
        <p:nvSpPr>
          <p:cNvPr id="15" name="Text 9"/>
          <p:cNvSpPr/>
          <p:nvPr/>
        </p:nvSpPr>
        <p:spPr>
          <a:xfrm>
            <a:off x="4800600" y="1152144"/>
            <a:ext cx="3840480" cy="292608"/>
          </a:xfrm>
          <a:prstGeom prst="rect">
            <a:avLst/>
          </a:prstGeom>
          <a:noFill/>
          <a:ln/>
        </p:spPr>
        <p:txBody>
          <a:bodyPr wrap="square" rtlCol="0" anchor="ctr"/>
          <a:lstStyle/>
          <a:p>
            <a:pPr marL="0" indent="0">
              <a:buNone/>
            </a:pPr>
            <a:r>
              <a:rPr lang="en-US" sz="1300" b="1" dirty="0">
                <a:solidFill>
                  <a:srgbClr val="1D9E75"/>
                </a:solidFill>
                <a:latin typeface="Arial" pitchFamily="34" charset="0"/>
                <a:ea typeface="Arial" pitchFamily="34" charset="-122"/>
                <a:cs typeface="Arial" pitchFamily="34" charset="-120"/>
              </a:rPr>
              <a:t>Managed well, overtime...</a:t>
            </a:r>
            <a:endParaRPr lang="en-US" sz="1300" dirty="0"/>
          </a:p>
        </p:txBody>
      </p:sp>
      <p:pic>
        <p:nvPicPr>
          <p:cNvPr id="16" name="Image 4" descr="preencoded.png"/>
          <p:cNvPicPr>
            <a:picLocks noChangeAspect="1"/>
          </p:cNvPicPr>
          <p:nvPr/>
        </p:nvPicPr>
        <p:blipFill>
          <a:blip r:embed="rId4"/>
          <a:stretch>
            <a:fillRect/>
          </a:stretch>
        </p:blipFill>
        <p:spPr>
          <a:xfrm>
            <a:off x="4800600" y="1499616"/>
            <a:ext cx="164592" cy="164592"/>
          </a:xfrm>
          <a:prstGeom prst="rect">
            <a:avLst/>
          </a:prstGeom>
        </p:spPr>
      </p:pic>
      <p:sp>
        <p:nvSpPr>
          <p:cNvPr id="17" name="Text 10"/>
          <p:cNvSpPr/>
          <p:nvPr/>
        </p:nvSpPr>
        <p:spPr>
          <a:xfrm>
            <a:off x="5029200" y="1481328"/>
            <a:ext cx="3611880" cy="256032"/>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Costs only 5–10% more than straight time (fully loaded)</a:t>
            </a:r>
            <a:endParaRPr lang="en-US" sz="1100" dirty="0"/>
          </a:p>
        </p:txBody>
      </p:sp>
      <p:pic>
        <p:nvPicPr>
          <p:cNvPr id="18" name="Image 5" descr="preencoded.png"/>
          <p:cNvPicPr>
            <a:picLocks noChangeAspect="1"/>
          </p:cNvPicPr>
          <p:nvPr/>
        </p:nvPicPr>
        <p:blipFill>
          <a:blip r:embed="rId4"/>
          <a:stretch>
            <a:fillRect/>
          </a:stretch>
        </p:blipFill>
        <p:spPr>
          <a:xfrm>
            <a:off x="4800600" y="1801368"/>
            <a:ext cx="164592" cy="164592"/>
          </a:xfrm>
          <a:prstGeom prst="rect">
            <a:avLst/>
          </a:prstGeom>
        </p:spPr>
      </p:pic>
      <p:sp>
        <p:nvSpPr>
          <p:cNvPr id="19" name="Text 11"/>
          <p:cNvSpPr/>
          <p:nvPr/>
        </p:nvSpPr>
        <p:spPr>
          <a:xfrm>
            <a:off x="5029200" y="1783080"/>
            <a:ext cx="3611880" cy="256032"/>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Provides a ready reserve of already-skilled labor</a:t>
            </a:r>
            <a:endParaRPr lang="en-US" sz="1100" dirty="0"/>
          </a:p>
        </p:txBody>
      </p:sp>
      <p:pic>
        <p:nvPicPr>
          <p:cNvPr id="20" name="Image 6" descr="preencoded.png"/>
          <p:cNvPicPr>
            <a:picLocks noChangeAspect="1"/>
          </p:cNvPicPr>
          <p:nvPr/>
        </p:nvPicPr>
        <p:blipFill>
          <a:blip r:embed="rId4"/>
          <a:stretch>
            <a:fillRect/>
          </a:stretch>
        </p:blipFill>
        <p:spPr>
          <a:xfrm>
            <a:off x="4800600" y="2103120"/>
            <a:ext cx="164592" cy="164592"/>
          </a:xfrm>
          <a:prstGeom prst="rect">
            <a:avLst/>
          </a:prstGeom>
        </p:spPr>
      </p:pic>
      <p:sp>
        <p:nvSpPr>
          <p:cNvPr id="21" name="Text 12"/>
          <p:cNvSpPr/>
          <p:nvPr/>
        </p:nvSpPr>
        <p:spPr>
          <a:xfrm>
            <a:off x="5029200" y="2084832"/>
            <a:ext cx="3611880" cy="256032"/>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Lets 20% of your workforce earn more — they want it</a:t>
            </a:r>
            <a:endParaRPr lang="en-US" sz="1100" dirty="0"/>
          </a:p>
        </p:txBody>
      </p:sp>
      <p:pic>
        <p:nvPicPr>
          <p:cNvPr id="22" name="Image 7" descr="preencoded.png"/>
          <p:cNvPicPr>
            <a:picLocks noChangeAspect="1"/>
          </p:cNvPicPr>
          <p:nvPr/>
        </p:nvPicPr>
        <p:blipFill>
          <a:blip r:embed="rId4"/>
          <a:stretch>
            <a:fillRect/>
          </a:stretch>
        </p:blipFill>
        <p:spPr>
          <a:xfrm>
            <a:off x="4800600" y="2404872"/>
            <a:ext cx="164592" cy="164592"/>
          </a:xfrm>
          <a:prstGeom prst="rect">
            <a:avLst/>
          </a:prstGeom>
        </p:spPr>
      </p:pic>
      <p:sp>
        <p:nvSpPr>
          <p:cNvPr id="23" name="Text 13"/>
          <p:cNvSpPr/>
          <p:nvPr/>
        </p:nvSpPr>
        <p:spPr>
          <a:xfrm>
            <a:off x="5029200" y="2386584"/>
            <a:ext cx="3611880" cy="256032"/>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Is more flexible than headcount — on and off as needed</a:t>
            </a:r>
            <a:endParaRPr lang="en-US" sz="1100" dirty="0"/>
          </a:p>
        </p:txBody>
      </p:sp>
      <p:sp>
        <p:nvSpPr>
          <p:cNvPr id="24" name="Text 14"/>
          <p:cNvSpPr/>
          <p:nvPr/>
        </p:nvSpPr>
        <p:spPr>
          <a:xfrm>
            <a:off x="365760" y="2907792"/>
            <a:ext cx="8412480" cy="274320"/>
          </a:xfrm>
          <a:prstGeom prst="rect">
            <a:avLst/>
          </a:prstGeom>
          <a:noFill/>
          <a:ln/>
        </p:spPr>
        <p:txBody>
          <a:bodyPr wrap="square" rtlCol="0" anchor="ctr"/>
          <a:lstStyle/>
          <a:p>
            <a:pPr marL="0" indent="0">
              <a:buNone/>
            </a:pPr>
            <a:r>
              <a:rPr lang="en-US" sz="1300" b="1" dirty="0">
                <a:solidFill>
                  <a:srgbClr val="1F4E79"/>
                </a:solidFill>
                <a:latin typeface="Cambria" pitchFamily="34" charset="0"/>
                <a:ea typeface="Cambria" pitchFamily="34" charset="-122"/>
                <a:cs typeface="Cambria" pitchFamily="34" charset="-120"/>
              </a:rPr>
              <a:t>Know your workforce — the 20/60/20 rule</a:t>
            </a:r>
            <a:endParaRPr lang="en-US" sz="1300" dirty="0"/>
          </a:p>
        </p:txBody>
      </p:sp>
      <p:sp>
        <p:nvSpPr>
          <p:cNvPr id="25" name="Shape 15"/>
          <p:cNvSpPr/>
          <p:nvPr/>
        </p:nvSpPr>
        <p:spPr>
          <a:xfrm>
            <a:off x="365760" y="3246120"/>
            <a:ext cx="2212848" cy="502920"/>
          </a:xfrm>
          <a:prstGeom prst="roundRect">
            <a:avLst>
              <a:gd name="adj" fmla="val 10909"/>
            </a:avLst>
          </a:prstGeom>
          <a:solidFill>
            <a:srgbClr val="1F4E79"/>
          </a:solidFill>
          <a:ln w="12700">
            <a:solidFill>
              <a:srgbClr val="1F4E79"/>
            </a:solidFill>
            <a:prstDash val="solid"/>
          </a:ln>
        </p:spPr>
        <p:txBody>
          <a:bodyPr/>
          <a:lstStyle/>
          <a:p>
            <a:endParaRPr lang="en-US"/>
          </a:p>
        </p:txBody>
      </p:sp>
      <p:sp>
        <p:nvSpPr>
          <p:cNvPr id="26" name="Text 16"/>
          <p:cNvSpPr/>
          <p:nvPr/>
        </p:nvSpPr>
        <p:spPr>
          <a:xfrm>
            <a:off x="365760" y="3246120"/>
            <a:ext cx="2212848"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20%</a:t>
            </a:r>
            <a:endParaRPr lang="en-US" sz="1800" dirty="0"/>
          </a:p>
        </p:txBody>
      </p:sp>
      <p:sp>
        <p:nvSpPr>
          <p:cNvPr id="27" name="Text 17"/>
          <p:cNvSpPr/>
          <p:nvPr/>
        </p:nvSpPr>
        <p:spPr>
          <a:xfrm>
            <a:off x="365760" y="3776472"/>
            <a:ext cx="2212848" cy="384048"/>
          </a:xfrm>
          <a:prstGeom prst="rect">
            <a:avLst/>
          </a:prstGeom>
          <a:noFill/>
          <a:ln/>
        </p:spPr>
        <p:txBody>
          <a:bodyPr wrap="square" rtlCol="0" anchor="ctr"/>
          <a:lstStyle/>
          <a:p>
            <a:pPr marL="0" indent="0" algn="ctr">
              <a:buNone/>
            </a:pPr>
            <a:r>
              <a:rPr lang="en-US" sz="1000" dirty="0">
                <a:solidFill>
                  <a:srgbClr val="1A1A2E"/>
                </a:solidFill>
                <a:latin typeface="Arial" pitchFamily="34" charset="0"/>
                <a:ea typeface="Arial" pitchFamily="34" charset="-122"/>
                <a:cs typeface="Arial" pitchFamily="34" charset="-120"/>
              </a:rPr>
              <a:t>Want all the OT</a:t>
            </a:r>
            <a:endParaRPr lang="en-US" sz="1000" dirty="0"/>
          </a:p>
          <a:p>
            <a:pPr marL="0" indent="0" algn="ctr">
              <a:buNone/>
            </a:pPr>
            <a:r>
              <a:rPr lang="en-US" sz="1000" dirty="0">
                <a:solidFill>
                  <a:srgbClr val="1A1A2E"/>
                </a:solidFill>
                <a:latin typeface="Arial" pitchFamily="34" charset="0"/>
                <a:ea typeface="Arial" pitchFamily="34" charset="-122"/>
                <a:cs typeface="Arial" pitchFamily="34" charset="-120"/>
              </a:rPr>
              <a:t>they can get</a:t>
            </a:r>
            <a:endParaRPr lang="en-US" sz="1000" dirty="0"/>
          </a:p>
        </p:txBody>
      </p:sp>
      <p:sp>
        <p:nvSpPr>
          <p:cNvPr id="28" name="Shape 18"/>
          <p:cNvSpPr/>
          <p:nvPr/>
        </p:nvSpPr>
        <p:spPr>
          <a:xfrm>
            <a:off x="2651760" y="3246120"/>
            <a:ext cx="4498848" cy="502920"/>
          </a:xfrm>
          <a:prstGeom prst="roundRect">
            <a:avLst>
              <a:gd name="adj" fmla="val 10909"/>
            </a:avLst>
          </a:prstGeom>
          <a:solidFill>
            <a:srgbClr val="1D6A72"/>
          </a:solidFill>
          <a:ln w="12700">
            <a:solidFill>
              <a:srgbClr val="1D6A72"/>
            </a:solidFill>
            <a:prstDash val="solid"/>
          </a:ln>
        </p:spPr>
        <p:txBody>
          <a:bodyPr/>
          <a:lstStyle/>
          <a:p>
            <a:endParaRPr lang="en-US"/>
          </a:p>
        </p:txBody>
      </p:sp>
      <p:sp>
        <p:nvSpPr>
          <p:cNvPr id="29" name="Text 19"/>
          <p:cNvSpPr/>
          <p:nvPr/>
        </p:nvSpPr>
        <p:spPr>
          <a:xfrm>
            <a:off x="2651760" y="3246120"/>
            <a:ext cx="4498848"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60%</a:t>
            </a:r>
            <a:endParaRPr lang="en-US" sz="1800" dirty="0"/>
          </a:p>
        </p:txBody>
      </p:sp>
      <p:sp>
        <p:nvSpPr>
          <p:cNvPr id="30" name="Text 20"/>
          <p:cNvSpPr/>
          <p:nvPr/>
        </p:nvSpPr>
        <p:spPr>
          <a:xfrm>
            <a:off x="2651760" y="3776472"/>
            <a:ext cx="4498848" cy="384048"/>
          </a:xfrm>
          <a:prstGeom prst="rect">
            <a:avLst/>
          </a:prstGeom>
          <a:noFill/>
          <a:ln/>
        </p:spPr>
        <p:txBody>
          <a:bodyPr wrap="square" rtlCol="0" anchor="ctr"/>
          <a:lstStyle/>
          <a:p>
            <a:pPr marL="0" indent="0" algn="ctr">
              <a:buNone/>
            </a:pPr>
            <a:r>
              <a:rPr lang="en-US" sz="1000" dirty="0">
                <a:solidFill>
                  <a:srgbClr val="1A1A2E"/>
                </a:solidFill>
                <a:latin typeface="Arial" pitchFamily="34" charset="0"/>
                <a:ea typeface="Arial" pitchFamily="34" charset="-122"/>
                <a:cs typeface="Arial" pitchFamily="34" charset="-120"/>
              </a:rPr>
              <a:t>Will work a fair share</a:t>
            </a:r>
            <a:endParaRPr lang="en-US" sz="1000" dirty="0"/>
          </a:p>
          <a:p>
            <a:pPr marL="0" indent="0" algn="ctr">
              <a:buNone/>
            </a:pPr>
            <a:r>
              <a:rPr lang="en-US" sz="1000" dirty="0">
                <a:solidFill>
                  <a:srgbClr val="1A1A2E"/>
                </a:solidFill>
                <a:latin typeface="Arial" pitchFamily="34" charset="0"/>
                <a:ea typeface="Arial" pitchFamily="34" charset="-122"/>
                <a:cs typeface="Arial" pitchFamily="34" charset="-120"/>
              </a:rPr>
              <a:t>without complaint</a:t>
            </a:r>
            <a:endParaRPr lang="en-US" sz="1000" dirty="0"/>
          </a:p>
        </p:txBody>
      </p:sp>
      <p:sp>
        <p:nvSpPr>
          <p:cNvPr id="31" name="Shape 21"/>
          <p:cNvSpPr/>
          <p:nvPr/>
        </p:nvSpPr>
        <p:spPr>
          <a:xfrm>
            <a:off x="7223760" y="3246120"/>
            <a:ext cx="2212848" cy="502920"/>
          </a:xfrm>
          <a:prstGeom prst="roundRect">
            <a:avLst>
              <a:gd name="adj" fmla="val 10909"/>
            </a:avLst>
          </a:prstGeom>
          <a:solidFill>
            <a:srgbClr val="E8610A"/>
          </a:solidFill>
          <a:ln w="12700">
            <a:solidFill>
              <a:srgbClr val="E8610A"/>
            </a:solidFill>
            <a:prstDash val="solid"/>
          </a:ln>
        </p:spPr>
        <p:txBody>
          <a:bodyPr/>
          <a:lstStyle/>
          <a:p>
            <a:endParaRPr lang="en-US"/>
          </a:p>
        </p:txBody>
      </p:sp>
      <p:sp>
        <p:nvSpPr>
          <p:cNvPr id="32" name="Text 22"/>
          <p:cNvSpPr/>
          <p:nvPr/>
        </p:nvSpPr>
        <p:spPr>
          <a:xfrm>
            <a:off x="7223760" y="3246120"/>
            <a:ext cx="2212848"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20%</a:t>
            </a:r>
            <a:endParaRPr lang="en-US" sz="1800" dirty="0"/>
          </a:p>
        </p:txBody>
      </p:sp>
      <p:sp>
        <p:nvSpPr>
          <p:cNvPr id="33" name="Text 23"/>
          <p:cNvSpPr/>
          <p:nvPr/>
        </p:nvSpPr>
        <p:spPr>
          <a:xfrm>
            <a:off x="7223760" y="3776472"/>
            <a:ext cx="2212848" cy="384048"/>
          </a:xfrm>
          <a:prstGeom prst="rect">
            <a:avLst/>
          </a:prstGeom>
          <a:noFill/>
          <a:ln/>
        </p:spPr>
        <p:txBody>
          <a:bodyPr wrap="square" rtlCol="0" anchor="ctr"/>
          <a:lstStyle/>
          <a:p>
            <a:pPr marL="0" indent="0" algn="ctr">
              <a:buNone/>
            </a:pPr>
            <a:r>
              <a:rPr lang="en-US" sz="1000" dirty="0">
                <a:solidFill>
                  <a:srgbClr val="1A1A2E"/>
                </a:solidFill>
                <a:latin typeface="Arial" pitchFamily="34" charset="0"/>
                <a:ea typeface="Arial" pitchFamily="34" charset="-122"/>
                <a:cs typeface="Arial" pitchFamily="34" charset="-120"/>
              </a:rPr>
              <a:t>Want none —</a:t>
            </a:r>
            <a:endParaRPr lang="en-US" sz="1000" dirty="0"/>
          </a:p>
          <a:p>
            <a:pPr marL="0" indent="0" algn="ctr">
              <a:buNone/>
            </a:pPr>
            <a:r>
              <a:rPr lang="en-US" sz="1000" dirty="0">
                <a:solidFill>
                  <a:srgbClr val="1A1A2E"/>
                </a:solidFill>
                <a:latin typeface="Arial" pitchFamily="34" charset="0"/>
                <a:ea typeface="Arial" pitchFamily="34" charset="-122"/>
                <a:cs typeface="Arial" pitchFamily="34" charset="-120"/>
              </a:rPr>
              <a:t>don’t force them</a:t>
            </a:r>
            <a:endParaRPr lang="en-US" sz="1000" dirty="0"/>
          </a:p>
        </p:txBody>
      </p:sp>
      <p:sp>
        <p:nvSpPr>
          <p:cNvPr id="34" name="Shape 24"/>
          <p:cNvSpPr/>
          <p:nvPr/>
        </p:nvSpPr>
        <p:spPr>
          <a:xfrm>
            <a:off x="365760" y="4224528"/>
            <a:ext cx="8412480" cy="502920"/>
          </a:xfrm>
          <a:prstGeom prst="roundRect">
            <a:avLst>
              <a:gd name="adj" fmla="val 13889"/>
            </a:avLst>
          </a:prstGeom>
          <a:solidFill>
            <a:srgbClr val="1F4E79"/>
          </a:solidFill>
          <a:ln w="12700">
            <a:solidFill>
              <a:srgbClr val="1F4E79"/>
            </a:solidFill>
            <a:prstDash val="solid"/>
          </a:ln>
        </p:spPr>
        <p:txBody>
          <a:bodyPr/>
          <a:lstStyle/>
          <a:p>
            <a:endParaRPr lang="en-US"/>
          </a:p>
        </p:txBody>
      </p:sp>
      <p:sp>
        <p:nvSpPr>
          <p:cNvPr id="35" name="Shape 25"/>
          <p:cNvSpPr/>
          <p:nvPr/>
        </p:nvSpPr>
        <p:spPr>
          <a:xfrm>
            <a:off x="548640" y="4315968"/>
            <a:ext cx="201168" cy="201168"/>
          </a:xfrm>
          <a:prstGeom prst="ellipse">
            <a:avLst/>
          </a:prstGeom>
          <a:solidFill>
            <a:srgbClr val="E8610A"/>
          </a:solidFill>
          <a:ln w="12700">
            <a:solidFill>
              <a:srgbClr val="E8610A"/>
            </a:solidFill>
            <a:prstDash val="solid"/>
          </a:ln>
        </p:spPr>
        <p:txBody>
          <a:bodyPr/>
          <a:lstStyle/>
          <a:p>
            <a:endParaRPr lang="en-US"/>
          </a:p>
        </p:txBody>
      </p:sp>
      <p:sp>
        <p:nvSpPr>
          <p:cNvPr id="36" name="Text 26"/>
          <p:cNvSpPr/>
          <p:nvPr/>
        </p:nvSpPr>
        <p:spPr>
          <a:xfrm>
            <a:off x="804672" y="4297680"/>
            <a:ext cx="1828800" cy="274320"/>
          </a:xfrm>
          <a:prstGeom prst="rect">
            <a:avLst/>
          </a:prstGeom>
          <a:noFill/>
          <a:ln/>
        </p:spPr>
        <p:txBody>
          <a:bodyPr wrap="square" rtlCol="0" anchor="ctr"/>
          <a:lstStyle/>
          <a:p>
            <a:pPr marL="0" indent="0">
              <a:buNone/>
            </a:pPr>
            <a:r>
              <a:rPr lang="en-US" sz="1100" b="1" dirty="0">
                <a:solidFill>
                  <a:srgbClr val="FFFFFF"/>
                </a:solidFill>
                <a:latin typeface="Arial" pitchFamily="34" charset="0"/>
                <a:ea typeface="Arial" pitchFamily="34" charset="-122"/>
                <a:cs typeface="Arial" pitchFamily="34" charset="-120"/>
              </a:rPr>
              <a:t>Don’t assume everyone wants it — or doesn’t</a:t>
            </a:r>
            <a:endParaRPr lang="en-US" sz="1100" dirty="0"/>
          </a:p>
        </p:txBody>
      </p:sp>
      <p:sp>
        <p:nvSpPr>
          <p:cNvPr id="37" name="Shape 27"/>
          <p:cNvSpPr/>
          <p:nvPr/>
        </p:nvSpPr>
        <p:spPr>
          <a:xfrm>
            <a:off x="2697480" y="4315968"/>
            <a:ext cx="201168" cy="201168"/>
          </a:xfrm>
          <a:prstGeom prst="ellipse">
            <a:avLst/>
          </a:prstGeom>
          <a:solidFill>
            <a:srgbClr val="E8610A"/>
          </a:solidFill>
          <a:ln w="12700">
            <a:solidFill>
              <a:srgbClr val="E8610A"/>
            </a:solidFill>
            <a:prstDash val="solid"/>
          </a:ln>
        </p:spPr>
        <p:txBody>
          <a:bodyPr/>
          <a:lstStyle/>
          <a:p>
            <a:endParaRPr lang="en-US"/>
          </a:p>
        </p:txBody>
      </p:sp>
      <p:sp>
        <p:nvSpPr>
          <p:cNvPr id="38" name="Text 28"/>
          <p:cNvSpPr/>
          <p:nvPr/>
        </p:nvSpPr>
        <p:spPr>
          <a:xfrm>
            <a:off x="2953512" y="4297680"/>
            <a:ext cx="1828800" cy="274320"/>
          </a:xfrm>
          <a:prstGeom prst="rect">
            <a:avLst/>
          </a:prstGeom>
          <a:noFill/>
          <a:ln/>
        </p:spPr>
        <p:txBody>
          <a:bodyPr wrap="square" rtlCol="0" anchor="ctr"/>
          <a:lstStyle/>
          <a:p>
            <a:pPr marL="0" indent="0">
              <a:buNone/>
            </a:pPr>
            <a:r>
              <a:rPr lang="en-US" sz="1100" b="1" dirty="0">
                <a:solidFill>
                  <a:srgbClr val="FFFFFF"/>
                </a:solidFill>
                <a:latin typeface="Arial" pitchFamily="34" charset="0"/>
                <a:ea typeface="Arial" pitchFamily="34" charset="-122"/>
                <a:cs typeface="Arial" pitchFamily="34" charset="-120"/>
              </a:rPr>
              <a:t>Distribute it wisely</a:t>
            </a:r>
            <a:endParaRPr lang="en-US" sz="1100" dirty="0"/>
          </a:p>
        </p:txBody>
      </p:sp>
      <p:sp>
        <p:nvSpPr>
          <p:cNvPr id="39" name="Shape 29"/>
          <p:cNvSpPr/>
          <p:nvPr/>
        </p:nvSpPr>
        <p:spPr>
          <a:xfrm>
            <a:off x="4846320" y="4315968"/>
            <a:ext cx="201168" cy="201168"/>
          </a:xfrm>
          <a:prstGeom prst="ellipse">
            <a:avLst/>
          </a:prstGeom>
          <a:solidFill>
            <a:srgbClr val="E8610A"/>
          </a:solidFill>
          <a:ln w="12700">
            <a:solidFill>
              <a:srgbClr val="E8610A"/>
            </a:solidFill>
            <a:prstDash val="solid"/>
          </a:ln>
        </p:spPr>
        <p:txBody>
          <a:bodyPr/>
          <a:lstStyle/>
          <a:p>
            <a:endParaRPr lang="en-US"/>
          </a:p>
        </p:txBody>
      </p:sp>
      <p:sp>
        <p:nvSpPr>
          <p:cNvPr id="40" name="Text 30"/>
          <p:cNvSpPr/>
          <p:nvPr/>
        </p:nvSpPr>
        <p:spPr>
          <a:xfrm>
            <a:off x="5102352" y="4297680"/>
            <a:ext cx="1828800" cy="274320"/>
          </a:xfrm>
          <a:prstGeom prst="rect">
            <a:avLst/>
          </a:prstGeom>
          <a:noFill/>
          <a:ln/>
        </p:spPr>
        <p:txBody>
          <a:bodyPr wrap="square" rtlCol="0" anchor="ctr"/>
          <a:lstStyle/>
          <a:p>
            <a:pPr marL="0" indent="0">
              <a:buNone/>
            </a:pPr>
            <a:r>
              <a:rPr lang="en-US" sz="1100" b="1" dirty="0">
                <a:solidFill>
                  <a:srgbClr val="FFFFFF"/>
                </a:solidFill>
                <a:latin typeface="Arial" pitchFamily="34" charset="0"/>
                <a:ea typeface="Arial" pitchFamily="34" charset="-122"/>
                <a:cs typeface="Arial" pitchFamily="34" charset="-120"/>
              </a:rPr>
              <a:t>Give advance notice</a:t>
            </a:r>
            <a:endParaRPr lang="en-US" sz="1100" dirty="0"/>
          </a:p>
        </p:txBody>
      </p:sp>
      <p:sp>
        <p:nvSpPr>
          <p:cNvPr id="41" name="Shape 31"/>
          <p:cNvSpPr/>
          <p:nvPr/>
        </p:nvSpPr>
        <p:spPr>
          <a:xfrm>
            <a:off x="6995160" y="4315968"/>
            <a:ext cx="201168" cy="201168"/>
          </a:xfrm>
          <a:prstGeom prst="ellipse">
            <a:avLst/>
          </a:prstGeom>
          <a:solidFill>
            <a:srgbClr val="E8610A"/>
          </a:solidFill>
          <a:ln w="12700">
            <a:solidFill>
              <a:srgbClr val="E8610A"/>
            </a:solidFill>
            <a:prstDash val="solid"/>
          </a:ln>
        </p:spPr>
        <p:txBody>
          <a:bodyPr/>
          <a:lstStyle/>
          <a:p>
            <a:endParaRPr lang="en-US"/>
          </a:p>
        </p:txBody>
      </p:sp>
      <p:sp>
        <p:nvSpPr>
          <p:cNvPr id="42" name="Text 32"/>
          <p:cNvSpPr/>
          <p:nvPr/>
        </p:nvSpPr>
        <p:spPr>
          <a:xfrm>
            <a:off x="7251192" y="4297680"/>
            <a:ext cx="1828800" cy="274320"/>
          </a:xfrm>
          <a:prstGeom prst="rect">
            <a:avLst/>
          </a:prstGeom>
          <a:noFill/>
          <a:ln/>
        </p:spPr>
        <p:txBody>
          <a:bodyPr wrap="square" rtlCol="0" anchor="ctr"/>
          <a:lstStyle/>
          <a:p>
            <a:pPr marL="0" indent="0">
              <a:buNone/>
            </a:pPr>
            <a:r>
              <a:rPr lang="en-US" sz="1100" b="1" dirty="0">
                <a:solidFill>
                  <a:srgbClr val="FFFFFF"/>
                </a:solidFill>
                <a:latin typeface="Arial" pitchFamily="34" charset="0"/>
                <a:ea typeface="Arial" pitchFamily="34" charset="-122"/>
                <a:cs typeface="Arial" pitchFamily="34" charset="-120"/>
              </a:rPr>
              <a:t>Make it predictable</a:t>
            </a:r>
            <a:endParaRPr lang="en-US" sz="1100" dirty="0"/>
          </a:p>
        </p:txBody>
      </p:sp>
    </p:spTree>
    <p:extLst>
      <p:ext uri="{BB962C8B-B14F-4D97-AF65-F5344CB8AC3E}">
        <p14:creationId xmlns:p14="http://schemas.microsoft.com/office/powerpoint/2010/main" val="2146162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1F4E79"/>
        </a:solidFill>
        <a:effectLst/>
      </p:bgPr>
    </p:bg>
    <p:spTree>
      <p:nvGrpSpPr>
        <p:cNvPr id="1" name=""/>
        <p:cNvGrpSpPr/>
        <p:nvPr/>
      </p:nvGrpSpPr>
      <p:grpSpPr>
        <a:xfrm>
          <a:off x="0" y="0"/>
          <a:ext cx="0" cy="0"/>
          <a:chOff x="0" y="0"/>
          <a:chExt cx="0" cy="0"/>
        </a:xfrm>
      </p:grpSpPr>
      <p:sp>
        <p:nvSpPr>
          <p:cNvPr id="2" name="Text 0"/>
          <p:cNvSpPr/>
          <p:nvPr/>
        </p:nvSpPr>
        <p:spPr>
          <a:xfrm>
            <a:off x="457200" y="914400"/>
            <a:ext cx="1828800" cy="1097280"/>
          </a:xfrm>
          <a:prstGeom prst="rect">
            <a:avLst/>
          </a:prstGeom>
          <a:noFill/>
          <a:ln/>
        </p:spPr>
        <p:txBody>
          <a:bodyPr wrap="square" rtlCol="0" anchor="ctr"/>
          <a:lstStyle/>
          <a:p>
            <a:pPr marL="0" indent="0" algn="l">
              <a:buNone/>
            </a:pPr>
            <a:r>
              <a:rPr lang="en-US" sz="7200" b="1" dirty="0">
                <a:solidFill>
                  <a:srgbClr val="E8610A"/>
                </a:solidFill>
                <a:latin typeface="Cambria" pitchFamily="34" charset="0"/>
                <a:ea typeface="Cambria" pitchFamily="34" charset="-122"/>
                <a:cs typeface="Cambria" pitchFamily="34" charset="-120"/>
              </a:rPr>
              <a:t>03</a:t>
            </a:r>
            <a:endParaRPr lang="en-US" sz="7200" dirty="0"/>
          </a:p>
        </p:txBody>
      </p:sp>
      <p:sp>
        <p:nvSpPr>
          <p:cNvPr id="3" name="Text 1"/>
          <p:cNvSpPr/>
          <p:nvPr/>
        </p:nvSpPr>
        <p:spPr>
          <a:xfrm>
            <a:off x="457200" y="2011680"/>
            <a:ext cx="8229600" cy="1005840"/>
          </a:xfrm>
          <a:prstGeom prst="rect">
            <a:avLst/>
          </a:prstGeom>
          <a:noFill/>
          <a:ln/>
        </p:spPr>
        <p:txBody>
          <a:bodyPr wrap="square"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Schedule Evolution</a:t>
            </a:r>
            <a:endParaRPr lang="en-US" sz="3600" dirty="0"/>
          </a:p>
        </p:txBody>
      </p:sp>
      <p:sp>
        <p:nvSpPr>
          <p:cNvPr id="4" name="Text 2"/>
          <p:cNvSpPr/>
          <p:nvPr/>
        </p:nvSpPr>
        <p:spPr>
          <a:xfrm>
            <a:off x="457200" y="3063240"/>
            <a:ext cx="7315200" cy="502920"/>
          </a:xfrm>
          <a:prstGeom prst="rect">
            <a:avLst/>
          </a:prstGeom>
          <a:noFill/>
          <a:ln/>
        </p:spPr>
        <p:txBody>
          <a:bodyPr wrap="square" rtlCol="0" anchor="ctr"/>
          <a:lstStyle/>
          <a:p>
            <a:pPr marL="0" indent="0" algn="l">
              <a:buNone/>
            </a:pPr>
            <a:r>
              <a:rPr lang="en-US" sz="1600" i="1" dirty="0">
                <a:solidFill>
                  <a:srgbClr val="94A3B8"/>
                </a:solidFill>
                <a:latin typeface="Arial" pitchFamily="34" charset="0"/>
                <a:ea typeface="Arial" pitchFamily="34" charset="-122"/>
                <a:cs typeface="Arial" pitchFamily="34" charset="-120"/>
              </a:rPr>
              <a:t>Where we came from, where we are, and where we are going</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502920"/>
          </a:xfrm>
          <a:prstGeom prst="rect">
            <a:avLst/>
          </a:prstGeom>
          <a:noFill/>
          <a:ln/>
        </p:spPr>
        <p:txBody>
          <a:bodyPr wrap="square" rtlCol="0" anchor="ctr"/>
          <a:lstStyle/>
          <a:p>
            <a:pPr marL="0" indent="0">
              <a:buNone/>
            </a:pPr>
            <a:r>
              <a:rPr lang="en-US" sz="2800" b="1" dirty="0">
                <a:solidFill>
                  <a:srgbClr val="1F4E79"/>
                </a:solidFill>
                <a:latin typeface="Cambria" pitchFamily="34" charset="0"/>
                <a:ea typeface="Cambria" pitchFamily="34" charset="-122"/>
                <a:cs typeface="Cambria" pitchFamily="34" charset="-120"/>
              </a:rPr>
              <a:t>Where It Started: The Southern Swing</a:t>
            </a:r>
            <a:endParaRPr lang="en-US" sz="2800" dirty="0"/>
          </a:p>
        </p:txBody>
      </p:sp>
      <p:sp>
        <p:nvSpPr>
          <p:cNvPr id="3" name="Text 1"/>
          <p:cNvSpPr/>
          <p:nvPr/>
        </p:nvSpPr>
        <p:spPr>
          <a:xfrm>
            <a:off x="457200" y="685800"/>
            <a:ext cx="8229600" cy="256032"/>
          </a:xfrm>
          <a:prstGeom prst="rect">
            <a:avLst/>
          </a:prstGeom>
          <a:noFill/>
          <a:ln/>
        </p:spPr>
        <p:txBody>
          <a:bodyPr wrap="square" rtlCol="0" anchor="ctr"/>
          <a:lstStyle/>
          <a:p>
            <a:pPr marL="0" indent="0">
              <a:buNone/>
            </a:pPr>
            <a:r>
              <a:rPr lang="en-US" sz="1100" i="1" dirty="0">
                <a:solidFill>
                  <a:srgbClr val="64748B"/>
                </a:solidFill>
                <a:latin typeface="Arial" pitchFamily="34" charset="0"/>
                <a:ea typeface="Arial" pitchFamily="34" charset="-122"/>
                <a:cs typeface="Arial" pitchFamily="34" charset="-120"/>
              </a:rPr>
              <a:t>Created in the 1930s. Still in use in many paper mills today.</a:t>
            </a:r>
            <a:endParaRPr lang="en-US" sz="1100" dirty="0"/>
          </a:p>
        </p:txBody>
      </p:sp>
      <p:sp>
        <p:nvSpPr>
          <p:cNvPr id="4" name="Shape 2"/>
          <p:cNvSpPr/>
          <p:nvPr/>
        </p:nvSpPr>
        <p:spPr>
          <a:xfrm>
            <a:off x="1325880" y="987552"/>
            <a:ext cx="941832" cy="237744"/>
          </a:xfrm>
          <a:prstGeom prst="roundRect">
            <a:avLst>
              <a:gd name="adj" fmla="val 11538"/>
            </a:avLst>
          </a:prstGeom>
          <a:solidFill>
            <a:srgbClr val="1F4E79"/>
          </a:solidFill>
          <a:ln w="6350">
            <a:solidFill>
              <a:srgbClr val="FFFFFF"/>
            </a:solidFill>
            <a:prstDash val="solid"/>
          </a:ln>
        </p:spPr>
        <p:txBody>
          <a:bodyPr/>
          <a:lstStyle/>
          <a:p>
            <a:endParaRPr lang="en-US"/>
          </a:p>
        </p:txBody>
      </p:sp>
      <p:sp>
        <p:nvSpPr>
          <p:cNvPr id="5" name="Text 3"/>
          <p:cNvSpPr/>
          <p:nvPr/>
        </p:nvSpPr>
        <p:spPr>
          <a:xfrm>
            <a:off x="1325880" y="987552"/>
            <a:ext cx="9418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Mon</a:t>
            </a:r>
            <a:endParaRPr lang="en-US" sz="900" dirty="0"/>
          </a:p>
        </p:txBody>
      </p:sp>
      <p:sp>
        <p:nvSpPr>
          <p:cNvPr id="6" name="Shape 4"/>
          <p:cNvSpPr/>
          <p:nvPr/>
        </p:nvSpPr>
        <p:spPr>
          <a:xfrm>
            <a:off x="2295144" y="987552"/>
            <a:ext cx="941832" cy="237744"/>
          </a:xfrm>
          <a:prstGeom prst="roundRect">
            <a:avLst>
              <a:gd name="adj" fmla="val 11538"/>
            </a:avLst>
          </a:prstGeom>
          <a:solidFill>
            <a:srgbClr val="1F4E79"/>
          </a:solidFill>
          <a:ln w="6350">
            <a:solidFill>
              <a:srgbClr val="FFFFFF"/>
            </a:solidFill>
            <a:prstDash val="solid"/>
          </a:ln>
        </p:spPr>
        <p:txBody>
          <a:bodyPr/>
          <a:lstStyle/>
          <a:p>
            <a:endParaRPr lang="en-US"/>
          </a:p>
        </p:txBody>
      </p:sp>
      <p:sp>
        <p:nvSpPr>
          <p:cNvPr id="7" name="Text 5"/>
          <p:cNvSpPr/>
          <p:nvPr/>
        </p:nvSpPr>
        <p:spPr>
          <a:xfrm>
            <a:off x="2295144" y="987552"/>
            <a:ext cx="9418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Tue</a:t>
            </a:r>
            <a:endParaRPr lang="en-US" sz="900" dirty="0"/>
          </a:p>
        </p:txBody>
      </p:sp>
      <p:sp>
        <p:nvSpPr>
          <p:cNvPr id="8" name="Shape 6"/>
          <p:cNvSpPr/>
          <p:nvPr/>
        </p:nvSpPr>
        <p:spPr>
          <a:xfrm>
            <a:off x="3264408" y="987552"/>
            <a:ext cx="941832" cy="237744"/>
          </a:xfrm>
          <a:prstGeom prst="roundRect">
            <a:avLst>
              <a:gd name="adj" fmla="val 11538"/>
            </a:avLst>
          </a:prstGeom>
          <a:solidFill>
            <a:srgbClr val="1F4E79"/>
          </a:solidFill>
          <a:ln w="6350">
            <a:solidFill>
              <a:srgbClr val="FFFFFF"/>
            </a:solidFill>
            <a:prstDash val="solid"/>
          </a:ln>
        </p:spPr>
        <p:txBody>
          <a:bodyPr/>
          <a:lstStyle/>
          <a:p>
            <a:endParaRPr lang="en-US"/>
          </a:p>
        </p:txBody>
      </p:sp>
      <p:sp>
        <p:nvSpPr>
          <p:cNvPr id="9" name="Text 7"/>
          <p:cNvSpPr/>
          <p:nvPr/>
        </p:nvSpPr>
        <p:spPr>
          <a:xfrm>
            <a:off x="3264408" y="987552"/>
            <a:ext cx="9418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Wed</a:t>
            </a:r>
            <a:endParaRPr lang="en-US" sz="900" dirty="0"/>
          </a:p>
        </p:txBody>
      </p:sp>
      <p:sp>
        <p:nvSpPr>
          <p:cNvPr id="10" name="Shape 8"/>
          <p:cNvSpPr/>
          <p:nvPr/>
        </p:nvSpPr>
        <p:spPr>
          <a:xfrm>
            <a:off x="4233672" y="987552"/>
            <a:ext cx="941832" cy="237744"/>
          </a:xfrm>
          <a:prstGeom prst="roundRect">
            <a:avLst>
              <a:gd name="adj" fmla="val 11538"/>
            </a:avLst>
          </a:prstGeom>
          <a:solidFill>
            <a:srgbClr val="1F4E79"/>
          </a:solidFill>
          <a:ln w="6350">
            <a:solidFill>
              <a:srgbClr val="FFFFFF"/>
            </a:solidFill>
            <a:prstDash val="solid"/>
          </a:ln>
        </p:spPr>
        <p:txBody>
          <a:bodyPr/>
          <a:lstStyle/>
          <a:p>
            <a:endParaRPr lang="en-US"/>
          </a:p>
        </p:txBody>
      </p:sp>
      <p:sp>
        <p:nvSpPr>
          <p:cNvPr id="11" name="Text 9"/>
          <p:cNvSpPr/>
          <p:nvPr/>
        </p:nvSpPr>
        <p:spPr>
          <a:xfrm>
            <a:off x="4233672" y="987552"/>
            <a:ext cx="9418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Thu</a:t>
            </a:r>
            <a:endParaRPr lang="en-US" sz="900" dirty="0"/>
          </a:p>
        </p:txBody>
      </p:sp>
      <p:sp>
        <p:nvSpPr>
          <p:cNvPr id="12" name="Shape 10"/>
          <p:cNvSpPr/>
          <p:nvPr/>
        </p:nvSpPr>
        <p:spPr>
          <a:xfrm>
            <a:off x="5202936" y="987552"/>
            <a:ext cx="941832" cy="237744"/>
          </a:xfrm>
          <a:prstGeom prst="roundRect">
            <a:avLst>
              <a:gd name="adj" fmla="val 11538"/>
            </a:avLst>
          </a:prstGeom>
          <a:solidFill>
            <a:srgbClr val="1F4E79"/>
          </a:solidFill>
          <a:ln w="6350">
            <a:solidFill>
              <a:srgbClr val="FFFFFF"/>
            </a:solidFill>
            <a:prstDash val="solid"/>
          </a:ln>
        </p:spPr>
        <p:txBody>
          <a:bodyPr/>
          <a:lstStyle/>
          <a:p>
            <a:endParaRPr lang="en-US"/>
          </a:p>
        </p:txBody>
      </p:sp>
      <p:sp>
        <p:nvSpPr>
          <p:cNvPr id="13" name="Text 11"/>
          <p:cNvSpPr/>
          <p:nvPr/>
        </p:nvSpPr>
        <p:spPr>
          <a:xfrm>
            <a:off x="5202936" y="987552"/>
            <a:ext cx="9418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Fri</a:t>
            </a:r>
            <a:endParaRPr lang="en-US" sz="900" dirty="0"/>
          </a:p>
        </p:txBody>
      </p:sp>
      <p:sp>
        <p:nvSpPr>
          <p:cNvPr id="14" name="Shape 12"/>
          <p:cNvSpPr/>
          <p:nvPr/>
        </p:nvSpPr>
        <p:spPr>
          <a:xfrm>
            <a:off x="6172200" y="987552"/>
            <a:ext cx="941832" cy="237744"/>
          </a:xfrm>
          <a:prstGeom prst="roundRect">
            <a:avLst>
              <a:gd name="adj" fmla="val 11538"/>
            </a:avLst>
          </a:prstGeom>
          <a:solidFill>
            <a:srgbClr val="1F4E79"/>
          </a:solidFill>
          <a:ln w="6350">
            <a:solidFill>
              <a:srgbClr val="FFFFFF"/>
            </a:solidFill>
            <a:prstDash val="solid"/>
          </a:ln>
        </p:spPr>
        <p:txBody>
          <a:bodyPr/>
          <a:lstStyle/>
          <a:p>
            <a:endParaRPr lang="en-US"/>
          </a:p>
        </p:txBody>
      </p:sp>
      <p:sp>
        <p:nvSpPr>
          <p:cNvPr id="15" name="Text 13"/>
          <p:cNvSpPr/>
          <p:nvPr/>
        </p:nvSpPr>
        <p:spPr>
          <a:xfrm>
            <a:off x="6172200" y="987552"/>
            <a:ext cx="9418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Sat</a:t>
            </a:r>
            <a:endParaRPr lang="en-US" sz="900" dirty="0"/>
          </a:p>
        </p:txBody>
      </p:sp>
      <p:sp>
        <p:nvSpPr>
          <p:cNvPr id="16" name="Shape 14"/>
          <p:cNvSpPr/>
          <p:nvPr/>
        </p:nvSpPr>
        <p:spPr>
          <a:xfrm>
            <a:off x="7141464" y="987552"/>
            <a:ext cx="941832" cy="237744"/>
          </a:xfrm>
          <a:prstGeom prst="roundRect">
            <a:avLst>
              <a:gd name="adj" fmla="val 11538"/>
            </a:avLst>
          </a:prstGeom>
          <a:solidFill>
            <a:srgbClr val="1F4E79"/>
          </a:solidFill>
          <a:ln w="6350">
            <a:solidFill>
              <a:srgbClr val="FFFFFF"/>
            </a:solidFill>
            <a:prstDash val="solid"/>
          </a:ln>
        </p:spPr>
        <p:txBody>
          <a:bodyPr/>
          <a:lstStyle/>
          <a:p>
            <a:endParaRPr lang="en-US"/>
          </a:p>
        </p:txBody>
      </p:sp>
      <p:sp>
        <p:nvSpPr>
          <p:cNvPr id="17" name="Text 15"/>
          <p:cNvSpPr/>
          <p:nvPr/>
        </p:nvSpPr>
        <p:spPr>
          <a:xfrm>
            <a:off x="7141464" y="987552"/>
            <a:ext cx="9418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Sun</a:t>
            </a:r>
            <a:endParaRPr lang="en-US" sz="900" dirty="0"/>
          </a:p>
        </p:txBody>
      </p:sp>
      <p:sp>
        <p:nvSpPr>
          <p:cNvPr id="18" name="Text 16"/>
          <p:cNvSpPr/>
          <p:nvPr/>
        </p:nvSpPr>
        <p:spPr>
          <a:xfrm>
            <a:off x="347472" y="1243584"/>
            <a:ext cx="932688" cy="274320"/>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Crew A</a:t>
            </a:r>
            <a:endParaRPr lang="en-US" sz="900" dirty="0"/>
          </a:p>
        </p:txBody>
      </p:sp>
      <p:sp>
        <p:nvSpPr>
          <p:cNvPr id="19" name="Shape 17"/>
          <p:cNvSpPr/>
          <p:nvPr/>
        </p:nvSpPr>
        <p:spPr>
          <a:xfrm>
            <a:off x="1325880" y="1243584"/>
            <a:ext cx="941832" cy="274320"/>
          </a:xfrm>
          <a:prstGeom prst="roundRect">
            <a:avLst>
              <a:gd name="adj" fmla="val 13333"/>
            </a:avLst>
          </a:prstGeom>
          <a:solidFill>
            <a:srgbClr val="1D6A72"/>
          </a:solidFill>
          <a:ln w="6350">
            <a:solidFill>
              <a:srgbClr val="FFFFFF"/>
            </a:solidFill>
            <a:prstDash val="solid"/>
          </a:ln>
        </p:spPr>
        <p:txBody>
          <a:bodyPr/>
          <a:lstStyle/>
          <a:p>
            <a:endParaRPr lang="en-US"/>
          </a:p>
        </p:txBody>
      </p:sp>
      <p:sp>
        <p:nvSpPr>
          <p:cNvPr id="20" name="Text 18"/>
          <p:cNvSpPr/>
          <p:nvPr/>
        </p:nvSpPr>
        <p:spPr>
          <a:xfrm>
            <a:off x="1325880" y="1243584"/>
            <a:ext cx="941832"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D8</a:t>
            </a:r>
            <a:endParaRPr lang="en-US" sz="800" dirty="0"/>
          </a:p>
        </p:txBody>
      </p:sp>
      <p:sp>
        <p:nvSpPr>
          <p:cNvPr id="21" name="Shape 19"/>
          <p:cNvSpPr/>
          <p:nvPr/>
        </p:nvSpPr>
        <p:spPr>
          <a:xfrm>
            <a:off x="2295144" y="1243584"/>
            <a:ext cx="941832" cy="274320"/>
          </a:xfrm>
          <a:prstGeom prst="roundRect">
            <a:avLst>
              <a:gd name="adj" fmla="val 13333"/>
            </a:avLst>
          </a:prstGeom>
          <a:solidFill>
            <a:srgbClr val="1D6A72"/>
          </a:solidFill>
          <a:ln w="6350">
            <a:solidFill>
              <a:srgbClr val="FFFFFF"/>
            </a:solidFill>
            <a:prstDash val="solid"/>
          </a:ln>
        </p:spPr>
        <p:txBody>
          <a:bodyPr/>
          <a:lstStyle/>
          <a:p>
            <a:endParaRPr lang="en-US"/>
          </a:p>
        </p:txBody>
      </p:sp>
      <p:sp>
        <p:nvSpPr>
          <p:cNvPr id="22" name="Text 20"/>
          <p:cNvSpPr/>
          <p:nvPr/>
        </p:nvSpPr>
        <p:spPr>
          <a:xfrm>
            <a:off x="2295144" y="1243584"/>
            <a:ext cx="941832"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D8</a:t>
            </a:r>
            <a:endParaRPr lang="en-US" sz="800" dirty="0"/>
          </a:p>
        </p:txBody>
      </p:sp>
      <p:sp>
        <p:nvSpPr>
          <p:cNvPr id="23" name="Shape 21"/>
          <p:cNvSpPr/>
          <p:nvPr/>
        </p:nvSpPr>
        <p:spPr>
          <a:xfrm>
            <a:off x="3264408" y="1243584"/>
            <a:ext cx="941832" cy="274320"/>
          </a:xfrm>
          <a:prstGeom prst="roundRect">
            <a:avLst>
              <a:gd name="adj" fmla="val 13333"/>
            </a:avLst>
          </a:prstGeom>
          <a:solidFill>
            <a:srgbClr val="1D6A72"/>
          </a:solidFill>
          <a:ln w="6350">
            <a:solidFill>
              <a:srgbClr val="FFFFFF"/>
            </a:solidFill>
            <a:prstDash val="solid"/>
          </a:ln>
        </p:spPr>
        <p:txBody>
          <a:bodyPr/>
          <a:lstStyle/>
          <a:p>
            <a:endParaRPr lang="en-US"/>
          </a:p>
        </p:txBody>
      </p:sp>
      <p:sp>
        <p:nvSpPr>
          <p:cNvPr id="24" name="Text 22"/>
          <p:cNvSpPr/>
          <p:nvPr/>
        </p:nvSpPr>
        <p:spPr>
          <a:xfrm>
            <a:off x="3264408" y="1243584"/>
            <a:ext cx="941832"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D8</a:t>
            </a:r>
            <a:endParaRPr lang="en-US" sz="800" dirty="0"/>
          </a:p>
        </p:txBody>
      </p:sp>
      <p:sp>
        <p:nvSpPr>
          <p:cNvPr id="25" name="Shape 23"/>
          <p:cNvSpPr/>
          <p:nvPr/>
        </p:nvSpPr>
        <p:spPr>
          <a:xfrm>
            <a:off x="4233672" y="1243584"/>
            <a:ext cx="941832" cy="274320"/>
          </a:xfrm>
          <a:prstGeom prst="roundRect">
            <a:avLst>
              <a:gd name="adj" fmla="val 13333"/>
            </a:avLst>
          </a:prstGeom>
          <a:solidFill>
            <a:srgbClr val="1D6A72"/>
          </a:solidFill>
          <a:ln w="6350">
            <a:solidFill>
              <a:srgbClr val="FFFFFF"/>
            </a:solidFill>
            <a:prstDash val="solid"/>
          </a:ln>
        </p:spPr>
        <p:txBody>
          <a:bodyPr/>
          <a:lstStyle/>
          <a:p>
            <a:endParaRPr lang="en-US"/>
          </a:p>
        </p:txBody>
      </p:sp>
      <p:sp>
        <p:nvSpPr>
          <p:cNvPr id="26" name="Text 24"/>
          <p:cNvSpPr/>
          <p:nvPr/>
        </p:nvSpPr>
        <p:spPr>
          <a:xfrm>
            <a:off x="4233672" y="1243584"/>
            <a:ext cx="941832"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D8</a:t>
            </a:r>
            <a:endParaRPr lang="en-US" sz="800" dirty="0"/>
          </a:p>
        </p:txBody>
      </p:sp>
      <p:sp>
        <p:nvSpPr>
          <p:cNvPr id="27" name="Shape 25"/>
          <p:cNvSpPr/>
          <p:nvPr/>
        </p:nvSpPr>
        <p:spPr>
          <a:xfrm>
            <a:off x="5202936" y="1243584"/>
            <a:ext cx="941832" cy="274320"/>
          </a:xfrm>
          <a:prstGeom prst="roundRect">
            <a:avLst>
              <a:gd name="adj" fmla="val 13333"/>
            </a:avLst>
          </a:prstGeom>
          <a:solidFill>
            <a:srgbClr val="1D6A72"/>
          </a:solidFill>
          <a:ln w="6350">
            <a:solidFill>
              <a:srgbClr val="FFFFFF"/>
            </a:solidFill>
            <a:prstDash val="solid"/>
          </a:ln>
        </p:spPr>
        <p:txBody>
          <a:bodyPr/>
          <a:lstStyle/>
          <a:p>
            <a:endParaRPr lang="en-US"/>
          </a:p>
        </p:txBody>
      </p:sp>
      <p:sp>
        <p:nvSpPr>
          <p:cNvPr id="28" name="Text 26"/>
          <p:cNvSpPr/>
          <p:nvPr/>
        </p:nvSpPr>
        <p:spPr>
          <a:xfrm>
            <a:off x="5202936" y="1243584"/>
            <a:ext cx="941832"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D8</a:t>
            </a:r>
            <a:endParaRPr lang="en-US" sz="800" dirty="0"/>
          </a:p>
        </p:txBody>
      </p:sp>
      <p:sp>
        <p:nvSpPr>
          <p:cNvPr id="29" name="Shape 27"/>
          <p:cNvSpPr/>
          <p:nvPr/>
        </p:nvSpPr>
        <p:spPr>
          <a:xfrm>
            <a:off x="6172200" y="1243584"/>
            <a:ext cx="941832" cy="274320"/>
          </a:xfrm>
          <a:prstGeom prst="roundRect">
            <a:avLst>
              <a:gd name="adj" fmla="val 13333"/>
            </a:avLst>
          </a:prstGeom>
          <a:solidFill>
            <a:srgbClr val="E2E8F0"/>
          </a:solidFill>
          <a:ln w="6350">
            <a:solidFill>
              <a:srgbClr val="FFFFFF"/>
            </a:solidFill>
            <a:prstDash val="solid"/>
          </a:ln>
        </p:spPr>
        <p:txBody>
          <a:bodyPr/>
          <a:lstStyle/>
          <a:p>
            <a:endParaRPr lang="en-US"/>
          </a:p>
        </p:txBody>
      </p:sp>
      <p:sp>
        <p:nvSpPr>
          <p:cNvPr id="30" name="Text 28"/>
          <p:cNvSpPr/>
          <p:nvPr/>
        </p:nvSpPr>
        <p:spPr>
          <a:xfrm>
            <a:off x="6172200" y="1243584"/>
            <a:ext cx="941832" cy="27432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31" name="Shape 29"/>
          <p:cNvSpPr/>
          <p:nvPr/>
        </p:nvSpPr>
        <p:spPr>
          <a:xfrm>
            <a:off x="7141464" y="1243584"/>
            <a:ext cx="941832" cy="274320"/>
          </a:xfrm>
          <a:prstGeom prst="roundRect">
            <a:avLst>
              <a:gd name="adj" fmla="val 13333"/>
            </a:avLst>
          </a:prstGeom>
          <a:solidFill>
            <a:srgbClr val="E2E8F0"/>
          </a:solidFill>
          <a:ln w="6350">
            <a:solidFill>
              <a:srgbClr val="FFFFFF"/>
            </a:solidFill>
            <a:prstDash val="solid"/>
          </a:ln>
        </p:spPr>
        <p:txBody>
          <a:bodyPr/>
          <a:lstStyle/>
          <a:p>
            <a:endParaRPr lang="en-US"/>
          </a:p>
        </p:txBody>
      </p:sp>
      <p:sp>
        <p:nvSpPr>
          <p:cNvPr id="32" name="Text 30"/>
          <p:cNvSpPr/>
          <p:nvPr/>
        </p:nvSpPr>
        <p:spPr>
          <a:xfrm>
            <a:off x="7141464" y="1243584"/>
            <a:ext cx="941832" cy="27432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33" name="Text 31"/>
          <p:cNvSpPr/>
          <p:nvPr/>
        </p:nvSpPr>
        <p:spPr>
          <a:xfrm>
            <a:off x="347472" y="1536192"/>
            <a:ext cx="932688" cy="274320"/>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Crew B</a:t>
            </a:r>
            <a:endParaRPr lang="en-US" sz="900" dirty="0"/>
          </a:p>
        </p:txBody>
      </p:sp>
      <p:sp>
        <p:nvSpPr>
          <p:cNvPr id="34" name="Shape 32"/>
          <p:cNvSpPr/>
          <p:nvPr/>
        </p:nvSpPr>
        <p:spPr>
          <a:xfrm>
            <a:off x="1325880" y="1536192"/>
            <a:ext cx="941832" cy="274320"/>
          </a:xfrm>
          <a:prstGeom prst="roundRect">
            <a:avLst>
              <a:gd name="adj" fmla="val 13333"/>
            </a:avLst>
          </a:prstGeom>
          <a:solidFill>
            <a:srgbClr val="E2E8F0"/>
          </a:solidFill>
          <a:ln w="6350">
            <a:solidFill>
              <a:srgbClr val="FFFFFF"/>
            </a:solidFill>
            <a:prstDash val="solid"/>
          </a:ln>
        </p:spPr>
        <p:txBody>
          <a:bodyPr/>
          <a:lstStyle/>
          <a:p>
            <a:endParaRPr lang="en-US"/>
          </a:p>
        </p:txBody>
      </p:sp>
      <p:sp>
        <p:nvSpPr>
          <p:cNvPr id="35" name="Text 33"/>
          <p:cNvSpPr/>
          <p:nvPr/>
        </p:nvSpPr>
        <p:spPr>
          <a:xfrm>
            <a:off x="1325880" y="1536192"/>
            <a:ext cx="941832" cy="27432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36" name="Shape 34"/>
          <p:cNvSpPr/>
          <p:nvPr/>
        </p:nvSpPr>
        <p:spPr>
          <a:xfrm>
            <a:off x="2295144" y="1536192"/>
            <a:ext cx="941832" cy="274320"/>
          </a:xfrm>
          <a:prstGeom prst="roundRect">
            <a:avLst>
              <a:gd name="adj" fmla="val 13333"/>
            </a:avLst>
          </a:prstGeom>
          <a:solidFill>
            <a:srgbClr val="E2E8F0"/>
          </a:solidFill>
          <a:ln w="6350">
            <a:solidFill>
              <a:srgbClr val="FFFFFF"/>
            </a:solidFill>
            <a:prstDash val="solid"/>
          </a:ln>
        </p:spPr>
        <p:txBody>
          <a:bodyPr/>
          <a:lstStyle/>
          <a:p>
            <a:endParaRPr lang="en-US"/>
          </a:p>
        </p:txBody>
      </p:sp>
      <p:sp>
        <p:nvSpPr>
          <p:cNvPr id="37" name="Text 35"/>
          <p:cNvSpPr/>
          <p:nvPr/>
        </p:nvSpPr>
        <p:spPr>
          <a:xfrm>
            <a:off x="2295144" y="1536192"/>
            <a:ext cx="941832" cy="27432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38" name="Shape 36"/>
          <p:cNvSpPr/>
          <p:nvPr/>
        </p:nvSpPr>
        <p:spPr>
          <a:xfrm>
            <a:off x="3264408" y="1536192"/>
            <a:ext cx="941832" cy="274320"/>
          </a:xfrm>
          <a:prstGeom prst="roundRect">
            <a:avLst>
              <a:gd name="adj" fmla="val 13333"/>
            </a:avLst>
          </a:prstGeom>
          <a:solidFill>
            <a:srgbClr val="D97706"/>
          </a:solidFill>
          <a:ln w="6350">
            <a:solidFill>
              <a:srgbClr val="FFFFFF"/>
            </a:solidFill>
            <a:prstDash val="solid"/>
          </a:ln>
        </p:spPr>
        <p:txBody>
          <a:bodyPr/>
          <a:lstStyle/>
          <a:p>
            <a:endParaRPr lang="en-US"/>
          </a:p>
        </p:txBody>
      </p:sp>
      <p:sp>
        <p:nvSpPr>
          <p:cNvPr id="39" name="Text 37"/>
          <p:cNvSpPr/>
          <p:nvPr/>
        </p:nvSpPr>
        <p:spPr>
          <a:xfrm>
            <a:off x="3264408" y="1536192"/>
            <a:ext cx="941832"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E8</a:t>
            </a:r>
            <a:endParaRPr lang="en-US" sz="800" dirty="0"/>
          </a:p>
        </p:txBody>
      </p:sp>
      <p:sp>
        <p:nvSpPr>
          <p:cNvPr id="40" name="Shape 38"/>
          <p:cNvSpPr/>
          <p:nvPr/>
        </p:nvSpPr>
        <p:spPr>
          <a:xfrm>
            <a:off x="4233672" y="1536192"/>
            <a:ext cx="941832" cy="274320"/>
          </a:xfrm>
          <a:prstGeom prst="roundRect">
            <a:avLst>
              <a:gd name="adj" fmla="val 13333"/>
            </a:avLst>
          </a:prstGeom>
          <a:solidFill>
            <a:srgbClr val="D97706"/>
          </a:solidFill>
          <a:ln w="6350">
            <a:solidFill>
              <a:srgbClr val="FFFFFF"/>
            </a:solidFill>
            <a:prstDash val="solid"/>
          </a:ln>
        </p:spPr>
        <p:txBody>
          <a:bodyPr/>
          <a:lstStyle/>
          <a:p>
            <a:endParaRPr lang="en-US"/>
          </a:p>
        </p:txBody>
      </p:sp>
      <p:sp>
        <p:nvSpPr>
          <p:cNvPr id="41" name="Text 39"/>
          <p:cNvSpPr/>
          <p:nvPr/>
        </p:nvSpPr>
        <p:spPr>
          <a:xfrm>
            <a:off x="4233672" y="1536192"/>
            <a:ext cx="941832"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E8</a:t>
            </a:r>
            <a:endParaRPr lang="en-US" sz="800" dirty="0"/>
          </a:p>
        </p:txBody>
      </p:sp>
      <p:sp>
        <p:nvSpPr>
          <p:cNvPr id="42" name="Shape 40"/>
          <p:cNvSpPr/>
          <p:nvPr/>
        </p:nvSpPr>
        <p:spPr>
          <a:xfrm>
            <a:off x="5202936" y="1536192"/>
            <a:ext cx="941832" cy="274320"/>
          </a:xfrm>
          <a:prstGeom prst="roundRect">
            <a:avLst>
              <a:gd name="adj" fmla="val 13333"/>
            </a:avLst>
          </a:prstGeom>
          <a:solidFill>
            <a:srgbClr val="D97706"/>
          </a:solidFill>
          <a:ln w="6350">
            <a:solidFill>
              <a:srgbClr val="FFFFFF"/>
            </a:solidFill>
            <a:prstDash val="solid"/>
          </a:ln>
        </p:spPr>
        <p:txBody>
          <a:bodyPr/>
          <a:lstStyle/>
          <a:p>
            <a:endParaRPr lang="en-US"/>
          </a:p>
        </p:txBody>
      </p:sp>
      <p:sp>
        <p:nvSpPr>
          <p:cNvPr id="43" name="Text 41"/>
          <p:cNvSpPr/>
          <p:nvPr/>
        </p:nvSpPr>
        <p:spPr>
          <a:xfrm>
            <a:off x="5202936" y="1536192"/>
            <a:ext cx="941832"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E8</a:t>
            </a:r>
            <a:endParaRPr lang="en-US" sz="800" dirty="0"/>
          </a:p>
        </p:txBody>
      </p:sp>
      <p:sp>
        <p:nvSpPr>
          <p:cNvPr id="44" name="Shape 42"/>
          <p:cNvSpPr/>
          <p:nvPr/>
        </p:nvSpPr>
        <p:spPr>
          <a:xfrm>
            <a:off x="6172200" y="1536192"/>
            <a:ext cx="941832" cy="274320"/>
          </a:xfrm>
          <a:prstGeom prst="roundRect">
            <a:avLst>
              <a:gd name="adj" fmla="val 13333"/>
            </a:avLst>
          </a:prstGeom>
          <a:solidFill>
            <a:srgbClr val="D97706"/>
          </a:solidFill>
          <a:ln w="6350">
            <a:solidFill>
              <a:srgbClr val="FFFFFF"/>
            </a:solidFill>
            <a:prstDash val="solid"/>
          </a:ln>
        </p:spPr>
        <p:txBody>
          <a:bodyPr/>
          <a:lstStyle/>
          <a:p>
            <a:endParaRPr lang="en-US"/>
          </a:p>
        </p:txBody>
      </p:sp>
      <p:sp>
        <p:nvSpPr>
          <p:cNvPr id="45" name="Text 43"/>
          <p:cNvSpPr/>
          <p:nvPr/>
        </p:nvSpPr>
        <p:spPr>
          <a:xfrm>
            <a:off x="6172200" y="1536192"/>
            <a:ext cx="941832"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E8</a:t>
            </a:r>
            <a:endParaRPr lang="en-US" sz="800" dirty="0"/>
          </a:p>
        </p:txBody>
      </p:sp>
      <p:sp>
        <p:nvSpPr>
          <p:cNvPr id="46" name="Shape 44"/>
          <p:cNvSpPr/>
          <p:nvPr/>
        </p:nvSpPr>
        <p:spPr>
          <a:xfrm>
            <a:off x="7141464" y="1536192"/>
            <a:ext cx="941832" cy="274320"/>
          </a:xfrm>
          <a:prstGeom prst="roundRect">
            <a:avLst>
              <a:gd name="adj" fmla="val 13333"/>
            </a:avLst>
          </a:prstGeom>
          <a:solidFill>
            <a:srgbClr val="D97706"/>
          </a:solidFill>
          <a:ln w="6350">
            <a:solidFill>
              <a:srgbClr val="FFFFFF"/>
            </a:solidFill>
            <a:prstDash val="solid"/>
          </a:ln>
        </p:spPr>
        <p:txBody>
          <a:bodyPr/>
          <a:lstStyle/>
          <a:p>
            <a:endParaRPr lang="en-US"/>
          </a:p>
        </p:txBody>
      </p:sp>
      <p:sp>
        <p:nvSpPr>
          <p:cNvPr id="47" name="Text 45"/>
          <p:cNvSpPr/>
          <p:nvPr/>
        </p:nvSpPr>
        <p:spPr>
          <a:xfrm>
            <a:off x="7141464" y="1536192"/>
            <a:ext cx="941832"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E8</a:t>
            </a:r>
            <a:endParaRPr lang="en-US" sz="800" dirty="0"/>
          </a:p>
        </p:txBody>
      </p:sp>
      <p:sp>
        <p:nvSpPr>
          <p:cNvPr id="48" name="Text 46"/>
          <p:cNvSpPr/>
          <p:nvPr/>
        </p:nvSpPr>
        <p:spPr>
          <a:xfrm>
            <a:off x="347472" y="1828800"/>
            <a:ext cx="932688" cy="274320"/>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Crew C</a:t>
            </a:r>
            <a:endParaRPr lang="en-US" sz="900" dirty="0"/>
          </a:p>
        </p:txBody>
      </p:sp>
      <p:sp>
        <p:nvSpPr>
          <p:cNvPr id="49" name="Shape 47"/>
          <p:cNvSpPr/>
          <p:nvPr/>
        </p:nvSpPr>
        <p:spPr>
          <a:xfrm>
            <a:off x="1325880" y="1828800"/>
            <a:ext cx="941832" cy="274320"/>
          </a:xfrm>
          <a:prstGeom prst="roundRect">
            <a:avLst>
              <a:gd name="adj" fmla="val 13333"/>
            </a:avLst>
          </a:prstGeom>
          <a:solidFill>
            <a:srgbClr val="D97706"/>
          </a:solidFill>
          <a:ln w="6350">
            <a:solidFill>
              <a:srgbClr val="FFFFFF"/>
            </a:solidFill>
            <a:prstDash val="solid"/>
          </a:ln>
        </p:spPr>
        <p:txBody>
          <a:bodyPr/>
          <a:lstStyle/>
          <a:p>
            <a:endParaRPr lang="en-US"/>
          </a:p>
        </p:txBody>
      </p:sp>
      <p:sp>
        <p:nvSpPr>
          <p:cNvPr id="50" name="Text 48"/>
          <p:cNvSpPr/>
          <p:nvPr/>
        </p:nvSpPr>
        <p:spPr>
          <a:xfrm>
            <a:off x="1325880" y="1828800"/>
            <a:ext cx="941832"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E8</a:t>
            </a:r>
            <a:endParaRPr lang="en-US" sz="800" dirty="0"/>
          </a:p>
        </p:txBody>
      </p:sp>
      <p:sp>
        <p:nvSpPr>
          <p:cNvPr id="51" name="Shape 49"/>
          <p:cNvSpPr/>
          <p:nvPr/>
        </p:nvSpPr>
        <p:spPr>
          <a:xfrm>
            <a:off x="2295144" y="1828800"/>
            <a:ext cx="941832" cy="274320"/>
          </a:xfrm>
          <a:prstGeom prst="roundRect">
            <a:avLst>
              <a:gd name="adj" fmla="val 13333"/>
            </a:avLst>
          </a:prstGeom>
          <a:solidFill>
            <a:srgbClr val="D97706"/>
          </a:solidFill>
          <a:ln w="6350">
            <a:solidFill>
              <a:srgbClr val="FFFFFF"/>
            </a:solidFill>
            <a:prstDash val="solid"/>
          </a:ln>
        </p:spPr>
        <p:txBody>
          <a:bodyPr/>
          <a:lstStyle/>
          <a:p>
            <a:endParaRPr lang="en-US"/>
          </a:p>
        </p:txBody>
      </p:sp>
      <p:sp>
        <p:nvSpPr>
          <p:cNvPr id="52" name="Text 50"/>
          <p:cNvSpPr/>
          <p:nvPr/>
        </p:nvSpPr>
        <p:spPr>
          <a:xfrm>
            <a:off x="2295144" y="1828800"/>
            <a:ext cx="941832"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E8</a:t>
            </a:r>
            <a:endParaRPr lang="en-US" sz="800" dirty="0"/>
          </a:p>
        </p:txBody>
      </p:sp>
      <p:sp>
        <p:nvSpPr>
          <p:cNvPr id="53" name="Shape 51"/>
          <p:cNvSpPr/>
          <p:nvPr/>
        </p:nvSpPr>
        <p:spPr>
          <a:xfrm>
            <a:off x="3264408" y="1828800"/>
            <a:ext cx="941832" cy="274320"/>
          </a:xfrm>
          <a:prstGeom prst="roundRect">
            <a:avLst>
              <a:gd name="adj" fmla="val 13333"/>
            </a:avLst>
          </a:prstGeom>
          <a:solidFill>
            <a:srgbClr val="E2E8F0"/>
          </a:solidFill>
          <a:ln w="6350">
            <a:solidFill>
              <a:srgbClr val="FFFFFF"/>
            </a:solidFill>
            <a:prstDash val="solid"/>
          </a:ln>
        </p:spPr>
        <p:txBody>
          <a:bodyPr/>
          <a:lstStyle/>
          <a:p>
            <a:endParaRPr lang="en-US"/>
          </a:p>
        </p:txBody>
      </p:sp>
      <p:sp>
        <p:nvSpPr>
          <p:cNvPr id="54" name="Text 52"/>
          <p:cNvSpPr/>
          <p:nvPr/>
        </p:nvSpPr>
        <p:spPr>
          <a:xfrm>
            <a:off x="3264408" y="1828800"/>
            <a:ext cx="941832" cy="27432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55" name="Shape 53"/>
          <p:cNvSpPr/>
          <p:nvPr/>
        </p:nvSpPr>
        <p:spPr>
          <a:xfrm>
            <a:off x="4233672" y="1828800"/>
            <a:ext cx="941832" cy="274320"/>
          </a:xfrm>
          <a:prstGeom prst="roundRect">
            <a:avLst>
              <a:gd name="adj" fmla="val 13333"/>
            </a:avLst>
          </a:prstGeom>
          <a:solidFill>
            <a:srgbClr val="1F4E79"/>
          </a:solidFill>
          <a:ln w="6350">
            <a:solidFill>
              <a:srgbClr val="FFFFFF"/>
            </a:solidFill>
            <a:prstDash val="solid"/>
          </a:ln>
        </p:spPr>
        <p:txBody>
          <a:bodyPr/>
          <a:lstStyle/>
          <a:p>
            <a:endParaRPr lang="en-US"/>
          </a:p>
        </p:txBody>
      </p:sp>
      <p:sp>
        <p:nvSpPr>
          <p:cNvPr id="56" name="Text 54"/>
          <p:cNvSpPr/>
          <p:nvPr/>
        </p:nvSpPr>
        <p:spPr>
          <a:xfrm>
            <a:off x="4233672" y="1828800"/>
            <a:ext cx="941832"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N8</a:t>
            </a:r>
            <a:endParaRPr lang="en-US" sz="800" dirty="0"/>
          </a:p>
        </p:txBody>
      </p:sp>
      <p:sp>
        <p:nvSpPr>
          <p:cNvPr id="57" name="Shape 55"/>
          <p:cNvSpPr/>
          <p:nvPr/>
        </p:nvSpPr>
        <p:spPr>
          <a:xfrm>
            <a:off x="5202936" y="1828800"/>
            <a:ext cx="941832" cy="274320"/>
          </a:xfrm>
          <a:prstGeom prst="roundRect">
            <a:avLst>
              <a:gd name="adj" fmla="val 13333"/>
            </a:avLst>
          </a:prstGeom>
          <a:solidFill>
            <a:srgbClr val="1F4E79"/>
          </a:solidFill>
          <a:ln w="6350">
            <a:solidFill>
              <a:srgbClr val="FFFFFF"/>
            </a:solidFill>
            <a:prstDash val="solid"/>
          </a:ln>
        </p:spPr>
        <p:txBody>
          <a:bodyPr/>
          <a:lstStyle/>
          <a:p>
            <a:endParaRPr lang="en-US"/>
          </a:p>
        </p:txBody>
      </p:sp>
      <p:sp>
        <p:nvSpPr>
          <p:cNvPr id="58" name="Text 56"/>
          <p:cNvSpPr/>
          <p:nvPr/>
        </p:nvSpPr>
        <p:spPr>
          <a:xfrm>
            <a:off x="5202936" y="1828800"/>
            <a:ext cx="941832"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N8</a:t>
            </a:r>
            <a:endParaRPr lang="en-US" sz="800" dirty="0"/>
          </a:p>
        </p:txBody>
      </p:sp>
      <p:sp>
        <p:nvSpPr>
          <p:cNvPr id="59" name="Shape 57"/>
          <p:cNvSpPr/>
          <p:nvPr/>
        </p:nvSpPr>
        <p:spPr>
          <a:xfrm>
            <a:off x="6172200" y="1828800"/>
            <a:ext cx="941832" cy="274320"/>
          </a:xfrm>
          <a:prstGeom prst="roundRect">
            <a:avLst>
              <a:gd name="adj" fmla="val 13333"/>
            </a:avLst>
          </a:prstGeom>
          <a:solidFill>
            <a:srgbClr val="1F4E79"/>
          </a:solidFill>
          <a:ln w="6350">
            <a:solidFill>
              <a:srgbClr val="FFFFFF"/>
            </a:solidFill>
            <a:prstDash val="solid"/>
          </a:ln>
        </p:spPr>
        <p:txBody>
          <a:bodyPr/>
          <a:lstStyle/>
          <a:p>
            <a:endParaRPr lang="en-US"/>
          </a:p>
        </p:txBody>
      </p:sp>
      <p:sp>
        <p:nvSpPr>
          <p:cNvPr id="60" name="Text 58"/>
          <p:cNvSpPr/>
          <p:nvPr/>
        </p:nvSpPr>
        <p:spPr>
          <a:xfrm>
            <a:off x="6172200" y="1828800"/>
            <a:ext cx="941832"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N8</a:t>
            </a:r>
            <a:endParaRPr lang="en-US" sz="800" dirty="0"/>
          </a:p>
        </p:txBody>
      </p:sp>
      <p:sp>
        <p:nvSpPr>
          <p:cNvPr id="61" name="Shape 59"/>
          <p:cNvSpPr/>
          <p:nvPr/>
        </p:nvSpPr>
        <p:spPr>
          <a:xfrm>
            <a:off x="7141464" y="1828800"/>
            <a:ext cx="941832" cy="274320"/>
          </a:xfrm>
          <a:prstGeom prst="roundRect">
            <a:avLst>
              <a:gd name="adj" fmla="val 13333"/>
            </a:avLst>
          </a:prstGeom>
          <a:solidFill>
            <a:srgbClr val="1F4E79"/>
          </a:solidFill>
          <a:ln w="6350">
            <a:solidFill>
              <a:srgbClr val="FFFFFF"/>
            </a:solidFill>
            <a:prstDash val="solid"/>
          </a:ln>
        </p:spPr>
        <p:txBody>
          <a:bodyPr/>
          <a:lstStyle/>
          <a:p>
            <a:endParaRPr lang="en-US"/>
          </a:p>
        </p:txBody>
      </p:sp>
      <p:sp>
        <p:nvSpPr>
          <p:cNvPr id="62" name="Text 60"/>
          <p:cNvSpPr/>
          <p:nvPr/>
        </p:nvSpPr>
        <p:spPr>
          <a:xfrm>
            <a:off x="7141464" y="1828800"/>
            <a:ext cx="941832"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N8</a:t>
            </a:r>
            <a:endParaRPr lang="en-US" sz="800" dirty="0"/>
          </a:p>
        </p:txBody>
      </p:sp>
      <p:sp>
        <p:nvSpPr>
          <p:cNvPr id="63" name="Text 61"/>
          <p:cNvSpPr/>
          <p:nvPr/>
        </p:nvSpPr>
        <p:spPr>
          <a:xfrm>
            <a:off x="347472" y="2121408"/>
            <a:ext cx="932688" cy="274320"/>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Crew D</a:t>
            </a:r>
            <a:endParaRPr lang="en-US" sz="900" dirty="0"/>
          </a:p>
        </p:txBody>
      </p:sp>
      <p:sp>
        <p:nvSpPr>
          <p:cNvPr id="64" name="Shape 62"/>
          <p:cNvSpPr/>
          <p:nvPr/>
        </p:nvSpPr>
        <p:spPr>
          <a:xfrm>
            <a:off x="1325880" y="2121408"/>
            <a:ext cx="941832" cy="274320"/>
          </a:xfrm>
          <a:prstGeom prst="roundRect">
            <a:avLst>
              <a:gd name="adj" fmla="val 13333"/>
            </a:avLst>
          </a:prstGeom>
          <a:solidFill>
            <a:srgbClr val="1F4E79"/>
          </a:solidFill>
          <a:ln w="6350">
            <a:solidFill>
              <a:srgbClr val="FFFFFF"/>
            </a:solidFill>
            <a:prstDash val="solid"/>
          </a:ln>
        </p:spPr>
        <p:txBody>
          <a:bodyPr/>
          <a:lstStyle/>
          <a:p>
            <a:endParaRPr lang="en-US"/>
          </a:p>
        </p:txBody>
      </p:sp>
      <p:sp>
        <p:nvSpPr>
          <p:cNvPr id="65" name="Text 63"/>
          <p:cNvSpPr/>
          <p:nvPr/>
        </p:nvSpPr>
        <p:spPr>
          <a:xfrm>
            <a:off x="1325880" y="2121408"/>
            <a:ext cx="941832"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N8</a:t>
            </a:r>
            <a:endParaRPr lang="en-US" sz="800" dirty="0"/>
          </a:p>
        </p:txBody>
      </p:sp>
      <p:sp>
        <p:nvSpPr>
          <p:cNvPr id="66" name="Shape 64"/>
          <p:cNvSpPr/>
          <p:nvPr/>
        </p:nvSpPr>
        <p:spPr>
          <a:xfrm>
            <a:off x="2295144" y="2121408"/>
            <a:ext cx="941832" cy="274320"/>
          </a:xfrm>
          <a:prstGeom prst="roundRect">
            <a:avLst>
              <a:gd name="adj" fmla="val 13333"/>
            </a:avLst>
          </a:prstGeom>
          <a:solidFill>
            <a:srgbClr val="1F4E79"/>
          </a:solidFill>
          <a:ln w="6350">
            <a:solidFill>
              <a:srgbClr val="FFFFFF"/>
            </a:solidFill>
            <a:prstDash val="solid"/>
          </a:ln>
        </p:spPr>
        <p:txBody>
          <a:bodyPr/>
          <a:lstStyle/>
          <a:p>
            <a:endParaRPr lang="en-US"/>
          </a:p>
        </p:txBody>
      </p:sp>
      <p:sp>
        <p:nvSpPr>
          <p:cNvPr id="67" name="Text 65"/>
          <p:cNvSpPr/>
          <p:nvPr/>
        </p:nvSpPr>
        <p:spPr>
          <a:xfrm>
            <a:off x="2295144" y="2121408"/>
            <a:ext cx="941832"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N8</a:t>
            </a:r>
            <a:endParaRPr lang="en-US" sz="800" dirty="0"/>
          </a:p>
        </p:txBody>
      </p:sp>
      <p:sp>
        <p:nvSpPr>
          <p:cNvPr id="68" name="Shape 66"/>
          <p:cNvSpPr/>
          <p:nvPr/>
        </p:nvSpPr>
        <p:spPr>
          <a:xfrm>
            <a:off x="3264408" y="2121408"/>
            <a:ext cx="941832" cy="274320"/>
          </a:xfrm>
          <a:prstGeom prst="roundRect">
            <a:avLst>
              <a:gd name="adj" fmla="val 13333"/>
            </a:avLst>
          </a:prstGeom>
          <a:solidFill>
            <a:srgbClr val="1F4E79"/>
          </a:solidFill>
          <a:ln w="6350">
            <a:solidFill>
              <a:srgbClr val="FFFFFF"/>
            </a:solidFill>
            <a:prstDash val="solid"/>
          </a:ln>
        </p:spPr>
        <p:txBody>
          <a:bodyPr/>
          <a:lstStyle/>
          <a:p>
            <a:endParaRPr lang="en-US"/>
          </a:p>
        </p:txBody>
      </p:sp>
      <p:sp>
        <p:nvSpPr>
          <p:cNvPr id="69" name="Text 67"/>
          <p:cNvSpPr/>
          <p:nvPr/>
        </p:nvSpPr>
        <p:spPr>
          <a:xfrm>
            <a:off x="3264408" y="2121408"/>
            <a:ext cx="941832"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N8</a:t>
            </a:r>
            <a:endParaRPr lang="en-US" sz="800" dirty="0"/>
          </a:p>
        </p:txBody>
      </p:sp>
      <p:sp>
        <p:nvSpPr>
          <p:cNvPr id="70" name="Shape 68"/>
          <p:cNvSpPr/>
          <p:nvPr/>
        </p:nvSpPr>
        <p:spPr>
          <a:xfrm>
            <a:off x="4233672" y="2121408"/>
            <a:ext cx="941832" cy="274320"/>
          </a:xfrm>
          <a:prstGeom prst="roundRect">
            <a:avLst>
              <a:gd name="adj" fmla="val 13333"/>
            </a:avLst>
          </a:prstGeom>
          <a:solidFill>
            <a:srgbClr val="E2E8F0"/>
          </a:solidFill>
          <a:ln w="6350">
            <a:solidFill>
              <a:srgbClr val="FFFFFF"/>
            </a:solidFill>
            <a:prstDash val="solid"/>
          </a:ln>
        </p:spPr>
        <p:txBody>
          <a:bodyPr/>
          <a:lstStyle/>
          <a:p>
            <a:endParaRPr lang="en-US"/>
          </a:p>
        </p:txBody>
      </p:sp>
      <p:sp>
        <p:nvSpPr>
          <p:cNvPr id="71" name="Text 69"/>
          <p:cNvSpPr/>
          <p:nvPr/>
        </p:nvSpPr>
        <p:spPr>
          <a:xfrm>
            <a:off x="4233672" y="2121408"/>
            <a:ext cx="941832" cy="27432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72" name="Shape 70"/>
          <p:cNvSpPr/>
          <p:nvPr/>
        </p:nvSpPr>
        <p:spPr>
          <a:xfrm>
            <a:off x="5202936" y="2121408"/>
            <a:ext cx="941832" cy="274320"/>
          </a:xfrm>
          <a:prstGeom prst="roundRect">
            <a:avLst>
              <a:gd name="adj" fmla="val 13333"/>
            </a:avLst>
          </a:prstGeom>
          <a:solidFill>
            <a:srgbClr val="E2E8F0"/>
          </a:solidFill>
          <a:ln w="6350">
            <a:solidFill>
              <a:srgbClr val="FFFFFF"/>
            </a:solidFill>
            <a:prstDash val="solid"/>
          </a:ln>
        </p:spPr>
        <p:txBody>
          <a:bodyPr/>
          <a:lstStyle/>
          <a:p>
            <a:endParaRPr lang="en-US"/>
          </a:p>
        </p:txBody>
      </p:sp>
      <p:sp>
        <p:nvSpPr>
          <p:cNvPr id="73" name="Text 71"/>
          <p:cNvSpPr/>
          <p:nvPr/>
        </p:nvSpPr>
        <p:spPr>
          <a:xfrm>
            <a:off x="5202936" y="2121408"/>
            <a:ext cx="941832" cy="27432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74" name="Shape 72"/>
          <p:cNvSpPr/>
          <p:nvPr/>
        </p:nvSpPr>
        <p:spPr>
          <a:xfrm>
            <a:off x="6172200" y="2121408"/>
            <a:ext cx="941832" cy="274320"/>
          </a:xfrm>
          <a:prstGeom prst="roundRect">
            <a:avLst>
              <a:gd name="adj" fmla="val 13333"/>
            </a:avLst>
          </a:prstGeom>
          <a:solidFill>
            <a:srgbClr val="1D6A72"/>
          </a:solidFill>
          <a:ln w="6350">
            <a:solidFill>
              <a:srgbClr val="FFFFFF"/>
            </a:solidFill>
            <a:prstDash val="solid"/>
          </a:ln>
        </p:spPr>
        <p:txBody>
          <a:bodyPr/>
          <a:lstStyle/>
          <a:p>
            <a:endParaRPr lang="en-US"/>
          </a:p>
        </p:txBody>
      </p:sp>
      <p:sp>
        <p:nvSpPr>
          <p:cNvPr id="75" name="Text 73"/>
          <p:cNvSpPr/>
          <p:nvPr/>
        </p:nvSpPr>
        <p:spPr>
          <a:xfrm>
            <a:off x="6172200" y="2121408"/>
            <a:ext cx="941832"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D8</a:t>
            </a:r>
            <a:endParaRPr lang="en-US" sz="800" dirty="0"/>
          </a:p>
        </p:txBody>
      </p:sp>
      <p:sp>
        <p:nvSpPr>
          <p:cNvPr id="76" name="Shape 74"/>
          <p:cNvSpPr/>
          <p:nvPr/>
        </p:nvSpPr>
        <p:spPr>
          <a:xfrm>
            <a:off x="7141464" y="2121408"/>
            <a:ext cx="941832" cy="274320"/>
          </a:xfrm>
          <a:prstGeom prst="roundRect">
            <a:avLst>
              <a:gd name="adj" fmla="val 13333"/>
            </a:avLst>
          </a:prstGeom>
          <a:solidFill>
            <a:srgbClr val="1D6A72"/>
          </a:solidFill>
          <a:ln w="6350">
            <a:solidFill>
              <a:srgbClr val="FFFFFF"/>
            </a:solidFill>
            <a:prstDash val="solid"/>
          </a:ln>
        </p:spPr>
        <p:txBody>
          <a:bodyPr/>
          <a:lstStyle/>
          <a:p>
            <a:endParaRPr lang="en-US"/>
          </a:p>
        </p:txBody>
      </p:sp>
      <p:sp>
        <p:nvSpPr>
          <p:cNvPr id="77" name="Text 75"/>
          <p:cNvSpPr/>
          <p:nvPr/>
        </p:nvSpPr>
        <p:spPr>
          <a:xfrm>
            <a:off x="7141464" y="2121408"/>
            <a:ext cx="941832"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D8</a:t>
            </a:r>
            <a:endParaRPr lang="en-US" sz="800" dirty="0"/>
          </a:p>
        </p:txBody>
      </p:sp>
      <p:sp>
        <p:nvSpPr>
          <p:cNvPr id="79" name="Text 77"/>
          <p:cNvSpPr/>
          <p:nvPr/>
        </p:nvSpPr>
        <p:spPr>
          <a:xfrm>
            <a:off x="1221354" y="2624328"/>
            <a:ext cx="3657600" cy="274320"/>
          </a:xfrm>
          <a:prstGeom prst="rect">
            <a:avLst/>
          </a:prstGeom>
          <a:noFill/>
          <a:ln/>
        </p:spPr>
        <p:txBody>
          <a:bodyPr wrap="square" rtlCol="0" anchor="ctr"/>
          <a:lstStyle/>
          <a:p>
            <a:pPr marL="0" indent="0">
              <a:buNone/>
            </a:pPr>
            <a:r>
              <a:rPr lang="en-US" sz="1200" b="1" dirty="0">
                <a:solidFill>
                  <a:srgbClr val="C0392B"/>
                </a:solidFill>
                <a:latin typeface="Arial" pitchFamily="34" charset="0"/>
                <a:ea typeface="Arial" pitchFamily="34" charset="-122"/>
                <a:cs typeface="Arial" pitchFamily="34" charset="-120"/>
              </a:rPr>
              <a:t>Drawbacks</a:t>
            </a:r>
            <a:endParaRPr lang="en-US" sz="1200" dirty="0"/>
          </a:p>
        </p:txBody>
      </p:sp>
      <p:pic>
        <p:nvPicPr>
          <p:cNvPr id="80" name="Image 0" descr="preencoded.png"/>
          <p:cNvPicPr>
            <a:picLocks noChangeAspect="1"/>
          </p:cNvPicPr>
          <p:nvPr/>
        </p:nvPicPr>
        <p:blipFill>
          <a:blip r:embed="rId3"/>
          <a:stretch>
            <a:fillRect/>
          </a:stretch>
        </p:blipFill>
        <p:spPr>
          <a:xfrm>
            <a:off x="1234416" y="2962656"/>
            <a:ext cx="164592" cy="164592"/>
          </a:xfrm>
          <a:prstGeom prst="rect">
            <a:avLst/>
          </a:prstGeom>
        </p:spPr>
      </p:pic>
      <p:sp>
        <p:nvSpPr>
          <p:cNvPr id="81" name="Text 78"/>
          <p:cNvSpPr/>
          <p:nvPr/>
        </p:nvSpPr>
        <p:spPr>
          <a:xfrm>
            <a:off x="1449954" y="2944368"/>
            <a:ext cx="3429000" cy="237744"/>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Too many days of work</a:t>
            </a:r>
            <a:endParaRPr lang="en-US" sz="1100" dirty="0"/>
          </a:p>
        </p:txBody>
      </p:sp>
      <p:pic>
        <p:nvPicPr>
          <p:cNvPr id="82" name="Image 1" descr="preencoded.png"/>
          <p:cNvPicPr>
            <a:picLocks noChangeAspect="1"/>
          </p:cNvPicPr>
          <p:nvPr/>
        </p:nvPicPr>
        <p:blipFill>
          <a:blip r:embed="rId3"/>
          <a:stretch>
            <a:fillRect/>
          </a:stretch>
        </p:blipFill>
        <p:spPr>
          <a:xfrm>
            <a:off x="1234416" y="3236976"/>
            <a:ext cx="164592" cy="164592"/>
          </a:xfrm>
          <a:prstGeom prst="rect">
            <a:avLst/>
          </a:prstGeom>
        </p:spPr>
      </p:pic>
      <p:sp>
        <p:nvSpPr>
          <p:cNvPr id="83" name="Text 79"/>
          <p:cNvSpPr/>
          <p:nvPr/>
        </p:nvSpPr>
        <p:spPr>
          <a:xfrm>
            <a:off x="1449954" y="3218688"/>
            <a:ext cx="3429000" cy="237744"/>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Not enough weekends off</a:t>
            </a:r>
            <a:endParaRPr lang="en-US" sz="1100" dirty="0"/>
          </a:p>
        </p:txBody>
      </p:sp>
      <p:pic>
        <p:nvPicPr>
          <p:cNvPr id="84" name="Image 2" descr="preencoded.png"/>
          <p:cNvPicPr>
            <a:picLocks noChangeAspect="1"/>
          </p:cNvPicPr>
          <p:nvPr/>
        </p:nvPicPr>
        <p:blipFill>
          <a:blip r:embed="rId3"/>
          <a:stretch>
            <a:fillRect/>
          </a:stretch>
        </p:blipFill>
        <p:spPr>
          <a:xfrm>
            <a:off x="1234416" y="3511296"/>
            <a:ext cx="164592" cy="164592"/>
          </a:xfrm>
          <a:prstGeom prst="rect">
            <a:avLst/>
          </a:prstGeom>
        </p:spPr>
      </p:pic>
      <p:sp>
        <p:nvSpPr>
          <p:cNvPr id="85" name="Text 80"/>
          <p:cNvSpPr/>
          <p:nvPr/>
        </p:nvSpPr>
        <p:spPr>
          <a:xfrm>
            <a:off x="1449954" y="3493008"/>
            <a:ext cx="3429000" cy="237744"/>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7 days in a row is common</a:t>
            </a:r>
            <a:endParaRPr lang="en-US" sz="1100" dirty="0"/>
          </a:p>
        </p:txBody>
      </p:sp>
      <p:pic>
        <p:nvPicPr>
          <p:cNvPr id="86" name="Image 3" descr="preencoded.png"/>
          <p:cNvPicPr>
            <a:picLocks noChangeAspect="1"/>
          </p:cNvPicPr>
          <p:nvPr/>
        </p:nvPicPr>
        <p:blipFill>
          <a:blip r:embed="rId3"/>
          <a:stretch>
            <a:fillRect/>
          </a:stretch>
        </p:blipFill>
        <p:spPr>
          <a:xfrm>
            <a:off x="1234416" y="3785616"/>
            <a:ext cx="164592" cy="164592"/>
          </a:xfrm>
          <a:prstGeom prst="rect">
            <a:avLst/>
          </a:prstGeom>
        </p:spPr>
      </p:pic>
      <p:sp>
        <p:nvSpPr>
          <p:cNvPr id="87" name="Text 81"/>
          <p:cNvSpPr/>
          <p:nvPr/>
        </p:nvSpPr>
        <p:spPr>
          <a:xfrm>
            <a:off x="1449954" y="3767328"/>
            <a:ext cx="3429000" cy="237744"/>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Rotating shifts</a:t>
            </a:r>
            <a:endParaRPr lang="en-US" sz="1100" dirty="0"/>
          </a:p>
        </p:txBody>
      </p:sp>
      <p:pic>
        <p:nvPicPr>
          <p:cNvPr id="88" name="Image 4" descr="preencoded.png"/>
          <p:cNvPicPr>
            <a:picLocks noChangeAspect="1"/>
          </p:cNvPicPr>
          <p:nvPr/>
        </p:nvPicPr>
        <p:blipFill>
          <a:blip r:embed="rId3"/>
          <a:stretch>
            <a:fillRect/>
          </a:stretch>
        </p:blipFill>
        <p:spPr>
          <a:xfrm>
            <a:off x="1234416" y="4059936"/>
            <a:ext cx="164592" cy="164592"/>
          </a:xfrm>
          <a:prstGeom prst="rect">
            <a:avLst/>
          </a:prstGeom>
        </p:spPr>
      </p:pic>
      <p:sp>
        <p:nvSpPr>
          <p:cNvPr id="89" name="Text 82"/>
          <p:cNvSpPr/>
          <p:nvPr/>
        </p:nvSpPr>
        <p:spPr>
          <a:xfrm>
            <a:off x="1449954" y="4041648"/>
            <a:ext cx="3429000" cy="237744"/>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Very difficult to recruit into</a:t>
            </a:r>
            <a:endParaRPr lang="en-US" sz="1100" dirty="0"/>
          </a:p>
        </p:txBody>
      </p:sp>
      <p:sp>
        <p:nvSpPr>
          <p:cNvPr id="90" name="Shape 83"/>
          <p:cNvSpPr/>
          <p:nvPr/>
        </p:nvSpPr>
        <p:spPr>
          <a:xfrm>
            <a:off x="4663440" y="2551176"/>
            <a:ext cx="3419856" cy="1783080"/>
          </a:xfrm>
          <a:prstGeom prst="roundRect">
            <a:avLst>
              <a:gd name="adj" fmla="val 5128"/>
            </a:avLst>
          </a:prstGeom>
          <a:solidFill>
            <a:srgbClr val="1F4E79"/>
          </a:solidFill>
          <a:ln w="12700">
            <a:solidFill>
              <a:srgbClr val="1F4E79"/>
            </a:solidFill>
            <a:prstDash val="solid"/>
          </a:ln>
        </p:spPr>
        <p:txBody>
          <a:bodyPr/>
          <a:lstStyle/>
          <a:p>
            <a:endParaRPr lang="en-US"/>
          </a:p>
        </p:txBody>
      </p:sp>
      <p:sp>
        <p:nvSpPr>
          <p:cNvPr id="91" name="Text 84"/>
          <p:cNvSpPr/>
          <p:nvPr/>
        </p:nvSpPr>
        <p:spPr>
          <a:xfrm>
            <a:off x="4800600" y="2624328"/>
            <a:ext cx="3840480" cy="274320"/>
          </a:xfrm>
          <a:prstGeom prst="rect">
            <a:avLst/>
          </a:prstGeom>
          <a:noFill/>
          <a:ln/>
        </p:spPr>
        <p:txBody>
          <a:bodyPr wrap="square" rtlCol="0" anchor="ctr"/>
          <a:lstStyle/>
          <a:p>
            <a:pPr marL="0" indent="0">
              <a:buNone/>
            </a:pPr>
            <a:r>
              <a:rPr lang="en-US" sz="1200" b="1" dirty="0">
                <a:solidFill>
                  <a:srgbClr val="E8610A"/>
                </a:solidFill>
                <a:latin typeface="Arial" pitchFamily="34" charset="0"/>
                <a:ea typeface="Arial" pitchFamily="34" charset="-122"/>
                <a:cs typeface="Arial" pitchFamily="34" charset="-120"/>
              </a:rPr>
              <a:t>What Keeps It in Place</a:t>
            </a:r>
            <a:endParaRPr lang="en-US" sz="1200" dirty="0"/>
          </a:p>
        </p:txBody>
      </p:sp>
      <p:pic>
        <p:nvPicPr>
          <p:cNvPr id="92" name="Image 5" descr="preencoded.png"/>
          <p:cNvPicPr>
            <a:picLocks noChangeAspect="1"/>
          </p:cNvPicPr>
          <p:nvPr/>
        </p:nvPicPr>
        <p:blipFill>
          <a:blip r:embed="rId4"/>
          <a:stretch>
            <a:fillRect/>
          </a:stretch>
        </p:blipFill>
        <p:spPr>
          <a:xfrm>
            <a:off x="4800600" y="2962656"/>
            <a:ext cx="164592" cy="164592"/>
          </a:xfrm>
          <a:prstGeom prst="rect">
            <a:avLst/>
          </a:prstGeom>
        </p:spPr>
      </p:pic>
      <p:sp>
        <p:nvSpPr>
          <p:cNvPr id="93" name="Text 85"/>
          <p:cNvSpPr/>
          <p:nvPr/>
        </p:nvSpPr>
        <p:spPr>
          <a:xfrm>
            <a:off x="5029200" y="2944368"/>
            <a:ext cx="3566160" cy="237744"/>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Absentee coverage is easier</a:t>
            </a:r>
            <a:endParaRPr lang="en-US" sz="1100" dirty="0"/>
          </a:p>
        </p:txBody>
      </p:sp>
      <p:pic>
        <p:nvPicPr>
          <p:cNvPr id="94" name="Image 6" descr="preencoded.png"/>
          <p:cNvPicPr>
            <a:picLocks noChangeAspect="1"/>
          </p:cNvPicPr>
          <p:nvPr/>
        </p:nvPicPr>
        <p:blipFill>
          <a:blip r:embed="rId4"/>
          <a:stretch>
            <a:fillRect/>
          </a:stretch>
        </p:blipFill>
        <p:spPr>
          <a:xfrm>
            <a:off x="4800600" y="3236976"/>
            <a:ext cx="164592" cy="164592"/>
          </a:xfrm>
          <a:prstGeom prst="rect">
            <a:avLst/>
          </a:prstGeom>
        </p:spPr>
      </p:pic>
      <p:sp>
        <p:nvSpPr>
          <p:cNvPr id="95" name="Text 86"/>
          <p:cNvSpPr/>
          <p:nvPr/>
        </p:nvSpPr>
        <p:spPr>
          <a:xfrm>
            <a:off x="5029200" y="3218688"/>
            <a:ext cx="3566160" cy="237744"/>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All crews are equal</a:t>
            </a:r>
            <a:endParaRPr lang="en-US" sz="1100" dirty="0"/>
          </a:p>
        </p:txBody>
      </p:sp>
      <p:pic>
        <p:nvPicPr>
          <p:cNvPr id="96" name="Image 7" descr="preencoded.png"/>
          <p:cNvPicPr>
            <a:picLocks noChangeAspect="1"/>
          </p:cNvPicPr>
          <p:nvPr/>
        </p:nvPicPr>
        <p:blipFill>
          <a:blip r:embed="rId4"/>
          <a:stretch>
            <a:fillRect/>
          </a:stretch>
        </p:blipFill>
        <p:spPr>
          <a:xfrm>
            <a:off x="4800600" y="3511296"/>
            <a:ext cx="164592" cy="164592"/>
          </a:xfrm>
          <a:prstGeom prst="rect">
            <a:avLst/>
          </a:prstGeom>
        </p:spPr>
      </p:pic>
      <p:sp>
        <p:nvSpPr>
          <p:cNvPr id="97" name="Text 87"/>
          <p:cNvSpPr/>
          <p:nvPr/>
        </p:nvSpPr>
        <p:spPr>
          <a:xfrm>
            <a:off x="5029200" y="3493008"/>
            <a:ext cx="3566160" cy="237744"/>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Management sees all crews</a:t>
            </a:r>
            <a:endParaRPr lang="en-US" sz="1100" dirty="0"/>
          </a:p>
        </p:txBody>
      </p:sp>
      <p:pic>
        <p:nvPicPr>
          <p:cNvPr id="98" name="Image 8" descr="preencoded.png"/>
          <p:cNvPicPr>
            <a:picLocks noChangeAspect="1"/>
          </p:cNvPicPr>
          <p:nvPr/>
        </p:nvPicPr>
        <p:blipFill>
          <a:blip r:embed="rId4"/>
          <a:stretch>
            <a:fillRect/>
          </a:stretch>
        </p:blipFill>
        <p:spPr>
          <a:xfrm>
            <a:off x="4800600" y="3785616"/>
            <a:ext cx="164592" cy="164592"/>
          </a:xfrm>
          <a:prstGeom prst="rect">
            <a:avLst/>
          </a:prstGeom>
        </p:spPr>
      </p:pic>
      <p:sp>
        <p:nvSpPr>
          <p:cNvPr id="99" name="Text 88"/>
          <p:cNvSpPr/>
          <p:nvPr/>
        </p:nvSpPr>
        <p:spPr>
          <a:xfrm>
            <a:off x="5029200" y="3767328"/>
            <a:ext cx="3566160" cy="237744"/>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40+ years of habit in paper mills</a:t>
            </a:r>
            <a:endParaRPr lang="en-US" sz="1100" dirty="0"/>
          </a:p>
        </p:txBody>
      </p:sp>
      <p:pic>
        <p:nvPicPr>
          <p:cNvPr id="100" name="Image 9" descr="preencoded.png"/>
          <p:cNvPicPr>
            <a:picLocks noChangeAspect="1"/>
          </p:cNvPicPr>
          <p:nvPr/>
        </p:nvPicPr>
        <p:blipFill>
          <a:blip r:embed="rId4"/>
          <a:stretch>
            <a:fillRect/>
          </a:stretch>
        </p:blipFill>
        <p:spPr>
          <a:xfrm>
            <a:off x="4800600" y="4059936"/>
            <a:ext cx="164592" cy="164592"/>
          </a:xfrm>
          <a:prstGeom prst="rect">
            <a:avLst/>
          </a:prstGeom>
        </p:spPr>
      </p:pic>
      <p:sp>
        <p:nvSpPr>
          <p:cNvPr id="101" name="Text 89"/>
          <p:cNvSpPr/>
          <p:nvPr/>
        </p:nvSpPr>
        <p:spPr>
          <a:xfrm>
            <a:off x="5029200" y="4041648"/>
            <a:ext cx="3566160" cy="237744"/>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Senior workers won’t change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502920"/>
          </a:xfrm>
          <a:prstGeom prst="rect">
            <a:avLst/>
          </a:prstGeom>
          <a:noFill/>
          <a:ln/>
        </p:spPr>
        <p:txBody>
          <a:bodyPr wrap="square" rtlCol="0" anchor="ctr"/>
          <a:lstStyle/>
          <a:p>
            <a:pPr marL="0" indent="0">
              <a:buNone/>
            </a:pPr>
            <a:r>
              <a:rPr lang="en-US" sz="2800" b="1" dirty="0">
                <a:solidFill>
                  <a:srgbClr val="1F4E79"/>
                </a:solidFill>
                <a:latin typeface="Cambria" pitchFamily="34" charset="0"/>
                <a:ea typeface="Cambria" pitchFamily="34" charset="-122"/>
                <a:cs typeface="Cambria" pitchFamily="34" charset="-120"/>
              </a:rPr>
              <a:t>The DuPont: Sold on the 7-Day Break</a:t>
            </a:r>
            <a:endParaRPr lang="en-US" sz="2800" dirty="0"/>
          </a:p>
        </p:txBody>
      </p:sp>
      <p:sp>
        <p:nvSpPr>
          <p:cNvPr id="3" name="Text 1"/>
          <p:cNvSpPr/>
          <p:nvPr/>
        </p:nvSpPr>
        <p:spPr>
          <a:xfrm>
            <a:off x="457200" y="685800"/>
            <a:ext cx="8229600" cy="256032"/>
          </a:xfrm>
          <a:prstGeom prst="rect">
            <a:avLst/>
          </a:prstGeom>
          <a:noFill/>
          <a:ln/>
        </p:spPr>
        <p:txBody>
          <a:bodyPr wrap="square" rtlCol="0" anchor="ctr"/>
          <a:lstStyle/>
          <a:p>
            <a:pPr marL="0" indent="0">
              <a:buNone/>
            </a:pPr>
            <a:r>
              <a:rPr lang="en-US" sz="1100" i="1" dirty="0">
                <a:solidFill>
                  <a:srgbClr val="64748B"/>
                </a:solidFill>
                <a:latin typeface="Arial" pitchFamily="34" charset="0"/>
                <a:ea typeface="Arial" pitchFamily="34" charset="-122"/>
                <a:cs typeface="Arial" pitchFamily="34" charset="-120"/>
              </a:rPr>
              <a:t>Created in the late 1980s — the most widely used 24/7 schedule in the paper industry.</a:t>
            </a:r>
            <a:endParaRPr lang="en-US" sz="1100" dirty="0"/>
          </a:p>
        </p:txBody>
      </p:sp>
      <p:sp>
        <p:nvSpPr>
          <p:cNvPr id="4" name="Shape 2"/>
          <p:cNvSpPr/>
          <p:nvPr/>
        </p:nvSpPr>
        <p:spPr>
          <a:xfrm>
            <a:off x="1325880" y="987552"/>
            <a:ext cx="941832"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5" name="Text 3"/>
          <p:cNvSpPr/>
          <p:nvPr/>
        </p:nvSpPr>
        <p:spPr>
          <a:xfrm>
            <a:off x="1325880" y="987552"/>
            <a:ext cx="9418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Mon</a:t>
            </a:r>
            <a:endParaRPr lang="en-US" sz="900" dirty="0"/>
          </a:p>
        </p:txBody>
      </p:sp>
      <p:sp>
        <p:nvSpPr>
          <p:cNvPr id="6" name="Shape 4"/>
          <p:cNvSpPr/>
          <p:nvPr/>
        </p:nvSpPr>
        <p:spPr>
          <a:xfrm>
            <a:off x="2295144" y="987552"/>
            <a:ext cx="941832"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7" name="Text 5"/>
          <p:cNvSpPr/>
          <p:nvPr/>
        </p:nvSpPr>
        <p:spPr>
          <a:xfrm>
            <a:off x="2295144" y="987552"/>
            <a:ext cx="9418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Tue</a:t>
            </a:r>
            <a:endParaRPr lang="en-US" sz="900" dirty="0"/>
          </a:p>
        </p:txBody>
      </p:sp>
      <p:sp>
        <p:nvSpPr>
          <p:cNvPr id="8" name="Shape 6"/>
          <p:cNvSpPr/>
          <p:nvPr/>
        </p:nvSpPr>
        <p:spPr>
          <a:xfrm>
            <a:off x="3264408" y="987552"/>
            <a:ext cx="941832"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9" name="Text 7"/>
          <p:cNvSpPr/>
          <p:nvPr/>
        </p:nvSpPr>
        <p:spPr>
          <a:xfrm>
            <a:off x="3264408" y="987552"/>
            <a:ext cx="9418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Wed</a:t>
            </a:r>
            <a:endParaRPr lang="en-US" sz="900" dirty="0"/>
          </a:p>
        </p:txBody>
      </p:sp>
      <p:sp>
        <p:nvSpPr>
          <p:cNvPr id="10" name="Shape 8"/>
          <p:cNvSpPr/>
          <p:nvPr/>
        </p:nvSpPr>
        <p:spPr>
          <a:xfrm>
            <a:off x="4233672" y="987552"/>
            <a:ext cx="941832"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1" name="Text 9"/>
          <p:cNvSpPr/>
          <p:nvPr/>
        </p:nvSpPr>
        <p:spPr>
          <a:xfrm>
            <a:off x="4233672" y="987552"/>
            <a:ext cx="9418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Thu</a:t>
            </a:r>
            <a:endParaRPr lang="en-US" sz="900" dirty="0"/>
          </a:p>
        </p:txBody>
      </p:sp>
      <p:sp>
        <p:nvSpPr>
          <p:cNvPr id="12" name="Shape 10"/>
          <p:cNvSpPr/>
          <p:nvPr/>
        </p:nvSpPr>
        <p:spPr>
          <a:xfrm>
            <a:off x="5202936" y="987552"/>
            <a:ext cx="941832"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3" name="Text 11"/>
          <p:cNvSpPr/>
          <p:nvPr/>
        </p:nvSpPr>
        <p:spPr>
          <a:xfrm>
            <a:off x="5202936" y="987552"/>
            <a:ext cx="9418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Fri</a:t>
            </a:r>
            <a:endParaRPr lang="en-US" sz="900" dirty="0"/>
          </a:p>
        </p:txBody>
      </p:sp>
      <p:sp>
        <p:nvSpPr>
          <p:cNvPr id="14" name="Shape 12"/>
          <p:cNvSpPr/>
          <p:nvPr/>
        </p:nvSpPr>
        <p:spPr>
          <a:xfrm>
            <a:off x="6172200" y="987552"/>
            <a:ext cx="941832"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5" name="Text 13"/>
          <p:cNvSpPr/>
          <p:nvPr/>
        </p:nvSpPr>
        <p:spPr>
          <a:xfrm>
            <a:off x="6172200" y="987552"/>
            <a:ext cx="9418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Sat</a:t>
            </a:r>
            <a:endParaRPr lang="en-US" sz="900" dirty="0"/>
          </a:p>
        </p:txBody>
      </p:sp>
      <p:sp>
        <p:nvSpPr>
          <p:cNvPr id="16" name="Shape 14"/>
          <p:cNvSpPr/>
          <p:nvPr/>
        </p:nvSpPr>
        <p:spPr>
          <a:xfrm>
            <a:off x="7141464" y="987552"/>
            <a:ext cx="941832"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7" name="Text 15"/>
          <p:cNvSpPr/>
          <p:nvPr/>
        </p:nvSpPr>
        <p:spPr>
          <a:xfrm>
            <a:off x="7141464" y="987552"/>
            <a:ext cx="9418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Sun</a:t>
            </a:r>
            <a:endParaRPr lang="en-US" sz="900" dirty="0"/>
          </a:p>
        </p:txBody>
      </p:sp>
      <p:sp>
        <p:nvSpPr>
          <p:cNvPr id="18" name="Text 16"/>
          <p:cNvSpPr/>
          <p:nvPr/>
        </p:nvSpPr>
        <p:spPr>
          <a:xfrm>
            <a:off x="347472" y="1261872"/>
            <a:ext cx="932688" cy="292608"/>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Crew A</a:t>
            </a:r>
            <a:endParaRPr lang="en-US" sz="900" dirty="0"/>
          </a:p>
        </p:txBody>
      </p:sp>
      <p:sp>
        <p:nvSpPr>
          <p:cNvPr id="19" name="Shape 17"/>
          <p:cNvSpPr/>
          <p:nvPr/>
        </p:nvSpPr>
        <p:spPr>
          <a:xfrm>
            <a:off x="1325880" y="1261872"/>
            <a:ext cx="941832" cy="292608"/>
          </a:xfrm>
          <a:prstGeom prst="roundRect">
            <a:avLst>
              <a:gd name="adj" fmla="val 12500"/>
            </a:avLst>
          </a:prstGeom>
          <a:solidFill>
            <a:srgbClr val="1D6A72"/>
          </a:solidFill>
          <a:ln w="6350">
            <a:solidFill>
              <a:srgbClr val="FFFFFF"/>
            </a:solidFill>
            <a:prstDash val="solid"/>
          </a:ln>
        </p:spPr>
        <p:txBody>
          <a:bodyPr/>
          <a:lstStyle/>
          <a:p>
            <a:endParaRPr lang="en-US"/>
          </a:p>
        </p:txBody>
      </p:sp>
      <p:sp>
        <p:nvSpPr>
          <p:cNvPr id="20" name="Text 18"/>
          <p:cNvSpPr/>
          <p:nvPr/>
        </p:nvSpPr>
        <p:spPr>
          <a:xfrm>
            <a:off x="1325880" y="1261872"/>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D12</a:t>
            </a:r>
            <a:endParaRPr lang="en-US" sz="900" dirty="0"/>
          </a:p>
        </p:txBody>
      </p:sp>
      <p:sp>
        <p:nvSpPr>
          <p:cNvPr id="21" name="Shape 19"/>
          <p:cNvSpPr/>
          <p:nvPr/>
        </p:nvSpPr>
        <p:spPr>
          <a:xfrm>
            <a:off x="2295144" y="1261872"/>
            <a:ext cx="941832" cy="292608"/>
          </a:xfrm>
          <a:prstGeom prst="roundRect">
            <a:avLst>
              <a:gd name="adj" fmla="val 12500"/>
            </a:avLst>
          </a:prstGeom>
          <a:solidFill>
            <a:srgbClr val="1D6A72"/>
          </a:solidFill>
          <a:ln w="6350">
            <a:solidFill>
              <a:srgbClr val="FFFFFF"/>
            </a:solidFill>
            <a:prstDash val="solid"/>
          </a:ln>
        </p:spPr>
        <p:txBody>
          <a:bodyPr/>
          <a:lstStyle/>
          <a:p>
            <a:endParaRPr lang="en-US"/>
          </a:p>
        </p:txBody>
      </p:sp>
      <p:sp>
        <p:nvSpPr>
          <p:cNvPr id="22" name="Text 20"/>
          <p:cNvSpPr/>
          <p:nvPr/>
        </p:nvSpPr>
        <p:spPr>
          <a:xfrm>
            <a:off x="2295144" y="1261872"/>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D12</a:t>
            </a:r>
            <a:endParaRPr lang="en-US" sz="900" dirty="0"/>
          </a:p>
        </p:txBody>
      </p:sp>
      <p:sp>
        <p:nvSpPr>
          <p:cNvPr id="23" name="Shape 21"/>
          <p:cNvSpPr/>
          <p:nvPr/>
        </p:nvSpPr>
        <p:spPr>
          <a:xfrm>
            <a:off x="3264408" y="1261872"/>
            <a:ext cx="941832" cy="292608"/>
          </a:xfrm>
          <a:prstGeom prst="roundRect">
            <a:avLst>
              <a:gd name="adj" fmla="val 12500"/>
            </a:avLst>
          </a:prstGeom>
          <a:solidFill>
            <a:srgbClr val="1D6A72"/>
          </a:solidFill>
          <a:ln w="6350">
            <a:solidFill>
              <a:srgbClr val="FFFFFF"/>
            </a:solidFill>
            <a:prstDash val="solid"/>
          </a:ln>
        </p:spPr>
        <p:txBody>
          <a:bodyPr/>
          <a:lstStyle/>
          <a:p>
            <a:endParaRPr lang="en-US"/>
          </a:p>
        </p:txBody>
      </p:sp>
      <p:sp>
        <p:nvSpPr>
          <p:cNvPr id="24" name="Text 22"/>
          <p:cNvSpPr/>
          <p:nvPr/>
        </p:nvSpPr>
        <p:spPr>
          <a:xfrm>
            <a:off x="3264408" y="1261872"/>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D12</a:t>
            </a:r>
            <a:endParaRPr lang="en-US" sz="900" dirty="0"/>
          </a:p>
        </p:txBody>
      </p:sp>
      <p:sp>
        <p:nvSpPr>
          <p:cNvPr id="25" name="Shape 23"/>
          <p:cNvSpPr/>
          <p:nvPr/>
        </p:nvSpPr>
        <p:spPr>
          <a:xfrm>
            <a:off x="4233672" y="1261872"/>
            <a:ext cx="941832" cy="292608"/>
          </a:xfrm>
          <a:prstGeom prst="roundRect">
            <a:avLst>
              <a:gd name="adj" fmla="val 12500"/>
            </a:avLst>
          </a:prstGeom>
          <a:solidFill>
            <a:srgbClr val="1D6A72"/>
          </a:solidFill>
          <a:ln w="6350">
            <a:solidFill>
              <a:srgbClr val="FFFFFF"/>
            </a:solidFill>
            <a:prstDash val="solid"/>
          </a:ln>
        </p:spPr>
        <p:txBody>
          <a:bodyPr/>
          <a:lstStyle/>
          <a:p>
            <a:endParaRPr lang="en-US"/>
          </a:p>
        </p:txBody>
      </p:sp>
      <p:sp>
        <p:nvSpPr>
          <p:cNvPr id="26" name="Text 24"/>
          <p:cNvSpPr/>
          <p:nvPr/>
        </p:nvSpPr>
        <p:spPr>
          <a:xfrm>
            <a:off x="4233672" y="1261872"/>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D12</a:t>
            </a:r>
            <a:endParaRPr lang="en-US" sz="900" dirty="0"/>
          </a:p>
        </p:txBody>
      </p:sp>
      <p:sp>
        <p:nvSpPr>
          <p:cNvPr id="27" name="Shape 25"/>
          <p:cNvSpPr/>
          <p:nvPr/>
        </p:nvSpPr>
        <p:spPr>
          <a:xfrm>
            <a:off x="5202936" y="1261872"/>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28" name="Text 26"/>
          <p:cNvSpPr/>
          <p:nvPr/>
        </p:nvSpPr>
        <p:spPr>
          <a:xfrm>
            <a:off x="5202936" y="1261872"/>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29" name="Shape 27"/>
          <p:cNvSpPr/>
          <p:nvPr/>
        </p:nvSpPr>
        <p:spPr>
          <a:xfrm>
            <a:off x="6172200" y="1261872"/>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30" name="Text 28"/>
          <p:cNvSpPr/>
          <p:nvPr/>
        </p:nvSpPr>
        <p:spPr>
          <a:xfrm>
            <a:off x="6172200" y="1261872"/>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1" name="Shape 29"/>
          <p:cNvSpPr/>
          <p:nvPr/>
        </p:nvSpPr>
        <p:spPr>
          <a:xfrm>
            <a:off x="7141464" y="1261872"/>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32" name="Text 30"/>
          <p:cNvSpPr/>
          <p:nvPr/>
        </p:nvSpPr>
        <p:spPr>
          <a:xfrm>
            <a:off x="7141464" y="1261872"/>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3" name="Text 31"/>
          <p:cNvSpPr/>
          <p:nvPr/>
        </p:nvSpPr>
        <p:spPr>
          <a:xfrm>
            <a:off x="347472" y="1572768"/>
            <a:ext cx="932688" cy="292608"/>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Crew B</a:t>
            </a:r>
            <a:endParaRPr lang="en-US" sz="900" dirty="0"/>
          </a:p>
        </p:txBody>
      </p:sp>
      <p:sp>
        <p:nvSpPr>
          <p:cNvPr id="34" name="Shape 32"/>
          <p:cNvSpPr/>
          <p:nvPr/>
        </p:nvSpPr>
        <p:spPr>
          <a:xfrm>
            <a:off x="1325880" y="1572768"/>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35" name="Text 33"/>
          <p:cNvSpPr/>
          <p:nvPr/>
        </p:nvSpPr>
        <p:spPr>
          <a:xfrm>
            <a:off x="1325880" y="1572768"/>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6" name="Shape 34"/>
          <p:cNvSpPr/>
          <p:nvPr/>
        </p:nvSpPr>
        <p:spPr>
          <a:xfrm>
            <a:off x="2295144" y="1572768"/>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37" name="Text 35"/>
          <p:cNvSpPr/>
          <p:nvPr/>
        </p:nvSpPr>
        <p:spPr>
          <a:xfrm>
            <a:off x="2295144" y="1572768"/>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8" name="Shape 36"/>
          <p:cNvSpPr/>
          <p:nvPr/>
        </p:nvSpPr>
        <p:spPr>
          <a:xfrm>
            <a:off x="3264408" y="1572768"/>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39" name="Text 37"/>
          <p:cNvSpPr/>
          <p:nvPr/>
        </p:nvSpPr>
        <p:spPr>
          <a:xfrm>
            <a:off x="3264408" y="1572768"/>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40" name="Shape 38"/>
          <p:cNvSpPr/>
          <p:nvPr/>
        </p:nvSpPr>
        <p:spPr>
          <a:xfrm>
            <a:off x="4233672" y="1572768"/>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41" name="Text 39"/>
          <p:cNvSpPr/>
          <p:nvPr/>
        </p:nvSpPr>
        <p:spPr>
          <a:xfrm>
            <a:off x="4233672" y="1572768"/>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42" name="Shape 40"/>
          <p:cNvSpPr/>
          <p:nvPr/>
        </p:nvSpPr>
        <p:spPr>
          <a:xfrm>
            <a:off x="5202936" y="1572768"/>
            <a:ext cx="941832" cy="292608"/>
          </a:xfrm>
          <a:prstGeom prst="roundRect">
            <a:avLst>
              <a:gd name="adj" fmla="val 12500"/>
            </a:avLst>
          </a:prstGeom>
          <a:solidFill>
            <a:srgbClr val="1F4E79"/>
          </a:solidFill>
          <a:ln w="6350">
            <a:solidFill>
              <a:srgbClr val="FFFFFF"/>
            </a:solidFill>
            <a:prstDash val="solid"/>
          </a:ln>
        </p:spPr>
        <p:txBody>
          <a:bodyPr/>
          <a:lstStyle/>
          <a:p>
            <a:endParaRPr lang="en-US"/>
          </a:p>
        </p:txBody>
      </p:sp>
      <p:sp>
        <p:nvSpPr>
          <p:cNvPr id="43" name="Text 41"/>
          <p:cNvSpPr/>
          <p:nvPr/>
        </p:nvSpPr>
        <p:spPr>
          <a:xfrm>
            <a:off x="5202936" y="1572768"/>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N12</a:t>
            </a:r>
            <a:endParaRPr lang="en-US" sz="900" dirty="0"/>
          </a:p>
        </p:txBody>
      </p:sp>
      <p:sp>
        <p:nvSpPr>
          <p:cNvPr id="44" name="Shape 42"/>
          <p:cNvSpPr/>
          <p:nvPr/>
        </p:nvSpPr>
        <p:spPr>
          <a:xfrm>
            <a:off x="6172200" y="1572768"/>
            <a:ext cx="941832" cy="292608"/>
          </a:xfrm>
          <a:prstGeom prst="roundRect">
            <a:avLst>
              <a:gd name="adj" fmla="val 12500"/>
            </a:avLst>
          </a:prstGeom>
          <a:solidFill>
            <a:srgbClr val="1F4E79"/>
          </a:solidFill>
          <a:ln w="6350">
            <a:solidFill>
              <a:srgbClr val="FFFFFF"/>
            </a:solidFill>
            <a:prstDash val="solid"/>
          </a:ln>
        </p:spPr>
        <p:txBody>
          <a:bodyPr/>
          <a:lstStyle/>
          <a:p>
            <a:endParaRPr lang="en-US"/>
          </a:p>
        </p:txBody>
      </p:sp>
      <p:sp>
        <p:nvSpPr>
          <p:cNvPr id="45" name="Text 43"/>
          <p:cNvSpPr/>
          <p:nvPr/>
        </p:nvSpPr>
        <p:spPr>
          <a:xfrm>
            <a:off x="6172200" y="1572768"/>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N12</a:t>
            </a:r>
            <a:endParaRPr lang="en-US" sz="900" dirty="0"/>
          </a:p>
        </p:txBody>
      </p:sp>
      <p:sp>
        <p:nvSpPr>
          <p:cNvPr id="46" name="Shape 44"/>
          <p:cNvSpPr/>
          <p:nvPr/>
        </p:nvSpPr>
        <p:spPr>
          <a:xfrm>
            <a:off x="7141464" y="1572768"/>
            <a:ext cx="941832" cy="292608"/>
          </a:xfrm>
          <a:prstGeom prst="roundRect">
            <a:avLst>
              <a:gd name="adj" fmla="val 12500"/>
            </a:avLst>
          </a:prstGeom>
          <a:solidFill>
            <a:srgbClr val="1F4E79"/>
          </a:solidFill>
          <a:ln w="6350">
            <a:solidFill>
              <a:srgbClr val="FFFFFF"/>
            </a:solidFill>
            <a:prstDash val="solid"/>
          </a:ln>
        </p:spPr>
        <p:txBody>
          <a:bodyPr/>
          <a:lstStyle/>
          <a:p>
            <a:endParaRPr lang="en-US"/>
          </a:p>
        </p:txBody>
      </p:sp>
      <p:sp>
        <p:nvSpPr>
          <p:cNvPr id="47" name="Text 45"/>
          <p:cNvSpPr/>
          <p:nvPr/>
        </p:nvSpPr>
        <p:spPr>
          <a:xfrm>
            <a:off x="7141464" y="1572768"/>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N12</a:t>
            </a:r>
            <a:endParaRPr lang="en-US" sz="900" dirty="0"/>
          </a:p>
        </p:txBody>
      </p:sp>
      <p:sp>
        <p:nvSpPr>
          <p:cNvPr id="48" name="Text 46"/>
          <p:cNvSpPr/>
          <p:nvPr/>
        </p:nvSpPr>
        <p:spPr>
          <a:xfrm>
            <a:off x="347472" y="1883664"/>
            <a:ext cx="932688" cy="292608"/>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Crew C</a:t>
            </a:r>
            <a:endParaRPr lang="en-US" sz="900" dirty="0"/>
          </a:p>
        </p:txBody>
      </p:sp>
      <p:sp>
        <p:nvSpPr>
          <p:cNvPr id="49" name="Shape 47"/>
          <p:cNvSpPr/>
          <p:nvPr/>
        </p:nvSpPr>
        <p:spPr>
          <a:xfrm>
            <a:off x="1325880" y="1883664"/>
            <a:ext cx="941832" cy="292608"/>
          </a:xfrm>
          <a:prstGeom prst="roundRect">
            <a:avLst>
              <a:gd name="adj" fmla="val 12500"/>
            </a:avLst>
          </a:prstGeom>
          <a:solidFill>
            <a:srgbClr val="1F4E79"/>
          </a:solidFill>
          <a:ln w="6350">
            <a:solidFill>
              <a:srgbClr val="FFFFFF"/>
            </a:solidFill>
            <a:prstDash val="solid"/>
          </a:ln>
        </p:spPr>
        <p:txBody>
          <a:bodyPr/>
          <a:lstStyle/>
          <a:p>
            <a:endParaRPr lang="en-US"/>
          </a:p>
        </p:txBody>
      </p:sp>
      <p:sp>
        <p:nvSpPr>
          <p:cNvPr id="50" name="Text 48"/>
          <p:cNvSpPr/>
          <p:nvPr/>
        </p:nvSpPr>
        <p:spPr>
          <a:xfrm>
            <a:off x="1325880" y="1883664"/>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N12</a:t>
            </a:r>
            <a:endParaRPr lang="en-US" sz="900" dirty="0"/>
          </a:p>
        </p:txBody>
      </p:sp>
      <p:sp>
        <p:nvSpPr>
          <p:cNvPr id="51" name="Shape 49"/>
          <p:cNvSpPr/>
          <p:nvPr/>
        </p:nvSpPr>
        <p:spPr>
          <a:xfrm>
            <a:off x="2295144" y="1883664"/>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52" name="Text 50"/>
          <p:cNvSpPr/>
          <p:nvPr/>
        </p:nvSpPr>
        <p:spPr>
          <a:xfrm>
            <a:off x="2295144" y="1883664"/>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53" name="Shape 51"/>
          <p:cNvSpPr/>
          <p:nvPr/>
        </p:nvSpPr>
        <p:spPr>
          <a:xfrm>
            <a:off x="3264408" y="1883664"/>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54" name="Text 52"/>
          <p:cNvSpPr/>
          <p:nvPr/>
        </p:nvSpPr>
        <p:spPr>
          <a:xfrm>
            <a:off x="3264408" y="1883664"/>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55" name="Shape 53"/>
          <p:cNvSpPr/>
          <p:nvPr/>
        </p:nvSpPr>
        <p:spPr>
          <a:xfrm>
            <a:off x="4233672" y="1883664"/>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56" name="Text 54"/>
          <p:cNvSpPr/>
          <p:nvPr/>
        </p:nvSpPr>
        <p:spPr>
          <a:xfrm>
            <a:off x="4233672" y="1883664"/>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57" name="Shape 55"/>
          <p:cNvSpPr/>
          <p:nvPr/>
        </p:nvSpPr>
        <p:spPr>
          <a:xfrm>
            <a:off x="5202936" y="1883664"/>
            <a:ext cx="941832" cy="292608"/>
          </a:xfrm>
          <a:prstGeom prst="roundRect">
            <a:avLst>
              <a:gd name="adj" fmla="val 12500"/>
            </a:avLst>
          </a:prstGeom>
          <a:solidFill>
            <a:srgbClr val="1D6A72"/>
          </a:solidFill>
          <a:ln w="6350">
            <a:solidFill>
              <a:srgbClr val="FFFFFF"/>
            </a:solidFill>
            <a:prstDash val="solid"/>
          </a:ln>
        </p:spPr>
        <p:txBody>
          <a:bodyPr/>
          <a:lstStyle/>
          <a:p>
            <a:endParaRPr lang="en-US"/>
          </a:p>
        </p:txBody>
      </p:sp>
      <p:sp>
        <p:nvSpPr>
          <p:cNvPr id="58" name="Text 56"/>
          <p:cNvSpPr/>
          <p:nvPr/>
        </p:nvSpPr>
        <p:spPr>
          <a:xfrm>
            <a:off x="5202936" y="1883664"/>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D12</a:t>
            </a:r>
            <a:endParaRPr lang="en-US" sz="900" dirty="0"/>
          </a:p>
        </p:txBody>
      </p:sp>
      <p:sp>
        <p:nvSpPr>
          <p:cNvPr id="59" name="Shape 57"/>
          <p:cNvSpPr/>
          <p:nvPr/>
        </p:nvSpPr>
        <p:spPr>
          <a:xfrm>
            <a:off x="6172200" y="1883664"/>
            <a:ext cx="941832" cy="292608"/>
          </a:xfrm>
          <a:prstGeom prst="roundRect">
            <a:avLst>
              <a:gd name="adj" fmla="val 12500"/>
            </a:avLst>
          </a:prstGeom>
          <a:solidFill>
            <a:srgbClr val="1D6A72"/>
          </a:solidFill>
          <a:ln w="6350">
            <a:solidFill>
              <a:srgbClr val="FFFFFF"/>
            </a:solidFill>
            <a:prstDash val="solid"/>
          </a:ln>
        </p:spPr>
        <p:txBody>
          <a:bodyPr/>
          <a:lstStyle/>
          <a:p>
            <a:endParaRPr lang="en-US"/>
          </a:p>
        </p:txBody>
      </p:sp>
      <p:sp>
        <p:nvSpPr>
          <p:cNvPr id="60" name="Text 58"/>
          <p:cNvSpPr/>
          <p:nvPr/>
        </p:nvSpPr>
        <p:spPr>
          <a:xfrm>
            <a:off x="6172200" y="1883664"/>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D12</a:t>
            </a:r>
            <a:endParaRPr lang="en-US" sz="900" dirty="0"/>
          </a:p>
        </p:txBody>
      </p:sp>
      <p:sp>
        <p:nvSpPr>
          <p:cNvPr id="61" name="Shape 59"/>
          <p:cNvSpPr/>
          <p:nvPr/>
        </p:nvSpPr>
        <p:spPr>
          <a:xfrm>
            <a:off x="7141464" y="1883664"/>
            <a:ext cx="941832" cy="292608"/>
          </a:xfrm>
          <a:prstGeom prst="roundRect">
            <a:avLst>
              <a:gd name="adj" fmla="val 12500"/>
            </a:avLst>
          </a:prstGeom>
          <a:solidFill>
            <a:srgbClr val="1D6A72"/>
          </a:solidFill>
          <a:ln w="6350">
            <a:solidFill>
              <a:srgbClr val="FFFFFF"/>
            </a:solidFill>
            <a:prstDash val="solid"/>
          </a:ln>
        </p:spPr>
        <p:txBody>
          <a:bodyPr/>
          <a:lstStyle/>
          <a:p>
            <a:endParaRPr lang="en-US"/>
          </a:p>
        </p:txBody>
      </p:sp>
      <p:sp>
        <p:nvSpPr>
          <p:cNvPr id="62" name="Text 60"/>
          <p:cNvSpPr/>
          <p:nvPr/>
        </p:nvSpPr>
        <p:spPr>
          <a:xfrm>
            <a:off x="7141464" y="1883664"/>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D12</a:t>
            </a:r>
            <a:endParaRPr lang="en-US" sz="900" dirty="0"/>
          </a:p>
        </p:txBody>
      </p:sp>
      <p:sp>
        <p:nvSpPr>
          <p:cNvPr id="63" name="Text 61"/>
          <p:cNvSpPr/>
          <p:nvPr/>
        </p:nvSpPr>
        <p:spPr>
          <a:xfrm>
            <a:off x="347472" y="2194560"/>
            <a:ext cx="932688" cy="292608"/>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Crew D</a:t>
            </a:r>
            <a:endParaRPr lang="en-US" sz="900" dirty="0"/>
          </a:p>
        </p:txBody>
      </p:sp>
      <p:sp>
        <p:nvSpPr>
          <p:cNvPr id="64" name="Shape 62"/>
          <p:cNvSpPr/>
          <p:nvPr/>
        </p:nvSpPr>
        <p:spPr>
          <a:xfrm>
            <a:off x="1325880" y="2194560"/>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65" name="Text 63"/>
          <p:cNvSpPr/>
          <p:nvPr/>
        </p:nvSpPr>
        <p:spPr>
          <a:xfrm>
            <a:off x="1325880" y="2194560"/>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66" name="Shape 64"/>
          <p:cNvSpPr/>
          <p:nvPr/>
        </p:nvSpPr>
        <p:spPr>
          <a:xfrm>
            <a:off x="2295144" y="2194560"/>
            <a:ext cx="941832" cy="292608"/>
          </a:xfrm>
          <a:prstGeom prst="roundRect">
            <a:avLst>
              <a:gd name="adj" fmla="val 12500"/>
            </a:avLst>
          </a:prstGeom>
          <a:solidFill>
            <a:srgbClr val="1F4E79"/>
          </a:solidFill>
          <a:ln w="6350">
            <a:solidFill>
              <a:srgbClr val="FFFFFF"/>
            </a:solidFill>
            <a:prstDash val="solid"/>
          </a:ln>
        </p:spPr>
        <p:txBody>
          <a:bodyPr/>
          <a:lstStyle/>
          <a:p>
            <a:endParaRPr lang="en-US"/>
          </a:p>
        </p:txBody>
      </p:sp>
      <p:sp>
        <p:nvSpPr>
          <p:cNvPr id="67" name="Text 65"/>
          <p:cNvSpPr/>
          <p:nvPr/>
        </p:nvSpPr>
        <p:spPr>
          <a:xfrm>
            <a:off x="2295144" y="2194560"/>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N12</a:t>
            </a:r>
            <a:endParaRPr lang="en-US" sz="900" dirty="0"/>
          </a:p>
        </p:txBody>
      </p:sp>
      <p:sp>
        <p:nvSpPr>
          <p:cNvPr id="68" name="Shape 66"/>
          <p:cNvSpPr/>
          <p:nvPr/>
        </p:nvSpPr>
        <p:spPr>
          <a:xfrm>
            <a:off x="3264408" y="2194560"/>
            <a:ext cx="941832" cy="292608"/>
          </a:xfrm>
          <a:prstGeom prst="roundRect">
            <a:avLst>
              <a:gd name="adj" fmla="val 12500"/>
            </a:avLst>
          </a:prstGeom>
          <a:solidFill>
            <a:srgbClr val="1F4E79"/>
          </a:solidFill>
          <a:ln w="6350">
            <a:solidFill>
              <a:srgbClr val="FFFFFF"/>
            </a:solidFill>
            <a:prstDash val="solid"/>
          </a:ln>
        </p:spPr>
        <p:txBody>
          <a:bodyPr/>
          <a:lstStyle/>
          <a:p>
            <a:endParaRPr lang="en-US"/>
          </a:p>
        </p:txBody>
      </p:sp>
      <p:sp>
        <p:nvSpPr>
          <p:cNvPr id="69" name="Text 67"/>
          <p:cNvSpPr/>
          <p:nvPr/>
        </p:nvSpPr>
        <p:spPr>
          <a:xfrm>
            <a:off x="3264408" y="2194560"/>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N12</a:t>
            </a:r>
            <a:endParaRPr lang="en-US" sz="900" dirty="0"/>
          </a:p>
        </p:txBody>
      </p:sp>
      <p:sp>
        <p:nvSpPr>
          <p:cNvPr id="70" name="Shape 68"/>
          <p:cNvSpPr/>
          <p:nvPr/>
        </p:nvSpPr>
        <p:spPr>
          <a:xfrm>
            <a:off x="4233672" y="2194560"/>
            <a:ext cx="941832" cy="292608"/>
          </a:xfrm>
          <a:prstGeom prst="roundRect">
            <a:avLst>
              <a:gd name="adj" fmla="val 12500"/>
            </a:avLst>
          </a:prstGeom>
          <a:solidFill>
            <a:srgbClr val="1F4E79"/>
          </a:solidFill>
          <a:ln w="6350">
            <a:solidFill>
              <a:srgbClr val="FFFFFF"/>
            </a:solidFill>
            <a:prstDash val="solid"/>
          </a:ln>
        </p:spPr>
        <p:txBody>
          <a:bodyPr/>
          <a:lstStyle/>
          <a:p>
            <a:endParaRPr lang="en-US"/>
          </a:p>
        </p:txBody>
      </p:sp>
      <p:sp>
        <p:nvSpPr>
          <p:cNvPr id="71" name="Text 69"/>
          <p:cNvSpPr/>
          <p:nvPr/>
        </p:nvSpPr>
        <p:spPr>
          <a:xfrm>
            <a:off x="4233672" y="2194560"/>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N12</a:t>
            </a:r>
            <a:endParaRPr lang="en-US" sz="900" dirty="0"/>
          </a:p>
        </p:txBody>
      </p:sp>
      <p:sp>
        <p:nvSpPr>
          <p:cNvPr id="72" name="Shape 70"/>
          <p:cNvSpPr/>
          <p:nvPr/>
        </p:nvSpPr>
        <p:spPr>
          <a:xfrm>
            <a:off x="5202936" y="2194560"/>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73" name="Text 71"/>
          <p:cNvSpPr/>
          <p:nvPr/>
        </p:nvSpPr>
        <p:spPr>
          <a:xfrm>
            <a:off x="5202936" y="2194560"/>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74" name="Shape 72"/>
          <p:cNvSpPr/>
          <p:nvPr/>
        </p:nvSpPr>
        <p:spPr>
          <a:xfrm>
            <a:off x="6172200" y="2194560"/>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75" name="Text 73"/>
          <p:cNvSpPr/>
          <p:nvPr/>
        </p:nvSpPr>
        <p:spPr>
          <a:xfrm>
            <a:off x="6172200" y="2194560"/>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76" name="Shape 74"/>
          <p:cNvSpPr/>
          <p:nvPr/>
        </p:nvSpPr>
        <p:spPr>
          <a:xfrm>
            <a:off x="7141464" y="2194560"/>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77" name="Text 75"/>
          <p:cNvSpPr/>
          <p:nvPr/>
        </p:nvSpPr>
        <p:spPr>
          <a:xfrm>
            <a:off x="7141464" y="2194560"/>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78" name="Shape 76"/>
          <p:cNvSpPr/>
          <p:nvPr/>
        </p:nvSpPr>
        <p:spPr>
          <a:xfrm>
            <a:off x="365760" y="2670048"/>
            <a:ext cx="2651760" cy="685800"/>
          </a:xfrm>
          <a:prstGeom prst="roundRect">
            <a:avLst>
              <a:gd name="adj" fmla="val 10667"/>
            </a:avLst>
          </a:prstGeom>
          <a:solidFill>
            <a:srgbClr val="F0F4F8"/>
          </a:solidFill>
          <a:ln w="12700">
            <a:solidFill>
              <a:srgbClr val="E2E8F0"/>
            </a:solidFill>
            <a:prstDash val="solid"/>
          </a:ln>
        </p:spPr>
        <p:txBody>
          <a:bodyPr/>
          <a:lstStyle/>
          <a:p>
            <a:endParaRPr lang="en-US"/>
          </a:p>
        </p:txBody>
      </p:sp>
      <p:sp>
        <p:nvSpPr>
          <p:cNvPr id="79" name="Text 77"/>
          <p:cNvSpPr/>
          <p:nvPr/>
        </p:nvSpPr>
        <p:spPr>
          <a:xfrm>
            <a:off x="457200" y="2706624"/>
            <a:ext cx="2468880" cy="274320"/>
          </a:xfrm>
          <a:prstGeom prst="rect">
            <a:avLst/>
          </a:prstGeom>
          <a:noFill/>
          <a:ln/>
        </p:spPr>
        <p:txBody>
          <a:bodyPr wrap="square" rtlCol="0" anchor="ctr"/>
          <a:lstStyle/>
          <a:p>
            <a:pPr marL="0" indent="0">
              <a:buNone/>
            </a:pPr>
            <a:r>
              <a:rPr lang="en-US" sz="1400" b="1" dirty="0">
                <a:solidFill>
                  <a:srgbClr val="1F4E79"/>
                </a:solidFill>
                <a:latin typeface="Cambria" pitchFamily="34" charset="0"/>
                <a:ea typeface="Cambria" pitchFamily="34" charset="-122"/>
                <a:cs typeface="Cambria" pitchFamily="34" charset="-120"/>
              </a:rPr>
              <a:t>4 Crews</a:t>
            </a:r>
            <a:endParaRPr lang="en-US" sz="1400" dirty="0"/>
          </a:p>
        </p:txBody>
      </p:sp>
      <p:sp>
        <p:nvSpPr>
          <p:cNvPr id="80" name="Text 78"/>
          <p:cNvSpPr/>
          <p:nvPr/>
        </p:nvSpPr>
        <p:spPr>
          <a:xfrm>
            <a:off x="457200" y="2999232"/>
            <a:ext cx="2468880" cy="274320"/>
          </a:xfrm>
          <a:prstGeom prst="rect">
            <a:avLst/>
          </a:prstGeom>
          <a:noFill/>
          <a:ln/>
        </p:spPr>
        <p:txBody>
          <a:bodyPr wrap="square" rtlCol="0" anchor="ctr"/>
          <a:lstStyle/>
          <a:p>
            <a:pPr marL="0" indent="0">
              <a:buNone/>
            </a:pPr>
            <a:r>
              <a:rPr lang="en-US" sz="1100" dirty="0">
                <a:solidFill>
                  <a:srgbClr val="64748B"/>
                </a:solidFill>
                <a:latin typeface="Arial" pitchFamily="34" charset="0"/>
                <a:ea typeface="Arial" pitchFamily="34" charset="-122"/>
                <a:cs typeface="Arial" pitchFamily="34" charset="-120"/>
              </a:rPr>
              <a:t>182 annual days of work</a:t>
            </a:r>
            <a:endParaRPr lang="en-US" sz="1100" dirty="0"/>
          </a:p>
        </p:txBody>
      </p:sp>
      <p:sp>
        <p:nvSpPr>
          <p:cNvPr id="81" name="Shape 79"/>
          <p:cNvSpPr/>
          <p:nvPr/>
        </p:nvSpPr>
        <p:spPr>
          <a:xfrm>
            <a:off x="3200400" y="2670048"/>
            <a:ext cx="2651760" cy="685800"/>
          </a:xfrm>
          <a:prstGeom prst="roundRect">
            <a:avLst>
              <a:gd name="adj" fmla="val 10667"/>
            </a:avLst>
          </a:prstGeom>
          <a:solidFill>
            <a:srgbClr val="F0F4F8"/>
          </a:solidFill>
          <a:ln w="12700">
            <a:solidFill>
              <a:srgbClr val="E2E8F0"/>
            </a:solidFill>
            <a:prstDash val="solid"/>
          </a:ln>
        </p:spPr>
        <p:txBody>
          <a:bodyPr/>
          <a:lstStyle/>
          <a:p>
            <a:endParaRPr lang="en-US"/>
          </a:p>
        </p:txBody>
      </p:sp>
      <p:sp>
        <p:nvSpPr>
          <p:cNvPr id="82" name="Text 80"/>
          <p:cNvSpPr/>
          <p:nvPr/>
        </p:nvSpPr>
        <p:spPr>
          <a:xfrm>
            <a:off x="3291840" y="2706624"/>
            <a:ext cx="2468880" cy="274320"/>
          </a:xfrm>
          <a:prstGeom prst="rect">
            <a:avLst/>
          </a:prstGeom>
          <a:noFill/>
          <a:ln/>
        </p:spPr>
        <p:txBody>
          <a:bodyPr wrap="square" rtlCol="0" anchor="ctr"/>
          <a:lstStyle/>
          <a:p>
            <a:pPr marL="0" indent="0">
              <a:buNone/>
            </a:pPr>
            <a:r>
              <a:rPr lang="en-US" sz="1400" b="1" dirty="0">
                <a:solidFill>
                  <a:srgbClr val="1F4E79"/>
                </a:solidFill>
                <a:latin typeface="Cambria" pitchFamily="34" charset="0"/>
                <a:ea typeface="Cambria" pitchFamily="34" charset="-122"/>
                <a:cs typeface="Cambria" pitchFamily="34" charset="-120"/>
              </a:rPr>
              <a:t>42-hr avg</a:t>
            </a:r>
            <a:endParaRPr lang="en-US" sz="1400" dirty="0"/>
          </a:p>
        </p:txBody>
      </p:sp>
      <p:sp>
        <p:nvSpPr>
          <p:cNvPr id="83" name="Text 81"/>
          <p:cNvSpPr/>
          <p:nvPr/>
        </p:nvSpPr>
        <p:spPr>
          <a:xfrm>
            <a:off x="3291840" y="2999232"/>
            <a:ext cx="2468880" cy="274320"/>
          </a:xfrm>
          <a:prstGeom prst="rect">
            <a:avLst/>
          </a:prstGeom>
          <a:noFill/>
          <a:ln/>
        </p:spPr>
        <p:txBody>
          <a:bodyPr wrap="square" rtlCol="0" anchor="ctr"/>
          <a:lstStyle/>
          <a:p>
            <a:pPr marL="0" indent="0">
              <a:buNone/>
            </a:pPr>
            <a:r>
              <a:rPr lang="en-US" sz="1100" dirty="0">
                <a:solidFill>
                  <a:srgbClr val="64748B"/>
                </a:solidFill>
                <a:latin typeface="Arial" pitchFamily="34" charset="0"/>
                <a:ea typeface="Arial" pitchFamily="34" charset="-122"/>
                <a:cs typeface="Arial" pitchFamily="34" charset="-120"/>
              </a:rPr>
              <a:t>2 weekends off/month</a:t>
            </a:r>
            <a:endParaRPr lang="en-US" sz="1100" dirty="0"/>
          </a:p>
        </p:txBody>
      </p:sp>
      <p:sp>
        <p:nvSpPr>
          <p:cNvPr id="84" name="Shape 82"/>
          <p:cNvSpPr/>
          <p:nvPr/>
        </p:nvSpPr>
        <p:spPr>
          <a:xfrm>
            <a:off x="6035040" y="2670048"/>
            <a:ext cx="2651760" cy="685800"/>
          </a:xfrm>
          <a:prstGeom prst="roundRect">
            <a:avLst>
              <a:gd name="adj" fmla="val 10667"/>
            </a:avLst>
          </a:prstGeom>
          <a:solidFill>
            <a:srgbClr val="F0F4F8"/>
          </a:solidFill>
          <a:ln w="12700">
            <a:solidFill>
              <a:srgbClr val="E2E8F0"/>
            </a:solidFill>
            <a:prstDash val="solid"/>
          </a:ln>
        </p:spPr>
        <p:txBody>
          <a:bodyPr/>
          <a:lstStyle/>
          <a:p>
            <a:endParaRPr lang="en-US"/>
          </a:p>
        </p:txBody>
      </p:sp>
      <p:sp>
        <p:nvSpPr>
          <p:cNvPr id="85" name="Text 83"/>
          <p:cNvSpPr/>
          <p:nvPr/>
        </p:nvSpPr>
        <p:spPr>
          <a:xfrm>
            <a:off x="6126480" y="2706624"/>
            <a:ext cx="2468880" cy="274320"/>
          </a:xfrm>
          <a:prstGeom prst="rect">
            <a:avLst/>
          </a:prstGeom>
          <a:noFill/>
          <a:ln/>
        </p:spPr>
        <p:txBody>
          <a:bodyPr wrap="square" rtlCol="0" anchor="ctr"/>
          <a:lstStyle/>
          <a:p>
            <a:pPr marL="0" indent="0">
              <a:buNone/>
            </a:pPr>
            <a:r>
              <a:rPr lang="en-US" sz="1400" b="1" dirty="0">
                <a:solidFill>
                  <a:srgbClr val="1F4E79"/>
                </a:solidFill>
                <a:latin typeface="Cambria" pitchFamily="34" charset="0"/>
                <a:ea typeface="Cambria" pitchFamily="34" charset="-122"/>
                <a:cs typeface="Cambria" pitchFamily="34" charset="-120"/>
              </a:rPr>
              <a:t>12-hr shifts</a:t>
            </a:r>
            <a:endParaRPr lang="en-US" sz="1400" dirty="0"/>
          </a:p>
        </p:txBody>
      </p:sp>
      <p:sp>
        <p:nvSpPr>
          <p:cNvPr id="86" name="Text 84"/>
          <p:cNvSpPr/>
          <p:nvPr/>
        </p:nvSpPr>
        <p:spPr>
          <a:xfrm>
            <a:off x="6126480" y="2999232"/>
            <a:ext cx="2468880" cy="274320"/>
          </a:xfrm>
          <a:prstGeom prst="rect">
            <a:avLst/>
          </a:prstGeom>
          <a:noFill/>
          <a:ln/>
        </p:spPr>
        <p:txBody>
          <a:bodyPr wrap="square" rtlCol="0" anchor="ctr"/>
          <a:lstStyle/>
          <a:p>
            <a:pPr marL="0" indent="0">
              <a:buNone/>
            </a:pPr>
            <a:r>
              <a:rPr lang="en-US" sz="1100" dirty="0">
                <a:solidFill>
                  <a:srgbClr val="64748B"/>
                </a:solidFill>
                <a:latin typeface="Arial" pitchFamily="34" charset="0"/>
                <a:ea typeface="Arial" pitchFamily="34" charset="-122"/>
                <a:cs typeface="Arial" pitchFamily="34" charset="-120"/>
              </a:rPr>
              <a:t>7-day break every 4 weeks</a:t>
            </a:r>
            <a:endParaRPr lang="en-US" sz="1100" dirty="0"/>
          </a:p>
        </p:txBody>
      </p:sp>
      <p:sp>
        <p:nvSpPr>
          <p:cNvPr id="87" name="Shape 85"/>
          <p:cNvSpPr/>
          <p:nvPr/>
        </p:nvSpPr>
        <p:spPr>
          <a:xfrm>
            <a:off x="365760" y="3447288"/>
            <a:ext cx="8412480" cy="502920"/>
          </a:xfrm>
          <a:prstGeom prst="roundRect">
            <a:avLst>
              <a:gd name="adj" fmla="val 18182"/>
            </a:avLst>
          </a:prstGeom>
          <a:solidFill>
            <a:srgbClr val="1F4E79"/>
          </a:solidFill>
          <a:ln w="12700">
            <a:solidFill>
              <a:srgbClr val="1F4E79"/>
            </a:solidFill>
            <a:prstDash val="solid"/>
          </a:ln>
        </p:spPr>
        <p:txBody>
          <a:bodyPr/>
          <a:lstStyle/>
          <a:p>
            <a:endParaRPr lang="en-US"/>
          </a:p>
        </p:txBody>
      </p:sp>
      <p:sp>
        <p:nvSpPr>
          <p:cNvPr id="88" name="Text 86"/>
          <p:cNvSpPr/>
          <p:nvPr/>
        </p:nvSpPr>
        <p:spPr>
          <a:xfrm>
            <a:off x="457200" y="3474720"/>
            <a:ext cx="82296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91 fewer days of work per year at the same pay. Recruiting got much easier.</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DABED-72B0-F213-212D-445E04E0200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12BD8A3-749D-6D43-B2A7-74F95BC95279}"/>
              </a:ext>
            </a:extLst>
          </p:cNvPr>
          <p:cNvSpPr/>
          <p:nvPr/>
        </p:nvSpPr>
        <p:spPr>
          <a:xfrm>
            <a:off x="457200" y="164592"/>
            <a:ext cx="8229600" cy="502920"/>
          </a:xfrm>
          <a:prstGeom prst="rect">
            <a:avLst/>
          </a:prstGeom>
          <a:noFill/>
          <a:ln/>
        </p:spPr>
        <p:txBody>
          <a:bodyPr wrap="square" rtlCol="0" anchor="ctr"/>
          <a:lstStyle/>
          <a:p>
            <a:pPr marL="0" indent="0">
              <a:buNone/>
            </a:pPr>
            <a:r>
              <a:rPr lang="en-US" sz="2800" b="1" dirty="0">
                <a:solidFill>
                  <a:srgbClr val="1F4E79"/>
                </a:solidFill>
                <a:latin typeface="Cambria" pitchFamily="34" charset="0"/>
                <a:ea typeface="Cambria" pitchFamily="34" charset="-122"/>
                <a:cs typeface="Cambria" pitchFamily="34" charset="-120"/>
              </a:rPr>
              <a:t>The DuPont: Sold on the 7-Day Break</a:t>
            </a:r>
            <a:endParaRPr lang="en-US" sz="2800" dirty="0"/>
          </a:p>
        </p:txBody>
      </p:sp>
      <p:sp>
        <p:nvSpPr>
          <p:cNvPr id="3" name="Text 1">
            <a:extLst>
              <a:ext uri="{FF2B5EF4-FFF2-40B4-BE49-F238E27FC236}">
                <a16:creationId xmlns:a16="http://schemas.microsoft.com/office/drawing/2014/main" id="{F74902F2-CBAC-315B-979C-E3B1C7D44485}"/>
              </a:ext>
            </a:extLst>
          </p:cNvPr>
          <p:cNvSpPr/>
          <p:nvPr/>
        </p:nvSpPr>
        <p:spPr>
          <a:xfrm>
            <a:off x="457200" y="685800"/>
            <a:ext cx="8229600" cy="256032"/>
          </a:xfrm>
          <a:prstGeom prst="rect">
            <a:avLst/>
          </a:prstGeom>
          <a:noFill/>
          <a:ln/>
        </p:spPr>
        <p:txBody>
          <a:bodyPr wrap="square" rtlCol="0" anchor="ctr"/>
          <a:lstStyle/>
          <a:p>
            <a:pPr marL="0" indent="0">
              <a:buNone/>
            </a:pPr>
            <a:r>
              <a:rPr lang="en-US" sz="1100" i="1" dirty="0">
                <a:solidFill>
                  <a:srgbClr val="64748B"/>
                </a:solidFill>
                <a:latin typeface="Arial" pitchFamily="34" charset="0"/>
                <a:ea typeface="Arial" pitchFamily="34" charset="-122"/>
                <a:cs typeface="Arial" pitchFamily="34" charset="-120"/>
              </a:rPr>
              <a:t>Created in the late 1980s — the most widely used 24/7 schedule in the paper industry.</a:t>
            </a:r>
            <a:endParaRPr lang="en-US" sz="1100" dirty="0"/>
          </a:p>
        </p:txBody>
      </p:sp>
      <p:sp>
        <p:nvSpPr>
          <p:cNvPr id="4" name="Shape 2">
            <a:extLst>
              <a:ext uri="{FF2B5EF4-FFF2-40B4-BE49-F238E27FC236}">
                <a16:creationId xmlns:a16="http://schemas.microsoft.com/office/drawing/2014/main" id="{B8672B28-EA99-182A-FCAF-99704A112C7E}"/>
              </a:ext>
            </a:extLst>
          </p:cNvPr>
          <p:cNvSpPr/>
          <p:nvPr/>
        </p:nvSpPr>
        <p:spPr>
          <a:xfrm>
            <a:off x="1325880" y="987552"/>
            <a:ext cx="941832"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5" name="Text 3">
            <a:extLst>
              <a:ext uri="{FF2B5EF4-FFF2-40B4-BE49-F238E27FC236}">
                <a16:creationId xmlns:a16="http://schemas.microsoft.com/office/drawing/2014/main" id="{BB2316A1-32E8-9405-63F1-26DB4CE1AE16}"/>
              </a:ext>
            </a:extLst>
          </p:cNvPr>
          <p:cNvSpPr/>
          <p:nvPr/>
        </p:nvSpPr>
        <p:spPr>
          <a:xfrm>
            <a:off x="1325880" y="987552"/>
            <a:ext cx="9418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Mon</a:t>
            </a:r>
            <a:endParaRPr lang="en-US" sz="900" dirty="0"/>
          </a:p>
        </p:txBody>
      </p:sp>
      <p:sp>
        <p:nvSpPr>
          <p:cNvPr id="6" name="Shape 4">
            <a:extLst>
              <a:ext uri="{FF2B5EF4-FFF2-40B4-BE49-F238E27FC236}">
                <a16:creationId xmlns:a16="http://schemas.microsoft.com/office/drawing/2014/main" id="{104A4B81-77AB-D01D-EF74-2E2EBC368356}"/>
              </a:ext>
            </a:extLst>
          </p:cNvPr>
          <p:cNvSpPr/>
          <p:nvPr/>
        </p:nvSpPr>
        <p:spPr>
          <a:xfrm>
            <a:off x="2295144" y="987552"/>
            <a:ext cx="941832"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7" name="Text 5">
            <a:extLst>
              <a:ext uri="{FF2B5EF4-FFF2-40B4-BE49-F238E27FC236}">
                <a16:creationId xmlns:a16="http://schemas.microsoft.com/office/drawing/2014/main" id="{53E3A036-0150-85F7-A68D-EBBC56CFF59A}"/>
              </a:ext>
            </a:extLst>
          </p:cNvPr>
          <p:cNvSpPr/>
          <p:nvPr/>
        </p:nvSpPr>
        <p:spPr>
          <a:xfrm>
            <a:off x="2295144" y="987552"/>
            <a:ext cx="9418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Tue</a:t>
            </a:r>
            <a:endParaRPr lang="en-US" sz="900" dirty="0"/>
          </a:p>
        </p:txBody>
      </p:sp>
      <p:sp>
        <p:nvSpPr>
          <p:cNvPr id="8" name="Shape 6">
            <a:extLst>
              <a:ext uri="{FF2B5EF4-FFF2-40B4-BE49-F238E27FC236}">
                <a16:creationId xmlns:a16="http://schemas.microsoft.com/office/drawing/2014/main" id="{DC626C9A-8D54-8BEA-2D78-A8274790BE75}"/>
              </a:ext>
            </a:extLst>
          </p:cNvPr>
          <p:cNvSpPr/>
          <p:nvPr/>
        </p:nvSpPr>
        <p:spPr>
          <a:xfrm>
            <a:off x="3264408" y="987552"/>
            <a:ext cx="941832"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9" name="Text 7">
            <a:extLst>
              <a:ext uri="{FF2B5EF4-FFF2-40B4-BE49-F238E27FC236}">
                <a16:creationId xmlns:a16="http://schemas.microsoft.com/office/drawing/2014/main" id="{0AAE6420-9A0E-D0F1-06C6-C92602C39976}"/>
              </a:ext>
            </a:extLst>
          </p:cNvPr>
          <p:cNvSpPr/>
          <p:nvPr/>
        </p:nvSpPr>
        <p:spPr>
          <a:xfrm>
            <a:off x="3264408" y="987552"/>
            <a:ext cx="9418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Wed</a:t>
            </a:r>
            <a:endParaRPr lang="en-US" sz="900" dirty="0"/>
          </a:p>
        </p:txBody>
      </p:sp>
      <p:sp>
        <p:nvSpPr>
          <p:cNvPr id="10" name="Shape 8">
            <a:extLst>
              <a:ext uri="{FF2B5EF4-FFF2-40B4-BE49-F238E27FC236}">
                <a16:creationId xmlns:a16="http://schemas.microsoft.com/office/drawing/2014/main" id="{204FEA26-0ED1-3974-DCA8-2AD8D670E4E3}"/>
              </a:ext>
            </a:extLst>
          </p:cNvPr>
          <p:cNvSpPr/>
          <p:nvPr/>
        </p:nvSpPr>
        <p:spPr>
          <a:xfrm>
            <a:off x="4233672" y="987552"/>
            <a:ext cx="941832"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1" name="Text 9">
            <a:extLst>
              <a:ext uri="{FF2B5EF4-FFF2-40B4-BE49-F238E27FC236}">
                <a16:creationId xmlns:a16="http://schemas.microsoft.com/office/drawing/2014/main" id="{71D2CCA1-9244-1917-BFFD-D0B069C2C091}"/>
              </a:ext>
            </a:extLst>
          </p:cNvPr>
          <p:cNvSpPr/>
          <p:nvPr/>
        </p:nvSpPr>
        <p:spPr>
          <a:xfrm>
            <a:off x="4233672" y="987552"/>
            <a:ext cx="9418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Thu</a:t>
            </a:r>
            <a:endParaRPr lang="en-US" sz="900" dirty="0"/>
          </a:p>
        </p:txBody>
      </p:sp>
      <p:sp>
        <p:nvSpPr>
          <p:cNvPr id="12" name="Shape 10">
            <a:extLst>
              <a:ext uri="{FF2B5EF4-FFF2-40B4-BE49-F238E27FC236}">
                <a16:creationId xmlns:a16="http://schemas.microsoft.com/office/drawing/2014/main" id="{1C8C3700-2AE7-3FF0-2538-87541B8AE4A2}"/>
              </a:ext>
            </a:extLst>
          </p:cNvPr>
          <p:cNvSpPr/>
          <p:nvPr/>
        </p:nvSpPr>
        <p:spPr>
          <a:xfrm>
            <a:off x="5202936" y="987552"/>
            <a:ext cx="941832"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3" name="Text 11">
            <a:extLst>
              <a:ext uri="{FF2B5EF4-FFF2-40B4-BE49-F238E27FC236}">
                <a16:creationId xmlns:a16="http://schemas.microsoft.com/office/drawing/2014/main" id="{A553A55F-EACF-8DF0-5735-29E882FB52BC}"/>
              </a:ext>
            </a:extLst>
          </p:cNvPr>
          <p:cNvSpPr/>
          <p:nvPr/>
        </p:nvSpPr>
        <p:spPr>
          <a:xfrm>
            <a:off x="5202936" y="987552"/>
            <a:ext cx="9418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Fri</a:t>
            </a:r>
            <a:endParaRPr lang="en-US" sz="900" dirty="0"/>
          </a:p>
        </p:txBody>
      </p:sp>
      <p:sp>
        <p:nvSpPr>
          <p:cNvPr id="14" name="Shape 12">
            <a:extLst>
              <a:ext uri="{FF2B5EF4-FFF2-40B4-BE49-F238E27FC236}">
                <a16:creationId xmlns:a16="http://schemas.microsoft.com/office/drawing/2014/main" id="{F164F376-E44A-1889-9DCA-80958854BFFB}"/>
              </a:ext>
            </a:extLst>
          </p:cNvPr>
          <p:cNvSpPr/>
          <p:nvPr/>
        </p:nvSpPr>
        <p:spPr>
          <a:xfrm>
            <a:off x="6172200" y="987552"/>
            <a:ext cx="941832"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5" name="Text 13">
            <a:extLst>
              <a:ext uri="{FF2B5EF4-FFF2-40B4-BE49-F238E27FC236}">
                <a16:creationId xmlns:a16="http://schemas.microsoft.com/office/drawing/2014/main" id="{82E5318A-766D-09A4-49CF-8DE5008E324C}"/>
              </a:ext>
            </a:extLst>
          </p:cNvPr>
          <p:cNvSpPr/>
          <p:nvPr/>
        </p:nvSpPr>
        <p:spPr>
          <a:xfrm>
            <a:off x="6172200" y="987552"/>
            <a:ext cx="9418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Sat</a:t>
            </a:r>
            <a:endParaRPr lang="en-US" sz="900" dirty="0"/>
          </a:p>
        </p:txBody>
      </p:sp>
      <p:sp>
        <p:nvSpPr>
          <p:cNvPr id="16" name="Shape 14">
            <a:extLst>
              <a:ext uri="{FF2B5EF4-FFF2-40B4-BE49-F238E27FC236}">
                <a16:creationId xmlns:a16="http://schemas.microsoft.com/office/drawing/2014/main" id="{B1078351-E87C-785B-0DA6-2724A65D1FF3}"/>
              </a:ext>
            </a:extLst>
          </p:cNvPr>
          <p:cNvSpPr/>
          <p:nvPr/>
        </p:nvSpPr>
        <p:spPr>
          <a:xfrm>
            <a:off x="7141464" y="987552"/>
            <a:ext cx="941832"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7" name="Text 15">
            <a:extLst>
              <a:ext uri="{FF2B5EF4-FFF2-40B4-BE49-F238E27FC236}">
                <a16:creationId xmlns:a16="http://schemas.microsoft.com/office/drawing/2014/main" id="{836C06F8-19D5-7757-44CD-8AA856A80C5C}"/>
              </a:ext>
            </a:extLst>
          </p:cNvPr>
          <p:cNvSpPr/>
          <p:nvPr/>
        </p:nvSpPr>
        <p:spPr>
          <a:xfrm>
            <a:off x="7141464" y="987552"/>
            <a:ext cx="9418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Sun</a:t>
            </a:r>
            <a:endParaRPr lang="en-US" sz="900" dirty="0"/>
          </a:p>
        </p:txBody>
      </p:sp>
      <p:sp>
        <p:nvSpPr>
          <p:cNvPr id="18" name="Text 16">
            <a:extLst>
              <a:ext uri="{FF2B5EF4-FFF2-40B4-BE49-F238E27FC236}">
                <a16:creationId xmlns:a16="http://schemas.microsoft.com/office/drawing/2014/main" id="{A9B49F06-B990-B4C3-1BD5-1FC73C98BC5F}"/>
              </a:ext>
            </a:extLst>
          </p:cNvPr>
          <p:cNvSpPr/>
          <p:nvPr/>
        </p:nvSpPr>
        <p:spPr>
          <a:xfrm>
            <a:off x="347472" y="1261872"/>
            <a:ext cx="932688" cy="292608"/>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Crew A</a:t>
            </a:r>
            <a:endParaRPr lang="en-US" sz="900" dirty="0"/>
          </a:p>
        </p:txBody>
      </p:sp>
      <p:sp>
        <p:nvSpPr>
          <p:cNvPr id="19" name="Shape 17">
            <a:extLst>
              <a:ext uri="{FF2B5EF4-FFF2-40B4-BE49-F238E27FC236}">
                <a16:creationId xmlns:a16="http://schemas.microsoft.com/office/drawing/2014/main" id="{EBDC9BB7-CB00-9B5F-3444-5401266E5F55}"/>
              </a:ext>
            </a:extLst>
          </p:cNvPr>
          <p:cNvSpPr/>
          <p:nvPr/>
        </p:nvSpPr>
        <p:spPr>
          <a:xfrm>
            <a:off x="1325880" y="1261872"/>
            <a:ext cx="941832" cy="292608"/>
          </a:xfrm>
          <a:prstGeom prst="roundRect">
            <a:avLst>
              <a:gd name="adj" fmla="val 12500"/>
            </a:avLst>
          </a:prstGeom>
          <a:solidFill>
            <a:srgbClr val="1D6A72"/>
          </a:solidFill>
          <a:ln w="6350">
            <a:solidFill>
              <a:srgbClr val="FFFFFF"/>
            </a:solidFill>
            <a:prstDash val="solid"/>
          </a:ln>
        </p:spPr>
        <p:txBody>
          <a:bodyPr/>
          <a:lstStyle/>
          <a:p>
            <a:endParaRPr lang="en-US"/>
          </a:p>
        </p:txBody>
      </p:sp>
      <p:sp>
        <p:nvSpPr>
          <p:cNvPr id="20" name="Text 18">
            <a:extLst>
              <a:ext uri="{FF2B5EF4-FFF2-40B4-BE49-F238E27FC236}">
                <a16:creationId xmlns:a16="http://schemas.microsoft.com/office/drawing/2014/main" id="{44653343-9B7A-BBB6-5A2C-B703013E0263}"/>
              </a:ext>
            </a:extLst>
          </p:cNvPr>
          <p:cNvSpPr/>
          <p:nvPr/>
        </p:nvSpPr>
        <p:spPr>
          <a:xfrm>
            <a:off x="1325880" y="1261872"/>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D12</a:t>
            </a:r>
            <a:endParaRPr lang="en-US" sz="900" dirty="0"/>
          </a:p>
        </p:txBody>
      </p:sp>
      <p:sp>
        <p:nvSpPr>
          <p:cNvPr id="21" name="Shape 19">
            <a:extLst>
              <a:ext uri="{FF2B5EF4-FFF2-40B4-BE49-F238E27FC236}">
                <a16:creationId xmlns:a16="http://schemas.microsoft.com/office/drawing/2014/main" id="{F4A8C840-4655-6C11-440C-D546BB8F1ACF}"/>
              </a:ext>
            </a:extLst>
          </p:cNvPr>
          <p:cNvSpPr/>
          <p:nvPr/>
        </p:nvSpPr>
        <p:spPr>
          <a:xfrm>
            <a:off x="2295144" y="1261872"/>
            <a:ext cx="941832" cy="292608"/>
          </a:xfrm>
          <a:prstGeom prst="roundRect">
            <a:avLst>
              <a:gd name="adj" fmla="val 12500"/>
            </a:avLst>
          </a:prstGeom>
          <a:solidFill>
            <a:srgbClr val="1D6A72"/>
          </a:solidFill>
          <a:ln w="6350">
            <a:solidFill>
              <a:srgbClr val="FFFFFF"/>
            </a:solidFill>
            <a:prstDash val="solid"/>
          </a:ln>
        </p:spPr>
        <p:txBody>
          <a:bodyPr/>
          <a:lstStyle/>
          <a:p>
            <a:endParaRPr lang="en-US"/>
          </a:p>
        </p:txBody>
      </p:sp>
      <p:sp>
        <p:nvSpPr>
          <p:cNvPr id="22" name="Text 20">
            <a:extLst>
              <a:ext uri="{FF2B5EF4-FFF2-40B4-BE49-F238E27FC236}">
                <a16:creationId xmlns:a16="http://schemas.microsoft.com/office/drawing/2014/main" id="{8179BCE5-9BB7-1209-4553-EA62B00F2A89}"/>
              </a:ext>
            </a:extLst>
          </p:cNvPr>
          <p:cNvSpPr/>
          <p:nvPr/>
        </p:nvSpPr>
        <p:spPr>
          <a:xfrm>
            <a:off x="2295144" y="1261872"/>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D12</a:t>
            </a:r>
            <a:endParaRPr lang="en-US" sz="900" dirty="0"/>
          </a:p>
        </p:txBody>
      </p:sp>
      <p:sp>
        <p:nvSpPr>
          <p:cNvPr id="23" name="Shape 21">
            <a:extLst>
              <a:ext uri="{FF2B5EF4-FFF2-40B4-BE49-F238E27FC236}">
                <a16:creationId xmlns:a16="http://schemas.microsoft.com/office/drawing/2014/main" id="{EBD62EB1-6F86-5197-708F-7A7C49021841}"/>
              </a:ext>
            </a:extLst>
          </p:cNvPr>
          <p:cNvSpPr/>
          <p:nvPr/>
        </p:nvSpPr>
        <p:spPr>
          <a:xfrm>
            <a:off x="3264408" y="1261872"/>
            <a:ext cx="941832" cy="292608"/>
          </a:xfrm>
          <a:prstGeom prst="roundRect">
            <a:avLst>
              <a:gd name="adj" fmla="val 12500"/>
            </a:avLst>
          </a:prstGeom>
          <a:solidFill>
            <a:srgbClr val="1D6A72"/>
          </a:solidFill>
          <a:ln w="6350">
            <a:solidFill>
              <a:srgbClr val="FFFFFF"/>
            </a:solidFill>
            <a:prstDash val="solid"/>
          </a:ln>
        </p:spPr>
        <p:txBody>
          <a:bodyPr/>
          <a:lstStyle/>
          <a:p>
            <a:endParaRPr lang="en-US"/>
          </a:p>
        </p:txBody>
      </p:sp>
      <p:sp>
        <p:nvSpPr>
          <p:cNvPr id="24" name="Text 22">
            <a:extLst>
              <a:ext uri="{FF2B5EF4-FFF2-40B4-BE49-F238E27FC236}">
                <a16:creationId xmlns:a16="http://schemas.microsoft.com/office/drawing/2014/main" id="{2408B184-82B3-47CC-4BAE-D83A4C80E693}"/>
              </a:ext>
            </a:extLst>
          </p:cNvPr>
          <p:cNvSpPr/>
          <p:nvPr/>
        </p:nvSpPr>
        <p:spPr>
          <a:xfrm>
            <a:off x="3264408" y="1261872"/>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D12</a:t>
            </a:r>
            <a:endParaRPr lang="en-US" sz="900" dirty="0"/>
          </a:p>
        </p:txBody>
      </p:sp>
      <p:sp>
        <p:nvSpPr>
          <p:cNvPr id="25" name="Shape 23">
            <a:extLst>
              <a:ext uri="{FF2B5EF4-FFF2-40B4-BE49-F238E27FC236}">
                <a16:creationId xmlns:a16="http://schemas.microsoft.com/office/drawing/2014/main" id="{1771AC1B-AD0E-3217-73A8-9DE652AD0BB6}"/>
              </a:ext>
            </a:extLst>
          </p:cNvPr>
          <p:cNvSpPr/>
          <p:nvPr/>
        </p:nvSpPr>
        <p:spPr>
          <a:xfrm>
            <a:off x="4233672" y="1261872"/>
            <a:ext cx="941832" cy="292608"/>
          </a:xfrm>
          <a:prstGeom prst="roundRect">
            <a:avLst>
              <a:gd name="adj" fmla="val 12500"/>
            </a:avLst>
          </a:prstGeom>
          <a:solidFill>
            <a:srgbClr val="1D6A72"/>
          </a:solidFill>
          <a:ln w="6350">
            <a:solidFill>
              <a:srgbClr val="FFFFFF"/>
            </a:solidFill>
            <a:prstDash val="solid"/>
          </a:ln>
        </p:spPr>
        <p:txBody>
          <a:bodyPr/>
          <a:lstStyle/>
          <a:p>
            <a:endParaRPr lang="en-US"/>
          </a:p>
        </p:txBody>
      </p:sp>
      <p:sp>
        <p:nvSpPr>
          <p:cNvPr id="26" name="Text 24">
            <a:extLst>
              <a:ext uri="{FF2B5EF4-FFF2-40B4-BE49-F238E27FC236}">
                <a16:creationId xmlns:a16="http://schemas.microsoft.com/office/drawing/2014/main" id="{84CA66C3-9233-E115-B0C2-1E5DE38AE41A}"/>
              </a:ext>
            </a:extLst>
          </p:cNvPr>
          <p:cNvSpPr/>
          <p:nvPr/>
        </p:nvSpPr>
        <p:spPr>
          <a:xfrm>
            <a:off x="4233672" y="1261872"/>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D12</a:t>
            </a:r>
            <a:endParaRPr lang="en-US" sz="900" dirty="0"/>
          </a:p>
        </p:txBody>
      </p:sp>
      <p:sp>
        <p:nvSpPr>
          <p:cNvPr id="27" name="Shape 25">
            <a:extLst>
              <a:ext uri="{FF2B5EF4-FFF2-40B4-BE49-F238E27FC236}">
                <a16:creationId xmlns:a16="http://schemas.microsoft.com/office/drawing/2014/main" id="{0AE63721-1219-2172-0B66-6F5CDD125854}"/>
              </a:ext>
            </a:extLst>
          </p:cNvPr>
          <p:cNvSpPr/>
          <p:nvPr/>
        </p:nvSpPr>
        <p:spPr>
          <a:xfrm>
            <a:off x="5202936" y="1261872"/>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28" name="Text 26">
            <a:extLst>
              <a:ext uri="{FF2B5EF4-FFF2-40B4-BE49-F238E27FC236}">
                <a16:creationId xmlns:a16="http://schemas.microsoft.com/office/drawing/2014/main" id="{15EBE7E3-07E8-DD57-C264-F2017528DF06}"/>
              </a:ext>
            </a:extLst>
          </p:cNvPr>
          <p:cNvSpPr/>
          <p:nvPr/>
        </p:nvSpPr>
        <p:spPr>
          <a:xfrm>
            <a:off x="5202936" y="1261872"/>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29" name="Shape 27">
            <a:extLst>
              <a:ext uri="{FF2B5EF4-FFF2-40B4-BE49-F238E27FC236}">
                <a16:creationId xmlns:a16="http://schemas.microsoft.com/office/drawing/2014/main" id="{DAEE83EC-BE26-39DE-31B0-90A29C824974}"/>
              </a:ext>
            </a:extLst>
          </p:cNvPr>
          <p:cNvSpPr/>
          <p:nvPr/>
        </p:nvSpPr>
        <p:spPr>
          <a:xfrm>
            <a:off x="6172200" y="1261872"/>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30" name="Text 28">
            <a:extLst>
              <a:ext uri="{FF2B5EF4-FFF2-40B4-BE49-F238E27FC236}">
                <a16:creationId xmlns:a16="http://schemas.microsoft.com/office/drawing/2014/main" id="{9A3CC324-1740-AB20-CABD-0727D27A8F14}"/>
              </a:ext>
            </a:extLst>
          </p:cNvPr>
          <p:cNvSpPr/>
          <p:nvPr/>
        </p:nvSpPr>
        <p:spPr>
          <a:xfrm>
            <a:off x="6172200" y="1261872"/>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1" name="Shape 29">
            <a:extLst>
              <a:ext uri="{FF2B5EF4-FFF2-40B4-BE49-F238E27FC236}">
                <a16:creationId xmlns:a16="http://schemas.microsoft.com/office/drawing/2014/main" id="{174D89C4-F095-C376-953A-4462F28E242E}"/>
              </a:ext>
            </a:extLst>
          </p:cNvPr>
          <p:cNvSpPr/>
          <p:nvPr/>
        </p:nvSpPr>
        <p:spPr>
          <a:xfrm>
            <a:off x="7141464" y="1261872"/>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32" name="Text 30">
            <a:extLst>
              <a:ext uri="{FF2B5EF4-FFF2-40B4-BE49-F238E27FC236}">
                <a16:creationId xmlns:a16="http://schemas.microsoft.com/office/drawing/2014/main" id="{E4123DC5-054A-2BDA-EA17-8BE10E00163A}"/>
              </a:ext>
            </a:extLst>
          </p:cNvPr>
          <p:cNvSpPr/>
          <p:nvPr/>
        </p:nvSpPr>
        <p:spPr>
          <a:xfrm>
            <a:off x="7141464" y="1261872"/>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3" name="Text 31">
            <a:extLst>
              <a:ext uri="{FF2B5EF4-FFF2-40B4-BE49-F238E27FC236}">
                <a16:creationId xmlns:a16="http://schemas.microsoft.com/office/drawing/2014/main" id="{57B12435-8BA7-EC7C-DE37-F2420C27FB38}"/>
              </a:ext>
            </a:extLst>
          </p:cNvPr>
          <p:cNvSpPr/>
          <p:nvPr/>
        </p:nvSpPr>
        <p:spPr>
          <a:xfrm>
            <a:off x="347472" y="1572768"/>
            <a:ext cx="932688" cy="292608"/>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Crew B</a:t>
            </a:r>
            <a:endParaRPr lang="en-US" sz="900" dirty="0"/>
          </a:p>
        </p:txBody>
      </p:sp>
      <p:sp>
        <p:nvSpPr>
          <p:cNvPr id="34" name="Shape 32">
            <a:extLst>
              <a:ext uri="{FF2B5EF4-FFF2-40B4-BE49-F238E27FC236}">
                <a16:creationId xmlns:a16="http://schemas.microsoft.com/office/drawing/2014/main" id="{A0D87C27-BC38-0F22-0B4E-BECDEB9BCE65}"/>
              </a:ext>
            </a:extLst>
          </p:cNvPr>
          <p:cNvSpPr/>
          <p:nvPr/>
        </p:nvSpPr>
        <p:spPr>
          <a:xfrm>
            <a:off x="1325880" y="1572768"/>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35" name="Text 33">
            <a:extLst>
              <a:ext uri="{FF2B5EF4-FFF2-40B4-BE49-F238E27FC236}">
                <a16:creationId xmlns:a16="http://schemas.microsoft.com/office/drawing/2014/main" id="{9620E7DA-B991-E814-ACB9-10E6544469C7}"/>
              </a:ext>
            </a:extLst>
          </p:cNvPr>
          <p:cNvSpPr/>
          <p:nvPr/>
        </p:nvSpPr>
        <p:spPr>
          <a:xfrm>
            <a:off x="1325880" y="1572768"/>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6" name="Shape 34">
            <a:extLst>
              <a:ext uri="{FF2B5EF4-FFF2-40B4-BE49-F238E27FC236}">
                <a16:creationId xmlns:a16="http://schemas.microsoft.com/office/drawing/2014/main" id="{9EE00FA9-0864-FAFD-EB8C-07E838C0A627}"/>
              </a:ext>
            </a:extLst>
          </p:cNvPr>
          <p:cNvSpPr/>
          <p:nvPr/>
        </p:nvSpPr>
        <p:spPr>
          <a:xfrm>
            <a:off x="2295144" y="1572768"/>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37" name="Text 35">
            <a:extLst>
              <a:ext uri="{FF2B5EF4-FFF2-40B4-BE49-F238E27FC236}">
                <a16:creationId xmlns:a16="http://schemas.microsoft.com/office/drawing/2014/main" id="{39E29515-5FE3-2B75-57D9-96B9EDE5C6F6}"/>
              </a:ext>
            </a:extLst>
          </p:cNvPr>
          <p:cNvSpPr/>
          <p:nvPr/>
        </p:nvSpPr>
        <p:spPr>
          <a:xfrm>
            <a:off x="2295144" y="1572768"/>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8" name="Shape 36">
            <a:extLst>
              <a:ext uri="{FF2B5EF4-FFF2-40B4-BE49-F238E27FC236}">
                <a16:creationId xmlns:a16="http://schemas.microsoft.com/office/drawing/2014/main" id="{7B692BA6-8346-27D1-0939-DAF2C04CC1D6}"/>
              </a:ext>
            </a:extLst>
          </p:cNvPr>
          <p:cNvSpPr/>
          <p:nvPr/>
        </p:nvSpPr>
        <p:spPr>
          <a:xfrm>
            <a:off x="3264408" y="1572768"/>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39" name="Text 37">
            <a:extLst>
              <a:ext uri="{FF2B5EF4-FFF2-40B4-BE49-F238E27FC236}">
                <a16:creationId xmlns:a16="http://schemas.microsoft.com/office/drawing/2014/main" id="{C65D5B38-746E-CB46-287E-CA16F855AAD3}"/>
              </a:ext>
            </a:extLst>
          </p:cNvPr>
          <p:cNvSpPr/>
          <p:nvPr/>
        </p:nvSpPr>
        <p:spPr>
          <a:xfrm>
            <a:off x="3264408" y="1572768"/>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40" name="Shape 38">
            <a:extLst>
              <a:ext uri="{FF2B5EF4-FFF2-40B4-BE49-F238E27FC236}">
                <a16:creationId xmlns:a16="http://schemas.microsoft.com/office/drawing/2014/main" id="{F643FB22-F47A-10D1-C5A4-D2BE423C3DBC}"/>
              </a:ext>
            </a:extLst>
          </p:cNvPr>
          <p:cNvSpPr/>
          <p:nvPr/>
        </p:nvSpPr>
        <p:spPr>
          <a:xfrm>
            <a:off x="4233672" y="1572768"/>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41" name="Text 39">
            <a:extLst>
              <a:ext uri="{FF2B5EF4-FFF2-40B4-BE49-F238E27FC236}">
                <a16:creationId xmlns:a16="http://schemas.microsoft.com/office/drawing/2014/main" id="{51A8E91B-E80C-948D-16B3-D5B9B623D487}"/>
              </a:ext>
            </a:extLst>
          </p:cNvPr>
          <p:cNvSpPr/>
          <p:nvPr/>
        </p:nvSpPr>
        <p:spPr>
          <a:xfrm>
            <a:off x="4233672" y="1572768"/>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42" name="Shape 40">
            <a:extLst>
              <a:ext uri="{FF2B5EF4-FFF2-40B4-BE49-F238E27FC236}">
                <a16:creationId xmlns:a16="http://schemas.microsoft.com/office/drawing/2014/main" id="{7671C8FA-99CC-9242-00A8-5F8B5ACD5E6B}"/>
              </a:ext>
            </a:extLst>
          </p:cNvPr>
          <p:cNvSpPr/>
          <p:nvPr/>
        </p:nvSpPr>
        <p:spPr>
          <a:xfrm>
            <a:off x="5202936" y="1572768"/>
            <a:ext cx="941832" cy="292608"/>
          </a:xfrm>
          <a:prstGeom prst="roundRect">
            <a:avLst>
              <a:gd name="adj" fmla="val 12500"/>
            </a:avLst>
          </a:prstGeom>
          <a:solidFill>
            <a:srgbClr val="1F4E79"/>
          </a:solidFill>
          <a:ln w="6350">
            <a:solidFill>
              <a:srgbClr val="FFFFFF"/>
            </a:solidFill>
            <a:prstDash val="solid"/>
          </a:ln>
        </p:spPr>
        <p:txBody>
          <a:bodyPr/>
          <a:lstStyle/>
          <a:p>
            <a:endParaRPr lang="en-US"/>
          </a:p>
        </p:txBody>
      </p:sp>
      <p:sp>
        <p:nvSpPr>
          <p:cNvPr id="43" name="Text 41">
            <a:extLst>
              <a:ext uri="{FF2B5EF4-FFF2-40B4-BE49-F238E27FC236}">
                <a16:creationId xmlns:a16="http://schemas.microsoft.com/office/drawing/2014/main" id="{13030A3B-5756-AAE4-23F0-C7EEE7EF7DEE}"/>
              </a:ext>
            </a:extLst>
          </p:cNvPr>
          <p:cNvSpPr/>
          <p:nvPr/>
        </p:nvSpPr>
        <p:spPr>
          <a:xfrm>
            <a:off x="5202936" y="1572768"/>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N12</a:t>
            </a:r>
            <a:endParaRPr lang="en-US" sz="900" dirty="0"/>
          </a:p>
        </p:txBody>
      </p:sp>
      <p:sp>
        <p:nvSpPr>
          <p:cNvPr id="44" name="Shape 42">
            <a:extLst>
              <a:ext uri="{FF2B5EF4-FFF2-40B4-BE49-F238E27FC236}">
                <a16:creationId xmlns:a16="http://schemas.microsoft.com/office/drawing/2014/main" id="{79446032-CC79-FB5E-49A4-733DC4F15BAD}"/>
              </a:ext>
            </a:extLst>
          </p:cNvPr>
          <p:cNvSpPr/>
          <p:nvPr/>
        </p:nvSpPr>
        <p:spPr>
          <a:xfrm>
            <a:off x="6172200" y="1572768"/>
            <a:ext cx="941832" cy="292608"/>
          </a:xfrm>
          <a:prstGeom prst="roundRect">
            <a:avLst>
              <a:gd name="adj" fmla="val 12500"/>
            </a:avLst>
          </a:prstGeom>
          <a:solidFill>
            <a:srgbClr val="1F4E79"/>
          </a:solidFill>
          <a:ln w="6350">
            <a:solidFill>
              <a:srgbClr val="FFFFFF"/>
            </a:solidFill>
            <a:prstDash val="solid"/>
          </a:ln>
        </p:spPr>
        <p:txBody>
          <a:bodyPr/>
          <a:lstStyle/>
          <a:p>
            <a:endParaRPr lang="en-US"/>
          </a:p>
        </p:txBody>
      </p:sp>
      <p:sp>
        <p:nvSpPr>
          <p:cNvPr id="45" name="Text 43">
            <a:extLst>
              <a:ext uri="{FF2B5EF4-FFF2-40B4-BE49-F238E27FC236}">
                <a16:creationId xmlns:a16="http://schemas.microsoft.com/office/drawing/2014/main" id="{AB48C1AC-38AE-5005-FE3B-42EC32E16D5E}"/>
              </a:ext>
            </a:extLst>
          </p:cNvPr>
          <p:cNvSpPr/>
          <p:nvPr/>
        </p:nvSpPr>
        <p:spPr>
          <a:xfrm>
            <a:off x="6172200" y="1572768"/>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N12</a:t>
            </a:r>
            <a:endParaRPr lang="en-US" sz="900" dirty="0"/>
          </a:p>
        </p:txBody>
      </p:sp>
      <p:sp>
        <p:nvSpPr>
          <p:cNvPr id="46" name="Shape 44">
            <a:extLst>
              <a:ext uri="{FF2B5EF4-FFF2-40B4-BE49-F238E27FC236}">
                <a16:creationId xmlns:a16="http://schemas.microsoft.com/office/drawing/2014/main" id="{B9596D1A-D223-3037-2EE0-57E6D0D51EEC}"/>
              </a:ext>
            </a:extLst>
          </p:cNvPr>
          <p:cNvSpPr/>
          <p:nvPr/>
        </p:nvSpPr>
        <p:spPr>
          <a:xfrm>
            <a:off x="7141464" y="1572768"/>
            <a:ext cx="941832" cy="292608"/>
          </a:xfrm>
          <a:prstGeom prst="roundRect">
            <a:avLst>
              <a:gd name="adj" fmla="val 12500"/>
            </a:avLst>
          </a:prstGeom>
          <a:solidFill>
            <a:srgbClr val="1F4E79"/>
          </a:solidFill>
          <a:ln w="6350">
            <a:solidFill>
              <a:srgbClr val="FFFFFF"/>
            </a:solidFill>
            <a:prstDash val="solid"/>
          </a:ln>
        </p:spPr>
        <p:txBody>
          <a:bodyPr/>
          <a:lstStyle/>
          <a:p>
            <a:endParaRPr lang="en-US"/>
          </a:p>
        </p:txBody>
      </p:sp>
      <p:sp>
        <p:nvSpPr>
          <p:cNvPr id="47" name="Text 45">
            <a:extLst>
              <a:ext uri="{FF2B5EF4-FFF2-40B4-BE49-F238E27FC236}">
                <a16:creationId xmlns:a16="http://schemas.microsoft.com/office/drawing/2014/main" id="{56E2BB4A-9F98-91B9-321C-983C8E41B662}"/>
              </a:ext>
            </a:extLst>
          </p:cNvPr>
          <p:cNvSpPr/>
          <p:nvPr/>
        </p:nvSpPr>
        <p:spPr>
          <a:xfrm>
            <a:off x="7141464" y="1572768"/>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N12</a:t>
            </a:r>
            <a:endParaRPr lang="en-US" sz="900" dirty="0"/>
          </a:p>
        </p:txBody>
      </p:sp>
      <p:sp>
        <p:nvSpPr>
          <p:cNvPr id="48" name="Text 46">
            <a:extLst>
              <a:ext uri="{FF2B5EF4-FFF2-40B4-BE49-F238E27FC236}">
                <a16:creationId xmlns:a16="http://schemas.microsoft.com/office/drawing/2014/main" id="{35B5C180-010F-612F-389E-BEE9ACC345C0}"/>
              </a:ext>
            </a:extLst>
          </p:cNvPr>
          <p:cNvSpPr/>
          <p:nvPr/>
        </p:nvSpPr>
        <p:spPr>
          <a:xfrm>
            <a:off x="347472" y="1883664"/>
            <a:ext cx="932688" cy="292608"/>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Crew C</a:t>
            </a:r>
            <a:endParaRPr lang="en-US" sz="900" dirty="0"/>
          </a:p>
        </p:txBody>
      </p:sp>
      <p:sp>
        <p:nvSpPr>
          <p:cNvPr id="49" name="Shape 47">
            <a:extLst>
              <a:ext uri="{FF2B5EF4-FFF2-40B4-BE49-F238E27FC236}">
                <a16:creationId xmlns:a16="http://schemas.microsoft.com/office/drawing/2014/main" id="{38D4A68E-28CD-3EC6-C5EA-843B65C79293}"/>
              </a:ext>
            </a:extLst>
          </p:cNvPr>
          <p:cNvSpPr/>
          <p:nvPr/>
        </p:nvSpPr>
        <p:spPr>
          <a:xfrm>
            <a:off x="1325880" y="1883664"/>
            <a:ext cx="941832" cy="292608"/>
          </a:xfrm>
          <a:prstGeom prst="roundRect">
            <a:avLst>
              <a:gd name="adj" fmla="val 12500"/>
            </a:avLst>
          </a:prstGeom>
          <a:solidFill>
            <a:srgbClr val="1F4E79"/>
          </a:solidFill>
          <a:ln w="6350">
            <a:solidFill>
              <a:srgbClr val="FFFFFF"/>
            </a:solidFill>
            <a:prstDash val="solid"/>
          </a:ln>
        </p:spPr>
        <p:txBody>
          <a:bodyPr/>
          <a:lstStyle/>
          <a:p>
            <a:endParaRPr lang="en-US"/>
          </a:p>
        </p:txBody>
      </p:sp>
      <p:sp>
        <p:nvSpPr>
          <p:cNvPr id="50" name="Text 48">
            <a:extLst>
              <a:ext uri="{FF2B5EF4-FFF2-40B4-BE49-F238E27FC236}">
                <a16:creationId xmlns:a16="http://schemas.microsoft.com/office/drawing/2014/main" id="{D246A4A9-B984-57A1-1B6B-7525D3C70633}"/>
              </a:ext>
            </a:extLst>
          </p:cNvPr>
          <p:cNvSpPr/>
          <p:nvPr/>
        </p:nvSpPr>
        <p:spPr>
          <a:xfrm>
            <a:off x="1325880" y="1883664"/>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N12</a:t>
            </a:r>
            <a:endParaRPr lang="en-US" sz="900" dirty="0"/>
          </a:p>
        </p:txBody>
      </p:sp>
      <p:sp>
        <p:nvSpPr>
          <p:cNvPr id="51" name="Shape 49">
            <a:extLst>
              <a:ext uri="{FF2B5EF4-FFF2-40B4-BE49-F238E27FC236}">
                <a16:creationId xmlns:a16="http://schemas.microsoft.com/office/drawing/2014/main" id="{C8CCD943-AE12-C031-F654-94C8234145EC}"/>
              </a:ext>
            </a:extLst>
          </p:cNvPr>
          <p:cNvSpPr/>
          <p:nvPr/>
        </p:nvSpPr>
        <p:spPr>
          <a:xfrm>
            <a:off x="2295144" y="1883664"/>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52" name="Text 50">
            <a:extLst>
              <a:ext uri="{FF2B5EF4-FFF2-40B4-BE49-F238E27FC236}">
                <a16:creationId xmlns:a16="http://schemas.microsoft.com/office/drawing/2014/main" id="{18966CC3-BBE3-AC01-A85B-6E67D9301060}"/>
              </a:ext>
            </a:extLst>
          </p:cNvPr>
          <p:cNvSpPr/>
          <p:nvPr/>
        </p:nvSpPr>
        <p:spPr>
          <a:xfrm>
            <a:off x="2295144" y="1883664"/>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53" name="Shape 51">
            <a:extLst>
              <a:ext uri="{FF2B5EF4-FFF2-40B4-BE49-F238E27FC236}">
                <a16:creationId xmlns:a16="http://schemas.microsoft.com/office/drawing/2014/main" id="{2567C9C2-402F-7D38-FA6E-7181A282CF8B}"/>
              </a:ext>
            </a:extLst>
          </p:cNvPr>
          <p:cNvSpPr/>
          <p:nvPr/>
        </p:nvSpPr>
        <p:spPr>
          <a:xfrm>
            <a:off x="3264408" y="1883664"/>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54" name="Text 52">
            <a:extLst>
              <a:ext uri="{FF2B5EF4-FFF2-40B4-BE49-F238E27FC236}">
                <a16:creationId xmlns:a16="http://schemas.microsoft.com/office/drawing/2014/main" id="{941C0FBF-A31B-770F-DC61-36AEF81FCA73}"/>
              </a:ext>
            </a:extLst>
          </p:cNvPr>
          <p:cNvSpPr/>
          <p:nvPr/>
        </p:nvSpPr>
        <p:spPr>
          <a:xfrm>
            <a:off x="3264408" y="1883664"/>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55" name="Shape 53">
            <a:extLst>
              <a:ext uri="{FF2B5EF4-FFF2-40B4-BE49-F238E27FC236}">
                <a16:creationId xmlns:a16="http://schemas.microsoft.com/office/drawing/2014/main" id="{FB8EF84E-C313-7249-6BF6-DC3717602674}"/>
              </a:ext>
            </a:extLst>
          </p:cNvPr>
          <p:cNvSpPr/>
          <p:nvPr/>
        </p:nvSpPr>
        <p:spPr>
          <a:xfrm>
            <a:off x="4233672" y="1883664"/>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56" name="Text 54">
            <a:extLst>
              <a:ext uri="{FF2B5EF4-FFF2-40B4-BE49-F238E27FC236}">
                <a16:creationId xmlns:a16="http://schemas.microsoft.com/office/drawing/2014/main" id="{02C3A870-BA87-D43F-6595-43A92352D7B3}"/>
              </a:ext>
            </a:extLst>
          </p:cNvPr>
          <p:cNvSpPr/>
          <p:nvPr/>
        </p:nvSpPr>
        <p:spPr>
          <a:xfrm>
            <a:off x="4233672" y="1883664"/>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57" name="Shape 55">
            <a:extLst>
              <a:ext uri="{FF2B5EF4-FFF2-40B4-BE49-F238E27FC236}">
                <a16:creationId xmlns:a16="http://schemas.microsoft.com/office/drawing/2014/main" id="{0B34E38A-AD08-C6FA-3075-03D3AA383BB0}"/>
              </a:ext>
            </a:extLst>
          </p:cNvPr>
          <p:cNvSpPr/>
          <p:nvPr/>
        </p:nvSpPr>
        <p:spPr>
          <a:xfrm>
            <a:off x="5202936" y="1883664"/>
            <a:ext cx="941832" cy="292608"/>
          </a:xfrm>
          <a:prstGeom prst="roundRect">
            <a:avLst>
              <a:gd name="adj" fmla="val 12500"/>
            </a:avLst>
          </a:prstGeom>
          <a:solidFill>
            <a:srgbClr val="1D6A72"/>
          </a:solidFill>
          <a:ln w="6350">
            <a:solidFill>
              <a:srgbClr val="FFFFFF"/>
            </a:solidFill>
            <a:prstDash val="solid"/>
          </a:ln>
        </p:spPr>
        <p:txBody>
          <a:bodyPr/>
          <a:lstStyle/>
          <a:p>
            <a:endParaRPr lang="en-US"/>
          </a:p>
        </p:txBody>
      </p:sp>
      <p:sp>
        <p:nvSpPr>
          <p:cNvPr id="58" name="Text 56">
            <a:extLst>
              <a:ext uri="{FF2B5EF4-FFF2-40B4-BE49-F238E27FC236}">
                <a16:creationId xmlns:a16="http://schemas.microsoft.com/office/drawing/2014/main" id="{E08099FD-D8B4-38E0-D949-93D4F43B3880}"/>
              </a:ext>
            </a:extLst>
          </p:cNvPr>
          <p:cNvSpPr/>
          <p:nvPr/>
        </p:nvSpPr>
        <p:spPr>
          <a:xfrm>
            <a:off x="5202936" y="1883664"/>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D12</a:t>
            </a:r>
            <a:endParaRPr lang="en-US" sz="900" dirty="0"/>
          </a:p>
        </p:txBody>
      </p:sp>
      <p:sp>
        <p:nvSpPr>
          <p:cNvPr id="59" name="Shape 57">
            <a:extLst>
              <a:ext uri="{FF2B5EF4-FFF2-40B4-BE49-F238E27FC236}">
                <a16:creationId xmlns:a16="http://schemas.microsoft.com/office/drawing/2014/main" id="{D5D71804-D228-C8E1-F9CE-085E18783703}"/>
              </a:ext>
            </a:extLst>
          </p:cNvPr>
          <p:cNvSpPr/>
          <p:nvPr/>
        </p:nvSpPr>
        <p:spPr>
          <a:xfrm>
            <a:off x="6172200" y="1883664"/>
            <a:ext cx="941832" cy="292608"/>
          </a:xfrm>
          <a:prstGeom prst="roundRect">
            <a:avLst>
              <a:gd name="adj" fmla="val 12500"/>
            </a:avLst>
          </a:prstGeom>
          <a:solidFill>
            <a:srgbClr val="1D6A72"/>
          </a:solidFill>
          <a:ln w="6350">
            <a:solidFill>
              <a:srgbClr val="FFFFFF"/>
            </a:solidFill>
            <a:prstDash val="solid"/>
          </a:ln>
        </p:spPr>
        <p:txBody>
          <a:bodyPr/>
          <a:lstStyle/>
          <a:p>
            <a:endParaRPr lang="en-US"/>
          </a:p>
        </p:txBody>
      </p:sp>
      <p:sp>
        <p:nvSpPr>
          <p:cNvPr id="60" name="Text 58">
            <a:extLst>
              <a:ext uri="{FF2B5EF4-FFF2-40B4-BE49-F238E27FC236}">
                <a16:creationId xmlns:a16="http://schemas.microsoft.com/office/drawing/2014/main" id="{6DD90A5B-336A-5017-54F5-EE55AA113DFF}"/>
              </a:ext>
            </a:extLst>
          </p:cNvPr>
          <p:cNvSpPr/>
          <p:nvPr/>
        </p:nvSpPr>
        <p:spPr>
          <a:xfrm>
            <a:off x="6172200" y="1883664"/>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D12</a:t>
            </a:r>
            <a:endParaRPr lang="en-US" sz="900" dirty="0"/>
          </a:p>
        </p:txBody>
      </p:sp>
      <p:sp>
        <p:nvSpPr>
          <p:cNvPr id="61" name="Shape 59">
            <a:extLst>
              <a:ext uri="{FF2B5EF4-FFF2-40B4-BE49-F238E27FC236}">
                <a16:creationId xmlns:a16="http://schemas.microsoft.com/office/drawing/2014/main" id="{06C10F4D-DA02-0FDC-5320-619D22802820}"/>
              </a:ext>
            </a:extLst>
          </p:cNvPr>
          <p:cNvSpPr/>
          <p:nvPr/>
        </p:nvSpPr>
        <p:spPr>
          <a:xfrm>
            <a:off x="7141464" y="1883664"/>
            <a:ext cx="941832" cy="292608"/>
          </a:xfrm>
          <a:prstGeom prst="roundRect">
            <a:avLst>
              <a:gd name="adj" fmla="val 12500"/>
            </a:avLst>
          </a:prstGeom>
          <a:solidFill>
            <a:srgbClr val="1D6A72"/>
          </a:solidFill>
          <a:ln w="6350">
            <a:solidFill>
              <a:srgbClr val="FFFFFF"/>
            </a:solidFill>
            <a:prstDash val="solid"/>
          </a:ln>
        </p:spPr>
        <p:txBody>
          <a:bodyPr/>
          <a:lstStyle/>
          <a:p>
            <a:endParaRPr lang="en-US"/>
          </a:p>
        </p:txBody>
      </p:sp>
      <p:sp>
        <p:nvSpPr>
          <p:cNvPr id="62" name="Text 60">
            <a:extLst>
              <a:ext uri="{FF2B5EF4-FFF2-40B4-BE49-F238E27FC236}">
                <a16:creationId xmlns:a16="http://schemas.microsoft.com/office/drawing/2014/main" id="{2A37621E-C74D-4D6B-3825-A596F3F5D50F}"/>
              </a:ext>
            </a:extLst>
          </p:cNvPr>
          <p:cNvSpPr/>
          <p:nvPr/>
        </p:nvSpPr>
        <p:spPr>
          <a:xfrm>
            <a:off x="7141464" y="1883664"/>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D12</a:t>
            </a:r>
            <a:endParaRPr lang="en-US" sz="900" dirty="0"/>
          </a:p>
        </p:txBody>
      </p:sp>
      <p:sp>
        <p:nvSpPr>
          <p:cNvPr id="63" name="Text 61">
            <a:extLst>
              <a:ext uri="{FF2B5EF4-FFF2-40B4-BE49-F238E27FC236}">
                <a16:creationId xmlns:a16="http://schemas.microsoft.com/office/drawing/2014/main" id="{E84E4BC1-EE94-EC8B-C8E1-17BF583E6BE2}"/>
              </a:ext>
            </a:extLst>
          </p:cNvPr>
          <p:cNvSpPr/>
          <p:nvPr/>
        </p:nvSpPr>
        <p:spPr>
          <a:xfrm>
            <a:off x="347472" y="2194560"/>
            <a:ext cx="932688" cy="292608"/>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Crew D</a:t>
            </a:r>
            <a:endParaRPr lang="en-US" sz="900" dirty="0"/>
          </a:p>
        </p:txBody>
      </p:sp>
      <p:sp>
        <p:nvSpPr>
          <p:cNvPr id="64" name="Shape 62">
            <a:extLst>
              <a:ext uri="{FF2B5EF4-FFF2-40B4-BE49-F238E27FC236}">
                <a16:creationId xmlns:a16="http://schemas.microsoft.com/office/drawing/2014/main" id="{A954732F-1DBC-2677-C060-C635531E3EA5}"/>
              </a:ext>
            </a:extLst>
          </p:cNvPr>
          <p:cNvSpPr/>
          <p:nvPr/>
        </p:nvSpPr>
        <p:spPr>
          <a:xfrm>
            <a:off x="1325880" y="2194560"/>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65" name="Text 63">
            <a:extLst>
              <a:ext uri="{FF2B5EF4-FFF2-40B4-BE49-F238E27FC236}">
                <a16:creationId xmlns:a16="http://schemas.microsoft.com/office/drawing/2014/main" id="{4E2339CD-529C-E741-D0C1-84A1D4AAD252}"/>
              </a:ext>
            </a:extLst>
          </p:cNvPr>
          <p:cNvSpPr/>
          <p:nvPr/>
        </p:nvSpPr>
        <p:spPr>
          <a:xfrm>
            <a:off x="1325880" y="2194560"/>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66" name="Shape 64">
            <a:extLst>
              <a:ext uri="{FF2B5EF4-FFF2-40B4-BE49-F238E27FC236}">
                <a16:creationId xmlns:a16="http://schemas.microsoft.com/office/drawing/2014/main" id="{7DBA1644-5C1F-3676-D584-28826F23B041}"/>
              </a:ext>
            </a:extLst>
          </p:cNvPr>
          <p:cNvSpPr/>
          <p:nvPr/>
        </p:nvSpPr>
        <p:spPr>
          <a:xfrm>
            <a:off x="2295144" y="2194560"/>
            <a:ext cx="941832" cy="292608"/>
          </a:xfrm>
          <a:prstGeom prst="roundRect">
            <a:avLst>
              <a:gd name="adj" fmla="val 12500"/>
            </a:avLst>
          </a:prstGeom>
          <a:solidFill>
            <a:srgbClr val="1F4E79"/>
          </a:solidFill>
          <a:ln w="6350">
            <a:solidFill>
              <a:srgbClr val="FFFFFF"/>
            </a:solidFill>
            <a:prstDash val="solid"/>
          </a:ln>
        </p:spPr>
        <p:txBody>
          <a:bodyPr/>
          <a:lstStyle/>
          <a:p>
            <a:endParaRPr lang="en-US"/>
          </a:p>
        </p:txBody>
      </p:sp>
      <p:sp>
        <p:nvSpPr>
          <p:cNvPr id="67" name="Text 65">
            <a:extLst>
              <a:ext uri="{FF2B5EF4-FFF2-40B4-BE49-F238E27FC236}">
                <a16:creationId xmlns:a16="http://schemas.microsoft.com/office/drawing/2014/main" id="{0CE51509-9470-916A-AC96-C9DF1BD5D9F3}"/>
              </a:ext>
            </a:extLst>
          </p:cNvPr>
          <p:cNvSpPr/>
          <p:nvPr/>
        </p:nvSpPr>
        <p:spPr>
          <a:xfrm>
            <a:off x="2295144" y="2194560"/>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N12</a:t>
            </a:r>
            <a:endParaRPr lang="en-US" sz="900" dirty="0"/>
          </a:p>
        </p:txBody>
      </p:sp>
      <p:sp>
        <p:nvSpPr>
          <p:cNvPr id="68" name="Shape 66">
            <a:extLst>
              <a:ext uri="{FF2B5EF4-FFF2-40B4-BE49-F238E27FC236}">
                <a16:creationId xmlns:a16="http://schemas.microsoft.com/office/drawing/2014/main" id="{5AE890A5-1048-46B8-4D0F-975E7BF8C99D}"/>
              </a:ext>
            </a:extLst>
          </p:cNvPr>
          <p:cNvSpPr/>
          <p:nvPr/>
        </p:nvSpPr>
        <p:spPr>
          <a:xfrm>
            <a:off x="3264408" y="2194560"/>
            <a:ext cx="941832" cy="292608"/>
          </a:xfrm>
          <a:prstGeom prst="roundRect">
            <a:avLst>
              <a:gd name="adj" fmla="val 12500"/>
            </a:avLst>
          </a:prstGeom>
          <a:solidFill>
            <a:srgbClr val="1F4E79"/>
          </a:solidFill>
          <a:ln w="6350">
            <a:solidFill>
              <a:srgbClr val="FFFFFF"/>
            </a:solidFill>
            <a:prstDash val="solid"/>
          </a:ln>
        </p:spPr>
        <p:txBody>
          <a:bodyPr/>
          <a:lstStyle/>
          <a:p>
            <a:endParaRPr lang="en-US"/>
          </a:p>
        </p:txBody>
      </p:sp>
      <p:sp>
        <p:nvSpPr>
          <p:cNvPr id="69" name="Text 67">
            <a:extLst>
              <a:ext uri="{FF2B5EF4-FFF2-40B4-BE49-F238E27FC236}">
                <a16:creationId xmlns:a16="http://schemas.microsoft.com/office/drawing/2014/main" id="{4A66E204-2753-40F0-AAEF-226286E888B1}"/>
              </a:ext>
            </a:extLst>
          </p:cNvPr>
          <p:cNvSpPr/>
          <p:nvPr/>
        </p:nvSpPr>
        <p:spPr>
          <a:xfrm>
            <a:off x="3264408" y="2194560"/>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N12</a:t>
            </a:r>
            <a:endParaRPr lang="en-US" sz="900" dirty="0"/>
          </a:p>
        </p:txBody>
      </p:sp>
      <p:sp>
        <p:nvSpPr>
          <p:cNvPr id="70" name="Shape 68">
            <a:extLst>
              <a:ext uri="{FF2B5EF4-FFF2-40B4-BE49-F238E27FC236}">
                <a16:creationId xmlns:a16="http://schemas.microsoft.com/office/drawing/2014/main" id="{FACF6F4F-D3D3-FAB5-7715-068F204F38D3}"/>
              </a:ext>
            </a:extLst>
          </p:cNvPr>
          <p:cNvSpPr/>
          <p:nvPr/>
        </p:nvSpPr>
        <p:spPr>
          <a:xfrm>
            <a:off x="4233672" y="2194560"/>
            <a:ext cx="941832" cy="292608"/>
          </a:xfrm>
          <a:prstGeom prst="roundRect">
            <a:avLst>
              <a:gd name="adj" fmla="val 12500"/>
            </a:avLst>
          </a:prstGeom>
          <a:solidFill>
            <a:srgbClr val="1F4E79"/>
          </a:solidFill>
          <a:ln w="6350">
            <a:solidFill>
              <a:srgbClr val="FFFFFF"/>
            </a:solidFill>
            <a:prstDash val="solid"/>
          </a:ln>
        </p:spPr>
        <p:txBody>
          <a:bodyPr/>
          <a:lstStyle/>
          <a:p>
            <a:endParaRPr lang="en-US"/>
          </a:p>
        </p:txBody>
      </p:sp>
      <p:sp>
        <p:nvSpPr>
          <p:cNvPr id="71" name="Text 69">
            <a:extLst>
              <a:ext uri="{FF2B5EF4-FFF2-40B4-BE49-F238E27FC236}">
                <a16:creationId xmlns:a16="http://schemas.microsoft.com/office/drawing/2014/main" id="{8EF3C0B0-52B2-10E6-FB5D-4FA21E9A6FEC}"/>
              </a:ext>
            </a:extLst>
          </p:cNvPr>
          <p:cNvSpPr/>
          <p:nvPr/>
        </p:nvSpPr>
        <p:spPr>
          <a:xfrm>
            <a:off x="4233672" y="2194560"/>
            <a:ext cx="9418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N12</a:t>
            </a:r>
            <a:endParaRPr lang="en-US" sz="900" dirty="0"/>
          </a:p>
        </p:txBody>
      </p:sp>
      <p:sp>
        <p:nvSpPr>
          <p:cNvPr id="72" name="Shape 70">
            <a:extLst>
              <a:ext uri="{FF2B5EF4-FFF2-40B4-BE49-F238E27FC236}">
                <a16:creationId xmlns:a16="http://schemas.microsoft.com/office/drawing/2014/main" id="{1E65D680-1007-8E63-7062-861F925172A7}"/>
              </a:ext>
            </a:extLst>
          </p:cNvPr>
          <p:cNvSpPr/>
          <p:nvPr/>
        </p:nvSpPr>
        <p:spPr>
          <a:xfrm>
            <a:off x="5202936" y="2194560"/>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73" name="Text 71">
            <a:extLst>
              <a:ext uri="{FF2B5EF4-FFF2-40B4-BE49-F238E27FC236}">
                <a16:creationId xmlns:a16="http://schemas.microsoft.com/office/drawing/2014/main" id="{7DD5690F-D5B5-DE4F-47E8-9A1EAB8027B3}"/>
              </a:ext>
            </a:extLst>
          </p:cNvPr>
          <p:cNvSpPr/>
          <p:nvPr/>
        </p:nvSpPr>
        <p:spPr>
          <a:xfrm>
            <a:off x="5202936" y="2194560"/>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74" name="Shape 72">
            <a:extLst>
              <a:ext uri="{FF2B5EF4-FFF2-40B4-BE49-F238E27FC236}">
                <a16:creationId xmlns:a16="http://schemas.microsoft.com/office/drawing/2014/main" id="{59D1A0E7-0BFA-ABEA-3BFB-E92B81419BD9}"/>
              </a:ext>
            </a:extLst>
          </p:cNvPr>
          <p:cNvSpPr/>
          <p:nvPr/>
        </p:nvSpPr>
        <p:spPr>
          <a:xfrm>
            <a:off x="6172200" y="2194560"/>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75" name="Text 73">
            <a:extLst>
              <a:ext uri="{FF2B5EF4-FFF2-40B4-BE49-F238E27FC236}">
                <a16:creationId xmlns:a16="http://schemas.microsoft.com/office/drawing/2014/main" id="{FCB42B7E-42E0-1FEC-28A3-D4A0A59843A2}"/>
              </a:ext>
            </a:extLst>
          </p:cNvPr>
          <p:cNvSpPr/>
          <p:nvPr/>
        </p:nvSpPr>
        <p:spPr>
          <a:xfrm>
            <a:off x="6172200" y="2194560"/>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76" name="Shape 74">
            <a:extLst>
              <a:ext uri="{FF2B5EF4-FFF2-40B4-BE49-F238E27FC236}">
                <a16:creationId xmlns:a16="http://schemas.microsoft.com/office/drawing/2014/main" id="{F23466FA-D1A5-F593-089A-79B2E5305296}"/>
              </a:ext>
            </a:extLst>
          </p:cNvPr>
          <p:cNvSpPr/>
          <p:nvPr/>
        </p:nvSpPr>
        <p:spPr>
          <a:xfrm>
            <a:off x="7141464" y="2194560"/>
            <a:ext cx="941832" cy="292608"/>
          </a:xfrm>
          <a:prstGeom prst="roundRect">
            <a:avLst>
              <a:gd name="adj" fmla="val 12500"/>
            </a:avLst>
          </a:prstGeom>
          <a:solidFill>
            <a:srgbClr val="E2E8F0"/>
          </a:solidFill>
          <a:ln w="6350">
            <a:solidFill>
              <a:srgbClr val="FFFFFF"/>
            </a:solidFill>
            <a:prstDash val="solid"/>
          </a:ln>
        </p:spPr>
        <p:txBody>
          <a:bodyPr/>
          <a:lstStyle/>
          <a:p>
            <a:endParaRPr lang="en-US"/>
          </a:p>
        </p:txBody>
      </p:sp>
      <p:sp>
        <p:nvSpPr>
          <p:cNvPr id="77" name="Text 75">
            <a:extLst>
              <a:ext uri="{FF2B5EF4-FFF2-40B4-BE49-F238E27FC236}">
                <a16:creationId xmlns:a16="http://schemas.microsoft.com/office/drawing/2014/main" id="{FEC26AB1-B054-9DBA-F7D7-AAE39114B832}"/>
              </a:ext>
            </a:extLst>
          </p:cNvPr>
          <p:cNvSpPr/>
          <p:nvPr/>
        </p:nvSpPr>
        <p:spPr>
          <a:xfrm>
            <a:off x="7141464" y="2194560"/>
            <a:ext cx="941832" cy="292608"/>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78" name="Shape 76">
            <a:extLst>
              <a:ext uri="{FF2B5EF4-FFF2-40B4-BE49-F238E27FC236}">
                <a16:creationId xmlns:a16="http://schemas.microsoft.com/office/drawing/2014/main" id="{CFC917A1-81AD-DCBC-41AC-3F833D65E3CC}"/>
              </a:ext>
            </a:extLst>
          </p:cNvPr>
          <p:cNvSpPr/>
          <p:nvPr/>
        </p:nvSpPr>
        <p:spPr>
          <a:xfrm>
            <a:off x="365760" y="2670048"/>
            <a:ext cx="2651760" cy="685800"/>
          </a:xfrm>
          <a:prstGeom prst="roundRect">
            <a:avLst>
              <a:gd name="adj" fmla="val 10667"/>
            </a:avLst>
          </a:prstGeom>
          <a:solidFill>
            <a:srgbClr val="F0F4F8"/>
          </a:solidFill>
          <a:ln w="12700">
            <a:solidFill>
              <a:srgbClr val="E2E8F0"/>
            </a:solidFill>
            <a:prstDash val="solid"/>
          </a:ln>
        </p:spPr>
        <p:txBody>
          <a:bodyPr/>
          <a:lstStyle/>
          <a:p>
            <a:endParaRPr lang="en-US"/>
          </a:p>
        </p:txBody>
      </p:sp>
      <p:sp>
        <p:nvSpPr>
          <p:cNvPr id="79" name="Text 77">
            <a:extLst>
              <a:ext uri="{FF2B5EF4-FFF2-40B4-BE49-F238E27FC236}">
                <a16:creationId xmlns:a16="http://schemas.microsoft.com/office/drawing/2014/main" id="{B387EAE0-6B11-0F0E-9F4D-915EC5997234}"/>
              </a:ext>
            </a:extLst>
          </p:cNvPr>
          <p:cNvSpPr/>
          <p:nvPr/>
        </p:nvSpPr>
        <p:spPr>
          <a:xfrm>
            <a:off x="457200" y="2706624"/>
            <a:ext cx="2468880" cy="274320"/>
          </a:xfrm>
          <a:prstGeom prst="rect">
            <a:avLst/>
          </a:prstGeom>
          <a:noFill/>
          <a:ln/>
        </p:spPr>
        <p:txBody>
          <a:bodyPr wrap="square" rtlCol="0" anchor="ctr"/>
          <a:lstStyle/>
          <a:p>
            <a:pPr marL="0" indent="0">
              <a:buNone/>
            </a:pPr>
            <a:r>
              <a:rPr lang="en-US" sz="1400" b="1" dirty="0">
                <a:solidFill>
                  <a:srgbClr val="1F4E79"/>
                </a:solidFill>
                <a:latin typeface="Cambria" pitchFamily="34" charset="0"/>
                <a:ea typeface="Cambria" pitchFamily="34" charset="-122"/>
                <a:cs typeface="Cambria" pitchFamily="34" charset="-120"/>
              </a:rPr>
              <a:t>4 Crews</a:t>
            </a:r>
            <a:endParaRPr lang="en-US" sz="1400" dirty="0"/>
          </a:p>
        </p:txBody>
      </p:sp>
      <p:sp>
        <p:nvSpPr>
          <p:cNvPr id="80" name="Text 78">
            <a:extLst>
              <a:ext uri="{FF2B5EF4-FFF2-40B4-BE49-F238E27FC236}">
                <a16:creationId xmlns:a16="http://schemas.microsoft.com/office/drawing/2014/main" id="{235FE86E-6CD8-0C79-16B7-5E018B8278C9}"/>
              </a:ext>
            </a:extLst>
          </p:cNvPr>
          <p:cNvSpPr/>
          <p:nvPr/>
        </p:nvSpPr>
        <p:spPr>
          <a:xfrm>
            <a:off x="457200" y="2999232"/>
            <a:ext cx="2468880" cy="274320"/>
          </a:xfrm>
          <a:prstGeom prst="rect">
            <a:avLst/>
          </a:prstGeom>
          <a:noFill/>
          <a:ln/>
        </p:spPr>
        <p:txBody>
          <a:bodyPr wrap="square" rtlCol="0" anchor="ctr"/>
          <a:lstStyle/>
          <a:p>
            <a:pPr marL="0" indent="0">
              <a:buNone/>
            </a:pPr>
            <a:r>
              <a:rPr lang="en-US" sz="1100" dirty="0">
                <a:solidFill>
                  <a:srgbClr val="64748B"/>
                </a:solidFill>
                <a:latin typeface="Arial" pitchFamily="34" charset="0"/>
                <a:ea typeface="Arial" pitchFamily="34" charset="-122"/>
                <a:cs typeface="Arial" pitchFamily="34" charset="-120"/>
              </a:rPr>
              <a:t>182 annual days of work</a:t>
            </a:r>
            <a:endParaRPr lang="en-US" sz="1100" dirty="0"/>
          </a:p>
        </p:txBody>
      </p:sp>
      <p:sp>
        <p:nvSpPr>
          <p:cNvPr id="81" name="Shape 79">
            <a:extLst>
              <a:ext uri="{FF2B5EF4-FFF2-40B4-BE49-F238E27FC236}">
                <a16:creationId xmlns:a16="http://schemas.microsoft.com/office/drawing/2014/main" id="{309EAA6E-1B1B-37BC-4D73-DD86C30D7FDA}"/>
              </a:ext>
            </a:extLst>
          </p:cNvPr>
          <p:cNvSpPr/>
          <p:nvPr/>
        </p:nvSpPr>
        <p:spPr>
          <a:xfrm>
            <a:off x="3200400" y="2670048"/>
            <a:ext cx="2651760" cy="685800"/>
          </a:xfrm>
          <a:prstGeom prst="roundRect">
            <a:avLst>
              <a:gd name="adj" fmla="val 10667"/>
            </a:avLst>
          </a:prstGeom>
          <a:solidFill>
            <a:srgbClr val="F0F4F8"/>
          </a:solidFill>
          <a:ln w="12700">
            <a:solidFill>
              <a:srgbClr val="E2E8F0"/>
            </a:solidFill>
            <a:prstDash val="solid"/>
          </a:ln>
        </p:spPr>
        <p:txBody>
          <a:bodyPr/>
          <a:lstStyle/>
          <a:p>
            <a:endParaRPr lang="en-US"/>
          </a:p>
        </p:txBody>
      </p:sp>
      <p:sp>
        <p:nvSpPr>
          <p:cNvPr id="82" name="Text 80">
            <a:extLst>
              <a:ext uri="{FF2B5EF4-FFF2-40B4-BE49-F238E27FC236}">
                <a16:creationId xmlns:a16="http://schemas.microsoft.com/office/drawing/2014/main" id="{9180DDC4-DE7D-BDA9-0848-12B017E57F48}"/>
              </a:ext>
            </a:extLst>
          </p:cNvPr>
          <p:cNvSpPr/>
          <p:nvPr/>
        </p:nvSpPr>
        <p:spPr>
          <a:xfrm>
            <a:off x="3291840" y="2706624"/>
            <a:ext cx="2468880" cy="274320"/>
          </a:xfrm>
          <a:prstGeom prst="rect">
            <a:avLst/>
          </a:prstGeom>
          <a:noFill/>
          <a:ln/>
        </p:spPr>
        <p:txBody>
          <a:bodyPr wrap="square" rtlCol="0" anchor="ctr"/>
          <a:lstStyle/>
          <a:p>
            <a:pPr marL="0" indent="0">
              <a:buNone/>
            </a:pPr>
            <a:r>
              <a:rPr lang="en-US" sz="1400" b="1" dirty="0">
                <a:solidFill>
                  <a:srgbClr val="1F4E79"/>
                </a:solidFill>
                <a:latin typeface="Cambria" pitchFamily="34" charset="0"/>
                <a:ea typeface="Cambria" pitchFamily="34" charset="-122"/>
                <a:cs typeface="Cambria" pitchFamily="34" charset="-120"/>
              </a:rPr>
              <a:t>42-hr avg</a:t>
            </a:r>
            <a:endParaRPr lang="en-US" sz="1400" dirty="0"/>
          </a:p>
        </p:txBody>
      </p:sp>
      <p:sp>
        <p:nvSpPr>
          <p:cNvPr id="83" name="Text 81">
            <a:extLst>
              <a:ext uri="{FF2B5EF4-FFF2-40B4-BE49-F238E27FC236}">
                <a16:creationId xmlns:a16="http://schemas.microsoft.com/office/drawing/2014/main" id="{B00337AB-68DD-1336-2107-95415F9059DF}"/>
              </a:ext>
            </a:extLst>
          </p:cNvPr>
          <p:cNvSpPr/>
          <p:nvPr/>
        </p:nvSpPr>
        <p:spPr>
          <a:xfrm>
            <a:off x="3291840" y="2999232"/>
            <a:ext cx="2468880" cy="274320"/>
          </a:xfrm>
          <a:prstGeom prst="rect">
            <a:avLst/>
          </a:prstGeom>
          <a:noFill/>
          <a:ln/>
        </p:spPr>
        <p:txBody>
          <a:bodyPr wrap="square" rtlCol="0" anchor="ctr"/>
          <a:lstStyle/>
          <a:p>
            <a:pPr marL="0" indent="0">
              <a:buNone/>
            </a:pPr>
            <a:r>
              <a:rPr lang="en-US" sz="1100" dirty="0">
                <a:solidFill>
                  <a:srgbClr val="64748B"/>
                </a:solidFill>
                <a:latin typeface="Arial" pitchFamily="34" charset="0"/>
                <a:ea typeface="Arial" pitchFamily="34" charset="-122"/>
                <a:cs typeface="Arial" pitchFamily="34" charset="-120"/>
              </a:rPr>
              <a:t>2 weekends off/month</a:t>
            </a:r>
            <a:endParaRPr lang="en-US" sz="1100" dirty="0"/>
          </a:p>
        </p:txBody>
      </p:sp>
      <p:sp>
        <p:nvSpPr>
          <p:cNvPr id="84" name="Shape 82">
            <a:extLst>
              <a:ext uri="{FF2B5EF4-FFF2-40B4-BE49-F238E27FC236}">
                <a16:creationId xmlns:a16="http://schemas.microsoft.com/office/drawing/2014/main" id="{F2780CF6-FAAE-8BC1-8B16-21A34142530A}"/>
              </a:ext>
            </a:extLst>
          </p:cNvPr>
          <p:cNvSpPr/>
          <p:nvPr/>
        </p:nvSpPr>
        <p:spPr>
          <a:xfrm>
            <a:off x="6035040" y="2670048"/>
            <a:ext cx="2651760" cy="685800"/>
          </a:xfrm>
          <a:prstGeom prst="roundRect">
            <a:avLst>
              <a:gd name="adj" fmla="val 10667"/>
            </a:avLst>
          </a:prstGeom>
          <a:solidFill>
            <a:srgbClr val="F0F4F8"/>
          </a:solidFill>
          <a:ln w="12700">
            <a:solidFill>
              <a:srgbClr val="E2E8F0"/>
            </a:solidFill>
            <a:prstDash val="solid"/>
          </a:ln>
        </p:spPr>
        <p:txBody>
          <a:bodyPr/>
          <a:lstStyle/>
          <a:p>
            <a:endParaRPr lang="en-US"/>
          </a:p>
        </p:txBody>
      </p:sp>
      <p:sp>
        <p:nvSpPr>
          <p:cNvPr id="85" name="Text 83">
            <a:extLst>
              <a:ext uri="{FF2B5EF4-FFF2-40B4-BE49-F238E27FC236}">
                <a16:creationId xmlns:a16="http://schemas.microsoft.com/office/drawing/2014/main" id="{950BB371-A8E4-9659-EFB4-137BB332DB3C}"/>
              </a:ext>
            </a:extLst>
          </p:cNvPr>
          <p:cNvSpPr/>
          <p:nvPr/>
        </p:nvSpPr>
        <p:spPr>
          <a:xfrm>
            <a:off x="6126480" y="2706624"/>
            <a:ext cx="2468880" cy="274320"/>
          </a:xfrm>
          <a:prstGeom prst="rect">
            <a:avLst/>
          </a:prstGeom>
          <a:noFill/>
          <a:ln/>
        </p:spPr>
        <p:txBody>
          <a:bodyPr wrap="square" rtlCol="0" anchor="ctr"/>
          <a:lstStyle/>
          <a:p>
            <a:pPr marL="0" indent="0">
              <a:buNone/>
            </a:pPr>
            <a:r>
              <a:rPr lang="en-US" sz="1400" b="1" dirty="0">
                <a:solidFill>
                  <a:srgbClr val="1F4E79"/>
                </a:solidFill>
                <a:latin typeface="Cambria" pitchFamily="34" charset="0"/>
                <a:ea typeface="Cambria" pitchFamily="34" charset="-122"/>
                <a:cs typeface="Cambria" pitchFamily="34" charset="-120"/>
              </a:rPr>
              <a:t>12-hr shifts</a:t>
            </a:r>
            <a:endParaRPr lang="en-US" sz="1400" dirty="0"/>
          </a:p>
        </p:txBody>
      </p:sp>
      <p:sp>
        <p:nvSpPr>
          <p:cNvPr id="86" name="Text 84">
            <a:extLst>
              <a:ext uri="{FF2B5EF4-FFF2-40B4-BE49-F238E27FC236}">
                <a16:creationId xmlns:a16="http://schemas.microsoft.com/office/drawing/2014/main" id="{291C58A8-F71A-65E5-E702-B009CCA05BF2}"/>
              </a:ext>
            </a:extLst>
          </p:cNvPr>
          <p:cNvSpPr/>
          <p:nvPr/>
        </p:nvSpPr>
        <p:spPr>
          <a:xfrm>
            <a:off x="6126480" y="2999232"/>
            <a:ext cx="2468880" cy="274320"/>
          </a:xfrm>
          <a:prstGeom prst="rect">
            <a:avLst/>
          </a:prstGeom>
          <a:noFill/>
          <a:ln/>
        </p:spPr>
        <p:txBody>
          <a:bodyPr wrap="square" rtlCol="0" anchor="ctr"/>
          <a:lstStyle/>
          <a:p>
            <a:pPr marL="0" indent="0">
              <a:buNone/>
            </a:pPr>
            <a:r>
              <a:rPr lang="en-US" sz="1100" dirty="0">
                <a:solidFill>
                  <a:srgbClr val="64748B"/>
                </a:solidFill>
                <a:latin typeface="Arial" pitchFamily="34" charset="0"/>
                <a:ea typeface="Arial" pitchFamily="34" charset="-122"/>
                <a:cs typeface="Arial" pitchFamily="34" charset="-120"/>
              </a:rPr>
              <a:t>7-day break every 4 weeks</a:t>
            </a:r>
            <a:endParaRPr lang="en-US" sz="1100" dirty="0"/>
          </a:p>
        </p:txBody>
      </p:sp>
      <p:sp>
        <p:nvSpPr>
          <p:cNvPr id="87" name="Shape 85">
            <a:extLst>
              <a:ext uri="{FF2B5EF4-FFF2-40B4-BE49-F238E27FC236}">
                <a16:creationId xmlns:a16="http://schemas.microsoft.com/office/drawing/2014/main" id="{160E32DE-E900-817B-DF7B-A69D047E738B}"/>
              </a:ext>
            </a:extLst>
          </p:cNvPr>
          <p:cNvSpPr/>
          <p:nvPr/>
        </p:nvSpPr>
        <p:spPr>
          <a:xfrm>
            <a:off x="365760" y="3447288"/>
            <a:ext cx="8412480" cy="502920"/>
          </a:xfrm>
          <a:prstGeom prst="roundRect">
            <a:avLst>
              <a:gd name="adj" fmla="val 18182"/>
            </a:avLst>
          </a:prstGeom>
          <a:solidFill>
            <a:srgbClr val="1F4E79"/>
          </a:solidFill>
          <a:ln w="12700">
            <a:solidFill>
              <a:srgbClr val="1F4E79"/>
            </a:solidFill>
            <a:prstDash val="solid"/>
          </a:ln>
        </p:spPr>
        <p:txBody>
          <a:bodyPr/>
          <a:lstStyle/>
          <a:p>
            <a:endParaRPr lang="en-US"/>
          </a:p>
        </p:txBody>
      </p:sp>
      <p:sp>
        <p:nvSpPr>
          <p:cNvPr id="88" name="Text 86">
            <a:extLst>
              <a:ext uri="{FF2B5EF4-FFF2-40B4-BE49-F238E27FC236}">
                <a16:creationId xmlns:a16="http://schemas.microsoft.com/office/drawing/2014/main" id="{F4BF03C7-99DA-19E5-BCEB-B30EC8AEB5A9}"/>
              </a:ext>
            </a:extLst>
          </p:cNvPr>
          <p:cNvSpPr/>
          <p:nvPr/>
        </p:nvSpPr>
        <p:spPr>
          <a:xfrm>
            <a:off x="457200" y="3474720"/>
            <a:ext cx="82296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91 fewer days of work per year at the same pay. Recruiting got much easier.</a:t>
            </a:r>
            <a:endParaRPr lang="en-US" sz="1400" dirty="0"/>
          </a:p>
        </p:txBody>
      </p:sp>
      <p:sp>
        <p:nvSpPr>
          <p:cNvPr id="89" name="Oval 88">
            <a:extLst>
              <a:ext uri="{FF2B5EF4-FFF2-40B4-BE49-F238E27FC236}">
                <a16:creationId xmlns:a16="http://schemas.microsoft.com/office/drawing/2014/main" id="{F60B894C-D681-F772-D40E-D2E0D56D1114}"/>
              </a:ext>
            </a:extLst>
          </p:cNvPr>
          <p:cNvSpPr/>
          <p:nvPr/>
        </p:nvSpPr>
        <p:spPr>
          <a:xfrm>
            <a:off x="4423736" y="1554480"/>
            <a:ext cx="561703" cy="32918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98B336BB-52D7-B2FD-B5A6-2D832DDA8ABA}"/>
              </a:ext>
            </a:extLst>
          </p:cNvPr>
          <p:cNvSpPr/>
          <p:nvPr/>
        </p:nvSpPr>
        <p:spPr>
          <a:xfrm>
            <a:off x="5393000" y="1243584"/>
            <a:ext cx="561703" cy="32918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5C3626B3-BCCD-D106-F349-F84D8751FD83}"/>
              </a:ext>
            </a:extLst>
          </p:cNvPr>
          <p:cNvSpPr/>
          <p:nvPr/>
        </p:nvSpPr>
        <p:spPr>
          <a:xfrm>
            <a:off x="2485208" y="1545336"/>
            <a:ext cx="561703" cy="32918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3" name="Straight Arrow Connector 92">
            <a:extLst>
              <a:ext uri="{FF2B5EF4-FFF2-40B4-BE49-F238E27FC236}">
                <a16:creationId xmlns:a16="http://schemas.microsoft.com/office/drawing/2014/main" id="{B09BE9F5-833A-4499-A383-9313168480E5}"/>
              </a:ext>
            </a:extLst>
          </p:cNvPr>
          <p:cNvCxnSpPr>
            <a:stCxn id="91" idx="4"/>
          </p:cNvCxnSpPr>
          <p:nvPr/>
        </p:nvCxnSpPr>
        <p:spPr>
          <a:xfrm>
            <a:off x="2766060" y="1874520"/>
            <a:ext cx="773974" cy="239703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D4E49987-AEF8-3D0E-A03D-93473F8F7A98}"/>
              </a:ext>
            </a:extLst>
          </p:cNvPr>
          <p:cNvCxnSpPr>
            <a:cxnSpLocks/>
          </p:cNvCxnSpPr>
          <p:nvPr/>
        </p:nvCxnSpPr>
        <p:spPr>
          <a:xfrm flipH="1">
            <a:off x="3941065" y="1553174"/>
            <a:ext cx="1706988" cy="271838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7851D062-E240-41CF-1879-69B0CDEFDFF8}"/>
              </a:ext>
            </a:extLst>
          </p:cNvPr>
          <p:cNvSpPr txBox="1"/>
          <p:nvPr/>
        </p:nvSpPr>
        <p:spPr>
          <a:xfrm>
            <a:off x="2766060" y="4221915"/>
            <a:ext cx="2207623" cy="646331"/>
          </a:xfrm>
          <a:prstGeom prst="rect">
            <a:avLst/>
          </a:prstGeom>
          <a:noFill/>
        </p:spPr>
        <p:txBody>
          <a:bodyPr wrap="square" rtlCol="0">
            <a:spAutoFit/>
          </a:bodyPr>
          <a:lstStyle/>
          <a:p>
            <a:pPr algn="ctr"/>
            <a:r>
              <a:rPr lang="en-US" dirty="0"/>
              <a:t>Only Crew that can cover Day shift</a:t>
            </a:r>
          </a:p>
        </p:txBody>
      </p:sp>
      <p:cxnSp>
        <p:nvCxnSpPr>
          <p:cNvPr id="97" name="Straight Arrow Connector 96">
            <a:extLst>
              <a:ext uri="{FF2B5EF4-FFF2-40B4-BE49-F238E27FC236}">
                <a16:creationId xmlns:a16="http://schemas.microsoft.com/office/drawing/2014/main" id="{75E24CB7-8778-2D30-194C-AA448CFF6CCE}"/>
              </a:ext>
            </a:extLst>
          </p:cNvPr>
          <p:cNvCxnSpPr>
            <a:cxnSpLocks/>
          </p:cNvCxnSpPr>
          <p:nvPr/>
        </p:nvCxnSpPr>
        <p:spPr>
          <a:xfrm>
            <a:off x="4704588" y="1865376"/>
            <a:ext cx="1741932" cy="240617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137F3169-4045-C258-9A00-272AECD8B2D0}"/>
              </a:ext>
            </a:extLst>
          </p:cNvPr>
          <p:cNvSpPr txBox="1"/>
          <p:nvPr/>
        </p:nvSpPr>
        <p:spPr>
          <a:xfrm>
            <a:off x="5539304" y="4221915"/>
            <a:ext cx="2207623" cy="646331"/>
          </a:xfrm>
          <a:prstGeom prst="rect">
            <a:avLst/>
          </a:prstGeom>
          <a:noFill/>
        </p:spPr>
        <p:txBody>
          <a:bodyPr wrap="square" rtlCol="0">
            <a:spAutoFit/>
          </a:bodyPr>
          <a:lstStyle/>
          <a:p>
            <a:pPr algn="ctr"/>
            <a:r>
              <a:rPr lang="en-US" dirty="0"/>
              <a:t>Only Crew that can cover Night shift</a:t>
            </a:r>
          </a:p>
        </p:txBody>
      </p:sp>
      <p:sp>
        <p:nvSpPr>
          <p:cNvPr id="100" name="Oval 99">
            <a:extLst>
              <a:ext uri="{FF2B5EF4-FFF2-40B4-BE49-F238E27FC236}">
                <a16:creationId xmlns:a16="http://schemas.microsoft.com/office/drawing/2014/main" id="{CC72E36D-DB81-5993-7267-8432C6F34A56}"/>
              </a:ext>
            </a:extLst>
          </p:cNvPr>
          <p:cNvSpPr/>
          <p:nvPr/>
        </p:nvSpPr>
        <p:spPr>
          <a:xfrm>
            <a:off x="7331528" y="1243584"/>
            <a:ext cx="561703" cy="32918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1" name="Straight Arrow Connector 100">
            <a:extLst>
              <a:ext uri="{FF2B5EF4-FFF2-40B4-BE49-F238E27FC236}">
                <a16:creationId xmlns:a16="http://schemas.microsoft.com/office/drawing/2014/main" id="{9579862F-2525-4D67-822C-95F33E2D963E}"/>
              </a:ext>
            </a:extLst>
          </p:cNvPr>
          <p:cNvCxnSpPr>
            <a:cxnSpLocks/>
            <a:stCxn id="100" idx="4"/>
          </p:cNvCxnSpPr>
          <p:nvPr/>
        </p:nvCxnSpPr>
        <p:spPr>
          <a:xfrm flipH="1">
            <a:off x="6779623" y="1572768"/>
            <a:ext cx="832757" cy="26987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93063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475488"/>
          </a:xfrm>
          <a:prstGeom prst="rect">
            <a:avLst/>
          </a:prstGeom>
          <a:noFill/>
          <a:ln/>
        </p:spPr>
        <p:txBody>
          <a:bodyPr wrap="square" rtlCol="0" anchor="ctr"/>
          <a:lstStyle/>
          <a:p>
            <a:pPr marL="0" indent="0">
              <a:buNone/>
            </a:pPr>
            <a:r>
              <a:rPr lang="en-US" sz="2800" b="1" dirty="0">
                <a:solidFill>
                  <a:srgbClr val="1F4E79"/>
                </a:solidFill>
                <a:latin typeface="Cambria" pitchFamily="34" charset="0"/>
                <a:ea typeface="Cambria" pitchFamily="34" charset="-122"/>
                <a:cs typeface="Cambria" pitchFamily="34" charset="-120"/>
              </a:rPr>
              <a:t>Where We Are Now: The 2-2-3</a:t>
            </a:r>
            <a:endParaRPr lang="en-US" sz="2800" dirty="0"/>
          </a:p>
        </p:txBody>
      </p:sp>
      <p:sp>
        <p:nvSpPr>
          <p:cNvPr id="3" name="Text 1"/>
          <p:cNvSpPr/>
          <p:nvPr/>
        </p:nvSpPr>
        <p:spPr>
          <a:xfrm>
            <a:off x="457200" y="658368"/>
            <a:ext cx="8229600" cy="256032"/>
          </a:xfrm>
          <a:prstGeom prst="rect">
            <a:avLst/>
          </a:prstGeom>
          <a:noFill/>
          <a:ln/>
        </p:spPr>
        <p:txBody>
          <a:bodyPr wrap="square" rtlCol="0" anchor="ctr"/>
          <a:lstStyle/>
          <a:p>
            <a:pPr marL="0" indent="0">
              <a:buNone/>
            </a:pPr>
            <a:r>
              <a:rPr lang="en-US" sz="1200" i="1" dirty="0">
                <a:solidFill>
                  <a:srgbClr val="64748B"/>
                </a:solidFill>
                <a:latin typeface="Arial" pitchFamily="34" charset="0"/>
                <a:ea typeface="Arial" pitchFamily="34" charset="-122"/>
                <a:cs typeface="Arial" pitchFamily="34" charset="-120"/>
              </a:rPr>
              <a:t>The most popular 24/7 pattern in the country</a:t>
            </a:r>
            <a:endParaRPr lang="en-US" sz="1200" dirty="0"/>
          </a:p>
        </p:txBody>
      </p:sp>
      <p:sp>
        <p:nvSpPr>
          <p:cNvPr id="4" name="Shape 2"/>
          <p:cNvSpPr/>
          <p:nvPr/>
        </p:nvSpPr>
        <p:spPr>
          <a:xfrm>
            <a:off x="1325880" y="987552"/>
            <a:ext cx="941832" cy="237744"/>
          </a:xfrm>
          <a:prstGeom prst="roundRect">
            <a:avLst>
              <a:gd name="adj" fmla="val 11538"/>
            </a:avLst>
          </a:prstGeom>
          <a:solidFill>
            <a:srgbClr val="1F4E79"/>
          </a:solidFill>
          <a:ln w="6350">
            <a:solidFill>
              <a:srgbClr val="FFFFFF"/>
            </a:solidFill>
            <a:prstDash val="solid"/>
          </a:ln>
        </p:spPr>
        <p:txBody>
          <a:bodyPr/>
          <a:lstStyle/>
          <a:p>
            <a:endParaRPr lang="en-US"/>
          </a:p>
        </p:txBody>
      </p:sp>
      <p:sp>
        <p:nvSpPr>
          <p:cNvPr id="5" name="Text 3"/>
          <p:cNvSpPr/>
          <p:nvPr/>
        </p:nvSpPr>
        <p:spPr>
          <a:xfrm>
            <a:off x="1325880" y="987552"/>
            <a:ext cx="9418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Sun</a:t>
            </a:r>
            <a:endParaRPr lang="en-US" sz="900" dirty="0"/>
          </a:p>
        </p:txBody>
      </p:sp>
      <p:sp>
        <p:nvSpPr>
          <p:cNvPr id="6" name="Shape 4"/>
          <p:cNvSpPr/>
          <p:nvPr/>
        </p:nvSpPr>
        <p:spPr>
          <a:xfrm>
            <a:off x="2295144" y="987552"/>
            <a:ext cx="941832" cy="237744"/>
          </a:xfrm>
          <a:prstGeom prst="roundRect">
            <a:avLst>
              <a:gd name="adj" fmla="val 11538"/>
            </a:avLst>
          </a:prstGeom>
          <a:solidFill>
            <a:srgbClr val="1F4E79"/>
          </a:solidFill>
          <a:ln w="6350">
            <a:solidFill>
              <a:srgbClr val="FFFFFF"/>
            </a:solidFill>
            <a:prstDash val="solid"/>
          </a:ln>
        </p:spPr>
        <p:txBody>
          <a:bodyPr/>
          <a:lstStyle/>
          <a:p>
            <a:endParaRPr lang="en-US"/>
          </a:p>
        </p:txBody>
      </p:sp>
      <p:sp>
        <p:nvSpPr>
          <p:cNvPr id="7" name="Text 5"/>
          <p:cNvSpPr/>
          <p:nvPr/>
        </p:nvSpPr>
        <p:spPr>
          <a:xfrm>
            <a:off x="2295144" y="987552"/>
            <a:ext cx="9418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Mon</a:t>
            </a:r>
            <a:endParaRPr lang="en-US" sz="900" dirty="0"/>
          </a:p>
        </p:txBody>
      </p:sp>
      <p:sp>
        <p:nvSpPr>
          <p:cNvPr id="8" name="Shape 6"/>
          <p:cNvSpPr/>
          <p:nvPr/>
        </p:nvSpPr>
        <p:spPr>
          <a:xfrm>
            <a:off x="3264408" y="987552"/>
            <a:ext cx="941832" cy="237744"/>
          </a:xfrm>
          <a:prstGeom prst="roundRect">
            <a:avLst>
              <a:gd name="adj" fmla="val 11538"/>
            </a:avLst>
          </a:prstGeom>
          <a:solidFill>
            <a:srgbClr val="1F4E79"/>
          </a:solidFill>
          <a:ln w="6350">
            <a:solidFill>
              <a:srgbClr val="FFFFFF"/>
            </a:solidFill>
            <a:prstDash val="solid"/>
          </a:ln>
        </p:spPr>
        <p:txBody>
          <a:bodyPr/>
          <a:lstStyle/>
          <a:p>
            <a:endParaRPr lang="en-US"/>
          </a:p>
        </p:txBody>
      </p:sp>
      <p:sp>
        <p:nvSpPr>
          <p:cNvPr id="9" name="Text 7"/>
          <p:cNvSpPr/>
          <p:nvPr/>
        </p:nvSpPr>
        <p:spPr>
          <a:xfrm>
            <a:off x="3264408" y="987552"/>
            <a:ext cx="9418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Tue</a:t>
            </a:r>
            <a:endParaRPr lang="en-US" sz="900" dirty="0"/>
          </a:p>
        </p:txBody>
      </p:sp>
      <p:sp>
        <p:nvSpPr>
          <p:cNvPr id="10" name="Shape 8"/>
          <p:cNvSpPr/>
          <p:nvPr/>
        </p:nvSpPr>
        <p:spPr>
          <a:xfrm>
            <a:off x="4233672" y="987552"/>
            <a:ext cx="941832" cy="237744"/>
          </a:xfrm>
          <a:prstGeom prst="roundRect">
            <a:avLst>
              <a:gd name="adj" fmla="val 11538"/>
            </a:avLst>
          </a:prstGeom>
          <a:solidFill>
            <a:srgbClr val="1F4E79"/>
          </a:solidFill>
          <a:ln w="6350">
            <a:solidFill>
              <a:srgbClr val="FFFFFF"/>
            </a:solidFill>
            <a:prstDash val="solid"/>
          </a:ln>
        </p:spPr>
        <p:txBody>
          <a:bodyPr/>
          <a:lstStyle/>
          <a:p>
            <a:endParaRPr lang="en-US"/>
          </a:p>
        </p:txBody>
      </p:sp>
      <p:sp>
        <p:nvSpPr>
          <p:cNvPr id="11" name="Text 9"/>
          <p:cNvSpPr/>
          <p:nvPr/>
        </p:nvSpPr>
        <p:spPr>
          <a:xfrm>
            <a:off x="4233672" y="987552"/>
            <a:ext cx="9418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Wed</a:t>
            </a:r>
            <a:endParaRPr lang="en-US" sz="900" dirty="0"/>
          </a:p>
        </p:txBody>
      </p:sp>
      <p:sp>
        <p:nvSpPr>
          <p:cNvPr id="12" name="Shape 10"/>
          <p:cNvSpPr/>
          <p:nvPr/>
        </p:nvSpPr>
        <p:spPr>
          <a:xfrm>
            <a:off x="5202936" y="987552"/>
            <a:ext cx="941832" cy="237744"/>
          </a:xfrm>
          <a:prstGeom prst="roundRect">
            <a:avLst>
              <a:gd name="adj" fmla="val 11538"/>
            </a:avLst>
          </a:prstGeom>
          <a:solidFill>
            <a:srgbClr val="1F4E79"/>
          </a:solidFill>
          <a:ln w="6350">
            <a:solidFill>
              <a:srgbClr val="FFFFFF"/>
            </a:solidFill>
            <a:prstDash val="solid"/>
          </a:ln>
        </p:spPr>
        <p:txBody>
          <a:bodyPr/>
          <a:lstStyle/>
          <a:p>
            <a:endParaRPr lang="en-US"/>
          </a:p>
        </p:txBody>
      </p:sp>
      <p:sp>
        <p:nvSpPr>
          <p:cNvPr id="13" name="Text 11"/>
          <p:cNvSpPr/>
          <p:nvPr/>
        </p:nvSpPr>
        <p:spPr>
          <a:xfrm>
            <a:off x="5202936" y="987552"/>
            <a:ext cx="9418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Thu</a:t>
            </a:r>
            <a:endParaRPr lang="en-US" sz="900" dirty="0"/>
          </a:p>
        </p:txBody>
      </p:sp>
      <p:sp>
        <p:nvSpPr>
          <p:cNvPr id="14" name="Shape 12"/>
          <p:cNvSpPr/>
          <p:nvPr/>
        </p:nvSpPr>
        <p:spPr>
          <a:xfrm>
            <a:off x="6172200" y="987552"/>
            <a:ext cx="941832" cy="237744"/>
          </a:xfrm>
          <a:prstGeom prst="roundRect">
            <a:avLst>
              <a:gd name="adj" fmla="val 11538"/>
            </a:avLst>
          </a:prstGeom>
          <a:solidFill>
            <a:srgbClr val="1F4E79"/>
          </a:solidFill>
          <a:ln w="6350">
            <a:solidFill>
              <a:srgbClr val="FFFFFF"/>
            </a:solidFill>
            <a:prstDash val="solid"/>
          </a:ln>
        </p:spPr>
        <p:txBody>
          <a:bodyPr/>
          <a:lstStyle/>
          <a:p>
            <a:endParaRPr lang="en-US"/>
          </a:p>
        </p:txBody>
      </p:sp>
      <p:sp>
        <p:nvSpPr>
          <p:cNvPr id="15" name="Text 13"/>
          <p:cNvSpPr/>
          <p:nvPr/>
        </p:nvSpPr>
        <p:spPr>
          <a:xfrm>
            <a:off x="6172200" y="987552"/>
            <a:ext cx="9418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Fri</a:t>
            </a:r>
            <a:endParaRPr lang="en-US" sz="900" dirty="0"/>
          </a:p>
        </p:txBody>
      </p:sp>
      <p:sp>
        <p:nvSpPr>
          <p:cNvPr id="16" name="Shape 14"/>
          <p:cNvSpPr/>
          <p:nvPr/>
        </p:nvSpPr>
        <p:spPr>
          <a:xfrm>
            <a:off x="7141464" y="987552"/>
            <a:ext cx="941832" cy="237744"/>
          </a:xfrm>
          <a:prstGeom prst="roundRect">
            <a:avLst>
              <a:gd name="adj" fmla="val 11538"/>
            </a:avLst>
          </a:prstGeom>
          <a:solidFill>
            <a:srgbClr val="1F4E79"/>
          </a:solidFill>
          <a:ln w="6350">
            <a:solidFill>
              <a:srgbClr val="FFFFFF"/>
            </a:solidFill>
            <a:prstDash val="solid"/>
          </a:ln>
        </p:spPr>
        <p:txBody>
          <a:bodyPr/>
          <a:lstStyle/>
          <a:p>
            <a:endParaRPr lang="en-US"/>
          </a:p>
        </p:txBody>
      </p:sp>
      <p:sp>
        <p:nvSpPr>
          <p:cNvPr id="17" name="Text 15"/>
          <p:cNvSpPr/>
          <p:nvPr/>
        </p:nvSpPr>
        <p:spPr>
          <a:xfrm>
            <a:off x="7141464" y="987552"/>
            <a:ext cx="9418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Sat</a:t>
            </a:r>
            <a:endParaRPr lang="en-US" sz="900" dirty="0"/>
          </a:p>
        </p:txBody>
      </p:sp>
      <p:sp>
        <p:nvSpPr>
          <p:cNvPr id="18" name="Text 16"/>
          <p:cNvSpPr/>
          <p:nvPr/>
        </p:nvSpPr>
        <p:spPr>
          <a:xfrm>
            <a:off x="347472" y="1243584"/>
            <a:ext cx="932688" cy="283464"/>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Day 1</a:t>
            </a:r>
            <a:endParaRPr lang="en-US" sz="900" dirty="0"/>
          </a:p>
        </p:txBody>
      </p:sp>
      <p:sp>
        <p:nvSpPr>
          <p:cNvPr id="19" name="Shape 17"/>
          <p:cNvSpPr/>
          <p:nvPr/>
        </p:nvSpPr>
        <p:spPr>
          <a:xfrm>
            <a:off x="1325880" y="1243584"/>
            <a:ext cx="941832" cy="283464"/>
          </a:xfrm>
          <a:prstGeom prst="roundRect">
            <a:avLst>
              <a:gd name="adj" fmla="val 12903"/>
            </a:avLst>
          </a:prstGeom>
          <a:solidFill>
            <a:srgbClr val="E2E8F0"/>
          </a:solidFill>
          <a:ln w="6350">
            <a:solidFill>
              <a:srgbClr val="FFFFFF"/>
            </a:solidFill>
            <a:prstDash val="solid"/>
          </a:ln>
        </p:spPr>
        <p:txBody>
          <a:bodyPr/>
          <a:lstStyle/>
          <a:p>
            <a:endParaRPr lang="en-US"/>
          </a:p>
        </p:txBody>
      </p:sp>
      <p:sp>
        <p:nvSpPr>
          <p:cNvPr id="20" name="Text 18"/>
          <p:cNvSpPr/>
          <p:nvPr/>
        </p:nvSpPr>
        <p:spPr>
          <a:xfrm>
            <a:off x="1325880" y="1243584"/>
            <a:ext cx="941832" cy="283464"/>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21" name="Shape 19"/>
          <p:cNvSpPr/>
          <p:nvPr/>
        </p:nvSpPr>
        <p:spPr>
          <a:xfrm>
            <a:off x="2295144" y="1243584"/>
            <a:ext cx="941832" cy="283464"/>
          </a:xfrm>
          <a:prstGeom prst="roundRect">
            <a:avLst>
              <a:gd name="adj" fmla="val 12903"/>
            </a:avLst>
          </a:prstGeom>
          <a:solidFill>
            <a:srgbClr val="1D6A72"/>
          </a:solidFill>
          <a:ln w="6350">
            <a:solidFill>
              <a:srgbClr val="FFFFFF"/>
            </a:solidFill>
            <a:prstDash val="solid"/>
          </a:ln>
        </p:spPr>
        <p:txBody>
          <a:bodyPr/>
          <a:lstStyle/>
          <a:p>
            <a:endParaRPr lang="en-US"/>
          </a:p>
        </p:txBody>
      </p:sp>
      <p:sp>
        <p:nvSpPr>
          <p:cNvPr id="22" name="Text 20"/>
          <p:cNvSpPr/>
          <p:nvPr/>
        </p:nvSpPr>
        <p:spPr>
          <a:xfrm>
            <a:off x="2295144" y="1243584"/>
            <a:ext cx="941832" cy="28346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D12</a:t>
            </a:r>
            <a:endParaRPr lang="en-US" sz="900" dirty="0"/>
          </a:p>
        </p:txBody>
      </p:sp>
      <p:sp>
        <p:nvSpPr>
          <p:cNvPr id="23" name="Shape 21"/>
          <p:cNvSpPr/>
          <p:nvPr/>
        </p:nvSpPr>
        <p:spPr>
          <a:xfrm>
            <a:off x="3264408" y="1243584"/>
            <a:ext cx="941832" cy="283464"/>
          </a:xfrm>
          <a:prstGeom prst="roundRect">
            <a:avLst>
              <a:gd name="adj" fmla="val 12903"/>
            </a:avLst>
          </a:prstGeom>
          <a:solidFill>
            <a:srgbClr val="1D6A72"/>
          </a:solidFill>
          <a:ln w="6350">
            <a:solidFill>
              <a:srgbClr val="FFFFFF"/>
            </a:solidFill>
            <a:prstDash val="solid"/>
          </a:ln>
        </p:spPr>
        <p:txBody>
          <a:bodyPr/>
          <a:lstStyle/>
          <a:p>
            <a:endParaRPr lang="en-US"/>
          </a:p>
        </p:txBody>
      </p:sp>
      <p:sp>
        <p:nvSpPr>
          <p:cNvPr id="24" name="Text 22"/>
          <p:cNvSpPr/>
          <p:nvPr/>
        </p:nvSpPr>
        <p:spPr>
          <a:xfrm>
            <a:off x="3264408" y="1243584"/>
            <a:ext cx="941832" cy="28346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D12</a:t>
            </a:r>
            <a:endParaRPr lang="en-US" sz="900" dirty="0"/>
          </a:p>
        </p:txBody>
      </p:sp>
      <p:sp>
        <p:nvSpPr>
          <p:cNvPr id="25" name="Shape 23"/>
          <p:cNvSpPr/>
          <p:nvPr/>
        </p:nvSpPr>
        <p:spPr>
          <a:xfrm>
            <a:off x="4233672" y="1243584"/>
            <a:ext cx="941832" cy="283464"/>
          </a:xfrm>
          <a:prstGeom prst="roundRect">
            <a:avLst>
              <a:gd name="adj" fmla="val 12903"/>
            </a:avLst>
          </a:prstGeom>
          <a:solidFill>
            <a:srgbClr val="E2E8F0"/>
          </a:solidFill>
          <a:ln w="6350">
            <a:solidFill>
              <a:srgbClr val="FFFFFF"/>
            </a:solidFill>
            <a:prstDash val="solid"/>
          </a:ln>
        </p:spPr>
        <p:txBody>
          <a:bodyPr/>
          <a:lstStyle/>
          <a:p>
            <a:endParaRPr lang="en-US"/>
          </a:p>
        </p:txBody>
      </p:sp>
      <p:sp>
        <p:nvSpPr>
          <p:cNvPr id="26" name="Text 24"/>
          <p:cNvSpPr/>
          <p:nvPr/>
        </p:nvSpPr>
        <p:spPr>
          <a:xfrm>
            <a:off x="4233672" y="1243584"/>
            <a:ext cx="941832" cy="283464"/>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27" name="Shape 25"/>
          <p:cNvSpPr/>
          <p:nvPr/>
        </p:nvSpPr>
        <p:spPr>
          <a:xfrm>
            <a:off x="5202936" y="1243584"/>
            <a:ext cx="941832" cy="283464"/>
          </a:xfrm>
          <a:prstGeom prst="roundRect">
            <a:avLst>
              <a:gd name="adj" fmla="val 12903"/>
            </a:avLst>
          </a:prstGeom>
          <a:solidFill>
            <a:srgbClr val="E2E8F0"/>
          </a:solidFill>
          <a:ln w="6350">
            <a:solidFill>
              <a:srgbClr val="FFFFFF"/>
            </a:solidFill>
            <a:prstDash val="solid"/>
          </a:ln>
        </p:spPr>
        <p:txBody>
          <a:bodyPr/>
          <a:lstStyle/>
          <a:p>
            <a:endParaRPr lang="en-US"/>
          </a:p>
        </p:txBody>
      </p:sp>
      <p:sp>
        <p:nvSpPr>
          <p:cNvPr id="28" name="Text 26"/>
          <p:cNvSpPr/>
          <p:nvPr/>
        </p:nvSpPr>
        <p:spPr>
          <a:xfrm>
            <a:off x="5202936" y="1243584"/>
            <a:ext cx="941832" cy="283464"/>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29" name="Shape 27"/>
          <p:cNvSpPr/>
          <p:nvPr/>
        </p:nvSpPr>
        <p:spPr>
          <a:xfrm>
            <a:off x="6172200" y="1243584"/>
            <a:ext cx="941832" cy="283464"/>
          </a:xfrm>
          <a:prstGeom prst="roundRect">
            <a:avLst>
              <a:gd name="adj" fmla="val 12903"/>
            </a:avLst>
          </a:prstGeom>
          <a:solidFill>
            <a:srgbClr val="1D6A72"/>
          </a:solidFill>
          <a:ln w="6350">
            <a:solidFill>
              <a:srgbClr val="FFFFFF"/>
            </a:solidFill>
            <a:prstDash val="solid"/>
          </a:ln>
        </p:spPr>
        <p:txBody>
          <a:bodyPr/>
          <a:lstStyle/>
          <a:p>
            <a:endParaRPr lang="en-US"/>
          </a:p>
        </p:txBody>
      </p:sp>
      <p:sp>
        <p:nvSpPr>
          <p:cNvPr id="30" name="Text 28"/>
          <p:cNvSpPr/>
          <p:nvPr/>
        </p:nvSpPr>
        <p:spPr>
          <a:xfrm>
            <a:off x="6172200" y="1243584"/>
            <a:ext cx="941832" cy="28346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D12</a:t>
            </a:r>
            <a:endParaRPr lang="en-US" sz="900" dirty="0"/>
          </a:p>
        </p:txBody>
      </p:sp>
      <p:sp>
        <p:nvSpPr>
          <p:cNvPr id="31" name="Shape 29"/>
          <p:cNvSpPr/>
          <p:nvPr/>
        </p:nvSpPr>
        <p:spPr>
          <a:xfrm>
            <a:off x="7141464" y="1243584"/>
            <a:ext cx="941832" cy="283464"/>
          </a:xfrm>
          <a:prstGeom prst="roundRect">
            <a:avLst>
              <a:gd name="adj" fmla="val 12903"/>
            </a:avLst>
          </a:prstGeom>
          <a:solidFill>
            <a:srgbClr val="1D6A72"/>
          </a:solidFill>
          <a:ln w="6350">
            <a:solidFill>
              <a:srgbClr val="FFFFFF"/>
            </a:solidFill>
            <a:prstDash val="solid"/>
          </a:ln>
        </p:spPr>
        <p:txBody>
          <a:bodyPr/>
          <a:lstStyle/>
          <a:p>
            <a:endParaRPr lang="en-US"/>
          </a:p>
        </p:txBody>
      </p:sp>
      <p:sp>
        <p:nvSpPr>
          <p:cNvPr id="32" name="Text 30"/>
          <p:cNvSpPr/>
          <p:nvPr/>
        </p:nvSpPr>
        <p:spPr>
          <a:xfrm>
            <a:off x="7141464" y="1243584"/>
            <a:ext cx="941832" cy="28346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D12</a:t>
            </a:r>
            <a:endParaRPr lang="en-US" sz="900" dirty="0"/>
          </a:p>
        </p:txBody>
      </p:sp>
      <p:sp>
        <p:nvSpPr>
          <p:cNvPr id="33" name="Text 31"/>
          <p:cNvSpPr/>
          <p:nvPr/>
        </p:nvSpPr>
        <p:spPr>
          <a:xfrm>
            <a:off x="347472" y="1545336"/>
            <a:ext cx="932688" cy="283464"/>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Day 2</a:t>
            </a:r>
            <a:endParaRPr lang="en-US" sz="900" dirty="0"/>
          </a:p>
        </p:txBody>
      </p:sp>
      <p:sp>
        <p:nvSpPr>
          <p:cNvPr id="34" name="Shape 32"/>
          <p:cNvSpPr/>
          <p:nvPr/>
        </p:nvSpPr>
        <p:spPr>
          <a:xfrm>
            <a:off x="1325880" y="1545336"/>
            <a:ext cx="941832" cy="283464"/>
          </a:xfrm>
          <a:prstGeom prst="roundRect">
            <a:avLst>
              <a:gd name="adj" fmla="val 12903"/>
            </a:avLst>
          </a:prstGeom>
          <a:solidFill>
            <a:srgbClr val="1D6A72"/>
          </a:solidFill>
          <a:ln w="6350">
            <a:solidFill>
              <a:srgbClr val="FFFFFF"/>
            </a:solidFill>
            <a:prstDash val="solid"/>
          </a:ln>
        </p:spPr>
        <p:txBody>
          <a:bodyPr/>
          <a:lstStyle/>
          <a:p>
            <a:endParaRPr lang="en-US"/>
          </a:p>
        </p:txBody>
      </p:sp>
      <p:sp>
        <p:nvSpPr>
          <p:cNvPr id="35" name="Text 33"/>
          <p:cNvSpPr/>
          <p:nvPr/>
        </p:nvSpPr>
        <p:spPr>
          <a:xfrm>
            <a:off x="1325880" y="1545336"/>
            <a:ext cx="941832" cy="28346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D12</a:t>
            </a:r>
            <a:endParaRPr lang="en-US" sz="900" dirty="0"/>
          </a:p>
        </p:txBody>
      </p:sp>
      <p:sp>
        <p:nvSpPr>
          <p:cNvPr id="36" name="Shape 34"/>
          <p:cNvSpPr/>
          <p:nvPr/>
        </p:nvSpPr>
        <p:spPr>
          <a:xfrm>
            <a:off x="2295144" y="1545336"/>
            <a:ext cx="941832" cy="283464"/>
          </a:xfrm>
          <a:prstGeom prst="roundRect">
            <a:avLst>
              <a:gd name="adj" fmla="val 12903"/>
            </a:avLst>
          </a:prstGeom>
          <a:solidFill>
            <a:srgbClr val="E2E8F0"/>
          </a:solidFill>
          <a:ln w="6350">
            <a:solidFill>
              <a:srgbClr val="FFFFFF"/>
            </a:solidFill>
            <a:prstDash val="solid"/>
          </a:ln>
        </p:spPr>
        <p:txBody>
          <a:bodyPr/>
          <a:lstStyle/>
          <a:p>
            <a:endParaRPr lang="en-US"/>
          </a:p>
        </p:txBody>
      </p:sp>
      <p:sp>
        <p:nvSpPr>
          <p:cNvPr id="37" name="Text 35"/>
          <p:cNvSpPr/>
          <p:nvPr/>
        </p:nvSpPr>
        <p:spPr>
          <a:xfrm>
            <a:off x="2295144" y="1545336"/>
            <a:ext cx="941832" cy="283464"/>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8" name="Shape 36"/>
          <p:cNvSpPr/>
          <p:nvPr/>
        </p:nvSpPr>
        <p:spPr>
          <a:xfrm>
            <a:off x="3264408" y="1545336"/>
            <a:ext cx="941832" cy="283464"/>
          </a:xfrm>
          <a:prstGeom prst="roundRect">
            <a:avLst>
              <a:gd name="adj" fmla="val 12903"/>
            </a:avLst>
          </a:prstGeom>
          <a:solidFill>
            <a:srgbClr val="E2E8F0"/>
          </a:solidFill>
          <a:ln w="6350">
            <a:solidFill>
              <a:srgbClr val="FFFFFF"/>
            </a:solidFill>
            <a:prstDash val="solid"/>
          </a:ln>
        </p:spPr>
        <p:txBody>
          <a:bodyPr/>
          <a:lstStyle/>
          <a:p>
            <a:endParaRPr lang="en-US"/>
          </a:p>
        </p:txBody>
      </p:sp>
      <p:sp>
        <p:nvSpPr>
          <p:cNvPr id="39" name="Text 37"/>
          <p:cNvSpPr/>
          <p:nvPr/>
        </p:nvSpPr>
        <p:spPr>
          <a:xfrm>
            <a:off x="3264408" y="1545336"/>
            <a:ext cx="941832" cy="283464"/>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40" name="Shape 38"/>
          <p:cNvSpPr/>
          <p:nvPr/>
        </p:nvSpPr>
        <p:spPr>
          <a:xfrm>
            <a:off x="4233672" y="1545336"/>
            <a:ext cx="941832" cy="283464"/>
          </a:xfrm>
          <a:prstGeom prst="roundRect">
            <a:avLst>
              <a:gd name="adj" fmla="val 12903"/>
            </a:avLst>
          </a:prstGeom>
          <a:solidFill>
            <a:srgbClr val="1D6A72"/>
          </a:solidFill>
          <a:ln w="6350">
            <a:solidFill>
              <a:srgbClr val="FFFFFF"/>
            </a:solidFill>
            <a:prstDash val="solid"/>
          </a:ln>
        </p:spPr>
        <p:txBody>
          <a:bodyPr/>
          <a:lstStyle/>
          <a:p>
            <a:endParaRPr lang="en-US"/>
          </a:p>
        </p:txBody>
      </p:sp>
      <p:sp>
        <p:nvSpPr>
          <p:cNvPr id="41" name="Text 39"/>
          <p:cNvSpPr/>
          <p:nvPr/>
        </p:nvSpPr>
        <p:spPr>
          <a:xfrm>
            <a:off x="4233672" y="1545336"/>
            <a:ext cx="941832" cy="28346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D12</a:t>
            </a:r>
            <a:endParaRPr lang="en-US" sz="900" dirty="0"/>
          </a:p>
        </p:txBody>
      </p:sp>
      <p:sp>
        <p:nvSpPr>
          <p:cNvPr id="42" name="Shape 40"/>
          <p:cNvSpPr/>
          <p:nvPr/>
        </p:nvSpPr>
        <p:spPr>
          <a:xfrm>
            <a:off x="5202936" y="1545336"/>
            <a:ext cx="941832" cy="283464"/>
          </a:xfrm>
          <a:prstGeom prst="roundRect">
            <a:avLst>
              <a:gd name="adj" fmla="val 12903"/>
            </a:avLst>
          </a:prstGeom>
          <a:solidFill>
            <a:srgbClr val="1D6A72"/>
          </a:solidFill>
          <a:ln w="6350">
            <a:solidFill>
              <a:srgbClr val="FFFFFF"/>
            </a:solidFill>
            <a:prstDash val="solid"/>
          </a:ln>
        </p:spPr>
        <p:txBody>
          <a:bodyPr/>
          <a:lstStyle/>
          <a:p>
            <a:endParaRPr lang="en-US"/>
          </a:p>
        </p:txBody>
      </p:sp>
      <p:sp>
        <p:nvSpPr>
          <p:cNvPr id="43" name="Text 41"/>
          <p:cNvSpPr/>
          <p:nvPr/>
        </p:nvSpPr>
        <p:spPr>
          <a:xfrm>
            <a:off x="5202936" y="1545336"/>
            <a:ext cx="941832" cy="28346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D12</a:t>
            </a:r>
            <a:endParaRPr lang="en-US" sz="900" dirty="0"/>
          </a:p>
        </p:txBody>
      </p:sp>
      <p:sp>
        <p:nvSpPr>
          <p:cNvPr id="44" name="Shape 42"/>
          <p:cNvSpPr/>
          <p:nvPr/>
        </p:nvSpPr>
        <p:spPr>
          <a:xfrm>
            <a:off x="6172200" y="1545336"/>
            <a:ext cx="941832" cy="283464"/>
          </a:xfrm>
          <a:prstGeom prst="roundRect">
            <a:avLst>
              <a:gd name="adj" fmla="val 12903"/>
            </a:avLst>
          </a:prstGeom>
          <a:solidFill>
            <a:srgbClr val="E2E8F0"/>
          </a:solidFill>
          <a:ln w="6350">
            <a:solidFill>
              <a:srgbClr val="FFFFFF"/>
            </a:solidFill>
            <a:prstDash val="solid"/>
          </a:ln>
        </p:spPr>
        <p:txBody>
          <a:bodyPr/>
          <a:lstStyle/>
          <a:p>
            <a:endParaRPr lang="en-US"/>
          </a:p>
        </p:txBody>
      </p:sp>
      <p:sp>
        <p:nvSpPr>
          <p:cNvPr id="45" name="Text 43"/>
          <p:cNvSpPr/>
          <p:nvPr/>
        </p:nvSpPr>
        <p:spPr>
          <a:xfrm>
            <a:off x="6172200" y="1545336"/>
            <a:ext cx="941832" cy="283464"/>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46" name="Shape 44"/>
          <p:cNvSpPr/>
          <p:nvPr/>
        </p:nvSpPr>
        <p:spPr>
          <a:xfrm>
            <a:off x="7141464" y="1545336"/>
            <a:ext cx="941832" cy="283464"/>
          </a:xfrm>
          <a:prstGeom prst="roundRect">
            <a:avLst>
              <a:gd name="adj" fmla="val 12903"/>
            </a:avLst>
          </a:prstGeom>
          <a:solidFill>
            <a:srgbClr val="E2E8F0"/>
          </a:solidFill>
          <a:ln w="6350">
            <a:solidFill>
              <a:srgbClr val="FFFFFF"/>
            </a:solidFill>
            <a:prstDash val="solid"/>
          </a:ln>
        </p:spPr>
        <p:txBody>
          <a:bodyPr/>
          <a:lstStyle/>
          <a:p>
            <a:endParaRPr lang="en-US"/>
          </a:p>
        </p:txBody>
      </p:sp>
      <p:sp>
        <p:nvSpPr>
          <p:cNvPr id="47" name="Text 45"/>
          <p:cNvSpPr/>
          <p:nvPr/>
        </p:nvSpPr>
        <p:spPr>
          <a:xfrm>
            <a:off x="7141464" y="1545336"/>
            <a:ext cx="941832" cy="283464"/>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48" name="Text 46"/>
          <p:cNvSpPr/>
          <p:nvPr/>
        </p:nvSpPr>
        <p:spPr>
          <a:xfrm>
            <a:off x="347472" y="1847088"/>
            <a:ext cx="932688" cy="283464"/>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Night 1</a:t>
            </a:r>
            <a:endParaRPr lang="en-US" sz="900" dirty="0"/>
          </a:p>
        </p:txBody>
      </p:sp>
      <p:sp>
        <p:nvSpPr>
          <p:cNvPr id="49" name="Shape 47"/>
          <p:cNvSpPr/>
          <p:nvPr/>
        </p:nvSpPr>
        <p:spPr>
          <a:xfrm>
            <a:off x="1325880" y="1847088"/>
            <a:ext cx="941832" cy="283464"/>
          </a:xfrm>
          <a:prstGeom prst="roundRect">
            <a:avLst>
              <a:gd name="adj" fmla="val 12903"/>
            </a:avLst>
          </a:prstGeom>
          <a:solidFill>
            <a:srgbClr val="E2E8F0"/>
          </a:solidFill>
          <a:ln w="6350">
            <a:solidFill>
              <a:srgbClr val="FFFFFF"/>
            </a:solidFill>
            <a:prstDash val="solid"/>
          </a:ln>
        </p:spPr>
        <p:txBody>
          <a:bodyPr/>
          <a:lstStyle/>
          <a:p>
            <a:endParaRPr lang="en-US"/>
          </a:p>
        </p:txBody>
      </p:sp>
      <p:sp>
        <p:nvSpPr>
          <p:cNvPr id="50" name="Text 48"/>
          <p:cNvSpPr/>
          <p:nvPr/>
        </p:nvSpPr>
        <p:spPr>
          <a:xfrm>
            <a:off x="1325880" y="1847088"/>
            <a:ext cx="941832" cy="283464"/>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51" name="Shape 49"/>
          <p:cNvSpPr/>
          <p:nvPr/>
        </p:nvSpPr>
        <p:spPr>
          <a:xfrm>
            <a:off x="2295144" y="1847088"/>
            <a:ext cx="941832" cy="283464"/>
          </a:xfrm>
          <a:prstGeom prst="roundRect">
            <a:avLst>
              <a:gd name="adj" fmla="val 12903"/>
            </a:avLst>
          </a:prstGeom>
          <a:solidFill>
            <a:srgbClr val="1F4E79"/>
          </a:solidFill>
          <a:ln w="6350">
            <a:solidFill>
              <a:srgbClr val="FFFFFF"/>
            </a:solidFill>
            <a:prstDash val="solid"/>
          </a:ln>
        </p:spPr>
        <p:txBody>
          <a:bodyPr/>
          <a:lstStyle/>
          <a:p>
            <a:endParaRPr lang="en-US"/>
          </a:p>
        </p:txBody>
      </p:sp>
      <p:sp>
        <p:nvSpPr>
          <p:cNvPr id="52" name="Text 50"/>
          <p:cNvSpPr/>
          <p:nvPr/>
        </p:nvSpPr>
        <p:spPr>
          <a:xfrm>
            <a:off x="2295144" y="1847088"/>
            <a:ext cx="941832" cy="28346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N12</a:t>
            </a:r>
            <a:endParaRPr lang="en-US" sz="900" dirty="0"/>
          </a:p>
        </p:txBody>
      </p:sp>
      <p:sp>
        <p:nvSpPr>
          <p:cNvPr id="53" name="Shape 51"/>
          <p:cNvSpPr/>
          <p:nvPr/>
        </p:nvSpPr>
        <p:spPr>
          <a:xfrm>
            <a:off x="3264408" y="1847088"/>
            <a:ext cx="941832" cy="283464"/>
          </a:xfrm>
          <a:prstGeom prst="roundRect">
            <a:avLst>
              <a:gd name="adj" fmla="val 12903"/>
            </a:avLst>
          </a:prstGeom>
          <a:solidFill>
            <a:srgbClr val="1F4E79"/>
          </a:solidFill>
          <a:ln w="6350">
            <a:solidFill>
              <a:srgbClr val="FFFFFF"/>
            </a:solidFill>
            <a:prstDash val="solid"/>
          </a:ln>
        </p:spPr>
        <p:txBody>
          <a:bodyPr/>
          <a:lstStyle/>
          <a:p>
            <a:endParaRPr lang="en-US"/>
          </a:p>
        </p:txBody>
      </p:sp>
      <p:sp>
        <p:nvSpPr>
          <p:cNvPr id="54" name="Text 52"/>
          <p:cNvSpPr/>
          <p:nvPr/>
        </p:nvSpPr>
        <p:spPr>
          <a:xfrm>
            <a:off x="3264408" y="1847088"/>
            <a:ext cx="941832" cy="28346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N12</a:t>
            </a:r>
            <a:endParaRPr lang="en-US" sz="900" dirty="0"/>
          </a:p>
        </p:txBody>
      </p:sp>
      <p:sp>
        <p:nvSpPr>
          <p:cNvPr id="55" name="Shape 53"/>
          <p:cNvSpPr/>
          <p:nvPr/>
        </p:nvSpPr>
        <p:spPr>
          <a:xfrm>
            <a:off x="4233672" y="1847088"/>
            <a:ext cx="941832" cy="283464"/>
          </a:xfrm>
          <a:prstGeom prst="roundRect">
            <a:avLst>
              <a:gd name="adj" fmla="val 12903"/>
            </a:avLst>
          </a:prstGeom>
          <a:solidFill>
            <a:srgbClr val="E2E8F0"/>
          </a:solidFill>
          <a:ln w="6350">
            <a:solidFill>
              <a:srgbClr val="FFFFFF"/>
            </a:solidFill>
            <a:prstDash val="solid"/>
          </a:ln>
        </p:spPr>
        <p:txBody>
          <a:bodyPr/>
          <a:lstStyle/>
          <a:p>
            <a:endParaRPr lang="en-US"/>
          </a:p>
        </p:txBody>
      </p:sp>
      <p:sp>
        <p:nvSpPr>
          <p:cNvPr id="56" name="Text 54"/>
          <p:cNvSpPr/>
          <p:nvPr/>
        </p:nvSpPr>
        <p:spPr>
          <a:xfrm>
            <a:off x="4233672" y="1847088"/>
            <a:ext cx="941832" cy="283464"/>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57" name="Shape 55"/>
          <p:cNvSpPr/>
          <p:nvPr/>
        </p:nvSpPr>
        <p:spPr>
          <a:xfrm>
            <a:off x="5202936" y="1847088"/>
            <a:ext cx="941832" cy="283464"/>
          </a:xfrm>
          <a:prstGeom prst="roundRect">
            <a:avLst>
              <a:gd name="adj" fmla="val 12903"/>
            </a:avLst>
          </a:prstGeom>
          <a:solidFill>
            <a:srgbClr val="E2E8F0"/>
          </a:solidFill>
          <a:ln w="6350">
            <a:solidFill>
              <a:srgbClr val="FFFFFF"/>
            </a:solidFill>
            <a:prstDash val="solid"/>
          </a:ln>
        </p:spPr>
        <p:txBody>
          <a:bodyPr/>
          <a:lstStyle/>
          <a:p>
            <a:endParaRPr lang="en-US"/>
          </a:p>
        </p:txBody>
      </p:sp>
      <p:sp>
        <p:nvSpPr>
          <p:cNvPr id="58" name="Text 56"/>
          <p:cNvSpPr/>
          <p:nvPr/>
        </p:nvSpPr>
        <p:spPr>
          <a:xfrm>
            <a:off x="5202936" y="1847088"/>
            <a:ext cx="941832" cy="283464"/>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59" name="Shape 57"/>
          <p:cNvSpPr/>
          <p:nvPr/>
        </p:nvSpPr>
        <p:spPr>
          <a:xfrm>
            <a:off x="6172200" y="1847088"/>
            <a:ext cx="941832" cy="283464"/>
          </a:xfrm>
          <a:prstGeom prst="roundRect">
            <a:avLst>
              <a:gd name="adj" fmla="val 12903"/>
            </a:avLst>
          </a:prstGeom>
          <a:solidFill>
            <a:srgbClr val="1F4E79"/>
          </a:solidFill>
          <a:ln w="6350">
            <a:solidFill>
              <a:srgbClr val="FFFFFF"/>
            </a:solidFill>
            <a:prstDash val="solid"/>
          </a:ln>
        </p:spPr>
        <p:txBody>
          <a:bodyPr/>
          <a:lstStyle/>
          <a:p>
            <a:endParaRPr lang="en-US"/>
          </a:p>
        </p:txBody>
      </p:sp>
      <p:sp>
        <p:nvSpPr>
          <p:cNvPr id="60" name="Text 58"/>
          <p:cNvSpPr/>
          <p:nvPr/>
        </p:nvSpPr>
        <p:spPr>
          <a:xfrm>
            <a:off x="6172200" y="1847088"/>
            <a:ext cx="941832" cy="28346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N12</a:t>
            </a:r>
            <a:endParaRPr lang="en-US" sz="900" dirty="0"/>
          </a:p>
        </p:txBody>
      </p:sp>
      <p:sp>
        <p:nvSpPr>
          <p:cNvPr id="61" name="Shape 59"/>
          <p:cNvSpPr/>
          <p:nvPr/>
        </p:nvSpPr>
        <p:spPr>
          <a:xfrm>
            <a:off x="7141464" y="1847088"/>
            <a:ext cx="941832" cy="283464"/>
          </a:xfrm>
          <a:prstGeom prst="roundRect">
            <a:avLst>
              <a:gd name="adj" fmla="val 12903"/>
            </a:avLst>
          </a:prstGeom>
          <a:solidFill>
            <a:srgbClr val="1F4E79"/>
          </a:solidFill>
          <a:ln w="6350">
            <a:solidFill>
              <a:srgbClr val="FFFFFF"/>
            </a:solidFill>
            <a:prstDash val="solid"/>
          </a:ln>
        </p:spPr>
        <p:txBody>
          <a:bodyPr/>
          <a:lstStyle/>
          <a:p>
            <a:endParaRPr lang="en-US"/>
          </a:p>
        </p:txBody>
      </p:sp>
      <p:sp>
        <p:nvSpPr>
          <p:cNvPr id="62" name="Text 60"/>
          <p:cNvSpPr/>
          <p:nvPr/>
        </p:nvSpPr>
        <p:spPr>
          <a:xfrm>
            <a:off x="7141464" y="1847088"/>
            <a:ext cx="941832" cy="28346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N12</a:t>
            </a:r>
            <a:endParaRPr lang="en-US" sz="900" dirty="0"/>
          </a:p>
        </p:txBody>
      </p:sp>
      <p:sp>
        <p:nvSpPr>
          <p:cNvPr id="63" name="Text 61"/>
          <p:cNvSpPr/>
          <p:nvPr/>
        </p:nvSpPr>
        <p:spPr>
          <a:xfrm>
            <a:off x="347472" y="2148840"/>
            <a:ext cx="932688" cy="283464"/>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Night 2</a:t>
            </a:r>
            <a:endParaRPr lang="en-US" sz="900" dirty="0"/>
          </a:p>
        </p:txBody>
      </p:sp>
      <p:sp>
        <p:nvSpPr>
          <p:cNvPr id="64" name="Shape 62"/>
          <p:cNvSpPr/>
          <p:nvPr/>
        </p:nvSpPr>
        <p:spPr>
          <a:xfrm>
            <a:off x="1325880" y="2148840"/>
            <a:ext cx="941832" cy="283464"/>
          </a:xfrm>
          <a:prstGeom prst="roundRect">
            <a:avLst>
              <a:gd name="adj" fmla="val 12903"/>
            </a:avLst>
          </a:prstGeom>
          <a:solidFill>
            <a:srgbClr val="1F4E79"/>
          </a:solidFill>
          <a:ln w="6350">
            <a:solidFill>
              <a:srgbClr val="FFFFFF"/>
            </a:solidFill>
            <a:prstDash val="solid"/>
          </a:ln>
        </p:spPr>
        <p:txBody>
          <a:bodyPr/>
          <a:lstStyle/>
          <a:p>
            <a:endParaRPr lang="en-US"/>
          </a:p>
        </p:txBody>
      </p:sp>
      <p:sp>
        <p:nvSpPr>
          <p:cNvPr id="65" name="Text 63"/>
          <p:cNvSpPr/>
          <p:nvPr/>
        </p:nvSpPr>
        <p:spPr>
          <a:xfrm>
            <a:off x="1325880" y="2148840"/>
            <a:ext cx="941832" cy="28346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N12</a:t>
            </a:r>
            <a:endParaRPr lang="en-US" sz="900" dirty="0"/>
          </a:p>
        </p:txBody>
      </p:sp>
      <p:sp>
        <p:nvSpPr>
          <p:cNvPr id="66" name="Shape 64"/>
          <p:cNvSpPr/>
          <p:nvPr/>
        </p:nvSpPr>
        <p:spPr>
          <a:xfrm>
            <a:off x="2295144" y="2148840"/>
            <a:ext cx="941832" cy="283464"/>
          </a:xfrm>
          <a:prstGeom prst="roundRect">
            <a:avLst>
              <a:gd name="adj" fmla="val 12903"/>
            </a:avLst>
          </a:prstGeom>
          <a:solidFill>
            <a:srgbClr val="E2E8F0"/>
          </a:solidFill>
          <a:ln w="6350">
            <a:solidFill>
              <a:srgbClr val="FFFFFF"/>
            </a:solidFill>
            <a:prstDash val="solid"/>
          </a:ln>
        </p:spPr>
        <p:txBody>
          <a:bodyPr/>
          <a:lstStyle/>
          <a:p>
            <a:endParaRPr lang="en-US"/>
          </a:p>
        </p:txBody>
      </p:sp>
      <p:sp>
        <p:nvSpPr>
          <p:cNvPr id="67" name="Text 65"/>
          <p:cNvSpPr/>
          <p:nvPr/>
        </p:nvSpPr>
        <p:spPr>
          <a:xfrm>
            <a:off x="2295144" y="2148840"/>
            <a:ext cx="941832" cy="283464"/>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68" name="Shape 66"/>
          <p:cNvSpPr/>
          <p:nvPr/>
        </p:nvSpPr>
        <p:spPr>
          <a:xfrm>
            <a:off x="3264408" y="2148840"/>
            <a:ext cx="941832" cy="283464"/>
          </a:xfrm>
          <a:prstGeom prst="roundRect">
            <a:avLst>
              <a:gd name="adj" fmla="val 12903"/>
            </a:avLst>
          </a:prstGeom>
          <a:solidFill>
            <a:srgbClr val="E2E8F0"/>
          </a:solidFill>
          <a:ln w="6350">
            <a:solidFill>
              <a:srgbClr val="FFFFFF"/>
            </a:solidFill>
            <a:prstDash val="solid"/>
          </a:ln>
        </p:spPr>
        <p:txBody>
          <a:bodyPr/>
          <a:lstStyle/>
          <a:p>
            <a:endParaRPr lang="en-US"/>
          </a:p>
        </p:txBody>
      </p:sp>
      <p:sp>
        <p:nvSpPr>
          <p:cNvPr id="69" name="Text 67"/>
          <p:cNvSpPr/>
          <p:nvPr/>
        </p:nvSpPr>
        <p:spPr>
          <a:xfrm>
            <a:off x="3264408" y="2148840"/>
            <a:ext cx="941832" cy="283464"/>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70" name="Shape 68"/>
          <p:cNvSpPr/>
          <p:nvPr/>
        </p:nvSpPr>
        <p:spPr>
          <a:xfrm>
            <a:off x="4233672" y="2148840"/>
            <a:ext cx="941832" cy="283464"/>
          </a:xfrm>
          <a:prstGeom prst="roundRect">
            <a:avLst>
              <a:gd name="adj" fmla="val 12903"/>
            </a:avLst>
          </a:prstGeom>
          <a:solidFill>
            <a:srgbClr val="1F4E79"/>
          </a:solidFill>
          <a:ln w="6350">
            <a:solidFill>
              <a:srgbClr val="FFFFFF"/>
            </a:solidFill>
            <a:prstDash val="solid"/>
          </a:ln>
        </p:spPr>
        <p:txBody>
          <a:bodyPr/>
          <a:lstStyle/>
          <a:p>
            <a:endParaRPr lang="en-US"/>
          </a:p>
        </p:txBody>
      </p:sp>
      <p:sp>
        <p:nvSpPr>
          <p:cNvPr id="71" name="Text 69"/>
          <p:cNvSpPr/>
          <p:nvPr/>
        </p:nvSpPr>
        <p:spPr>
          <a:xfrm>
            <a:off x="4233672" y="2148840"/>
            <a:ext cx="941832" cy="28346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N12</a:t>
            </a:r>
            <a:endParaRPr lang="en-US" sz="900" dirty="0"/>
          </a:p>
        </p:txBody>
      </p:sp>
      <p:sp>
        <p:nvSpPr>
          <p:cNvPr id="72" name="Shape 70"/>
          <p:cNvSpPr/>
          <p:nvPr/>
        </p:nvSpPr>
        <p:spPr>
          <a:xfrm>
            <a:off x="5202936" y="2148840"/>
            <a:ext cx="941832" cy="283464"/>
          </a:xfrm>
          <a:prstGeom prst="roundRect">
            <a:avLst>
              <a:gd name="adj" fmla="val 12903"/>
            </a:avLst>
          </a:prstGeom>
          <a:solidFill>
            <a:srgbClr val="1F4E79"/>
          </a:solidFill>
          <a:ln w="6350">
            <a:solidFill>
              <a:srgbClr val="FFFFFF"/>
            </a:solidFill>
            <a:prstDash val="solid"/>
          </a:ln>
        </p:spPr>
        <p:txBody>
          <a:bodyPr/>
          <a:lstStyle/>
          <a:p>
            <a:endParaRPr lang="en-US"/>
          </a:p>
        </p:txBody>
      </p:sp>
      <p:sp>
        <p:nvSpPr>
          <p:cNvPr id="73" name="Text 71"/>
          <p:cNvSpPr/>
          <p:nvPr/>
        </p:nvSpPr>
        <p:spPr>
          <a:xfrm>
            <a:off x="5202936" y="2148840"/>
            <a:ext cx="941832" cy="28346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N12</a:t>
            </a:r>
            <a:endParaRPr lang="en-US" sz="900" dirty="0"/>
          </a:p>
        </p:txBody>
      </p:sp>
      <p:sp>
        <p:nvSpPr>
          <p:cNvPr id="74" name="Shape 72"/>
          <p:cNvSpPr/>
          <p:nvPr/>
        </p:nvSpPr>
        <p:spPr>
          <a:xfrm>
            <a:off x="6172200" y="2148840"/>
            <a:ext cx="941832" cy="283464"/>
          </a:xfrm>
          <a:prstGeom prst="roundRect">
            <a:avLst>
              <a:gd name="adj" fmla="val 12903"/>
            </a:avLst>
          </a:prstGeom>
          <a:solidFill>
            <a:srgbClr val="E2E8F0"/>
          </a:solidFill>
          <a:ln w="6350">
            <a:solidFill>
              <a:srgbClr val="FFFFFF"/>
            </a:solidFill>
            <a:prstDash val="solid"/>
          </a:ln>
        </p:spPr>
        <p:txBody>
          <a:bodyPr/>
          <a:lstStyle/>
          <a:p>
            <a:endParaRPr lang="en-US"/>
          </a:p>
        </p:txBody>
      </p:sp>
      <p:sp>
        <p:nvSpPr>
          <p:cNvPr id="75" name="Text 73"/>
          <p:cNvSpPr/>
          <p:nvPr/>
        </p:nvSpPr>
        <p:spPr>
          <a:xfrm>
            <a:off x="6172200" y="2148840"/>
            <a:ext cx="941832" cy="283464"/>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76" name="Shape 74"/>
          <p:cNvSpPr/>
          <p:nvPr/>
        </p:nvSpPr>
        <p:spPr>
          <a:xfrm>
            <a:off x="7141464" y="2148840"/>
            <a:ext cx="941832" cy="283464"/>
          </a:xfrm>
          <a:prstGeom prst="roundRect">
            <a:avLst>
              <a:gd name="adj" fmla="val 12903"/>
            </a:avLst>
          </a:prstGeom>
          <a:solidFill>
            <a:srgbClr val="E2E8F0"/>
          </a:solidFill>
          <a:ln w="6350">
            <a:solidFill>
              <a:srgbClr val="FFFFFF"/>
            </a:solidFill>
            <a:prstDash val="solid"/>
          </a:ln>
        </p:spPr>
        <p:txBody>
          <a:bodyPr/>
          <a:lstStyle/>
          <a:p>
            <a:endParaRPr lang="en-US"/>
          </a:p>
        </p:txBody>
      </p:sp>
      <p:sp>
        <p:nvSpPr>
          <p:cNvPr id="77" name="Text 75"/>
          <p:cNvSpPr/>
          <p:nvPr/>
        </p:nvSpPr>
        <p:spPr>
          <a:xfrm>
            <a:off x="7141464" y="2148840"/>
            <a:ext cx="941832" cy="283464"/>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78" name="Shape 76"/>
          <p:cNvSpPr/>
          <p:nvPr/>
        </p:nvSpPr>
        <p:spPr>
          <a:xfrm>
            <a:off x="365760" y="2542032"/>
            <a:ext cx="8412480" cy="329184"/>
          </a:xfrm>
          <a:prstGeom prst="roundRect">
            <a:avLst>
              <a:gd name="adj" fmla="val 22222"/>
            </a:avLst>
          </a:prstGeom>
          <a:solidFill>
            <a:srgbClr val="D97706">
              <a:alpha val="12000"/>
            </a:srgbClr>
          </a:solidFill>
          <a:ln w="12700">
            <a:solidFill>
              <a:srgbClr val="D97706"/>
            </a:solidFill>
            <a:prstDash val="solid"/>
          </a:ln>
        </p:spPr>
        <p:txBody>
          <a:bodyPr/>
          <a:lstStyle/>
          <a:p>
            <a:endParaRPr lang="en-US"/>
          </a:p>
        </p:txBody>
      </p:sp>
      <p:sp>
        <p:nvSpPr>
          <p:cNvPr id="79" name="Text 77"/>
          <p:cNvSpPr/>
          <p:nvPr/>
        </p:nvSpPr>
        <p:spPr>
          <a:xfrm>
            <a:off x="457200" y="2560320"/>
            <a:ext cx="8229600" cy="292608"/>
          </a:xfrm>
          <a:prstGeom prst="rect">
            <a:avLst/>
          </a:prstGeom>
          <a:noFill/>
          <a:ln/>
        </p:spPr>
        <p:txBody>
          <a:bodyPr wrap="square" rtlCol="0" anchor="ctr"/>
          <a:lstStyle/>
          <a:p>
            <a:pPr marL="0" indent="0" algn="ctr">
              <a:buNone/>
            </a:pPr>
            <a:r>
              <a:rPr lang="en-US" sz="1000" i="1" dirty="0">
                <a:solidFill>
                  <a:srgbClr val="D97706"/>
                </a:solidFill>
                <a:latin typeface="Arial" pitchFamily="34" charset="0"/>
                <a:ea typeface="Arial" pitchFamily="34" charset="-122"/>
                <a:cs typeface="Arial" pitchFamily="34" charset="-120"/>
              </a:rPr>
              <a:t>Note: the 2-2-3 payweek must start Sunday for balanced weekly hours. This is the most common implementation error.</a:t>
            </a:r>
            <a:endParaRPr lang="en-US" sz="1000" dirty="0"/>
          </a:p>
        </p:txBody>
      </p:sp>
      <p:sp>
        <p:nvSpPr>
          <p:cNvPr id="80" name="Shape 78"/>
          <p:cNvSpPr/>
          <p:nvPr/>
        </p:nvSpPr>
        <p:spPr>
          <a:xfrm>
            <a:off x="365760" y="2962656"/>
            <a:ext cx="3931920" cy="1508760"/>
          </a:xfrm>
          <a:prstGeom prst="roundRect">
            <a:avLst>
              <a:gd name="adj" fmla="val 6061"/>
            </a:avLst>
          </a:prstGeom>
          <a:solidFill>
            <a:srgbClr val="1D6A72">
              <a:alpha val="8000"/>
            </a:srgbClr>
          </a:solidFill>
          <a:ln w="12700">
            <a:solidFill>
              <a:srgbClr val="1D6A72"/>
            </a:solidFill>
            <a:prstDash val="solid"/>
          </a:ln>
        </p:spPr>
        <p:txBody>
          <a:bodyPr/>
          <a:lstStyle/>
          <a:p>
            <a:endParaRPr lang="en-US"/>
          </a:p>
        </p:txBody>
      </p:sp>
      <p:sp>
        <p:nvSpPr>
          <p:cNvPr id="81" name="Text 79"/>
          <p:cNvSpPr/>
          <p:nvPr/>
        </p:nvSpPr>
        <p:spPr>
          <a:xfrm>
            <a:off x="502920" y="3035808"/>
            <a:ext cx="3657600" cy="274320"/>
          </a:xfrm>
          <a:prstGeom prst="rect">
            <a:avLst/>
          </a:prstGeom>
          <a:noFill/>
          <a:ln/>
        </p:spPr>
        <p:txBody>
          <a:bodyPr wrap="square" rtlCol="0" anchor="ctr"/>
          <a:lstStyle/>
          <a:p>
            <a:pPr marL="0" indent="0">
              <a:buNone/>
            </a:pPr>
            <a:r>
              <a:rPr lang="en-US" sz="1200" b="1" dirty="0">
                <a:solidFill>
                  <a:srgbClr val="1D6A72"/>
                </a:solidFill>
                <a:latin typeface="Arial" pitchFamily="34" charset="0"/>
                <a:ea typeface="Arial" pitchFamily="34" charset="-122"/>
                <a:cs typeface="Arial" pitchFamily="34" charset="-120"/>
              </a:rPr>
              <a:t>Benefits</a:t>
            </a:r>
            <a:endParaRPr lang="en-US" sz="1200" dirty="0"/>
          </a:p>
        </p:txBody>
      </p:sp>
      <p:pic>
        <p:nvPicPr>
          <p:cNvPr id="82" name="Image 0" descr="preencoded.png"/>
          <p:cNvPicPr>
            <a:picLocks noChangeAspect="1"/>
          </p:cNvPicPr>
          <p:nvPr/>
        </p:nvPicPr>
        <p:blipFill>
          <a:blip r:embed="rId3"/>
          <a:stretch>
            <a:fillRect/>
          </a:stretch>
        </p:blipFill>
        <p:spPr>
          <a:xfrm>
            <a:off x="502920" y="3383280"/>
            <a:ext cx="164592" cy="164592"/>
          </a:xfrm>
          <a:prstGeom prst="rect">
            <a:avLst/>
          </a:prstGeom>
        </p:spPr>
      </p:pic>
      <p:sp>
        <p:nvSpPr>
          <p:cNvPr id="83" name="Text 80"/>
          <p:cNvSpPr/>
          <p:nvPr/>
        </p:nvSpPr>
        <p:spPr>
          <a:xfrm>
            <a:off x="731520" y="3364992"/>
            <a:ext cx="3383280" cy="237744"/>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Alternating 3-day weekends</a:t>
            </a:r>
            <a:endParaRPr lang="en-US" sz="1100" dirty="0"/>
          </a:p>
        </p:txBody>
      </p:sp>
      <p:pic>
        <p:nvPicPr>
          <p:cNvPr id="84" name="Image 1" descr="preencoded.png"/>
          <p:cNvPicPr>
            <a:picLocks noChangeAspect="1"/>
          </p:cNvPicPr>
          <p:nvPr/>
        </p:nvPicPr>
        <p:blipFill>
          <a:blip r:embed="rId3"/>
          <a:stretch>
            <a:fillRect/>
          </a:stretch>
        </p:blipFill>
        <p:spPr>
          <a:xfrm>
            <a:off x="502920" y="3657600"/>
            <a:ext cx="164592" cy="164592"/>
          </a:xfrm>
          <a:prstGeom prst="rect">
            <a:avLst/>
          </a:prstGeom>
        </p:spPr>
      </p:pic>
      <p:sp>
        <p:nvSpPr>
          <p:cNvPr id="85" name="Text 81"/>
          <p:cNvSpPr/>
          <p:nvPr/>
        </p:nvSpPr>
        <p:spPr>
          <a:xfrm>
            <a:off x="731520" y="3639312"/>
            <a:ext cx="3383280" cy="237744"/>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Fixed shifts — easier to recruit</a:t>
            </a:r>
            <a:endParaRPr lang="en-US" sz="1100" dirty="0"/>
          </a:p>
        </p:txBody>
      </p:sp>
      <p:pic>
        <p:nvPicPr>
          <p:cNvPr id="86" name="Image 2" descr="preencoded.png"/>
          <p:cNvPicPr>
            <a:picLocks noChangeAspect="1"/>
          </p:cNvPicPr>
          <p:nvPr/>
        </p:nvPicPr>
        <p:blipFill>
          <a:blip r:embed="rId3"/>
          <a:stretch>
            <a:fillRect/>
          </a:stretch>
        </p:blipFill>
        <p:spPr>
          <a:xfrm>
            <a:off x="502920" y="3931920"/>
            <a:ext cx="164592" cy="164592"/>
          </a:xfrm>
          <a:prstGeom prst="rect">
            <a:avLst/>
          </a:prstGeom>
        </p:spPr>
      </p:pic>
      <p:sp>
        <p:nvSpPr>
          <p:cNvPr id="87" name="Text 82"/>
          <p:cNvSpPr/>
          <p:nvPr/>
        </p:nvSpPr>
        <p:spPr>
          <a:xfrm>
            <a:off x="731520" y="3913632"/>
            <a:ext cx="3383280" cy="237744"/>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182 annual days of work</a:t>
            </a:r>
            <a:endParaRPr lang="en-US" sz="1100" dirty="0"/>
          </a:p>
        </p:txBody>
      </p:sp>
      <p:pic>
        <p:nvPicPr>
          <p:cNvPr id="88" name="Image 3" descr="preencoded.png"/>
          <p:cNvPicPr>
            <a:picLocks noChangeAspect="1"/>
          </p:cNvPicPr>
          <p:nvPr/>
        </p:nvPicPr>
        <p:blipFill>
          <a:blip r:embed="rId3"/>
          <a:stretch>
            <a:fillRect/>
          </a:stretch>
        </p:blipFill>
        <p:spPr>
          <a:xfrm>
            <a:off x="502920" y="4206240"/>
            <a:ext cx="164592" cy="164592"/>
          </a:xfrm>
          <a:prstGeom prst="rect">
            <a:avLst/>
          </a:prstGeom>
        </p:spPr>
      </p:pic>
      <p:sp>
        <p:nvSpPr>
          <p:cNvPr id="89" name="Text 83"/>
          <p:cNvSpPr/>
          <p:nvPr/>
        </p:nvSpPr>
        <p:spPr>
          <a:xfrm>
            <a:off x="731520" y="4187952"/>
            <a:ext cx="3383280" cy="237744"/>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Predictable rotation</a:t>
            </a:r>
            <a:endParaRPr lang="en-US" sz="1100" dirty="0"/>
          </a:p>
        </p:txBody>
      </p:sp>
      <p:sp>
        <p:nvSpPr>
          <p:cNvPr id="90" name="Shape 84"/>
          <p:cNvSpPr/>
          <p:nvPr/>
        </p:nvSpPr>
        <p:spPr>
          <a:xfrm>
            <a:off x="4663440" y="2962656"/>
            <a:ext cx="4114800" cy="1508760"/>
          </a:xfrm>
          <a:prstGeom prst="roundRect">
            <a:avLst>
              <a:gd name="adj" fmla="val 6061"/>
            </a:avLst>
          </a:prstGeom>
          <a:solidFill>
            <a:srgbClr val="F0F4F8"/>
          </a:solidFill>
          <a:ln w="12700">
            <a:solidFill>
              <a:srgbClr val="E2E8F0"/>
            </a:solidFill>
            <a:prstDash val="solid"/>
          </a:ln>
        </p:spPr>
        <p:txBody>
          <a:bodyPr/>
          <a:lstStyle/>
          <a:p>
            <a:endParaRPr lang="en-US"/>
          </a:p>
        </p:txBody>
      </p:sp>
      <p:sp>
        <p:nvSpPr>
          <p:cNvPr id="91" name="Text 85"/>
          <p:cNvSpPr/>
          <p:nvPr/>
        </p:nvSpPr>
        <p:spPr>
          <a:xfrm>
            <a:off x="4800600" y="3035808"/>
            <a:ext cx="3840480" cy="274320"/>
          </a:xfrm>
          <a:prstGeom prst="rect">
            <a:avLst/>
          </a:prstGeom>
          <a:noFill/>
          <a:ln/>
        </p:spPr>
        <p:txBody>
          <a:bodyPr wrap="square" rtlCol="0" anchor="ctr"/>
          <a:lstStyle/>
          <a:p>
            <a:pPr marL="0" indent="0">
              <a:buNone/>
            </a:pPr>
            <a:r>
              <a:rPr lang="en-US" sz="1200" b="1" dirty="0">
                <a:solidFill>
                  <a:srgbClr val="1F4E79"/>
                </a:solidFill>
                <a:latin typeface="Arial" pitchFamily="34" charset="0"/>
                <a:ea typeface="Arial" pitchFamily="34" charset="-122"/>
                <a:cs typeface="Arial" pitchFamily="34" charset="-120"/>
              </a:rPr>
              <a:t>Considerations</a:t>
            </a:r>
            <a:endParaRPr lang="en-US" sz="1200" dirty="0"/>
          </a:p>
        </p:txBody>
      </p:sp>
      <p:pic>
        <p:nvPicPr>
          <p:cNvPr id="92" name="Image 4" descr="preencoded.png"/>
          <p:cNvPicPr>
            <a:picLocks noChangeAspect="1"/>
          </p:cNvPicPr>
          <p:nvPr/>
        </p:nvPicPr>
        <p:blipFill>
          <a:blip r:embed="rId4"/>
          <a:stretch>
            <a:fillRect/>
          </a:stretch>
        </p:blipFill>
        <p:spPr>
          <a:xfrm>
            <a:off x="4800600" y="3383280"/>
            <a:ext cx="164592" cy="164592"/>
          </a:xfrm>
          <a:prstGeom prst="rect">
            <a:avLst/>
          </a:prstGeom>
        </p:spPr>
      </p:pic>
      <p:sp>
        <p:nvSpPr>
          <p:cNvPr id="93" name="Text 86"/>
          <p:cNvSpPr/>
          <p:nvPr/>
        </p:nvSpPr>
        <p:spPr>
          <a:xfrm>
            <a:off x="5029200" y="3364992"/>
            <a:ext cx="3566160" cy="237744"/>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Night shift can be difficult to staff</a:t>
            </a:r>
            <a:endParaRPr lang="en-US" sz="1100" dirty="0"/>
          </a:p>
        </p:txBody>
      </p:sp>
      <p:pic>
        <p:nvPicPr>
          <p:cNvPr id="94" name="Image 5" descr="preencoded.png"/>
          <p:cNvPicPr>
            <a:picLocks noChangeAspect="1"/>
          </p:cNvPicPr>
          <p:nvPr/>
        </p:nvPicPr>
        <p:blipFill>
          <a:blip r:embed="rId4"/>
          <a:stretch>
            <a:fillRect/>
          </a:stretch>
        </p:blipFill>
        <p:spPr>
          <a:xfrm>
            <a:off x="4800600" y="3657600"/>
            <a:ext cx="164592" cy="164592"/>
          </a:xfrm>
          <a:prstGeom prst="rect">
            <a:avLst/>
          </a:prstGeom>
        </p:spPr>
      </p:pic>
      <p:sp>
        <p:nvSpPr>
          <p:cNvPr id="95" name="Text 87"/>
          <p:cNvSpPr/>
          <p:nvPr/>
        </p:nvSpPr>
        <p:spPr>
          <a:xfrm>
            <a:off x="5029200" y="3639312"/>
            <a:ext cx="3566160" cy="237744"/>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Shift length and rotation are independent decisions</a:t>
            </a:r>
            <a:endParaRPr lang="en-US" sz="1100" dirty="0"/>
          </a:p>
        </p:txBody>
      </p:sp>
      <p:pic>
        <p:nvPicPr>
          <p:cNvPr id="96" name="Image 6" descr="preencoded.png"/>
          <p:cNvPicPr>
            <a:picLocks noChangeAspect="1"/>
          </p:cNvPicPr>
          <p:nvPr/>
        </p:nvPicPr>
        <p:blipFill>
          <a:blip r:embed="rId4"/>
          <a:stretch>
            <a:fillRect/>
          </a:stretch>
        </p:blipFill>
        <p:spPr>
          <a:xfrm>
            <a:off x="4800600" y="3931920"/>
            <a:ext cx="164592" cy="164592"/>
          </a:xfrm>
          <a:prstGeom prst="rect">
            <a:avLst/>
          </a:prstGeom>
        </p:spPr>
      </p:pic>
      <p:sp>
        <p:nvSpPr>
          <p:cNvPr id="97" name="Text 88"/>
          <p:cNvSpPr/>
          <p:nvPr/>
        </p:nvSpPr>
        <p:spPr>
          <a:xfrm>
            <a:off x="5029200" y="3913632"/>
            <a:ext cx="3566160" cy="237744"/>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Survey before you design</a:t>
            </a:r>
            <a:endParaRPr lang="en-US" sz="1100" dirty="0"/>
          </a:p>
        </p:txBody>
      </p:sp>
      <p:sp>
        <p:nvSpPr>
          <p:cNvPr id="98" name="chip"/>
          <p:cNvSpPr/>
          <p:nvPr/>
        </p:nvSpPr>
        <p:spPr>
          <a:xfrm>
            <a:off x="2176272" y="4498848"/>
            <a:ext cx="384048" cy="164592"/>
          </a:xfrm>
          <a:prstGeom prst="roundRect">
            <a:avLst>
              <a:gd name="adj" fmla="val 25000"/>
            </a:avLst>
          </a:prstGeom>
          <a:solidFill>
            <a:srgbClr val="1D6A72"/>
          </a:solidFill>
          <a:ln>
            <a:noFill/>
          </a:ln>
        </p:spPr>
        <p:txBody>
          <a:bodyPr lIns="0" tIns="0" rIns="0" bIns="0" anchor="ctr"/>
          <a:lstStyle/>
          <a:p>
            <a:pPr algn="ctr">
              <a:buNone/>
            </a:pPr>
            <a:r>
              <a:rPr lang="en-US" sz="750" b="1" dirty="0">
                <a:solidFill>
                  <a:srgbClr val="FFFFFF"/>
                </a:solidFill>
                <a:latin typeface="Arial" pitchFamily="34" charset="0"/>
              </a:rPr>
              <a:t>D12</a:t>
            </a:r>
          </a:p>
        </p:txBody>
      </p:sp>
      <p:sp>
        <p:nvSpPr>
          <p:cNvPr id="99" name="lt"/>
          <p:cNvSpPr/>
          <p:nvPr/>
        </p:nvSpPr>
        <p:spPr>
          <a:xfrm>
            <a:off x="2615184" y="4498848"/>
            <a:ext cx="1143000" cy="164592"/>
          </a:xfrm>
          <a:prstGeom prst="rect">
            <a:avLst/>
          </a:prstGeom>
        </p:spPr>
        <p:txBody>
          <a:bodyPr lIns="18000" tIns="0" rIns="0" bIns="0" anchor="ctr"/>
          <a:lstStyle/>
          <a:p>
            <a:pPr algn="l">
              <a:buNone/>
            </a:pPr>
            <a:r>
              <a:rPr lang="en-US" sz="800" dirty="0">
                <a:solidFill>
                  <a:srgbClr val="64748B"/>
                </a:solidFill>
                <a:latin typeface="Arial" pitchFamily="34" charset="0"/>
              </a:rPr>
              <a:t>6:00a – 6:00p</a:t>
            </a:r>
          </a:p>
        </p:txBody>
      </p:sp>
      <p:sp>
        <p:nvSpPr>
          <p:cNvPr id="100" name="chip"/>
          <p:cNvSpPr/>
          <p:nvPr/>
        </p:nvSpPr>
        <p:spPr>
          <a:xfrm>
            <a:off x="3776472" y="4498848"/>
            <a:ext cx="384048" cy="164592"/>
          </a:xfrm>
          <a:prstGeom prst="roundRect">
            <a:avLst>
              <a:gd name="adj" fmla="val 25000"/>
            </a:avLst>
          </a:prstGeom>
          <a:solidFill>
            <a:srgbClr val="1F4E79"/>
          </a:solidFill>
          <a:ln>
            <a:noFill/>
          </a:ln>
        </p:spPr>
        <p:txBody>
          <a:bodyPr lIns="0" tIns="0" rIns="0" bIns="0" anchor="ctr"/>
          <a:lstStyle/>
          <a:p>
            <a:pPr algn="ctr">
              <a:buNone/>
            </a:pPr>
            <a:r>
              <a:rPr lang="en-US" sz="750" b="1" dirty="0">
                <a:solidFill>
                  <a:srgbClr val="FFFFFF"/>
                </a:solidFill>
                <a:latin typeface="Arial" pitchFamily="34" charset="0"/>
              </a:rPr>
              <a:t>N12</a:t>
            </a:r>
          </a:p>
        </p:txBody>
      </p:sp>
      <p:sp>
        <p:nvSpPr>
          <p:cNvPr id="101" name="lt"/>
          <p:cNvSpPr/>
          <p:nvPr/>
        </p:nvSpPr>
        <p:spPr>
          <a:xfrm>
            <a:off x="4215384" y="4498848"/>
            <a:ext cx="1143000" cy="164592"/>
          </a:xfrm>
          <a:prstGeom prst="rect">
            <a:avLst/>
          </a:prstGeom>
        </p:spPr>
        <p:txBody>
          <a:bodyPr lIns="18000" tIns="0" rIns="0" bIns="0" anchor="ctr"/>
          <a:lstStyle/>
          <a:p>
            <a:pPr algn="l">
              <a:buNone/>
            </a:pPr>
            <a:r>
              <a:rPr lang="en-US" sz="800" dirty="0">
                <a:solidFill>
                  <a:srgbClr val="64748B"/>
                </a:solidFill>
                <a:latin typeface="Arial" pitchFamily="34" charset="0"/>
              </a:rPr>
              <a:t>6:00p – 6:00a</a:t>
            </a:r>
          </a:p>
        </p:txBody>
      </p:sp>
      <p:sp>
        <p:nvSpPr>
          <p:cNvPr id="102" name="chip"/>
          <p:cNvSpPr/>
          <p:nvPr/>
        </p:nvSpPr>
        <p:spPr>
          <a:xfrm>
            <a:off x="5376672" y="4498848"/>
            <a:ext cx="384048" cy="164592"/>
          </a:xfrm>
          <a:prstGeom prst="roundRect">
            <a:avLst>
              <a:gd name="adj" fmla="val 25000"/>
            </a:avLst>
          </a:prstGeom>
          <a:solidFill>
            <a:srgbClr val="E2E8F0"/>
          </a:solidFill>
          <a:ln w="9525">
            <a:solidFill>
              <a:srgbClr val="CBD5E1"/>
            </a:solidFill>
          </a:ln>
        </p:spPr>
        <p:txBody>
          <a:bodyPr lIns="0" tIns="0" rIns="0" bIns="0" anchor="ctr"/>
          <a:lstStyle/>
          <a:p>
            <a:pPr algn="ctr">
              <a:buNone/>
            </a:pPr>
            <a:r>
              <a:rPr lang="en-US" sz="750" b="1" dirty="0">
                <a:solidFill>
                  <a:srgbClr val="64748B"/>
                </a:solidFill>
                <a:latin typeface="Arial" pitchFamily="34" charset="0"/>
              </a:rPr>
              <a:t>off</a:t>
            </a:r>
          </a:p>
        </p:txBody>
      </p:sp>
      <p:sp>
        <p:nvSpPr>
          <p:cNvPr id="103" name="lt"/>
          <p:cNvSpPr/>
          <p:nvPr/>
        </p:nvSpPr>
        <p:spPr>
          <a:xfrm>
            <a:off x="5815584" y="4498848"/>
            <a:ext cx="1143000" cy="164592"/>
          </a:xfrm>
          <a:prstGeom prst="rect">
            <a:avLst/>
          </a:prstGeom>
        </p:spPr>
        <p:txBody>
          <a:bodyPr lIns="18000" tIns="0" rIns="0" bIns="0" anchor="ctr"/>
          <a:lstStyle/>
          <a:p>
            <a:pPr algn="l">
              <a:buNone/>
            </a:pPr>
            <a:r>
              <a:rPr lang="en-US" sz="800" dirty="0">
                <a:solidFill>
                  <a:srgbClr val="64748B"/>
                </a:solidFill>
                <a:latin typeface="Arial" pitchFamily="34" charset="0"/>
              </a:rPr>
              <a:t>not scheduled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74320" y="82296"/>
            <a:ext cx="8572500" cy="315468"/>
          </a:xfrm>
          <a:prstGeom prst="rect">
            <a:avLst/>
          </a:prstGeom>
          <a:noFill/>
          <a:ln/>
        </p:spPr>
        <p:txBody>
          <a:bodyPr wrap="square" lIns="0" tIns="0" rIns="0" bIns="0" rtlCol="0" anchor="ctr"/>
          <a:lstStyle/>
          <a:p>
            <a:r>
              <a:rPr lang="en-US" b="1" dirty="0">
                <a:solidFill>
                  <a:srgbClr val="1F4E79"/>
                </a:solidFill>
                <a:latin typeface="Arial" pitchFamily="34" charset="0"/>
                <a:ea typeface="Arial" pitchFamily="34" charset="-122"/>
                <a:cs typeface="Arial" pitchFamily="34" charset="-120"/>
              </a:rPr>
              <a:t>2-2-3 Days / 5&amp;2 Nights — Combined Schedule</a:t>
            </a:r>
            <a:endParaRPr lang="en-US" dirty="0"/>
          </a:p>
        </p:txBody>
      </p:sp>
      <p:sp>
        <p:nvSpPr>
          <p:cNvPr id="3" name="Text 1"/>
          <p:cNvSpPr/>
          <p:nvPr/>
        </p:nvSpPr>
        <p:spPr>
          <a:xfrm>
            <a:off x="274320" y="390906"/>
            <a:ext cx="8572500" cy="150876"/>
          </a:xfrm>
          <a:prstGeom prst="rect">
            <a:avLst/>
          </a:prstGeom>
          <a:noFill/>
          <a:ln/>
        </p:spPr>
        <p:txBody>
          <a:bodyPr wrap="square" lIns="0" tIns="0" rIns="0" bIns="0" rtlCol="0" anchor="ctr"/>
          <a:lstStyle/>
          <a:p>
            <a:r>
              <a:rPr lang="en-US" sz="825" dirty="0">
                <a:solidFill>
                  <a:srgbClr val="555555"/>
                </a:solidFill>
                <a:latin typeface="Arial" pitchFamily="34" charset="0"/>
                <a:ea typeface="Arial" pitchFamily="34" charset="-122"/>
                <a:cs typeface="Arial" pitchFamily="34" charset="-120"/>
              </a:rPr>
              <a:t>Fixed nights · Rotating days · 24/7 coverage · 4 crews · 2-week cycle</a:t>
            </a:r>
            <a:endParaRPr lang="en-US" sz="825" dirty="0"/>
          </a:p>
        </p:txBody>
      </p:sp>
      <p:graphicFrame>
        <p:nvGraphicFramePr>
          <p:cNvPr id="4" name="Table 0"/>
          <p:cNvGraphicFramePr>
            <a:graphicFrameLocks noGrp="1"/>
          </p:cNvGraphicFramePr>
          <p:nvPr/>
        </p:nvGraphicFramePr>
        <p:xfrm>
          <a:off x="342900" y="582930"/>
          <a:ext cx="8442198" cy="2442972"/>
        </p:xfrm>
        <a:graphic>
          <a:graphicData uri="http://schemas.openxmlformats.org/drawingml/2006/table">
            <a:tbl>
              <a:tblPr/>
              <a:tblGrid>
                <a:gridCol w="377190">
                  <a:extLst>
                    <a:ext uri="{9D8B030D-6E8A-4147-A177-3AD203B41FA5}">
                      <a16:colId xmlns:a16="http://schemas.microsoft.com/office/drawing/2014/main" val="20000"/>
                    </a:ext>
                  </a:extLst>
                </a:gridCol>
                <a:gridCol w="1152144">
                  <a:extLst>
                    <a:ext uri="{9D8B030D-6E8A-4147-A177-3AD203B41FA5}">
                      <a16:colId xmlns:a16="http://schemas.microsoft.com/office/drawing/2014/main" val="20001"/>
                    </a:ext>
                  </a:extLst>
                </a:gridCol>
                <a:gridCol w="1152144">
                  <a:extLst>
                    <a:ext uri="{9D8B030D-6E8A-4147-A177-3AD203B41FA5}">
                      <a16:colId xmlns:a16="http://schemas.microsoft.com/office/drawing/2014/main" val="20002"/>
                    </a:ext>
                  </a:extLst>
                </a:gridCol>
                <a:gridCol w="1152144">
                  <a:extLst>
                    <a:ext uri="{9D8B030D-6E8A-4147-A177-3AD203B41FA5}">
                      <a16:colId xmlns:a16="http://schemas.microsoft.com/office/drawing/2014/main" val="20003"/>
                    </a:ext>
                  </a:extLst>
                </a:gridCol>
                <a:gridCol w="1152144">
                  <a:extLst>
                    <a:ext uri="{9D8B030D-6E8A-4147-A177-3AD203B41FA5}">
                      <a16:colId xmlns:a16="http://schemas.microsoft.com/office/drawing/2014/main" val="20004"/>
                    </a:ext>
                  </a:extLst>
                </a:gridCol>
                <a:gridCol w="1152144">
                  <a:extLst>
                    <a:ext uri="{9D8B030D-6E8A-4147-A177-3AD203B41FA5}">
                      <a16:colId xmlns:a16="http://schemas.microsoft.com/office/drawing/2014/main" val="20005"/>
                    </a:ext>
                  </a:extLst>
                </a:gridCol>
                <a:gridCol w="1152144">
                  <a:extLst>
                    <a:ext uri="{9D8B030D-6E8A-4147-A177-3AD203B41FA5}">
                      <a16:colId xmlns:a16="http://schemas.microsoft.com/office/drawing/2014/main" val="20006"/>
                    </a:ext>
                  </a:extLst>
                </a:gridCol>
                <a:gridCol w="1152144">
                  <a:extLst>
                    <a:ext uri="{9D8B030D-6E8A-4147-A177-3AD203B41FA5}">
                      <a16:colId xmlns:a16="http://schemas.microsoft.com/office/drawing/2014/main" val="20007"/>
                    </a:ext>
                  </a:extLst>
                </a:gridCol>
              </a:tblGrid>
              <a:tr h="171450">
                <a:tc>
                  <a:txBody>
                    <a:bodyPr/>
                    <a:lstStyle/>
                    <a:p>
                      <a:pPr marL="0" indent="0" algn="ctr">
                        <a:buNone/>
                      </a:pPr>
                      <a:r>
                        <a:rPr lang="en-US" sz="700" b="1" dirty="0">
                          <a:solidFill>
                            <a:srgbClr val="FFFFFF"/>
                          </a:solidFill>
                          <a:latin typeface="Arial" pitchFamily="34" charset="0"/>
                          <a:ea typeface="Arial" pitchFamily="34" charset="-122"/>
                          <a:cs typeface="Arial" pitchFamily="34" charset="-120"/>
                        </a:rPr>
                        <a:t>Week</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marL="0" indent="0" algn="ctr">
                        <a:buNone/>
                      </a:pPr>
                      <a:r>
                        <a:rPr lang="en-US" sz="700" b="1" dirty="0">
                          <a:solidFill>
                            <a:srgbClr val="FFFFFF"/>
                          </a:solidFill>
                          <a:latin typeface="Arial" pitchFamily="34" charset="0"/>
                          <a:ea typeface="Arial" pitchFamily="34" charset="-122"/>
                          <a:cs typeface="Arial" pitchFamily="34" charset="-120"/>
                        </a:rPr>
                        <a:t>Sunday</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marL="0" indent="0" algn="ctr">
                        <a:buNone/>
                      </a:pPr>
                      <a:r>
                        <a:rPr lang="en-US" sz="700" b="1" dirty="0">
                          <a:solidFill>
                            <a:srgbClr val="FFFFFF"/>
                          </a:solidFill>
                          <a:latin typeface="Arial" pitchFamily="34" charset="0"/>
                          <a:ea typeface="Arial" pitchFamily="34" charset="-122"/>
                          <a:cs typeface="Arial" pitchFamily="34" charset="-120"/>
                        </a:rPr>
                        <a:t>Monday</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marL="0" indent="0" algn="ctr">
                        <a:buNone/>
                      </a:pPr>
                      <a:r>
                        <a:rPr lang="en-US" sz="700" b="1" dirty="0">
                          <a:solidFill>
                            <a:srgbClr val="FFFFFF"/>
                          </a:solidFill>
                          <a:latin typeface="Arial" pitchFamily="34" charset="0"/>
                          <a:ea typeface="Arial" pitchFamily="34" charset="-122"/>
                          <a:cs typeface="Arial" pitchFamily="34" charset="-120"/>
                        </a:rPr>
                        <a:t>Tuesday</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marL="0" indent="0" algn="ctr">
                        <a:buNone/>
                      </a:pPr>
                      <a:r>
                        <a:rPr lang="en-US" sz="700" b="1" dirty="0">
                          <a:solidFill>
                            <a:srgbClr val="FFFFFF"/>
                          </a:solidFill>
                          <a:latin typeface="Arial" pitchFamily="34" charset="0"/>
                          <a:ea typeface="Arial" pitchFamily="34" charset="-122"/>
                          <a:cs typeface="Arial" pitchFamily="34" charset="-120"/>
                        </a:rPr>
                        <a:t>Wednesday</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marL="0" indent="0" algn="ctr">
                        <a:buNone/>
                      </a:pPr>
                      <a:r>
                        <a:rPr lang="en-US" sz="700" b="1" dirty="0">
                          <a:solidFill>
                            <a:srgbClr val="FFFFFF"/>
                          </a:solidFill>
                          <a:latin typeface="Arial" pitchFamily="34" charset="0"/>
                          <a:ea typeface="Arial" pitchFamily="34" charset="-122"/>
                          <a:cs typeface="Arial" pitchFamily="34" charset="-120"/>
                        </a:rPr>
                        <a:t>Thursday</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marL="0" indent="0" algn="ctr">
                        <a:buNone/>
                      </a:pPr>
                      <a:r>
                        <a:rPr lang="en-US" sz="700" b="1" dirty="0">
                          <a:solidFill>
                            <a:srgbClr val="FFFFFF"/>
                          </a:solidFill>
                          <a:latin typeface="Arial" pitchFamily="34" charset="0"/>
                          <a:ea typeface="Arial" pitchFamily="34" charset="-122"/>
                          <a:cs typeface="Arial" pitchFamily="34" charset="-120"/>
                        </a:rPr>
                        <a:t>Friday</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marL="0" indent="0" algn="ctr">
                        <a:buNone/>
                      </a:pPr>
                      <a:r>
                        <a:rPr lang="en-US" sz="700" b="1" dirty="0">
                          <a:solidFill>
                            <a:srgbClr val="FFFFFF"/>
                          </a:solidFill>
                          <a:latin typeface="Arial" pitchFamily="34" charset="0"/>
                          <a:ea typeface="Arial" pitchFamily="34" charset="-122"/>
                          <a:cs typeface="Arial" pitchFamily="34" charset="-120"/>
                        </a:rPr>
                        <a:t>Saturday</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171450">
                <a:tc gridSpan="8">
                  <a:txBody>
                    <a:bodyPr/>
                    <a:lstStyle/>
                    <a:p>
                      <a:pPr marL="0" indent="0" algn="l">
                        <a:buNone/>
                      </a:pPr>
                      <a:r>
                        <a:rPr lang="en-US" sz="700" b="1" dirty="0">
                          <a:solidFill>
                            <a:srgbClr val="7A5C00"/>
                          </a:solidFill>
                          <a:latin typeface="Arial" pitchFamily="34" charset="0"/>
                          <a:ea typeface="Arial" pitchFamily="34" charset="-122"/>
                          <a:cs typeface="Arial" pitchFamily="34" charset="-120"/>
                        </a:rPr>
                        <a:t>  Days  (2-2-3 rotating — every other weekend 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EEE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92024">
                <a:tc>
                  <a:txBody>
                    <a:bodyPr/>
                    <a:lstStyle/>
                    <a:p>
                      <a:pPr marL="0" indent="0" algn="ctr">
                        <a:buNone/>
                      </a:pPr>
                      <a:r>
                        <a:rPr lang="en-US" sz="800" b="1" dirty="0">
                          <a:solidFill>
                            <a:srgbClr val="333333"/>
                          </a:solidFill>
                          <a:latin typeface="Arial" pitchFamily="34" charset="0"/>
                          <a:ea typeface="Arial" pitchFamily="34" charset="-122"/>
                          <a:cs typeface="Arial" pitchFamily="34" charset="-120"/>
                        </a:rPr>
                        <a:t>1</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800" b="1" dirty="0">
                          <a:solidFill>
                            <a:srgbClr val="5C4200"/>
                          </a:solidFill>
                          <a:latin typeface="Arial" pitchFamily="34" charset="0"/>
                          <a:ea typeface="Arial" pitchFamily="34" charset="-122"/>
                          <a:cs typeface="Arial" pitchFamily="34" charset="-120"/>
                        </a:rPr>
                        <a:t>D12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9C4"/>
                    </a:solidFill>
                  </a:tcPr>
                </a:tc>
                <a:tc>
                  <a:txBody>
                    <a:bodyPr/>
                    <a:lstStyle/>
                    <a:p>
                      <a:pPr marL="0" indent="0" algn="ctr">
                        <a:buNone/>
                      </a:pPr>
                      <a:r>
                        <a:rPr lang="en-US" sz="800" b="1" dirty="0">
                          <a:solidFill>
                            <a:srgbClr val="5C4200"/>
                          </a:solidFill>
                          <a:latin typeface="Arial" pitchFamily="34" charset="0"/>
                          <a:ea typeface="Arial" pitchFamily="34" charset="-122"/>
                          <a:cs typeface="Arial" pitchFamily="34" charset="-120"/>
                        </a:rPr>
                        <a:t>D12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9C4"/>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800" b="1" dirty="0">
                          <a:solidFill>
                            <a:srgbClr val="5C4200"/>
                          </a:solidFill>
                          <a:latin typeface="Arial" pitchFamily="34" charset="0"/>
                          <a:ea typeface="Arial" pitchFamily="34" charset="-122"/>
                          <a:cs typeface="Arial" pitchFamily="34" charset="-120"/>
                        </a:rPr>
                        <a:t>D12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9C4"/>
                    </a:solidFill>
                  </a:tcPr>
                </a:tc>
                <a:tc>
                  <a:txBody>
                    <a:bodyPr/>
                    <a:lstStyle/>
                    <a:p>
                      <a:pPr marL="0" indent="0" algn="ctr">
                        <a:buNone/>
                      </a:pPr>
                      <a:r>
                        <a:rPr lang="en-US" sz="800" b="1" dirty="0">
                          <a:solidFill>
                            <a:srgbClr val="5C4200"/>
                          </a:solidFill>
                          <a:latin typeface="Arial" pitchFamily="34" charset="0"/>
                          <a:ea typeface="Arial" pitchFamily="34" charset="-122"/>
                          <a:cs typeface="Arial" pitchFamily="34" charset="-120"/>
                        </a:rPr>
                        <a:t>D12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9C4"/>
                    </a:solidFill>
                  </a:tcPr>
                </a:tc>
                <a:extLst>
                  <a:ext uri="{0D108BD9-81ED-4DB2-BD59-A6C34878D82A}">
                    <a16:rowId xmlns:a16="http://schemas.microsoft.com/office/drawing/2014/main" val="10002"/>
                  </a:ext>
                </a:extLst>
              </a:tr>
              <a:tr h="192024">
                <a:tc>
                  <a:txBody>
                    <a:bodyPr/>
                    <a:lstStyle/>
                    <a:p>
                      <a:pPr marL="0" indent="0" algn="ctr">
                        <a:buNone/>
                      </a:pPr>
                      <a:r>
                        <a:rPr lang="en-US" sz="800" b="1" dirty="0">
                          <a:solidFill>
                            <a:srgbClr val="333333"/>
                          </a:solidFill>
                          <a:latin typeface="Arial" pitchFamily="34" charset="0"/>
                          <a:ea typeface="Arial" pitchFamily="34" charset="-122"/>
                          <a:cs typeface="Arial" pitchFamily="34" charset="-120"/>
                        </a:rPr>
                        <a:t>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800" b="1" dirty="0">
                          <a:solidFill>
                            <a:srgbClr val="5C4200"/>
                          </a:solidFill>
                          <a:latin typeface="Arial" pitchFamily="34" charset="0"/>
                          <a:ea typeface="Arial" pitchFamily="34" charset="-122"/>
                          <a:cs typeface="Arial" pitchFamily="34" charset="-120"/>
                        </a:rPr>
                        <a:t>D12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9C4"/>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800" b="1" dirty="0">
                          <a:solidFill>
                            <a:srgbClr val="5C4200"/>
                          </a:solidFill>
                          <a:latin typeface="Arial" pitchFamily="34" charset="0"/>
                          <a:ea typeface="Arial" pitchFamily="34" charset="-122"/>
                          <a:cs typeface="Arial" pitchFamily="34" charset="-120"/>
                        </a:rPr>
                        <a:t>D12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9C4"/>
                    </a:solidFill>
                  </a:tcPr>
                </a:tc>
                <a:tc>
                  <a:txBody>
                    <a:bodyPr/>
                    <a:lstStyle/>
                    <a:p>
                      <a:pPr marL="0" indent="0" algn="ctr">
                        <a:buNone/>
                      </a:pPr>
                      <a:r>
                        <a:rPr lang="en-US" sz="800" b="1" dirty="0">
                          <a:solidFill>
                            <a:srgbClr val="5C4200"/>
                          </a:solidFill>
                          <a:latin typeface="Arial" pitchFamily="34" charset="0"/>
                          <a:ea typeface="Arial" pitchFamily="34" charset="-122"/>
                          <a:cs typeface="Arial" pitchFamily="34" charset="-120"/>
                        </a:rPr>
                        <a:t>D12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9C4"/>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extLst>
                  <a:ext uri="{0D108BD9-81ED-4DB2-BD59-A6C34878D82A}">
                    <a16:rowId xmlns:a16="http://schemas.microsoft.com/office/drawing/2014/main" val="10003"/>
                  </a:ext>
                </a:extLst>
              </a:tr>
              <a:tr h="182880">
                <a:tc gridSpan="8">
                  <a:txBody>
                    <a:bodyPr/>
                    <a:lstStyle/>
                    <a:p>
                      <a:pPr marL="0" indent="0">
                        <a:buNone/>
                      </a:pPr>
                      <a:endParaRPr lang="en-US" sz="800" dirty="0">
                        <a:latin typeface="Arial" charset="0"/>
                        <a:ea typeface="Arial" charset="0"/>
                        <a:cs typeface="Arial" charset="0"/>
                      </a:endParaRPr>
                    </a:p>
                  </a:txBody>
                  <a:tcPr marL="68580" marR="68580" marT="34290" marB="3429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DDDDD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192024">
                <a:tc>
                  <a:txBody>
                    <a:bodyPr/>
                    <a:lstStyle/>
                    <a:p>
                      <a:pPr marL="0" indent="0" algn="ctr">
                        <a:buNone/>
                      </a:pPr>
                      <a:r>
                        <a:rPr lang="en-US" sz="800" b="1" dirty="0">
                          <a:solidFill>
                            <a:srgbClr val="333333"/>
                          </a:solidFill>
                          <a:latin typeface="Arial" pitchFamily="34" charset="0"/>
                          <a:ea typeface="Arial" pitchFamily="34" charset="-122"/>
                          <a:cs typeface="Arial" pitchFamily="34" charset="-120"/>
                        </a:rPr>
                        <a:t>1</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800" b="1" dirty="0">
                          <a:solidFill>
                            <a:srgbClr val="5C4200"/>
                          </a:solidFill>
                          <a:latin typeface="Arial" pitchFamily="34" charset="0"/>
                          <a:ea typeface="Arial" pitchFamily="34" charset="-122"/>
                          <a:cs typeface="Arial" pitchFamily="34" charset="-120"/>
                        </a:rPr>
                        <a:t>D12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9C4"/>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800" b="1" dirty="0">
                          <a:solidFill>
                            <a:srgbClr val="5C4200"/>
                          </a:solidFill>
                          <a:latin typeface="Arial" pitchFamily="34" charset="0"/>
                          <a:ea typeface="Arial" pitchFamily="34" charset="-122"/>
                          <a:cs typeface="Arial" pitchFamily="34" charset="-120"/>
                        </a:rPr>
                        <a:t>D12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9C4"/>
                    </a:solidFill>
                  </a:tcPr>
                </a:tc>
                <a:tc>
                  <a:txBody>
                    <a:bodyPr/>
                    <a:lstStyle/>
                    <a:p>
                      <a:pPr marL="0" indent="0" algn="ctr">
                        <a:buNone/>
                      </a:pPr>
                      <a:r>
                        <a:rPr lang="en-US" sz="800" b="1" dirty="0">
                          <a:solidFill>
                            <a:srgbClr val="5C4200"/>
                          </a:solidFill>
                          <a:latin typeface="Arial" pitchFamily="34" charset="0"/>
                          <a:ea typeface="Arial" pitchFamily="34" charset="-122"/>
                          <a:cs typeface="Arial" pitchFamily="34" charset="-120"/>
                        </a:rPr>
                        <a:t>D12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9C4"/>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extLst>
                  <a:ext uri="{0D108BD9-81ED-4DB2-BD59-A6C34878D82A}">
                    <a16:rowId xmlns:a16="http://schemas.microsoft.com/office/drawing/2014/main" val="10005"/>
                  </a:ext>
                </a:extLst>
              </a:tr>
              <a:tr h="192024">
                <a:tc>
                  <a:txBody>
                    <a:bodyPr/>
                    <a:lstStyle/>
                    <a:p>
                      <a:pPr marL="0" indent="0" algn="ctr">
                        <a:buNone/>
                      </a:pPr>
                      <a:r>
                        <a:rPr lang="en-US" sz="800" b="1" dirty="0">
                          <a:solidFill>
                            <a:srgbClr val="333333"/>
                          </a:solidFill>
                          <a:latin typeface="Arial" pitchFamily="34" charset="0"/>
                          <a:ea typeface="Arial" pitchFamily="34" charset="-122"/>
                          <a:cs typeface="Arial" pitchFamily="34" charset="-120"/>
                        </a:rPr>
                        <a:t>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800" b="1" dirty="0">
                          <a:solidFill>
                            <a:srgbClr val="5C4200"/>
                          </a:solidFill>
                          <a:latin typeface="Arial" pitchFamily="34" charset="0"/>
                          <a:ea typeface="Arial" pitchFamily="34" charset="-122"/>
                          <a:cs typeface="Arial" pitchFamily="34" charset="-120"/>
                        </a:rPr>
                        <a:t>D12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9C4"/>
                    </a:solidFill>
                  </a:tcPr>
                </a:tc>
                <a:tc>
                  <a:txBody>
                    <a:bodyPr/>
                    <a:lstStyle/>
                    <a:p>
                      <a:pPr marL="0" indent="0" algn="ctr">
                        <a:buNone/>
                      </a:pPr>
                      <a:r>
                        <a:rPr lang="en-US" sz="800" b="1" dirty="0">
                          <a:solidFill>
                            <a:srgbClr val="5C4200"/>
                          </a:solidFill>
                          <a:latin typeface="Arial" pitchFamily="34" charset="0"/>
                          <a:ea typeface="Arial" pitchFamily="34" charset="-122"/>
                          <a:cs typeface="Arial" pitchFamily="34" charset="-120"/>
                        </a:rPr>
                        <a:t>D12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9C4"/>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800" b="1" dirty="0">
                          <a:solidFill>
                            <a:srgbClr val="5C4200"/>
                          </a:solidFill>
                          <a:latin typeface="Arial" pitchFamily="34" charset="0"/>
                          <a:ea typeface="Arial" pitchFamily="34" charset="-122"/>
                          <a:cs typeface="Arial" pitchFamily="34" charset="-120"/>
                        </a:rPr>
                        <a:t>D12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9C4"/>
                    </a:solidFill>
                  </a:tcPr>
                </a:tc>
                <a:tc>
                  <a:txBody>
                    <a:bodyPr/>
                    <a:lstStyle/>
                    <a:p>
                      <a:pPr marL="0" indent="0" algn="ctr">
                        <a:buNone/>
                      </a:pPr>
                      <a:r>
                        <a:rPr lang="en-US" sz="800" b="1" dirty="0">
                          <a:solidFill>
                            <a:srgbClr val="5C4200"/>
                          </a:solidFill>
                          <a:latin typeface="Arial" pitchFamily="34" charset="0"/>
                          <a:ea typeface="Arial" pitchFamily="34" charset="-122"/>
                          <a:cs typeface="Arial" pitchFamily="34" charset="-120"/>
                        </a:rPr>
                        <a:t>D12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9C4"/>
                    </a:solidFill>
                  </a:tcPr>
                </a:tc>
                <a:extLst>
                  <a:ext uri="{0D108BD9-81ED-4DB2-BD59-A6C34878D82A}">
                    <a16:rowId xmlns:a16="http://schemas.microsoft.com/office/drawing/2014/main" val="10006"/>
                  </a:ext>
                </a:extLst>
              </a:tr>
              <a:tr h="171450">
                <a:tc gridSpan="8">
                  <a:txBody>
                    <a:bodyPr/>
                    <a:lstStyle/>
                    <a:p>
                      <a:pPr marL="0" indent="0" algn="l">
                        <a:buNone/>
                      </a:pPr>
                      <a:r>
                        <a:rPr lang="en-US" sz="700" b="1" dirty="0">
                          <a:solidFill>
                            <a:srgbClr val="1E3A5F"/>
                          </a:solidFill>
                          <a:latin typeface="Arial" pitchFamily="34" charset="0"/>
                          <a:ea typeface="Arial" pitchFamily="34" charset="-122"/>
                          <a:cs typeface="Arial" pitchFamily="34" charset="-120"/>
                        </a:rPr>
                        <a:t>  Nights  (5&amp;2 fixed)</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EEE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92024">
                <a:tc>
                  <a:txBody>
                    <a:bodyPr/>
                    <a:lstStyle/>
                    <a:p>
                      <a:pPr marL="0" indent="0" algn="ctr">
                        <a:buNone/>
                      </a:pPr>
                      <a:r>
                        <a:rPr lang="en-US" sz="800" b="1" dirty="0">
                          <a:solidFill>
                            <a:srgbClr val="333333"/>
                          </a:solidFill>
                          <a:latin typeface="Arial" pitchFamily="34" charset="0"/>
                          <a:ea typeface="Arial" pitchFamily="34" charset="-122"/>
                          <a:cs typeface="Arial" pitchFamily="34" charset="-120"/>
                        </a:rPr>
                        <a:t>1</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800" b="1" dirty="0">
                          <a:solidFill>
                            <a:srgbClr val="1E3A5F"/>
                          </a:solidFill>
                          <a:latin typeface="Arial" pitchFamily="34" charset="0"/>
                          <a:ea typeface="Arial" pitchFamily="34" charset="-122"/>
                          <a:cs typeface="Arial" pitchFamily="34" charset="-120"/>
                        </a:rPr>
                        <a:t>N12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BEAFE"/>
                    </a:solidFill>
                  </a:tcPr>
                </a:tc>
                <a:tc>
                  <a:txBody>
                    <a:bodyPr/>
                    <a:lstStyle/>
                    <a:p>
                      <a:pPr marL="0" indent="0" algn="ctr">
                        <a:buNone/>
                      </a:pPr>
                      <a:r>
                        <a:rPr lang="en-US" sz="800" b="1" dirty="0">
                          <a:solidFill>
                            <a:srgbClr val="1E3A5F"/>
                          </a:solidFill>
                          <a:latin typeface="Arial" pitchFamily="34" charset="0"/>
                          <a:ea typeface="Arial" pitchFamily="34" charset="-122"/>
                          <a:cs typeface="Arial" pitchFamily="34" charset="-120"/>
                        </a:rPr>
                        <a:t>N12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BEAFE"/>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800" b="1" dirty="0">
                          <a:solidFill>
                            <a:srgbClr val="1E3A5F"/>
                          </a:solidFill>
                          <a:latin typeface="Arial" pitchFamily="34" charset="0"/>
                          <a:ea typeface="Arial" pitchFamily="34" charset="-122"/>
                          <a:cs typeface="Arial" pitchFamily="34" charset="-120"/>
                        </a:rPr>
                        <a:t>N12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BEAFE"/>
                    </a:solidFill>
                  </a:tcPr>
                </a:tc>
                <a:tc>
                  <a:txBody>
                    <a:bodyPr/>
                    <a:lstStyle/>
                    <a:p>
                      <a:pPr marL="0" indent="0" algn="ctr">
                        <a:buNone/>
                      </a:pPr>
                      <a:r>
                        <a:rPr lang="en-US" sz="800" b="1" dirty="0">
                          <a:solidFill>
                            <a:srgbClr val="1E3A5F"/>
                          </a:solidFill>
                          <a:latin typeface="Arial" pitchFamily="34" charset="0"/>
                          <a:ea typeface="Arial" pitchFamily="34" charset="-122"/>
                          <a:cs typeface="Arial" pitchFamily="34" charset="-120"/>
                        </a:rPr>
                        <a:t>N12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BEAFE"/>
                    </a:solidFill>
                  </a:tcPr>
                </a:tc>
                <a:extLst>
                  <a:ext uri="{0D108BD9-81ED-4DB2-BD59-A6C34878D82A}">
                    <a16:rowId xmlns:a16="http://schemas.microsoft.com/office/drawing/2014/main" val="10008"/>
                  </a:ext>
                </a:extLst>
              </a:tr>
              <a:tr h="192024">
                <a:tc>
                  <a:txBody>
                    <a:bodyPr/>
                    <a:lstStyle/>
                    <a:p>
                      <a:pPr marL="0" indent="0" algn="ctr">
                        <a:buNone/>
                      </a:pPr>
                      <a:r>
                        <a:rPr lang="en-US" sz="800" b="1" dirty="0">
                          <a:solidFill>
                            <a:srgbClr val="333333"/>
                          </a:solidFill>
                          <a:latin typeface="Arial" pitchFamily="34" charset="0"/>
                          <a:ea typeface="Arial" pitchFamily="34" charset="-122"/>
                          <a:cs typeface="Arial" pitchFamily="34" charset="-120"/>
                        </a:rPr>
                        <a:t>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800" b="1" dirty="0">
                          <a:solidFill>
                            <a:srgbClr val="1E3A5F"/>
                          </a:solidFill>
                          <a:latin typeface="Arial" pitchFamily="34" charset="0"/>
                          <a:ea typeface="Arial" pitchFamily="34" charset="-122"/>
                          <a:cs typeface="Arial" pitchFamily="34" charset="-120"/>
                        </a:rPr>
                        <a:t>N12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BEAFE"/>
                    </a:solidFill>
                  </a:tcPr>
                </a:tc>
                <a:tc>
                  <a:txBody>
                    <a:bodyPr/>
                    <a:lstStyle/>
                    <a:p>
                      <a:pPr marL="0" indent="0" algn="ctr">
                        <a:buNone/>
                      </a:pPr>
                      <a:r>
                        <a:rPr lang="en-US" sz="800" b="1" dirty="0">
                          <a:solidFill>
                            <a:srgbClr val="1E3A5F"/>
                          </a:solidFill>
                          <a:latin typeface="Arial" pitchFamily="34" charset="0"/>
                          <a:ea typeface="Arial" pitchFamily="34" charset="-122"/>
                          <a:cs typeface="Arial" pitchFamily="34" charset="-120"/>
                        </a:rPr>
                        <a:t>N12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BEAFE"/>
                    </a:solidFill>
                  </a:tcPr>
                </a:tc>
                <a:tc>
                  <a:txBody>
                    <a:bodyPr/>
                    <a:lstStyle/>
                    <a:p>
                      <a:pPr marL="0" indent="0" algn="ctr">
                        <a:buNone/>
                      </a:pPr>
                      <a:r>
                        <a:rPr lang="en-US" sz="800" b="1" dirty="0">
                          <a:solidFill>
                            <a:srgbClr val="1E3A5F"/>
                          </a:solidFill>
                          <a:latin typeface="Arial" pitchFamily="34" charset="0"/>
                          <a:ea typeface="Arial" pitchFamily="34" charset="-122"/>
                          <a:cs typeface="Arial" pitchFamily="34" charset="-120"/>
                        </a:rPr>
                        <a:t>N12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BEAFE"/>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extLst>
                  <a:ext uri="{0D108BD9-81ED-4DB2-BD59-A6C34878D82A}">
                    <a16:rowId xmlns:a16="http://schemas.microsoft.com/office/drawing/2014/main" val="10009"/>
                  </a:ext>
                </a:extLst>
              </a:tr>
              <a:tr h="182880">
                <a:tc gridSpan="8">
                  <a:txBody>
                    <a:bodyPr/>
                    <a:lstStyle/>
                    <a:p>
                      <a:pPr marL="0" indent="0">
                        <a:buNone/>
                      </a:pPr>
                      <a:endParaRPr lang="en-US" sz="800" dirty="0">
                        <a:latin typeface="Arial" charset="0"/>
                        <a:ea typeface="Arial" charset="0"/>
                        <a:cs typeface="Arial" charset="0"/>
                      </a:endParaRPr>
                    </a:p>
                  </a:txBody>
                  <a:tcPr marL="68580" marR="68580" marT="34290" marB="3429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DDDDD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0"/>
                  </a:ext>
                </a:extLst>
              </a:tr>
              <a:tr h="192024">
                <a:tc>
                  <a:txBody>
                    <a:bodyPr/>
                    <a:lstStyle/>
                    <a:p>
                      <a:pPr marL="0" indent="0" algn="ctr">
                        <a:buNone/>
                      </a:pPr>
                      <a:r>
                        <a:rPr lang="en-US" sz="800" b="1" dirty="0">
                          <a:solidFill>
                            <a:srgbClr val="333333"/>
                          </a:solidFill>
                          <a:latin typeface="Arial" pitchFamily="34" charset="0"/>
                          <a:ea typeface="Arial" pitchFamily="34" charset="-122"/>
                          <a:cs typeface="Arial" pitchFamily="34" charset="-120"/>
                        </a:rPr>
                        <a:t>1</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800" b="1" dirty="0">
                          <a:solidFill>
                            <a:srgbClr val="1E3A5F"/>
                          </a:solidFill>
                          <a:latin typeface="Arial" pitchFamily="34" charset="0"/>
                          <a:ea typeface="Arial" pitchFamily="34" charset="-122"/>
                          <a:cs typeface="Arial" pitchFamily="34" charset="-120"/>
                        </a:rPr>
                        <a:t>N12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BEAFE"/>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800" b="1" dirty="0">
                          <a:solidFill>
                            <a:srgbClr val="1E3A5F"/>
                          </a:solidFill>
                          <a:latin typeface="Arial" pitchFamily="34" charset="0"/>
                          <a:ea typeface="Arial" pitchFamily="34" charset="-122"/>
                          <a:cs typeface="Arial" pitchFamily="34" charset="-120"/>
                        </a:rPr>
                        <a:t>N12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BEAFE"/>
                    </a:solidFill>
                  </a:tcPr>
                </a:tc>
                <a:tc>
                  <a:txBody>
                    <a:bodyPr/>
                    <a:lstStyle/>
                    <a:p>
                      <a:pPr marL="0" indent="0" algn="ctr">
                        <a:buNone/>
                      </a:pPr>
                      <a:r>
                        <a:rPr lang="en-US" sz="800" b="1" dirty="0">
                          <a:solidFill>
                            <a:srgbClr val="1E3A5F"/>
                          </a:solidFill>
                          <a:latin typeface="Arial" pitchFamily="34" charset="0"/>
                          <a:ea typeface="Arial" pitchFamily="34" charset="-122"/>
                          <a:cs typeface="Arial" pitchFamily="34" charset="-120"/>
                        </a:rPr>
                        <a:t>N12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BEAFE"/>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extLst>
                  <a:ext uri="{0D108BD9-81ED-4DB2-BD59-A6C34878D82A}">
                    <a16:rowId xmlns:a16="http://schemas.microsoft.com/office/drawing/2014/main" val="10011"/>
                  </a:ext>
                </a:extLst>
              </a:tr>
              <a:tr h="192024">
                <a:tc>
                  <a:txBody>
                    <a:bodyPr/>
                    <a:lstStyle/>
                    <a:p>
                      <a:pPr marL="0" indent="0" algn="ctr">
                        <a:buNone/>
                      </a:pPr>
                      <a:r>
                        <a:rPr lang="en-US" sz="800" b="1" dirty="0">
                          <a:solidFill>
                            <a:srgbClr val="333333"/>
                          </a:solidFill>
                          <a:latin typeface="Arial" pitchFamily="34" charset="0"/>
                          <a:ea typeface="Arial" pitchFamily="34" charset="-122"/>
                          <a:cs typeface="Arial" pitchFamily="34" charset="-120"/>
                        </a:rPr>
                        <a:t>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700" dirty="0">
                          <a:solidFill>
                            <a:srgbClr val="888888"/>
                          </a:solidFill>
                          <a:latin typeface="Arial" pitchFamily="34" charset="0"/>
                          <a:ea typeface="Arial" pitchFamily="34" charset="-122"/>
                          <a:cs typeface="Arial" pitchFamily="34" charset="-120"/>
                        </a:rPr>
                        <a:t>off</a:t>
                      </a:r>
                      <a:endParaRPr lang="en-US" sz="7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800" b="1" dirty="0">
                          <a:solidFill>
                            <a:srgbClr val="1E3A5F"/>
                          </a:solidFill>
                          <a:latin typeface="Arial" pitchFamily="34" charset="0"/>
                          <a:ea typeface="Arial" pitchFamily="34" charset="-122"/>
                          <a:cs typeface="Arial" pitchFamily="34" charset="-120"/>
                        </a:rPr>
                        <a:t>N12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BEAFE"/>
                    </a:solidFill>
                  </a:tcPr>
                </a:tc>
                <a:tc>
                  <a:txBody>
                    <a:bodyPr/>
                    <a:lstStyle/>
                    <a:p>
                      <a:pPr marL="0" indent="0" algn="ctr">
                        <a:buNone/>
                      </a:pPr>
                      <a:r>
                        <a:rPr lang="en-US" sz="800" b="1" dirty="0">
                          <a:solidFill>
                            <a:srgbClr val="1E3A5F"/>
                          </a:solidFill>
                          <a:latin typeface="Arial" pitchFamily="34" charset="0"/>
                          <a:ea typeface="Arial" pitchFamily="34" charset="-122"/>
                          <a:cs typeface="Arial" pitchFamily="34" charset="-120"/>
                        </a:rPr>
                        <a:t>N12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BEAFE"/>
                    </a:solidFill>
                  </a:tcPr>
                </a:tc>
                <a:tc>
                  <a:txBody>
                    <a:bodyPr/>
                    <a:lstStyle/>
                    <a:p>
                      <a:pPr marL="0" indent="0" algn="ctr">
                        <a:buNone/>
                      </a:pPr>
                      <a:r>
                        <a:rPr lang="en-US" sz="800" b="1" dirty="0">
                          <a:solidFill>
                            <a:srgbClr val="1E3A5F"/>
                          </a:solidFill>
                          <a:latin typeface="Arial" pitchFamily="34" charset="0"/>
                          <a:ea typeface="Arial" pitchFamily="34" charset="-122"/>
                          <a:cs typeface="Arial" pitchFamily="34" charset="-120"/>
                        </a:rPr>
                        <a:t>N12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BEAFE"/>
                    </a:solidFill>
                  </a:tcPr>
                </a:tc>
                <a:tc>
                  <a:txBody>
                    <a:bodyPr/>
                    <a:lstStyle/>
                    <a:p>
                      <a:pPr marL="0" indent="0" algn="ctr">
                        <a:buNone/>
                      </a:pPr>
                      <a:r>
                        <a:rPr lang="en-US" sz="800" b="1" dirty="0">
                          <a:solidFill>
                            <a:srgbClr val="1E3A5F"/>
                          </a:solidFill>
                          <a:latin typeface="Arial" pitchFamily="34" charset="0"/>
                          <a:ea typeface="Arial" pitchFamily="34" charset="-122"/>
                          <a:cs typeface="Arial" pitchFamily="34" charset="-120"/>
                        </a:rPr>
                        <a:t>N12</a:t>
                      </a:r>
                      <a:endParaRPr lang="en-US" sz="800" dirty="0">
                        <a:latin typeface="Arial" charset="0"/>
                        <a:ea typeface="Arial" charset="0"/>
                        <a:cs typeface="Arial" charset="0"/>
                      </a:endParaRPr>
                    </a:p>
                  </a:txBody>
                  <a:tcPr marL="68580" marR="68580" marT="34290" marB="3429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BEAFE"/>
                    </a:solidFill>
                  </a:tcPr>
                </a:tc>
                <a:extLst>
                  <a:ext uri="{0D108BD9-81ED-4DB2-BD59-A6C34878D82A}">
                    <a16:rowId xmlns:a16="http://schemas.microsoft.com/office/drawing/2014/main" val="10012"/>
                  </a:ext>
                </a:extLst>
              </a:tr>
            </a:tbl>
          </a:graphicData>
        </a:graphic>
      </p:graphicFrame>
      <p:sp>
        <p:nvSpPr>
          <p:cNvPr id="11" name="Text 8"/>
          <p:cNvSpPr/>
          <p:nvPr/>
        </p:nvSpPr>
        <p:spPr>
          <a:xfrm>
            <a:off x="342900" y="5006340"/>
            <a:ext cx="8366760" cy="123444"/>
          </a:xfrm>
          <a:prstGeom prst="rect">
            <a:avLst/>
          </a:prstGeom>
          <a:noFill/>
          <a:ln/>
        </p:spPr>
        <p:txBody>
          <a:bodyPr wrap="square" lIns="0" tIns="0" rIns="0" bIns="0" rtlCol="0" anchor="ctr"/>
          <a:lstStyle/>
          <a:p>
            <a:pPr algn="ctr"/>
            <a:r>
              <a:rPr lang="en-US" sz="600" dirty="0">
                <a:solidFill>
                  <a:srgbClr val="999999"/>
                </a:solidFill>
                <a:latin typeface="Arial" pitchFamily="34" charset="0"/>
                <a:ea typeface="Arial" pitchFamily="34" charset="-122"/>
                <a:cs typeface="Arial" pitchFamily="34" charset="-120"/>
              </a:rPr>
              <a:t>Week 3 = Week 1  ·  One day crew + one night crew on every day  ·  Shiftwork Solutions LLC</a:t>
            </a:r>
            <a:endParaRPr lang="en-US" sz="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rtlCol="0" anchor="ctr"/>
          <a:lstStyle/>
          <a:p>
            <a:pPr marL="0" indent="0">
              <a:buNone/>
            </a:pPr>
            <a:r>
              <a:rPr lang="en-US" sz="2800" b="1" dirty="0">
                <a:solidFill>
                  <a:srgbClr val="1F4E79"/>
                </a:solidFill>
                <a:latin typeface="Cambria" pitchFamily="34" charset="0"/>
                <a:ea typeface="Cambria" pitchFamily="34" charset="-122"/>
                <a:cs typeface="Cambria" pitchFamily="34" charset="-120"/>
              </a:rPr>
              <a:t>Where Are We Going? The 5-Crew Model</a:t>
            </a:r>
            <a:endParaRPr lang="en-US" sz="2800" dirty="0"/>
          </a:p>
        </p:txBody>
      </p:sp>
      <p:sp>
        <p:nvSpPr>
          <p:cNvPr id="3" name="Text 1"/>
          <p:cNvSpPr/>
          <p:nvPr/>
        </p:nvSpPr>
        <p:spPr>
          <a:xfrm>
            <a:off x="457200" y="749808"/>
            <a:ext cx="8229600" cy="274320"/>
          </a:xfrm>
          <a:prstGeom prst="rect">
            <a:avLst/>
          </a:prstGeom>
          <a:noFill/>
          <a:ln/>
        </p:spPr>
        <p:txBody>
          <a:bodyPr wrap="square" rtlCol="0" anchor="ctr"/>
          <a:lstStyle/>
          <a:p>
            <a:pPr marL="0" indent="0">
              <a:buNone/>
            </a:pPr>
            <a:r>
              <a:rPr lang="en-US" sz="1200" i="1" dirty="0">
                <a:solidFill>
                  <a:srgbClr val="64748B"/>
                </a:solidFill>
                <a:latin typeface="Arial" pitchFamily="34" charset="0"/>
                <a:ea typeface="Arial" pitchFamily="34" charset="-122"/>
                <a:cs typeface="Arial" pitchFamily="34" charset="-120"/>
              </a:rPr>
              <a:t>Same total pay-hours. One full week off in every five. The future of continuous operations scheduling.</a:t>
            </a:r>
            <a:endParaRPr lang="en-US" sz="1200" dirty="0"/>
          </a:p>
        </p:txBody>
      </p:sp>
      <p:sp>
        <p:nvSpPr>
          <p:cNvPr id="4" name="Text 2"/>
          <p:cNvSpPr/>
          <p:nvPr/>
        </p:nvSpPr>
        <p:spPr>
          <a:xfrm>
            <a:off x="365760" y="1078992"/>
            <a:ext cx="8229600" cy="237744"/>
          </a:xfrm>
          <a:prstGeom prst="rect">
            <a:avLst/>
          </a:prstGeom>
          <a:noFill/>
          <a:ln/>
        </p:spPr>
        <p:txBody>
          <a:bodyPr wrap="square" rtlCol="0" anchor="ctr"/>
          <a:lstStyle/>
          <a:p>
            <a:pPr marL="0" indent="0">
              <a:buNone/>
            </a:pPr>
            <a:r>
              <a:rPr lang="en-US" sz="1100" b="1" dirty="0">
                <a:solidFill>
                  <a:srgbClr val="64748B"/>
                </a:solidFill>
                <a:latin typeface="Arial" pitchFamily="34" charset="0"/>
                <a:ea typeface="Arial" pitchFamily="34" charset="-122"/>
                <a:cs typeface="Arial" pitchFamily="34" charset="-120"/>
              </a:rPr>
              <a:t>Current: 4-Crew DuPont — 12-hour shifts, OT after 40 hrs</a:t>
            </a:r>
            <a:endParaRPr lang="en-US" sz="1100" dirty="0"/>
          </a:p>
        </p:txBody>
      </p:sp>
      <p:sp>
        <p:nvSpPr>
          <p:cNvPr id="5" name="Shape 3"/>
          <p:cNvSpPr/>
          <p:nvPr/>
        </p:nvSpPr>
        <p:spPr>
          <a:xfrm>
            <a:off x="1261872" y="1335024"/>
            <a:ext cx="777240" cy="201168"/>
          </a:xfrm>
          <a:prstGeom prst="roundRect">
            <a:avLst>
              <a:gd name="adj" fmla="val 13636"/>
            </a:avLst>
          </a:prstGeom>
          <a:solidFill>
            <a:srgbClr val="1F4E79"/>
          </a:solidFill>
          <a:ln w="6350">
            <a:solidFill>
              <a:srgbClr val="FFFFFF"/>
            </a:solidFill>
            <a:prstDash val="solid"/>
          </a:ln>
        </p:spPr>
        <p:txBody>
          <a:bodyPr/>
          <a:lstStyle/>
          <a:p>
            <a:endParaRPr lang="en-US"/>
          </a:p>
        </p:txBody>
      </p:sp>
      <p:sp>
        <p:nvSpPr>
          <p:cNvPr id="6" name="Text 4"/>
          <p:cNvSpPr/>
          <p:nvPr/>
        </p:nvSpPr>
        <p:spPr>
          <a:xfrm>
            <a:off x="1261872" y="1335024"/>
            <a:ext cx="7772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Mon</a:t>
            </a:r>
            <a:endParaRPr lang="en-US" sz="800" dirty="0"/>
          </a:p>
        </p:txBody>
      </p:sp>
      <p:sp>
        <p:nvSpPr>
          <p:cNvPr id="7" name="Shape 5"/>
          <p:cNvSpPr/>
          <p:nvPr/>
        </p:nvSpPr>
        <p:spPr>
          <a:xfrm>
            <a:off x="2066544" y="1335024"/>
            <a:ext cx="777240" cy="201168"/>
          </a:xfrm>
          <a:prstGeom prst="roundRect">
            <a:avLst>
              <a:gd name="adj" fmla="val 13636"/>
            </a:avLst>
          </a:prstGeom>
          <a:solidFill>
            <a:srgbClr val="1F4E79"/>
          </a:solidFill>
          <a:ln w="6350">
            <a:solidFill>
              <a:srgbClr val="FFFFFF"/>
            </a:solidFill>
            <a:prstDash val="solid"/>
          </a:ln>
        </p:spPr>
        <p:txBody>
          <a:bodyPr/>
          <a:lstStyle/>
          <a:p>
            <a:endParaRPr lang="en-US"/>
          </a:p>
        </p:txBody>
      </p:sp>
      <p:sp>
        <p:nvSpPr>
          <p:cNvPr id="8" name="Text 6"/>
          <p:cNvSpPr/>
          <p:nvPr/>
        </p:nvSpPr>
        <p:spPr>
          <a:xfrm>
            <a:off x="2066544" y="1335024"/>
            <a:ext cx="7772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Tue</a:t>
            </a:r>
            <a:endParaRPr lang="en-US" sz="800" dirty="0"/>
          </a:p>
        </p:txBody>
      </p:sp>
      <p:sp>
        <p:nvSpPr>
          <p:cNvPr id="9" name="Shape 7"/>
          <p:cNvSpPr/>
          <p:nvPr/>
        </p:nvSpPr>
        <p:spPr>
          <a:xfrm>
            <a:off x="2871216" y="1335024"/>
            <a:ext cx="777240" cy="201168"/>
          </a:xfrm>
          <a:prstGeom prst="roundRect">
            <a:avLst>
              <a:gd name="adj" fmla="val 13636"/>
            </a:avLst>
          </a:prstGeom>
          <a:solidFill>
            <a:srgbClr val="1F4E79"/>
          </a:solidFill>
          <a:ln w="6350">
            <a:solidFill>
              <a:srgbClr val="FFFFFF"/>
            </a:solidFill>
            <a:prstDash val="solid"/>
          </a:ln>
        </p:spPr>
        <p:txBody>
          <a:bodyPr/>
          <a:lstStyle/>
          <a:p>
            <a:endParaRPr lang="en-US"/>
          </a:p>
        </p:txBody>
      </p:sp>
      <p:sp>
        <p:nvSpPr>
          <p:cNvPr id="10" name="Text 8"/>
          <p:cNvSpPr/>
          <p:nvPr/>
        </p:nvSpPr>
        <p:spPr>
          <a:xfrm>
            <a:off x="2871216" y="1335024"/>
            <a:ext cx="7772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Wed</a:t>
            </a:r>
            <a:endParaRPr lang="en-US" sz="800" dirty="0"/>
          </a:p>
        </p:txBody>
      </p:sp>
      <p:sp>
        <p:nvSpPr>
          <p:cNvPr id="11" name="Shape 9"/>
          <p:cNvSpPr/>
          <p:nvPr/>
        </p:nvSpPr>
        <p:spPr>
          <a:xfrm>
            <a:off x="3675888" y="1335024"/>
            <a:ext cx="777240" cy="201168"/>
          </a:xfrm>
          <a:prstGeom prst="roundRect">
            <a:avLst>
              <a:gd name="adj" fmla="val 13636"/>
            </a:avLst>
          </a:prstGeom>
          <a:solidFill>
            <a:srgbClr val="1F4E79"/>
          </a:solidFill>
          <a:ln w="6350">
            <a:solidFill>
              <a:srgbClr val="FFFFFF"/>
            </a:solidFill>
            <a:prstDash val="solid"/>
          </a:ln>
        </p:spPr>
        <p:txBody>
          <a:bodyPr/>
          <a:lstStyle/>
          <a:p>
            <a:endParaRPr lang="en-US"/>
          </a:p>
        </p:txBody>
      </p:sp>
      <p:sp>
        <p:nvSpPr>
          <p:cNvPr id="12" name="Text 10"/>
          <p:cNvSpPr/>
          <p:nvPr/>
        </p:nvSpPr>
        <p:spPr>
          <a:xfrm>
            <a:off x="3675888" y="1335024"/>
            <a:ext cx="7772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Thu</a:t>
            </a:r>
            <a:endParaRPr lang="en-US" sz="800" dirty="0"/>
          </a:p>
        </p:txBody>
      </p:sp>
      <p:sp>
        <p:nvSpPr>
          <p:cNvPr id="13" name="Shape 11"/>
          <p:cNvSpPr/>
          <p:nvPr/>
        </p:nvSpPr>
        <p:spPr>
          <a:xfrm>
            <a:off x="4480560" y="1335024"/>
            <a:ext cx="777240" cy="201168"/>
          </a:xfrm>
          <a:prstGeom prst="roundRect">
            <a:avLst>
              <a:gd name="adj" fmla="val 13636"/>
            </a:avLst>
          </a:prstGeom>
          <a:solidFill>
            <a:srgbClr val="1F4E79"/>
          </a:solidFill>
          <a:ln w="6350">
            <a:solidFill>
              <a:srgbClr val="FFFFFF"/>
            </a:solidFill>
            <a:prstDash val="solid"/>
          </a:ln>
        </p:spPr>
        <p:txBody>
          <a:bodyPr/>
          <a:lstStyle/>
          <a:p>
            <a:endParaRPr lang="en-US"/>
          </a:p>
        </p:txBody>
      </p:sp>
      <p:sp>
        <p:nvSpPr>
          <p:cNvPr id="14" name="Text 12"/>
          <p:cNvSpPr/>
          <p:nvPr/>
        </p:nvSpPr>
        <p:spPr>
          <a:xfrm>
            <a:off x="4480560" y="1335024"/>
            <a:ext cx="7772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Fri</a:t>
            </a:r>
            <a:endParaRPr lang="en-US" sz="800" dirty="0"/>
          </a:p>
        </p:txBody>
      </p:sp>
      <p:sp>
        <p:nvSpPr>
          <p:cNvPr id="15" name="Shape 13"/>
          <p:cNvSpPr/>
          <p:nvPr/>
        </p:nvSpPr>
        <p:spPr>
          <a:xfrm>
            <a:off x="5285232" y="1335024"/>
            <a:ext cx="777240" cy="201168"/>
          </a:xfrm>
          <a:prstGeom prst="roundRect">
            <a:avLst>
              <a:gd name="adj" fmla="val 13636"/>
            </a:avLst>
          </a:prstGeom>
          <a:solidFill>
            <a:srgbClr val="1F4E79"/>
          </a:solidFill>
          <a:ln w="6350">
            <a:solidFill>
              <a:srgbClr val="FFFFFF"/>
            </a:solidFill>
            <a:prstDash val="solid"/>
          </a:ln>
        </p:spPr>
        <p:txBody>
          <a:bodyPr/>
          <a:lstStyle/>
          <a:p>
            <a:endParaRPr lang="en-US"/>
          </a:p>
        </p:txBody>
      </p:sp>
      <p:sp>
        <p:nvSpPr>
          <p:cNvPr id="16" name="Text 14"/>
          <p:cNvSpPr/>
          <p:nvPr/>
        </p:nvSpPr>
        <p:spPr>
          <a:xfrm>
            <a:off x="5285232" y="1335024"/>
            <a:ext cx="7772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Sat</a:t>
            </a:r>
            <a:endParaRPr lang="en-US" sz="800" dirty="0"/>
          </a:p>
        </p:txBody>
      </p:sp>
      <p:sp>
        <p:nvSpPr>
          <p:cNvPr id="17" name="Shape 15"/>
          <p:cNvSpPr/>
          <p:nvPr/>
        </p:nvSpPr>
        <p:spPr>
          <a:xfrm>
            <a:off x="6089904" y="1335024"/>
            <a:ext cx="777240" cy="201168"/>
          </a:xfrm>
          <a:prstGeom prst="roundRect">
            <a:avLst>
              <a:gd name="adj" fmla="val 13636"/>
            </a:avLst>
          </a:prstGeom>
          <a:solidFill>
            <a:srgbClr val="1F4E79"/>
          </a:solidFill>
          <a:ln w="6350">
            <a:solidFill>
              <a:srgbClr val="FFFFFF"/>
            </a:solidFill>
            <a:prstDash val="solid"/>
          </a:ln>
        </p:spPr>
        <p:txBody>
          <a:bodyPr/>
          <a:lstStyle/>
          <a:p>
            <a:endParaRPr lang="en-US"/>
          </a:p>
        </p:txBody>
      </p:sp>
      <p:sp>
        <p:nvSpPr>
          <p:cNvPr id="18" name="Text 16"/>
          <p:cNvSpPr/>
          <p:nvPr/>
        </p:nvSpPr>
        <p:spPr>
          <a:xfrm>
            <a:off x="6089904" y="1335024"/>
            <a:ext cx="7772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Sun</a:t>
            </a:r>
            <a:endParaRPr lang="en-US" sz="800" dirty="0"/>
          </a:p>
        </p:txBody>
      </p:sp>
      <p:sp>
        <p:nvSpPr>
          <p:cNvPr id="19" name="Shape 17"/>
          <p:cNvSpPr/>
          <p:nvPr/>
        </p:nvSpPr>
        <p:spPr>
          <a:xfrm>
            <a:off x="6894576" y="1335024"/>
            <a:ext cx="777240" cy="201168"/>
          </a:xfrm>
          <a:prstGeom prst="roundRect">
            <a:avLst>
              <a:gd name="adj" fmla="val 13636"/>
            </a:avLst>
          </a:prstGeom>
          <a:solidFill>
            <a:srgbClr val="D97706"/>
          </a:solidFill>
          <a:ln w="6350">
            <a:solidFill>
              <a:srgbClr val="FFFFFF"/>
            </a:solidFill>
            <a:prstDash val="solid"/>
          </a:ln>
        </p:spPr>
        <p:txBody>
          <a:bodyPr/>
          <a:lstStyle/>
          <a:p>
            <a:endParaRPr lang="en-US"/>
          </a:p>
        </p:txBody>
      </p:sp>
      <p:sp>
        <p:nvSpPr>
          <p:cNvPr id="20" name="Text 18"/>
          <p:cNvSpPr/>
          <p:nvPr/>
        </p:nvSpPr>
        <p:spPr>
          <a:xfrm>
            <a:off x="6894576" y="1335024"/>
            <a:ext cx="7772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Hrs</a:t>
            </a:r>
            <a:endParaRPr lang="en-US" sz="800" dirty="0"/>
          </a:p>
        </p:txBody>
      </p:sp>
      <p:sp>
        <p:nvSpPr>
          <p:cNvPr id="21" name="Shape 19"/>
          <p:cNvSpPr/>
          <p:nvPr/>
        </p:nvSpPr>
        <p:spPr>
          <a:xfrm>
            <a:off x="7699248" y="1335024"/>
            <a:ext cx="777240" cy="201168"/>
          </a:xfrm>
          <a:prstGeom prst="roundRect">
            <a:avLst>
              <a:gd name="adj" fmla="val 13636"/>
            </a:avLst>
          </a:prstGeom>
          <a:solidFill>
            <a:srgbClr val="D97706"/>
          </a:solidFill>
          <a:ln w="6350">
            <a:solidFill>
              <a:srgbClr val="FFFFFF"/>
            </a:solidFill>
            <a:prstDash val="solid"/>
          </a:ln>
        </p:spPr>
        <p:txBody>
          <a:bodyPr/>
          <a:lstStyle/>
          <a:p>
            <a:endParaRPr lang="en-US"/>
          </a:p>
        </p:txBody>
      </p:sp>
      <p:sp>
        <p:nvSpPr>
          <p:cNvPr id="22" name="Text 20"/>
          <p:cNvSpPr/>
          <p:nvPr/>
        </p:nvSpPr>
        <p:spPr>
          <a:xfrm>
            <a:off x="7699248" y="1335024"/>
            <a:ext cx="7772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Pay Hrs</a:t>
            </a:r>
            <a:endParaRPr lang="en-US" sz="800" dirty="0"/>
          </a:p>
        </p:txBody>
      </p:sp>
      <p:sp>
        <p:nvSpPr>
          <p:cNvPr id="23" name="Text 21"/>
          <p:cNvSpPr/>
          <p:nvPr/>
        </p:nvSpPr>
        <p:spPr>
          <a:xfrm>
            <a:off x="320040" y="1554480"/>
            <a:ext cx="896112" cy="228600"/>
          </a:xfrm>
          <a:prstGeom prst="rect">
            <a:avLst/>
          </a:prstGeom>
          <a:noFill/>
          <a:ln/>
        </p:spPr>
        <p:txBody>
          <a:bodyPr wrap="square" rtlCol="0" anchor="ctr"/>
          <a:lstStyle/>
          <a:p>
            <a:pPr marL="0" indent="0">
              <a:buNone/>
            </a:pPr>
            <a:r>
              <a:rPr lang="en-US" sz="900" b="1" dirty="0">
                <a:solidFill>
                  <a:srgbClr val="64748B"/>
                </a:solidFill>
                <a:latin typeface="Arial" pitchFamily="34" charset="0"/>
                <a:ea typeface="Arial" pitchFamily="34" charset="-122"/>
                <a:cs typeface="Arial" pitchFamily="34" charset="-120"/>
              </a:rPr>
              <a:t>Week 1</a:t>
            </a:r>
            <a:endParaRPr lang="en-US" sz="900" dirty="0"/>
          </a:p>
        </p:txBody>
      </p:sp>
      <p:sp>
        <p:nvSpPr>
          <p:cNvPr id="24" name="Shape 22"/>
          <p:cNvSpPr/>
          <p:nvPr/>
        </p:nvSpPr>
        <p:spPr>
          <a:xfrm>
            <a:off x="1261872" y="1554480"/>
            <a:ext cx="777240" cy="228600"/>
          </a:xfrm>
          <a:prstGeom prst="roundRect">
            <a:avLst>
              <a:gd name="adj" fmla="val 16000"/>
            </a:avLst>
          </a:prstGeom>
          <a:solidFill>
            <a:srgbClr val="1D6A72"/>
          </a:solidFill>
          <a:ln w="6350">
            <a:solidFill>
              <a:srgbClr val="FFFFFF"/>
            </a:solidFill>
            <a:prstDash val="solid"/>
          </a:ln>
        </p:spPr>
        <p:txBody>
          <a:bodyPr/>
          <a:lstStyle/>
          <a:p>
            <a:endParaRPr lang="en-US"/>
          </a:p>
        </p:txBody>
      </p:sp>
      <p:sp>
        <p:nvSpPr>
          <p:cNvPr id="25" name="Text 23"/>
          <p:cNvSpPr/>
          <p:nvPr/>
        </p:nvSpPr>
        <p:spPr>
          <a:xfrm>
            <a:off x="1261872" y="1554480"/>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D12</a:t>
            </a:r>
            <a:endParaRPr lang="en-US" sz="800" dirty="0"/>
          </a:p>
        </p:txBody>
      </p:sp>
      <p:sp>
        <p:nvSpPr>
          <p:cNvPr id="26" name="Shape 24"/>
          <p:cNvSpPr/>
          <p:nvPr/>
        </p:nvSpPr>
        <p:spPr>
          <a:xfrm>
            <a:off x="2066544" y="1554480"/>
            <a:ext cx="777240" cy="228600"/>
          </a:xfrm>
          <a:prstGeom prst="roundRect">
            <a:avLst>
              <a:gd name="adj" fmla="val 16000"/>
            </a:avLst>
          </a:prstGeom>
          <a:solidFill>
            <a:srgbClr val="1D6A72"/>
          </a:solidFill>
          <a:ln w="6350">
            <a:solidFill>
              <a:srgbClr val="FFFFFF"/>
            </a:solidFill>
            <a:prstDash val="solid"/>
          </a:ln>
        </p:spPr>
        <p:txBody>
          <a:bodyPr/>
          <a:lstStyle/>
          <a:p>
            <a:endParaRPr lang="en-US"/>
          </a:p>
        </p:txBody>
      </p:sp>
      <p:sp>
        <p:nvSpPr>
          <p:cNvPr id="27" name="Text 25"/>
          <p:cNvSpPr/>
          <p:nvPr/>
        </p:nvSpPr>
        <p:spPr>
          <a:xfrm>
            <a:off x="2066544" y="1554480"/>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D12</a:t>
            </a:r>
            <a:endParaRPr lang="en-US" sz="800" dirty="0"/>
          </a:p>
        </p:txBody>
      </p:sp>
      <p:sp>
        <p:nvSpPr>
          <p:cNvPr id="28" name="Shape 26"/>
          <p:cNvSpPr/>
          <p:nvPr/>
        </p:nvSpPr>
        <p:spPr>
          <a:xfrm>
            <a:off x="2871216" y="1554480"/>
            <a:ext cx="777240" cy="228600"/>
          </a:xfrm>
          <a:prstGeom prst="roundRect">
            <a:avLst>
              <a:gd name="adj" fmla="val 16000"/>
            </a:avLst>
          </a:prstGeom>
          <a:solidFill>
            <a:srgbClr val="1D6A72"/>
          </a:solidFill>
          <a:ln w="6350">
            <a:solidFill>
              <a:srgbClr val="FFFFFF"/>
            </a:solidFill>
            <a:prstDash val="solid"/>
          </a:ln>
        </p:spPr>
        <p:txBody>
          <a:bodyPr/>
          <a:lstStyle/>
          <a:p>
            <a:endParaRPr lang="en-US"/>
          </a:p>
        </p:txBody>
      </p:sp>
      <p:sp>
        <p:nvSpPr>
          <p:cNvPr id="29" name="Text 27"/>
          <p:cNvSpPr/>
          <p:nvPr/>
        </p:nvSpPr>
        <p:spPr>
          <a:xfrm>
            <a:off x="2871216" y="1554480"/>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D12</a:t>
            </a:r>
            <a:endParaRPr lang="en-US" sz="800" dirty="0"/>
          </a:p>
        </p:txBody>
      </p:sp>
      <p:sp>
        <p:nvSpPr>
          <p:cNvPr id="30" name="Shape 28"/>
          <p:cNvSpPr/>
          <p:nvPr/>
        </p:nvSpPr>
        <p:spPr>
          <a:xfrm>
            <a:off x="3675888" y="1554480"/>
            <a:ext cx="777240" cy="228600"/>
          </a:xfrm>
          <a:prstGeom prst="roundRect">
            <a:avLst>
              <a:gd name="adj" fmla="val 16000"/>
            </a:avLst>
          </a:prstGeom>
          <a:solidFill>
            <a:srgbClr val="1D6A72"/>
          </a:solidFill>
          <a:ln w="6350">
            <a:solidFill>
              <a:srgbClr val="FFFFFF"/>
            </a:solidFill>
            <a:prstDash val="solid"/>
          </a:ln>
        </p:spPr>
        <p:txBody>
          <a:bodyPr/>
          <a:lstStyle/>
          <a:p>
            <a:endParaRPr lang="en-US"/>
          </a:p>
        </p:txBody>
      </p:sp>
      <p:sp>
        <p:nvSpPr>
          <p:cNvPr id="31" name="Text 29"/>
          <p:cNvSpPr/>
          <p:nvPr/>
        </p:nvSpPr>
        <p:spPr>
          <a:xfrm>
            <a:off x="3675888" y="1554480"/>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D12</a:t>
            </a:r>
            <a:endParaRPr lang="en-US" sz="800" dirty="0"/>
          </a:p>
        </p:txBody>
      </p:sp>
      <p:sp>
        <p:nvSpPr>
          <p:cNvPr id="32" name="Shape 30"/>
          <p:cNvSpPr/>
          <p:nvPr/>
        </p:nvSpPr>
        <p:spPr>
          <a:xfrm>
            <a:off x="4480560" y="1554480"/>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33" name="Text 31"/>
          <p:cNvSpPr/>
          <p:nvPr/>
        </p:nvSpPr>
        <p:spPr>
          <a:xfrm>
            <a:off x="4480560" y="1554480"/>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34" name="Shape 32"/>
          <p:cNvSpPr/>
          <p:nvPr/>
        </p:nvSpPr>
        <p:spPr>
          <a:xfrm>
            <a:off x="5285232" y="1554480"/>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35" name="Text 33"/>
          <p:cNvSpPr/>
          <p:nvPr/>
        </p:nvSpPr>
        <p:spPr>
          <a:xfrm>
            <a:off x="5285232" y="1554480"/>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36" name="Shape 34"/>
          <p:cNvSpPr/>
          <p:nvPr/>
        </p:nvSpPr>
        <p:spPr>
          <a:xfrm>
            <a:off x="6089904" y="1554480"/>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37" name="Text 35"/>
          <p:cNvSpPr/>
          <p:nvPr/>
        </p:nvSpPr>
        <p:spPr>
          <a:xfrm>
            <a:off x="6089904" y="1554480"/>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38" name="Shape 36"/>
          <p:cNvSpPr/>
          <p:nvPr/>
        </p:nvSpPr>
        <p:spPr>
          <a:xfrm>
            <a:off x="6894576" y="1554480"/>
            <a:ext cx="777240" cy="228600"/>
          </a:xfrm>
          <a:prstGeom prst="roundRect">
            <a:avLst>
              <a:gd name="adj" fmla="val 16000"/>
            </a:avLst>
          </a:prstGeom>
          <a:solidFill>
            <a:srgbClr val="E8F0E8"/>
          </a:solidFill>
          <a:ln w="6350">
            <a:solidFill>
              <a:srgbClr val="FFFFFF"/>
            </a:solidFill>
            <a:prstDash val="solid"/>
          </a:ln>
        </p:spPr>
        <p:txBody>
          <a:bodyPr/>
          <a:lstStyle/>
          <a:p>
            <a:endParaRPr lang="en-US"/>
          </a:p>
        </p:txBody>
      </p:sp>
      <p:sp>
        <p:nvSpPr>
          <p:cNvPr id="39" name="Text 37"/>
          <p:cNvSpPr/>
          <p:nvPr/>
        </p:nvSpPr>
        <p:spPr>
          <a:xfrm>
            <a:off x="6894576" y="1554480"/>
            <a:ext cx="777240" cy="228600"/>
          </a:xfrm>
          <a:prstGeom prst="rect">
            <a:avLst/>
          </a:prstGeom>
          <a:noFill/>
          <a:ln/>
        </p:spPr>
        <p:txBody>
          <a:bodyPr wrap="square" lIns="0" tIns="0" rIns="0" bIns="0" rtlCol="0" anchor="ctr"/>
          <a:lstStyle/>
          <a:p>
            <a:pPr marL="0" indent="0" algn="ctr">
              <a:buNone/>
            </a:pPr>
            <a:r>
              <a:rPr lang="en-US" sz="800" dirty="0">
                <a:solidFill>
                  <a:srgbClr val="1D9E75"/>
                </a:solidFill>
                <a:latin typeface="Arial" pitchFamily="34" charset="0"/>
                <a:ea typeface="Arial" pitchFamily="34" charset="-122"/>
                <a:cs typeface="Arial" pitchFamily="34" charset="-120"/>
              </a:rPr>
              <a:t>48</a:t>
            </a:r>
            <a:endParaRPr lang="en-US" sz="800" dirty="0"/>
          </a:p>
        </p:txBody>
      </p:sp>
      <p:sp>
        <p:nvSpPr>
          <p:cNvPr id="40" name="Shape 38"/>
          <p:cNvSpPr/>
          <p:nvPr/>
        </p:nvSpPr>
        <p:spPr>
          <a:xfrm>
            <a:off x="7699248" y="1554480"/>
            <a:ext cx="777240" cy="228600"/>
          </a:xfrm>
          <a:prstGeom prst="roundRect">
            <a:avLst>
              <a:gd name="adj" fmla="val 16000"/>
            </a:avLst>
          </a:prstGeom>
          <a:solidFill>
            <a:srgbClr val="FFF3CD"/>
          </a:solidFill>
          <a:ln w="6350">
            <a:solidFill>
              <a:srgbClr val="FFFFFF"/>
            </a:solidFill>
            <a:prstDash val="solid"/>
          </a:ln>
        </p:spPr>
        <p:txBody>
          <a:bodyPr/>
          <a:lstStyle/>
          <a:p>
            <a:endParaRPr lang="en-US"/>
          </a:p>
        </p:txBody>
      </p:sp>
      <p:sp>
        <p:nvSpPr>
          <p:cNvPr id="41" name="Text 39"/>
          <p:cNvSpPr/>
          <p:nvPr/>
        </p:nvSpPr>
        <p:spPr>
          <a:xfrm>
            <a:off x="7699248" y="1554480"/>
            <a:ext cx="777240" cy="228600"/>
          </a:xfrm>
          <a:prstGeom prst="rect">
            <a:avLst/>
          </a:prstGeom>
          <a:noFill/>
          <a:ln/>
        </p:spPr>
        <p:txBody>
          <a:bodyPr wrap="square" lIns="0" tIns="0" rIns="0" bIns="0" rtlCol="0" anchor="ctr"/>
          <a:lstStyle/>
          <a:p>
            <a:pPr marL="0" indent="0" algn="ctr">
              <a:buNone/>
            </a:pPr>
            <a:r>
              <a:rPr lang="en-US" sz="800" dirty="0">
                <a:solidFill>
                  <a:srgbClr val="D97706"/>
                </a:solidFill>
                <a:latin typeface="Arial" pitchFamily="34" charset="0"/>
                <a:ea typeface="Arial" pitchFamily="34" charset="-122"/>
                <a:cs typeface="Arial" pitchFamily="34" charset="-120"/>
              </a:rPr>
              <a:t>52</a:t>
            </a:r>
            <a:endParaRPr lang="en-US" sz="800" dirty="0"/>
          </a:p>
        </p:txBody>
      </p:sp>
      <p:sp>
        <p:nvSpPr>
          <p:cNvPr id="42" name="Text 40"/>
          <p:cNvSpPr/>
          <p:nvPr/>
        </p:nvSpPr>
        <p:spPr>
          <a:xfrm>
            <a:off x="320040" y="1801368"/>
            <a:ext cx="896112" cy="228600"/>
          </a:xfrm>
          <a:prstGeom prst="rect">
            <a:avLst/>
          </a:prstGeom>
          <a:noFill/>
          <a:ln/>
        </p:spPr>
        <p:txBody>
          <a:bodyPr wrap="square" rtlCol="0" anchor="ctr"/>
          <a:lstStyle/>
          <a:p>
            <a:pPr marL="0" indent="0">
              <a:buNone/>
            </a:pPr>
            <a:r>
              <a:rPr lang="en-US" sz="900" b="1" dirty="0">
                <a:solidFill>
                  <a:srgbClr val="64748B"/>
                </a:solidFill>
                <a:latin typeface="Arial" pitchFamily="34" charset="0"/>
                <a:ea typeface="Arial" pitchFamily="34" charset="-122"/>
                <a:cs typeface="Arial" pitchFamily="34" charset="-120"/>
              </a:rPr>
              <a:t>Week 2</a:t>
            </a:r>
            <a:endParaRPr lang="en-US" sz="900" dirty="0"/>
          </a:p>
        </p:txBody>
      </p:sp>
      <p:sp>
        <p:nvSpPr>
          <p:cNvPr id="43" name="Shape 41"/>
          <p:cNvSpPr/>
          <p:nvPr/>
        </p:nvSpPr>
        <p:spPr>
          <a:xfrm>
            <a:off x="1261872" y="1801368"/>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44" name="Text 42"/>
          <p:cNvSpPr/>
          <p:nvPr/>
        </p:nvSpPr>
        <p:spPr>
          <a:xfrm>
            <a:off x="1261872" y="1801368"/>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45" name="Shape 43"/>
          <p:cNvSpPr/>
          <p:nvPr/>
        </p:nvSpPr>
        <p:spPr>
          <a:xfrm>
            <a:off x="2066544" y="1801368"/>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46" name="Text 44"/>
          <p:cNvSpPr/>
          <p:nvPr/>
        </p:nvSpPr>
        <p:spPr>
          <a:xfrm>
            <a:off x="2066544" y="1801368"/>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47" name="Shape 45"/>
          <p:cNvSpPr/>
          <p:nvPr/>
        </p:nvSpPr>
        <p:spPr>
          <a:xfrm>
            <a:off x="2871216" y="1801368"/>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48" name="Text 46"/>
          <p:cNvSpPr/>
          <p:nvPr/>
        </p:nvSpPr>
        <p:spPr>
          <a:xfrm>
            <a:off x="2871216" y="1801368"/>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49" name="Shape 47"/>
          <p:cNvSpPr/>
          <p:nvPr/>
        </p:nvSpPr>
        <p:spPr>
          <a:xfrm>
            <a:off x="3675888" y="1801368"/>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50" name="Text 48"/>
          <p:cNvSpPr/>
          <p:nvPr/>
        </p:nvSpPr>
        <p:spPr>
          <a:xfrm>
            <a:off x="3675888" y="1801368"/>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51" name="Shape 49"/>
          <p:cNvSpPr/>
          <p:nvPr/>
        </p:nvSpPr>
        <p:spPr>
          <a:xfrm>
            <a:off x="4480560" y="1801368"/>
            <a:ext cx="777240" cy="228600"/>
          </a:xfrm>
          <a:prstGeom prst="roundRect">
            <a:avLst>
              <a:gd name="adj" fmla="val 16000"/>
            </a:avLst>
          </a:prstGeom>
          <a:solidFill>
            <a:srgbClr val="1F4E79"/>
          </a:solidFill>
          <a:ln w="6350">
            <a:solidFill>
              <a:srgbClr val="FFFFFF"/>
            </a:solidFill>
            <a:prstDash val="solid"/>
          </a:ln>
        </p:spPr>
        <p:txBody>
          <a:bodyPr/>
          <a:lstStyle/>
          <a:p>
            <a:endParaRPr lang="en-US"/>
          </a:p>
        </p:txBody>
      </p:sp>
      <p:sp>
        <p:nvSpPr>
          <p:cNvPr id="52" name="Text 50"/>
          <p:cNvSpPr/>
          <p:nvPr/>
        </p:nvSpPr>
        <p:spPr>
          <a:xfrm>
            <a:off x="4480560" y="1801368"/>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N12</a:t>
            </a:r>
            <a:endParaRPr lang="en-US" sz="800" dirty="0"/>
          </a:p>
        </p:txBody>
      </p:sp>
      <p:sp>
        <p:nvSpPr>
          <p:cNvPr id="53" name="Shape 51"/>
          <p:cNvSpPr/>
          <p:nvPr/>
        </p:nvSpPr>
        <p:spPr>
          <a:xfrm>
            <a:off x="5285232" y="1801368"/>
            <a:ext cx="777240" cy="228600"/>
          </a:xfrm>
          <a:prstGeom prst="roundRect">
            <a:avLst>
              <a:gd name="adj" fmla="val 16000"/>
            </a:avLst>
          </a:prstGeom>
          <a:solidFill>
            <a:srgbClr val="1F4E79"/>
          </a:solidFill>
          <a:ln w="6350">
            <a:solidFill>
              <a:srgbClr val="FFFFFF"/>
            </a:solidFill>
            <a:prstDash val="solid"/>
          </a:ln>
        </p:spPr>
        <p:txBody>
          <a:bodyPr/>
          <a:lstStyle/>
          <a:p>
            <a:endParaRPr lang="en-US"/>
          </a:p>
        </p:txBody>
      </p:sp>
      <p:sp>
        <p:nvSpPr>
          <p:cNvPr id="54" name="Text 52"/>
          <p:cNvSpPr/>
          <p:nvPr/>
        </p:nvSpPr>
        <p:spPr>
          <a:xfrm>
            <a:off x="5285232" y="1801368"/>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N12</a:t>
            </a:r>
            <a:endParaRPr lang="en-US" sz="800" dirty="0"/>
          </a:p>
        </p:txBody>
      </p:sp>
      <p:sp>
        <p:nvSpPr>
          <p:cNvPr id="55" name="Shape 53"/>
          <p:cNvSpPr/>
          <p:nvPr/>
        </p:nvSpPr>
        <p:spPr>
          <a:xfrm>
            <a:off x="6089904" y="1801368"/>
            <a:ext cx="777240" cy="228600"/>
          </a:xfrm>
          <a:prstGeom prst="roundRect">
            <a:avLst>
              <a:gd name="adj" fmla="val 16000"/>
            </a:avLst>
          </a:prstGeom>
          <a:solidFill>
            <a:srgbClr val="1F4E79"/>
          </a:solidFill>
          <a:ln w="6350">
            <a:solidFill>
              <a:srgbClr val="FFFFFF"/>
            </a:solidFill>
            <a:prstDash val="solid"/>
          </a:ln>
        </p:spPr>
        <p:txBody>
          <a:bodyPr/>
          <a:lstStyle/>
          <a:p>
            <a:endParaRPr lang="en-US"/>
          </a:p>
        </p:txBody>
      </p:sp>
      <p:sp>
        <p:nvSpPr>
          <p:cNvPr id="56" name="Text 54"/>
          <p:cNvSpPr/>
          <p:nvPr/>
        </p:nvSpPr>
        <p:spPr>
          <a:xfrm>
            <a:off x="6089904" y="1801368"/>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N12</a:t>
            </a:r>
            <a:endParaRPr lang="en-US" sz="800" dirty="0"/>
          </a:p>
        </p:txBody>
      </p:sp>
      <p:sp>
        <p:nvSpPr>
          <p:cNvPr id="57" name="Shape 55"/>
          <p:cNvSpPr/>
          <p:nvPr/>
        </p:nvSpPr>
        <p:spPr>
          <a:xfrm>
            <a:off x="6894576" y="1801368"/>
            <a:ext cx="777240" cy="228600"/>
          </a:xfrm>
          <a:prstGeom prst="roundRect">
            <a:avLst>
              <a:gd name="adj" fmla="val 16000"/>
            </a:avLst>
          </a:prstGeom>
          <a:solidFill>
            <a:srgbClr val="E8F0E8"/>
          </a:solidFill>
          <a:ln w="6350">
            <a:solidFill>
              <a:srgbClr val="FFFFFF"/>
            </a:solidFill>
            <a:prstDash val="solid"/>
          </a:ln>
        </p:spPr>
        <p:txBody>
          <a:bodyPr/>
          <a:lstStyle/>
          <a:p>
            <a:endParaRPr lang="en-US"/>
          </a:p>
        </p:txBody>
      </p:sp>
      <p:sp>
        <p:nvSpPr>
          <p:cNvPr id="58" name="Text 56"/>
          <p:cNvSpPr/>
          <p:nvPr/>
        </p:nvSpPr>
        <p:spPr>
          <a:xfrm>
            <a:off x="6894576" y="1801368"/>
            <a:ext cx="777240" cy="228600"/>
          </a:xfrm>
          <a:prstGeom prst="rect">
            <a:avLst/>
          </a:prstGeom>
          <a:noFill/>
          <a:ln/>
        </p:spPr>
        <p:txBody>
          <a:bodyPr wrap="square" lIns="0" tIns="0" rIns="0" bIns="0" rtlCol="0" anchor="ctr"/>
          <a:lstStyle/>
          <a:p>
            <a:pPr marL="0" indent="0" algn="ctr">
              <a:buNone/>
            </a:pPr>
            <a:r>
              <a:rPr lang="en-US" sz="800" dirty="0">
                <a:solidFill>
                  <a:srgbClr val="1D9E75"/>
                </a:solidFill>
                <a:latin typeface="Arial" pitchFamily="34" charset="0"/>
                <a:ea typeface="Arial" pitchFamily="34" charset="-122"/>
                <a:cs typeface="Arial" pitchFamily="34" charset="-120"/>
              </a:rPr>
              <a:t>36</a:t>
            </a:r>
            <a:endParaRPr lang="en-US" sz="800" dirty="0"/>
          </a:p>
        </p:txBody>
      </p:sp>
      <p:sp>
        <p:nvSpPr>
          <p:cNvPr id="59" name="Shape 57"/>
          <p:cNvSpPr/>
          <p:nvPr/>
        </p:nvSpPr>
        <p:spPr>
          <a:xfrm>
            <a:off x="7699248" y="1801368"/>
            <a:ext cx="777240" cy="228600"/>
          </a:xfrm>
          <a:prstGeom prst="roundRect">
            <a:avLst>
              <a:gd name="adj" fmla="val 16000"/>
            </a:avLst>
          </a:prstGeom>
          <a:solidFill>
            <a:srgbClr val="FFF3CD"/>
          </a:solidFill>
          <a:ln w="6350">
            <a:solidFill>
              <a:srgbClr val="FFFFFF"/>
            </a:solidFill>
            <a:prstDash val="solid"/>
          </a:ln>
        </p:spPr>
        <p:txBody>
          <a:bodyPr/>
          <a:lstStyle/>
          <a:p>
            <a:endParaRPr lang="en-US"/>
          </a:p>
        </p:txBody>
      </p:sp>
      <p:sp>
        <p:nvSpPr>
          <p:cNvPr id="60" name="Text 58"/>
          <p:cNvSpPr/>
          <p:nvPr/>
        </p:nvSpPr>
        <p:spPr>
          <a:xfrm>
            <a:off x="7699248" y="1801368"/>
            <a:ext cx="777240" cy="228600"/>
          </a:xfrm>
          <a:prstGeom prst="rect">
            <a:avLst/>
          </a:prstGeom>
          <a:noFill/>
          <a:ln/>
        </p:spPr>
        <p:txBody>
          <a:bodyPr wrap="square" lIns="0" tIns="0" rIns="0" bIns="0" rtlCol="0" anchor="ctr"/>
          <a:lstStyle/>
          <a:p>
            <a:pPr marL="0" indent="0" algn="ctr">
              <a:buNone/>
            </a:pPr>
            <a:r>
              <a:rPr lang="en-US" sz="800" dirty="0">
                <a:solidFill>
                  <a:srgbClr val="D97706"/>
                </a:solidFill>
                <a:latin typeface="Arial" pitchFamily="34" charset="0"/>
                <a:ea typeface="Arial" pitchFamily="34" charset="-122"/>
                <a:cs typeface="Arial" pitchFamily="34" charset="-120"/>
              </a:rPr>
              <a:t>36</a:t>
            </a:r>
            <a:endParaRPr lang="en-US" sz="800" dirty="0"/>
          </a:p>
        </p:txBody>
      </p:sp>
      <p:sp>
        <p:nvSpPr>
          <p:cNvPr id="61" name="Text 59"/>
          <p:cNvSpPr/>
          <p:nvPr/>
        </p:nvSpPr>
        <p:spPr>
          <a:xfrm>
            <a:off x="320040" y="2048256"/>
            <a:ext cx="896112" cy="228600"/>
          </a:xfrm>
          <a:prstGeom prst="rect">
            <a:avLst/>
          </a:prstGeom>
          <a:noFill/>
          <a:ln/>
        </p:spPr>
        <p:txBody>
          <a:bodyPr wrap="square" rtlCol="0" anchor="ctr"/>
          <a:lstStyle/>
          <a:p>
            <a:pPr marL="0" indent="0">
              <a:buNone/>
            </a:pPr>
            <a:r>
              <a:rPr lang="en-US" sz="900" b="1" dirty="0">
                <a:solidFill>
                  <a:srgbClr val="64748B"/>
                </a:solidFill>
                <a:latin typeface="Arial" pitchFamily="34" charset="0"/>
                <a:ea typeface="Arial" pitchFamily="34" charset="-122"/>
                <a:cs typeface="Arial" pitchFamily="34" charset="-120"/>
              </a:rPr>
              <a:t>Week 3</a:t>
            </a:r>
            <a:endParaRPr lang="en-US" sz="900" dirty="0"/>
          </a:p>
        </p:txBody>
      </p:sp>
      <p:sp>
        <p:nvSpPr>
          <p:cNvPr id="62" name="Shape 60"/>
          <p:cNvSpPr/>
          <p:nvPr/>
        </p:nvSpPr>
        <p:spPr>
          <a:xfrm>
            <a:off x="1261872" y="2048256"/>
            <a:ext cx="777240" cy="228600"/>
          </a:xfrm>
          <a:prstGeom prst="roundRect">
            <a:avLst>
              <a:gd name="adj" fmla="val 16000"/>
            </a:avLst>
          </a:prstGeom>
          <a:solidFill>
            <a:srgbClr val="1F4E79"/>
          </a:solidFill>
          <a:ln w="6350">
            <a:solidFill>
              <a:srgbClr val="FFFFFF"/>
            </a:solidFill>
            <a:prstDash val="solid"/>
          </a:ln>
        </p:spPr>
        <p:txBody>
          <a:bodyPr/>
          <a:lstStyle/>
          <a:p>
            <a:endParaRPr lang="en-US"/>
          </a:p>
        </p:txBody>
      </p:sp>
      <p:sp>
        <p:nvSpPr>
          <p:cNvPr id="63" name="Text 61"/>
          <p:cNvSpPr/>
          <p:nvPr/>
        </p:nvSpPr>
        <p:spPr>
          <a:xfrm>
            <a:off x="1261872" y="2048256"/>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N12</a:t>
            </a:r>
            <a:endParaRPr lang="en-US" sz="800" dirty="0"/>
          </a:p>
        </p:txBody>
      </p:sp>
      <p:sp>
        <p:nvSpPr>
          <p:cNvPr id="64" name="Shape 62"/>
          <p:cNvSpPr/>
          <p:nvPr/>
        </p:nvSpPr>
        <p:spPr>
          <a:xfrm>
            <a:off x="2066544" y="2048256"/>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65" name="Text 63"/>
          <p:cNvSpPr/>
          <p:nvPr/>
        </p:nvSpPr>
        <p:spPr>
          <a:xfrm>
            <a:off x="2066544" y="2048256"/>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66" name="Shape 64"/>
          <p:cNvSpPr/>
          <p:nvPr/>
        </p:nvSpPr>
        <p:spPr>
          <a:xfrm>
            <a:off x="2871216" y="2048256"/>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67" name="Text 65"/>
          <p:cNvSpPr/>
          <p:nvPr/>
        </p:nvSpPr>
        <p:spPr>
          <a:xfrm>
            <a:off x="2871216" y="2048256"/>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68" name="Shape 66"/>
          <p:cNvSpPr/>
          <p:nvPr/>
        </p:nvSpPr>
        <p:spPr>
          <a:xfrm>
            <a:off x="3675888" y="2048256"/>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69" name="Text 67"/>
          <p:cNvSpPr/>
          <p:nvPr/>
        </p:nvSpPr>
        <p:spPr>
          <a:xfrm>
            <a:off x="3675888" y="2048256"/>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70" name="Shape 68"/>
          <p:cNvSpPr/>
          <p:nvPr/>
        </p:nvSpPr>
        <p:spPr>
          <a:xfrm>
            <a:off x="4480560" y="2048256"/>
            <a:ext cx="777240" cy="228600"/>
          </a:xfrm>
          <a:prstGeom prst="roundRect">
            <a:avLst>
              <a:gd name="adj" fmla="val 16000"/>
            </a:avLst>
          </a:prstGeom>
          <a:solidFill>
            <a:srgbClr val="1D6A72"/>
          </a:solidFill>
          <a:ln w="6350">
            <a:solidFill>
              <a:srgbClr val="FFFFFF"/>
            </a:solidFill>
            <a:prstDash val="solid"/>
          </a:ln>
        </p:spPr>
        <p:txBody>
          <a:bodyPr/>
          <a:lstStyle/>
          <a:p>
            <a:endParaRPr lang="en-US"/>
          </a:p>
        </p:txBody>
      </p:sp>
      <p:sp>
        <p:nvSpPr>
          <p:cNvPr id="71" name="Text 69"/>
          <p:cNvSpPr/>
          <p:nvPr/>
        </p:nvSpPr>
        <p:spPr>
          <a:xfrm>
            <a:off x="4480560" y="2048256"/>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D12</a:t>
            </a:r>
            <a:endParaRPr lang="en-US" sz="800" dirty="0"/>
          </a:p>
        </p:txBody>
      </p:sp>
      <p:sp>
        <p:nvSpPr>
          <p:cNvPr id="72" name="Shape 70"/>
          <p:cNvSpPr/>
          <p:nvPr/>
        </p:nvSpPr>
        <p:spPr>
          <a:xfrm>
            <a:off x="5285232" y="2048256"/>
            <a:ext cx="777240" cy="228600"/>
          </a:xfrm>
          <a:prstGeom prst="roundRect">
            <a:avLst>
              <a:gd name="adj" fmla="val 16000"/>
            </a:avLst>
          </a:prstGeom>
          <a:solidFill>
            <a:srgbClr val="1D6A72"/>
          </a:solidFill>
          <a:ln w="6350">
            <a:solidFill>
              <a:srgbClr val="FFFFFF"/>
            </a:solidFill>
            <a:prstDash val="solid"/>
          </a:ln>
        </p:spPr>
        <p:txBody>
          <a:bodyPr/>
          <a:lstStyle/>
          <a:p>
            <a:endParaRPr lang="en-US"/>
          </a:p>
        </p:txBody>
      </p:sp>
      <p:sp>
        <p:nvSpPr>
          <p:cNvPr id="73" name="Text 71"/>
          <p:cNvSpPr/>
          <p:nvPr/>
        </p:nvSpPr>
        <p:spPr>
          <a:xfrm>
            <a:off x="5285232" y="2048256"/>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D12</a:t>
            </a:r>
            <a:endParaRPr lang="en-US" sz="800" dirty="0"/>
          </a:p>
        </p:txBody>
      </p:sp>
      <p:sp>
        <p:nvSpPr>
          <p:cNvPr id="74" name="Shape 72"/>
          <p:cNvSpPr/>
          <p:nvPr/>
        </p:nvSpPr>
        <p:spPr>
          <a:xfrm>
            <a:off x="6089904" y="2048256"/>
            <a:ext cx="777240" cy="228600"/>
          </a:xfrm>
          <a:prstGeom prst="roundRect">
            <a:avLst>
              <a:gd name="adj" fmla="val 16000"/>
            </a:avLst>
          </a:prstGeom>
          <a:solidFill>
            <a:srgbClr val="1D6A72"/>
          </a:solidFill>
          <a:ln w="6350">
            <a:solidFill>
              <a:srgbClr val="FFFFFF"/>
            </a:solidFill>
            <a:prstDash val="solid"/>
          </a:ln>
        </p:spPr>
        <p:txBody>
          <a:bodyPr/>
          <a:lstStyle/>
          <a:p>
            <a:endParaRPr lang="en-US"/>
          </a:p>
        </p:txBody>
      </p:sp>
      <p:sp>
        <p:nvSpPr>
          <p:cNvPr id="75" name="Text 73"/>
          <p:cNvSpPr/>
          <p:nvPr/>
        </p:nvSpPr>
        <p:spPr>
          <a:xfrm>
            <a:off x="6089904" y="2048256"/>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D12</a:t>
            </a:r>
            <a:endParaRPr lang="en-US" sz="800" dirty="0"/>
          </a:p>
        </p:txBody>
      </p:sp>
      <p:sp>
        <p:nvSpPr>
          <p:cNvPr id="76" name="Shape 74"/>
          <p:cNvSpPr/>
          <p:nvPr/>
        </p:nvSpPr>
        <p:spPr>
          <a:xfrm>
            <a:off x="6894576" y="2048256"/>
            <a:ext cx="777240" cy="228600"/>
          </a:xfrm>
          <a:prstGeom prst="roundRect">
            <a:avLst>
              <a:gd name="adj" fmla="val 16000"/>
            </a:avLst>
          </a:prstGeom>
          <a:solidFill>
            <a:srgbClr val="E8F0E8"/>
          </a:solidFill>
          <a:ln w="6350">
            <a:solidFill>
              <a:srgbClr val="FFFFFF"/>
            </a:solidFill>
            <a:prstDash val="solid"/>
          </a:ln>
        </p:spPr>
        <p:txBody>
          <a:bodyPr/>
          <a:lstStyle/>
          <a:p>
            <a:endParaRPr lang="en-US"/>
          </a:p>
        </p:txBody>
      </p:sp>
      <p:sp>
        <p:nvSpPr>
          <p:cNvPr id="77" name="Text 75"/>
          <p:cNvSpPr/>
          <p:nvPr/>
        </p:nvSpPr>
        <p:spPr>
          <a:xfrm>
            <a:off x="6894576" y="2048256"/>
            <a:ext cx="777240" cy="228600"/>
          </a:xfrm>
          <a:prstGeom prst="rect">
            <a:avLst/>
          </a:prstGeom>
          <a:noFill/>
          <a:ln/>
        </p:spPr>
        <p:txBody>
          <a:bodyPr wrap="square" lIns="0" tIns="0" rIns="0" bIns="0" rtlCol="0" anchor="ctr"/>
          <a:lstStyle/>
          <a:p>
            <a:pPr marL="0" indent="0" algn="ctr">
              <a:buNone/>
            </a:pPr>
            <a:r>
              <a:rPr lang="en-US" sz="800" dirty="0">
                <a:solidFill>
                  <a:srgbClr val="1D9E75"/>
                </a:solidFill>
                <a:latin typeface="Arial" pitchFamily="34" charset="0"/>
                <a:ea typeface="Arial" pitchFamily="34" charset="-122"/>
                <a:cs typeface="Arial" pitchFamily="34" charset="-120"/>
              </a:rPr>
              <a:t>48</a:t>
            </a:r>
            <a:endParaRPr lang="en-US" sz="800" dirty="0"/>
          </a:p>
        </p:txBody>
      </p:sp>
      <p:sp>
        <p:nvSpPr>
          <p:cNvPr id="78" name="Shape 76"/>
          <p:cNvSpPr/>
          <p:nvPr/>
        </p:nvSpPr>
        <p:spPr>
          <a:xfrm>
            <a:off x="7699248" y="2048256"/>
            <a:ext cx="777240" cy="228600"/>
          </a:xfrm>
          <a:prstGeom prst="roundRect">
            <a:avLst>
              <a:gd name="adj" fmla="val 16000"/>
            </a:avLst>
          </a:prstGeom>
          <a:solidFill>
            <a:srgbClr val="FFF3CD"/>
          </a:solidFill>
          <a:ln w="6350">
            <a:solidFill>
              <a:srgbClr val="FFFFFF"/>
            </a:solidFill>
            <a:prstDash val="solid"/>
          </a:ln>
        </p:spPr>
        <p:txBody>
          <a:bodyPr/>
          <a:lstStyle/>
          <a:p>
            <a:endParaRPr lang="en-US"/>
          </a:p>
        </p:txBody>
      </p:sp>
      <p:sp>
        <p:nvSpPr>
          <p:cNvPr id="79" name="Text 77"/>
          <p:cNvSpPr/>
          <p:nvPr/>
        </p:nvSpPr>
        <p:spPr>
          <a:xfrm>
            <a:off x="7699248" y="2048256"/>
            <a:ext cx="777240" cy="228600"/>
          </a:xfrm>
          <a:prstGeom prst="rect">
            <a:avLst/>
          </a:prstGeom>
          <a:noFill/>
          <a:ln/>
        </p:spPr>
        <p:txBody>
          <a:bodyPr wrap="square" lIns="0" tIns="0" rIns="0" bIns="0" rtlCol="0" anchor="ctr"/>
          <a:lstStyle/>
          <a:p>
            <a:pPr marL="0" indent="0" algn="ctr">
              <a:buNone/>
            </a:pPr>
            <a:r>
              <a:rPr lang="en-US" sz="800" dirty="0">
                <a:solidFill>
                  <a:srgbClr val="D97706"/>
                </a:solidFill>
                <a:latin typeface="Arial" pitchFamily="34" charset="0"/>
                <a:ea typeface="Arial" pitchFamily="34" charset="-122"/>
                <a:cs typeface="Arial" pitchFamily="34" charset="-120"/>
              </a:rPr>
              <a:t>52</a:t>
            </a:r>
            <a:endParaRPr lang="en-US" sz="800" dirty="0"/>
          </a:p>
        </p:txBody>
      </p:sp>
      <p:sp>
        <p:nvSpPr>
          <p:cNvPr id="80" name="Text 78"/>
          <p:cNvSpPr/>
          <p:nvPr/>
        </p:nvSpPr>
        <p:spPr>
          <a:xfrm>
            <a:off x="320040" y="2295144"/>
            <a:ext cx="896112" cy="228600"/>
          </a:xfrm>
          <a:prstGeom prst="rect">
            <a:avLst/>
          </a:prstGeom>
          <a:noFill/>
          <a:ln/>
        </p:spPr>
        <p:txBody>
          <a:bodyPr wrap="square" rtlCol="0" anchor="ctr"/>
          <a:lstStyle/>
          <a:p>
            <a:pPr marL="0" indent="0">
              <a:buNone/>
            </a:pPr>
            <a:r>
              <a:rPr lang="en-US" sz="900" b="1" dirty="0">
                <a:solidFill>
                  <a:srgbClr val="64748B"/>
                </a:solidFill>
                <a:latin typeface="Arial" pitchFamily="34" charset="0"/>
                <a:ea typeface="Arial" pitchFamily="34" charset="-122"/>
                <a:cs typeface="Arial" pitchFamily="34" charset="-120"/>
              </a:rPr>
              <a:t>Week 4</a:t>
            </a:r>
            <a:endParaRPr lang="en-US" sz="900" dirty="0"/>
          </a:p>
        </p:txBody>
      </p:sp>
      <p:sp>
        <p:nvSpPr>
          <p:cNvPr id="81" name="Shape 79"/>
          <p:cNvSpPr/>
          <p:nvPr/>
        </p:nvSpPr>
        <p:spPr>
          <a:xfrm>
            <a:off x="1261872" y="2295144"/>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82" name="Text 80"/>
          <p:cNvSpPr/>
          <p:nvPr/>
        </p:nvSpPr>
        <p:spPr>
          <a:xfrm>
            <a:off x="1261872" y="2295144"/>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83" name="Shape 81"/>
          <p:cNvSpPr/>
          <p:nvPr/>
        </p:nvSpPr>
        <p:spPr>
          <a:xfrm>
            <a:off x="2066544" y="2295144"/>
            <a:ext cx="777240" cy="228600"/>
          </a:xfrm>
          <a:prstGeom prst="roundRect">
            <a:avLst>
              <a:gd name="adj" fmla="val 16000"/>
            </a:avLst>
          </a:prstGeom>
          <a:solidFill>
            <a:srgbClr val="1F4E79"/>
          </a:solidFill>
          <a:ln w="6350">
            <a:solidFill>
              <a:srgbClr val="FFFFFF"/>
            </a:solidFill>
            <a:prstDash val="solid"/>
          </a:ln>
        </p:spPr>
        <p:txBody>
          <a:bodyPr/>
          <a:lstStyle/>
          <a:p>
            <a:endParaRPr lang="en-US"/>
          </a:p>
        </p:txBody>
      </p:sp>
      <p:sp>
        <p:nvSpPr>
          <p:cNvPr id="84" name="Text 82"/>
          <p:cNvSpPr/>
          <p:nvPr/>
        </p:nvSpPr>
        <p:spPr>
          <a:xfrm>
            <a:off x="2066544" y="2295144"/>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N12</a:t>
            </a:r>
            <a:endParaRPr lang="en-US" sz="800" dirty="0"/>
          </a:p>
        </p:txBody>
      </p:sp>
      <p:sp>
        <p:nvSpPr>
          <p:cNvPr id="85" name="Shape 83"/>
          <p:cNvSpPr/>
          <p:nvPr/>
        </p:nvSpPr>
        <p:spPr>
          <a:xfrm>
            <a:off x="2871216" y="2295144"/>
            <a:ext cx="777240" cy="228600"/>
          </a:xfrm>
          <a:prstGeom prst="roundRect">
            <a:avLst>
              <a:gd name="adj" fmla="val 16000"/>
            </a:avLst>
          </a:prstGeom>
          <a:solidFill>
            <a:srgbClr val="1F4E79"/>
          </a:solidFill>
          <a:ln w="6350">
            <a:solidFill>
              <a:srgbClr val="FFFFFF"/>
            </a:solidFill>
            <a:prstDash val="solid"/>
          </a:ln>
        </p:spPr>
        <p:txBody>
          <a:bodyPr/>
          <a:lstStyle/>
          <a:p>
            <a:endParaRPr lang="en-US"/>
          </a:p>
        </p:txBody>
      </p:sp>
      <p:sp>
        <p:nvSpPr>
          <p:cNvPr id="86" name="Text 84"/>
          <p:cNvSpPr/>
          <p:nvPr/>
        </p:nvSpPr>
        <p:spPr>
          <a:xfrm>
            <a:off x="2871216" y="2295144"/>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N12</a:t>
            </a:r>
            <a:endParaRPr lang="en-US" sz="800" dirty="0"/>
          </a:p>
        </p:txBody>
      </p:sp>
      <p:sp>
        <p:nvSpPr>
          <p:cNvPr id="87" name="Shape 85"/>
          <p:cNvSpPr/>
          <p:nvPr/>
        </p:nvSpPr>
        <p:spPr>
          <a:xfrm>
            <a:off x="3675888" y="2295144"/>
            <a:ext cx="777240" cy="228600"/>
          </a:xfrm>
          <a:prstGeom prst="roundRect">
            <a:avLst>
              <a:gd name="adj" fmla="val 16000"/>
            </a:avLst>
          </a:prstGeom>
          <a:solidFill>
            <a:srgbClr val="1F4E79"/>
          </a:solidFill>
          <a:ln w="6350">
            <a:solidFill>
              <a:srgbClr val="FFFFFF"/>
            </a:solidFill>
            <a:prstDash val="solid"/>
          </a:ln>
        </p:spPr>
        <p:txBody>
          <a:bodyPr/>
          <a:lstStyle/>
          <a:p>
            <a:endParaRPr lang="en-US"/>
          </a:p>
        </p:txBody>
      </p:sp>
      <p:sp>
        <p:nvSpPr>
          <p:cNvPr id="88" name="Text 86"/>
          <p:cNvSpPr/>
          <p:nvPr/>
        </p:nvSpPr>
        <p:spPr>
          <a:xfrm>
            <a:off x="3675888" y="2295144"/>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N12</a:t>
            </a:r>
            <a:endParaRPr lang="en-US" sz="800" dirty="0"/>
          </a:p>
        </p:txBody>
      </p:sp>
      <p:sp>
        <p:nvSpPr>
          <p:cNvPr id="89" name="Shape 87"/>
          <p:cNvSpPr/>
          <p:nvPr/>
        </p:nvSpPr>
        <p:spPr>
          <a:xfrm>
            <a:off x="4480560" y="2295144"/>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90" name="Text 88"/>
          <p:cNvSpPr/>
          <p:nvPr/>
        </p:nvSpPr>
        <p:spPr>
          <a:xfrm>
            <a:off x="4480560" y="2295144"/>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91" name="Shape 89"/>
          <p:cNvSpPr/>
          <p:nvPr/>
        </p:nvSpPr>
        <p:spPr>
          <a:xfrm>
            <a:off x="5285232" y="2295144"/>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92" name="Text 90"/>
          <p:cNvSpPr/>
          <p:nvPr/>
        </p:nvSpPr>
        <p:spPr>
          <a:xfrm>
            <a:off x="5285232" y="2295144"/>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93" name="Shape 91"/>
          <p:cNvSpPr/>
          <p:nvPr/>
        </p:nvSpPr>
        <p:spPr>
          <a:xfrm>
            <a:off x="6089904" y="2295144"/>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94" name="Text 92"/>
          <p:cNvSpPr/>
          <p:nvPr/>
        </p:nvSpPr>
        <p:spPr>
          <a:xfrm>
            <a:off x="6089904" y="2295144"/>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95" name="Shape 93"/>
          <p:cNvSpPr/>
          <p:nvPr/>
        </p:nvSpPr>
        <p:spPr>
          <a:xfrm>
            <a:off x="6894576" y="2295144"/>
            <a:ext cx="777240" cy="228600"/>
          </a:xfrm>
          <a:prstGeom prst="roundRect">
            <a:avLst>
              <a:gd name="adj" fmla="val 16000"/>
            </a:avLst>
          </a:prstGeom>
          <a:solidFill>
            <a:srgbClr val="E8F0E8"/>
          </a:solidFill>
          <a:ln w="6350">
            <a:solidFill>
              <a:srgbClr val="FFFFFF"/>
            </a:solidFill>
            <a:prstDash val="solid"/>
          </a:ln>
        </p:spPr>
        <p:txBody>
          <a:bodyPr/>
          <a:lstStyle/>
          <a:p>
            <a:endParaRPr lang="en-US"/>
          </a:p>
        </p:txBody>
      </p:sp>
      <p:sp>
        <p:nvSpPr>
          <p:cNvPr id="96" name="Text 94"/>
          <p:cNvSpPr/>
          <p:nvPr/>
        </p:nvSpPr>
        <p:spPr>
          <a:xfrm>
            <a:off x="6894576" y="2295144"/>
            <a:ext cx="777240" cy="228600"/>
          </a:xfrm>
          <a:prstGeom prst="rect">
            <a:avLst/>
          </a:prstGeom>
          <a:noFill/>
          <a:ln/>
        </p:spPr>
        <p:txBody>
          <a:bodyPr wrap="square" lIns="0" tIns="0" rIns="0" bIns="0" rtlCol="0" anchor="ctr"/>
          <a:lstStyle/>
          <a:p>
            <a:pPr marL="0" indent="0" algn="ctr">
              <a:buNone/>
            </a:pPr>
            <a:r>
              <a:rPr lang="en-US" sz="800" dirty="0">
                <a:solidFill>
                  <a:srgbClr val="1D9E75"/>
                </a:solidFill>
                <a:latin typeface="Arial" pitchFamily="34" charset="0"/>
                <a:ea typeface="Arial" pitchFamily="34" charset="-122"/>
                <a:cs typeface="Arial" pitchFamily="34" charset="-120"/>
              </a:rPr>
              <a:t>36</a:t>
            </a:r>
            <a:endParaRPr lang="en-US" sz="800" dirty="0"/>
          </a:p>
        </p:txBody>
      </p:sp>
      <p:sp>
        <p:nvSpPr>
          <p:cNvPr id="97" name="Shape 95"/>
          <p:cNvSpPr/>
          <p:nvPr/>
        </p:nvSpPr>
        <p:spPr>
          <a:xfrm>
            <a:off x="7699248" y="2295144"/>
            <a:ext cx="777240" cy="228600"/>
          </a:xfrm>
          <a:prstGeom prst="roundRect">
            <a:avLst>
              <a:gd name="adj" fmla="val 16000"/>
            </a:avLst>
          </a:prstGeom>
          <a:solidFill>
            <a:srgbClr val="FFF3CD"/>
          </a:solidFill>
          <a:ln w="6350">
            <a:solidFill>
              <a:srgbClr val="FFFFFF"/>
            </a:solidFill>
            <a:prstDash val="solid"/>
          </a:ln>
        </p:spPr>
        <p:txBody>
          <a:bodyPr/>
          <a:lstStyle/>
          <a:p>
            <a:endParaRPr lang="en-US"/>
          </a:p>
        </p:txBody>
      </p:sp>
      <p:sp>
        <p:nvSpPr>
          <p:cNvPr id="98" name="Text 96"/>
          <p:cNvSpPr/>
          <p:nvPr/>
        </p:nvSpPr>
        <p:spPr>
          <a:xfrm>
            <a:off x="7699248" y="2295144"/>
            <a:ext cx="777240" cy="228600"/>
          </a:xfrm>
          <a:prstGeom prst="rect">
            <a:avLst/>
          </a:prstGeom>
          <a:noFill/>
          <a:ln/>
        </p:spPr>
        <p:txBody>
          <a:bodyPr wrap="square" lIns="0" tIns="0" rIns="0" bIns="0" rtlCol="0" anchor="ctr"/>
          <a:lstStyle/>
          <a:p>
            <a:pPr marL="0" indent="0" algn="ctr">
              <a:buNone/>
            </a:pPr>
            <a:r>
              <a:rPr lang="en-US" sz="800" dirty="0">
                <a:solidFill>
                  <a:srgbClr val="D97706"/>
                </a:solidFill>
                <a:latin typeface="Arial" pitchFamily="34" charset="0"/>
                <a:ea typeface="Arial" pitchFamily="34" charset="-122"/>
                <a:cs typeface="Arial" pitchFamily="34" charset="-120"/>
              </a:rPr>
              <a:t>36</a:t>
            </a:r>
            <a:endParaRPr lang="en-US" sz="800" dirty="0"/>
          </a:p>
        </p:txBody>
      </p:sp>
      <p:sp>
        <p:nvSpPr>
          <p:cNvPr id="99" name="Text 97"/>
          <p:cNvSpPr/>
          <p:nvPr/>
        </p:nvSpPr>
        <p:spPr>
          <a:xfrm>
            <a:off x="1261872" y="2569464"/>
            <a:ext cx="7315200" cy="182880"/>
          </a:xfrm>
          <a:prstGeom prst="rect">
            <a:avLst/>
          </a:prstGeom>
          <a:noFill/>
          <a:ln/>
        </p:spPr>
        <p:txBody>
          <a:bodyPr wrap="square" rtlCol="0" anchor="ctr"/>
          <a:lstStyle/>
          <a:p>
            <a:pPr marL="0" indent="0">
              <a:buNone/>
            </a:pPr>
            <a:r>
              <a:rPr lang="en-US" sz="900" i="1" dirty="0">
                <a:solidFill>
                  <a:srgbClr val="64748B"/>
                </a:solidFill>
                <a:latin typeface="Arial" pitchFamily="34" charset="0"/>
                <a:ea typeface="Arial" pitchFamily="34" charset="-122"/>
                <a:cs typeface="Arial" pitchFamily="34" charset="-120"/>
              </a:rPr>
              <a:t>4 crews × 44 pay-hrs = 176 pay-hours/week</a:t>
            </a:r>
            <a:endParaRPr lang="en-US" sz="900" dirty="0"/>
          </a:p>
        </p:txBody>
      </p:sp>
      <p:sp>
        <p:nvSpPr>
          <p:cNvPr id="100" name="Text 98"/>
          <p:cNvSpPr/>
          <p:nvPr/>
        </p:nvSpPr>
        <p:spPr>
          <a:xfrm>
            <a:off x="365760" y="2798064"/>
            <a:ext cx="8229600" cy="237744"/>
          </a:xfrm>
          <a:prstGeom prst="rect">
            <a:avLst/>
          </a:prstGeom>
          <a:noFill/>
          <a:ln/>
        </p:spPr>
        <p:txBody>
          <a:bodyPr wrap="square" rtlCol="0" anchor="ctr"/>
          <a:lstStyle/>
          <a:p>
            <a:pPr marL="0" indent="0">
              <a:buNone/>
            </a:pPr>
            <a:r>
              <a:rPr lang="en-US" sz="1100" b="1" dirty="0">
                <a:solidFill>
                  <a:srgbClr val="1F4E79"/>
                </a:solidFill>
                <a:latin typeface="Arial" pitchFamily="34" charset="0"/>
                <a:ea typeface="Arial" pitchFamily="34" charset="-122"/>
                <a:cs typeface="Arial" pitchFamily="34" charset="-120"/>
              </a:rPr>
              <a:t>Future: 5-Crew Model — 12-hour shifts, OT after 32 hrs</a:t>
            </a:r>
            <a:endParaRPr lang="en-US" sz="1100" dirty="0"/>
          </a:p>
        </p:txBody>
      </p:sp>
      <p:sp>
        <p:nvSpPr>
          <p:cNvPr id="101" name="Shape 99"/>
          <p:cNvSpPr/>
          <p:nvPr/>
        </p:nvSpPr>
        <p:spPr>
          <a:xfrm>
            <a:off x="1261872" y="3072384"/>
            <a:ext cx="777240" cy="201168"/>
          </a:xfrm>
          <a:prstGeom prst="roundRect">
            <a:avLst>
              <a:gd name="adj" fmla="val 13636"/>
            </a:avLst>
          </a:prstGeom>
          <a:solidFill>
            <a:srgbClr val="1F4E79"/>
          </a:solidFill>
          <a:ln w="6350">
            <a:solidFill>
              <a:srgbClr val="FFFFFF"/>
            </a:solidFill>
            <a:prstDash val="solid"/>
          </a:ln>
        </p:spPr>
        <p:txBody>
          <a:bodyPr/>
          <a:lstStyle/>
          <a:p>
            <a:endParaRPr lang="en-US"/>
          </a:p>
        </p:txBody>
      </p:sp>
      <p:sp>
        <p:nvSpPr>
          <p:cNvPr id="102" name="Text 100"/>
          <p:cNvSpPr/>
          <p:nvPr/>
        </p:nvSpPr>
        <p:spPr>
          <a:xfrm>
            <a:off x="1261872" y="3072384"/>
            <a:ext cx="7772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Mon</a:t>
            </a:r>
            <a:endParaRPr lang="en-US" sz="800" dirty="0"/>
          </a:p>
        </p:txBody>
      </p:sp>
      <p:sp>
        <p:nvSpPr>
          <p:cNvPr id="103" name="Shape 101"/>
          <p:cNvSpPr/>
          <p:nvPr/>
        </p:nvSpPr>
        <p:spPr>
          <a:xfrm>
            <a:off x="2066544" y="3072384"/>
            <a:ext cx="777240" cy="201168"/>
          </a:xfrm>
          <a:prstGeom prst="roundRect">
            <a:avLst>
              <a:gd name="adj" fmla="val 13636"/>
            </a:avLst>
          </a:prstGeom>
          <a:solidFill>
            <a:srgbClr val="1F4E79"/>
          </a:solidFill>
          <a:ln w="6350">
            <a:solidFill>
              <a:srgbClr val="FFFFFF"/>
            </a:solidFill>
            <a:prstDash val="solid"/>
          </a:ln>
        </p:spPr>
        <p:txBody>
          <a:bodyPr/>
          <a:lstStyle/>
          <a:p>
            <a:endParaRPr lang="en-US"/>
          </a:p>
        </p:txBody>
      </p:sp>
      <p:sp>
        <p:nvSpPr>
          <p:cNvPr id="104" name="Text 102"/>
          <p:cNvSpPr/>
          <p:nvPr/>
        </p:nvSpPr>
        <p:spPr>
          <a:xfrm>
            <a:off x="2066544" y="3072384"/>
            <a:ext cx="7772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Tue</a:t>
            </a:r>
            <a:endParaRPr lang="en-US" sz="800" dirty="0"/>
          </a:p>
        </p:txBody>
      </p:sp>
      <p:sp>
        <p:nvSpPr>
          <p:cNvPr id="105" name="Shape 103"/>
          <p:cNvSpPr/>
          <p:nvPr/>
        </p:nvSpPr>
        <p:spPr>
          <a:xfrm>
            <a:off x="2871216" y="3072384"/>
            <a:ext cx="777240" cy="201168"/>
          </a:xfrm>
          <a:prstGeom prst="roundRect">
            <a:avLst>
              <a:gd name="adj" fmla="val 13636"/>
            </a:avLst>
          </a:prstGeom>
          <a:solidFill>
            <a:srgbClr val="1F4E79"/>
          </a:solidFill>
          <a:ln w="6350">
            <a:solidFill>
              <a:srgbClr val="FFFFFF"/>
            </a:solidFill>
            <a:prstDash val="solid"/>
          </a:ln>
        </p:spPr>
        <p:txBody>
          <a:bodyPr/>
          <a:lstStyle/>
          <a:p>
            <a:endParaRPr lang="en-US"/>
          </a:p>
        </p:txBody>
      </p:sp>
      <p:sp>
        <p:nvSpPr>
          <p:cNvPr id="106" name="Text 104"/>
          <p:cNvSpPr/>
          <p:nvPr/>
        </p:nvSpPr>
        <p:spPr>
          <a:xfrm>
            <a:off x="2871216" y="3072384"/>
            <a:ext cx="7772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Wed</a:t>
            </a:r>
            <a:endParaRPr lang="en-US" sz="800" dirty="0"/>
          </a:p>
        </p:txBody>
      </p:sp>
      <p:sp>
        <p:nvSpPr>
          <p:cNvPr id="107" name="Shape 105"/>
          <p:cNvSpPr/>
          <p:nvPr/>
        </p:nvSpPr>
        <p:spPr>
          <a:xfrm>
            <a:off x="3675888" y="3072384"/>
            <a:ext cx="777240" cy="201168"/>
          </a:xfrm>
          <a:prstGeom prst="roundRect">
            <a:avLst>
              <a:gd name="adj" fmla="val 13636"/>
            </a:avLst>
          </a:prstGeom>
          <a:solidFill>
            <a:srgbClr val="1F4E79"/>
          </a:solidFill>
          <a:ln w="6350">
            <a:solidFill>
              <a:srgbClr val="FFFFFF"/>
            </a:solidFill>
            <a:prstDash val="solid"/>
          </a:ln>
        </p:spPr>
        <p:txBody>
          <a:bodyPr/>
          <a:lstStyle/>
          <a:p>
            <a:endParaRPr lang="en-US"/>
          </a:p>
        </p:txBody>
      </p:sp>
      <p:sp>
        <p:nvSpPr>
          <p:cNvPr id="108" name="Text 106"/>
          <p:cNvSpPr/>
          <p:nvPr/>
        </p:nvSpPr>
        <p:spPr>
          <a:xfrm>
            <a:off x="3675888" y="3072384"/>
            <a:ext cx="7772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Thu</a:t>
            </a:r>
            <a:endParaRPr lang="en-US" sz="800" dirty="0"/>
          </a:p>
        </p:txBody>
      </p:sp>
      <p:sp>
        <p:nvSpPr>
          <p:cNvPr id="109" name="Shape 107"/>
          <p:cNvSpPr/>
          <p:nvPr/>
        </p:nvSpPr>
        <p:spPr>
          <a:xfrm>
            <a:off x="4480560" y="3072384"/>
            <a:ext cx="777240" cy="201168"/>
          </a:xfrm>
          <a:prstGeom prst="roundRect">
            <a:avLst>
              <a:gd name="adj" fmla="val 13636"/>
            </a:avLst>
          </a:prstGeom>
          <a:solidFill>
            <a:srgbClr val="1F4E79"/>
          </a:solidFill>
          <a:ln w="6350">
            <a:solidFill>
              <a:srgbClr val="FFFFFF"/>
            </a:solidFill>
            <a:prstDash val="solid"/>
          </a:ln>
        </p:spPr>
        <p:txBody>
          <a:bodyPr/>
          <a:lstStyle/>
          <a:p>
            <a:endParaRPr lang="en-US"/>
          </a:p>
        </p:txBody>
      </p:sp>
      <p:sp>
        <p:nvSpPr>
          <p:cNvPr id="110" name="Text 108"/>
          <p:cNvSpPr/>
          <p:nvPr/>
        </p:nvSpPr>
        <p:spPr>
          <a:xfrm>
            <a:off x="4480560" y="3072384"/>
            <a:ext cx="7772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Fri</a:t>
            </a:r>
            <a:endParaRPr lang="en-US" sz="800" dirty="0"/>
          </a:p>
        </p:txBody>
      </p:sp>
      <p:sp>
        <p:nvSpPr>
          <p:cNvPr id="111" name="Shape 109"/>
          <p:cNvSpPr/>
          <p:nvPr/>
        </p:nvSpPr>
        <p:spPr>
          <a:xfrm>
            <a:off x="5285232" y="3072384"/>
            <a:ext cx="777240" cy="201168"/>
          </a:xfrm>
          <a:prstGeom prst="roundRect">
            <a:avLst>
              <a:gd name="adj" fmla="val 13636"/>
            </a:avLst>
          </a:prstGeom>
          <a:solidFill>
            <a:srgbClr val="1F4E79"/>
          </a:solidFill>
          <a:ln w="6350">
            <a:solidFill>
              <a:srgbClr val="FFFFFF"/>
            </a:solidFill>
            <a:prstDash val="solid"/>
          </a:ln>
        </p:spPr>
        <p:txBody>
          <a:bodyPr/>
          <a:lstStyle/>
          <a:p>
            <a:endParaRPr lang="en-US"/>
          </a:p>
        </p:txBody>
      </p:sp>
      <p:sp>
        <p:nvSpPr>
          <p:cNvPr id="112" name="Text 110"/>
          <p:cNvSpPr/>
          <p:nvPr/>
        </p:nvSpPr>
        <p:spPr>
          <a:xfrm>
            <a:off x="5285232" y="3072384"/>
            <a:ext cx="7772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Sat</a:t>
            </a:r>
            <a:endParaRPr lang="en-US" sz="800" dirty="0"/>
          </a:p>
        </p:txBody>
      </p:sp>
      <p:sp>
        <p:nvSpPr>
          <p:cNvPr id="113" name="Shape 111"/>
          <p:cNvSpPr/>
          <p:nvPr/>
        </p:nvSpPr>
        <p:spPr>
          <a:xfrm>
            <a:off x="6089904" y="3072384"/>
            <a:ext cx="777240" cy="201168"/>
          </a:xfrm>
          <a:prstGeom prst="roundRect">
            <a:avLst>
              <a:gd name="adj" fmla="val 13636"/>
            </a:avLst>
          </a:prstGeom>
          <a:solidFill>
            <a:srgbClr val="1F4E79"/>
          </a:solidFill>
          <a:ln w="6350">
            <a:solidFill>
              <a:srgbClr val="FFFFFF"/>
            </a:solidFill>
            <a:prstDash val="solid"/>
          </a:ln>
        </p:spPr>
        <p:txBody>
          <a:bodyPr/>
          <a:lstStyle/>
          <a:p>
            <a:endParaRPr lang="en-US"/>
          </a:p>
        </p:txBody>
      </p:sp>
      <p:sp>
        <p:nvSpPr>
          <p:cNvPr id="114" name="Text 112"/>
          <p:cNvSpPr/>
          <p:nvPr/>
        </p:nvSpPr>
        <p:spPr>
          <a:xfrm>
            <a:off x="6089904" y="3072384"/>
            <a:ext cx="7772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Sun</a:t>
            </a:r>
            <a:endParaRPr lang="en-US" sz="800" dirty="0"/>
          </a:p>
        </p:txBody>
      </p:sp>
      <p:sp>
        <p:nvSpPr>
          <p:cNvPr id="115" name="Shape 113"/>
          <p:cNvSpPr/>
          <p:nvPr/>
        </p:nvSpPr>
        <p:spPr>
          <a:xfrm>
            <a:off x="6894576" y="3072384"/>
            <a:ext cx="777240" cy="201168"/>
          </a:xfrm>
          <a:prstGeom prst="roundRect">
            <a:avLst>
              <a:gd name="adj" fmla="val 13636"/>
            </a:avLst>
          </a:prstGeom>
          <a:solidFill>
            <a:srgbClr val="1D6A72"/>
          </a:solidFill>
          <a:ln w="6350">
            <a:solidFill>
              <a:srgbClr val="FFFFFF"/>
            </a:solidFill>
            <a:prstDash val="solid"/>
          </a:ln>
        </p:spPr>
        <p:txBody>
          <a:bodyPr/>
          <a:lstStyle/>
          <a:p>
            <a:endParaRPr lang="en-US"/>
          </a:p>
        </p:txBody>
      </p:sp>
      <p:sp>
        <p:nvSpPr>
          <p:cNvPr id="116" name="Text 114"/>
          <p:cNvSpPr/>
          <p:nvPr/>
        </p:nvSpPr>
        <p:spPr>
          <a:xfrm>
            <a:off x="6894576" y="3072384"/>
            <a:ext cx="7772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Hrs</a:t>
            </a:r>
            <a:endParaRPr lang="en-US" sz="800" dirty="0"/>
          </a:p>
        </p:txBody>
      </p:sp>
      <p:sp>
        <p:nvSpPr>
          <p:cNvPr id="117" name="Shape 115"/>
          <p:cNvSpPr/>
          <p:nvPr/>
        </p:nvSpPr>
        <p:spPr>
          <a:xfrm>
            <a:off x="7699248" y="3072384"/>
            <a:ext cx="777240" cy="201168"/>
          </a:xfrm>
          <a:prstGeom prst="roundRect">
            <a:avLst>
              <a:gd name="adj" fmla="val 13636"/>
            </a:avLst>
          </a:prstGeom>
          <a:solidFill>
            <a:srgbClr val="1D6A72"/>
          </a:solidFill>
          <a:ln w="6350">
            <a:solidFill>
              <a:srgbClr val="FFFFFF"/>
            </a:solidFill>
            <a:prstDash val="solid"/>
          </a:ln>
        </p:spPr>
        <p:txBody>
          <a:bodyPr/>
          <a:lstStyle/>
          <a:p>
            <a:endParaRPr lang="en-US"/>
          </a:p>
        </p:txBody>
      </p:sp>
      <p:sp>
        <p:nvSpPr>
          <p:cNvPr id="118" name="Text 116"/>
          <p:cNvSpPr/>
          <p:nvPr/>
        </p:nvSpPr>
        <p:spPr>
          <a:xfrm>
            <a:off x="7699248" y="3072384"/>
            <a:ext cx="7772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Pay Hrs</a:t>
            </a:r>
            <a:endParaRPr lang="en-US" sz="800" dirty="0"/>
          </a:p>
        </p:txBody>
      </p:sp>
      <p:sp>
        <p:nvSpPr>
          <p:cNvPr id="119" name="Text 117"/>
          <p:cNvSpPr/>
          <p:nvPr/>
        </p:nvSpPr>
        <p:spPr>
          <a:xfrm>
            <a:off x="320040" y="3291840"/>
            <a:ext cx="896112" cy="228600"/>
          </a:xfrm>
          <a:prstGeom prst="rect">
            <a:avLst/>
          </a:prstGeom>
          <a:noFill/>
          <a:ln/>
        </p:spPr>
        <p:txBody>
          <a:bodyPr wrap="square" rtlCol="0" anchor="ctr"/>
          <a:lstStyle/>
          <a:p>
            <a:pPr marL="0" indent="0">
              <a:buNone/>
            </a:pPr>
            <a:r>
              <a:rPr lang="en-US" sz="800" b="1" dirty="0">
                <a:solidFill>
                  <a:srgbClr val="1F4E79"/>
                </a:solidFill>
                <a:latin typeface="Arial" pitchFamily="34" charset="0"/>
                <a:ea typeface="Arial" pitchFamily="34" charset="-122"/>
                <a:cs typeface="Arial" pitchFamily="34" charset="-120"/>
              </a:rPr>
              <a:t>Week 1</a:t>
            </a:r>
            <a:endParaRPr lang="en-US" sz="800" dirty="0"/>
          </a:p>
        </p:txBody>
      </p:sp>
      <p:sp>
        <p:nvSpPr>
          <p:cNvPr id="120" name="Shape 118"/>
          <p:cNvSpPr/>
          <p:nvPr/>
        </p:nvSpPr>
        <p:spPr>
          <a:xfrm>
            <a:off x="1261872" y="3291840"/>
            <a:ext cx="777240" cy="228600"/>
          </a:xfrm>
          <a:prstGeom prst="roundRect">
            <a:avLst>
              <a:gd name="adj" fmla="val 16000"/>
            </a:avLst>
          </a:prstGeom>
          <a:solidFill>
            <a:srgbClr val="1D6A72"/>
          </a:solidFill>
          <a:ln w="6350">
            <a:solidFill>
              <a:srgbClr val="FFFFFF"/>
            </a:solidFill>
            <a:prstDash val="solid"/>
          </a:ln>
        </p:spPr>
        <p:txBody>
          <a:bodyPr/>
          <a:lstStyle/>
          <a:p>
            <a:endParaRPr lang="en-US"/>
          </a:p>
        </p:txBody>
      </p:sp>
      <p:sp>
        <p:nvSpPr>
          <p:cNvPr id="121" name="Text 119"/>
          <p:cNvSpPr/>
          <p:nvPr/>
        </p:nvSpPr>
        <p:spPr>
          <a:xfrm>
            <a:off x="1261872" y="3291840"/>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D12</a:t>
            </a:r>
            <a:endParaRPr lang="en-US" sz="800" dirty="0"/>
          </a:p>
        </p:txBody>
      </p:sp>
      <p:sp>
        <p:nvSpPr>
          <p:cNvPr id="122" name="Shape 120"/>
          <p:cNvSpPr/>
          <p:nvPr/>
        </p:nvSpPr>
        <p:spPr>
          <a:xfrm>
            <a:off x="2066544" y="3291840"/>
            <a:ext cx="777240" cy="228600"/>
          </a:xfrm>
          <a:prstGeom prst="roundRect">
            <a:avLst>
              <a:gd name="adj" fmla="val 16000"/>
            </a:avLst>
          </a:prstGeom>
          <a:solidFill>
            <a:srgbClr val="1D6A72"/>
          </a:solidFill>
          <a:ln w="6350">
            <a:solidFill>
              <a:srgbClr val="FFFFFF"/>
            </a:solidFill>
            <a:prstDash val="solid"/>
          </a:ln>
        </p:spPr>
        <p:txBody>
          <a:bodyPr/>
          <a:lstStyle/>
          <a:p>
            <a:endParaRPr lang="en-US"/>
          </a:p>
        </p:txBody>
      </p:sp>
      <p:sp>
        <p:nvSpPr>
          <p:cNvPr id="123" name="Text 121"/>
          <p:cNvSpPr/>
          <p:nvPr/>
        </p:nvSpPr>
        <p:spPr>
          <a:xfrm>
            <a:off x="2066544" y="3291840"/>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D12</a:t>
            </a:r>
            <a:endParaRPr lang="en-US" sz="800" dirty="0"/>
          </a:p>
        </p:txBody>
      </p:sp>
      <p:sp>
        <p:nvSpPr>
          <p:cNvPr id="124" name="Shape 122"/>
          <p:cNvSpPr/>
          <p:nvPr/>
        </p:nvSpPr>
        <p:spPr>
          <a:xfrm>
            <a:off x="2871216" y="3291840"/>
            <a:ext cx="777240" cy="228600"/>
          </a:xfrm>
          <a:prstGeom prst="roundRect">
            <a:avLst>
              <a:gd name="adj" fmla="val 16000"/>
            </a:avLst>
          </a:prstGeom>
          <a:solidFill>
            <a:srgbClr val="1D6A72"/>
          </a:solidFill>
          <a:ln w="6350">
            <a:solidFill>
              <a:srgbClr val="FFFFFF"/>
            </a:solidFill>
            <a:prstDash val="solid"/>
          </a:ln>
        </p:spPr>
        <p:txBody>
          <a:bodyPr/>
          <a:lstStyle/>
          <a:p>
            <a:endParaRPr lang="en-US"/>
          </a:p>
        </p:txBody>
      </p:sp>
      <p:sp>
        <p:nvSpPr>
          <p:cNvPr id="125" name="Text 123"/>
          <p:cNvSpPr/>
          <p:nvPr/>
        </p:nvSpPr>
        <p:spPr>
          <a:xfrm>
            <a:off x="2871216" y="3291840"/>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D12</a:t>
            </a:r>
            <a:endParaRPr lang="en-US" sz="800" dirty="0"/>
          </a:p>
        </p:txBody>
      </p:sp>
      <p:sp>
        <p:nvSpPr>
          <p:cNvPr id="126" name="Shape 124"/>
          <p:cNvSpPr/>
          <p:nvPr/>
        </p:nvSpPr>
        <p:spPr>
          <a:xfrm>
            <a:off x="3675888" y="3291840"/>
            <a:ext cx="777240" cy="228600"/>
          </a:xfrm>
          <a:prstGeom prst="roundRect">
            <a:avLst>
              <a:gd name="adj" fmla="val 16000"/>
            </a:avLst>
          </a:prstGeom>
          <a:solidFill>
            <a:srgbClr val="1D6A72"/>
          </a:solidFill>
          <a:ln w="6350">
            <a:solidFill>
              <a:srgbClr val="FFFFFF"/>
            </a:solidFill>
            <a:prstDash val="solid"/>
          </a:ln>
        </p:spPr>
        <p:txBody>
          <a:bodyPr/>
          <a:lstStyle/>
          <a:p>
            <a:endParaRPr lang="en-US"/>
          </a:p>
        </p:txBody>
      </p:sp>
      <p:sp>
        <p:nvSpPr>
          <p:cNvPr id="127" name="Text 125"/>
          <p:cNvSpPr/>
          <p:nvPr/>
        </p:nvSpPr>
        <p:spPr>
          <a:xfrm>
            <a:off x="3675888" y="3291840"/>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D12</a:t>
            </a:r>
            <a:endParaRPr lang="en-US" sz="800" dirty="0"/>
          </a:p>
        </p:txBody>
      </p:sp>
      <p:sp>
        <p:nvSpPr>
          <p:cNvPr id="128" name="Shape 126"/>
          <p:cNvSpPr/>
          <p:nvPr/>
        </p:nvSpPr>
        <p:spPr>
          <a:xfrm>
            <a:off x="4480560" y="3291840"/>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129" name="Text 127"/>
          <p:cNvSpPr/>
          <p:nvPr/>
        </p:nvSpPr>
        <p:spPr>
          <a:xfrm>
            <a:off x="4480560" y="3291840"/>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130" name="Shape 128"/>
          <p:cNvSpPr/>
          <p:nvPr/>
        </p:nvSpPr>
        <p:spPr>
          <a:xfrm>
            <a:off x="5285232" y="3291840"/>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131" name="Text 129"/>
          <p:cNvSpPr/>
          <p:nvPr/>
        </p:nvSpPr>
        <p:spPr>
          <a:xfrm>
            <a:off x="5285232" y="3291840"/>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132" name="Shape 130"/>
          <p:cNvSpPr/>
          <p:nvPr/>
        </p:nvSpPr>
        <p:spPr>
          <a:xfrm>
            <a:off x="6089904" y="3291840"/>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133" name="Text 131"/>
          <p:cNvSpPr/>
          <p:nvPr/>
        </p:nvSpPr>
        <p:spPr>
          <a:xfrm>
            <a:off x="6089904" y="3291840"/>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134" name="Shape 132"/>
          <p:cNvSpPr/>
          <p:nvPr/>
        </p:nvSpPr>
        <p:spPr>
          <a:xfrm>
            <a:off x="6894576" y="3291840"/>
            <a:ext cx="777240" cy="228600"/>
          </a:xfrm>
          <a:prstGeom prst="roundRect">
            <a:avLst>
              <a:gd name="adj" fmla="val 16000"/>
            </a:avLst>
          </a:prstGeom>
          <a:solidFill>
            <a:srgbClr val="E8F0E8"/>
          </a:solidFill>
          <a:ln w="6350">
            <a:solidFill>
              <a:srgbClr val="FFFFFF"/>
            </a:solidFill>
            <a:prstDash val="solid"/>
          </a:ln>
        </p:spPr>
        <p:txBody>
          <a:bodyPr/>
          <a:lstStyle/>
          <a:p>
            <a:endParaRPr lang="en-US"/>
          </a:p>
        </p:txBody>
      </p:sp>
      <p:sp>
        <p:nvSpPr>
          <p:cNvPr id="135" name="Text 133"/>
          <p:cNvSpPr/>
          <p:nvPr/>
        </p:nvSpPr>
        <p:spPr>
          <a:xfrm>
            <a:off x="6894576" y="3291840"/>
            <a:ext cx="777240" cy="228600"/>
          </a:xfrm>
          <a:prstGeom prst="rect">
            <a:avLst/>
          </a:prstGeom>
          <a:noFill/>
          <a:ln/>
        </p:spPr>
        <p:txBody>
          <a:bodyPr wrap="square" lIns="0" tIns="0" rIns="0" bIns="0" rtlCol="0" anchor="ctr"/>
          <a:lstStyle/>
          <a:p>
            <a:pPr marL="0" indent="0" algn="ctr">
              <a:buNone/>
            </a:pPr>
            <a:r>
              <a:rPr lang="en-US" sz="800" dirty="0">
                <a:solidFill>
                  <a:srgbClr val="1D6A72"/>
                </a:solidFill>
                <a:latin typeface="Arial" pitchFamily="34" charset="0"/>
                <a:ea typeface="Arial" pitchFamily="34" charset="-122"/>
                <a:cs typeface="Arial" pitchFamily="34" charset="-120"/>
              </a:rPr>
              <a:t>48</a:t>
            </a:r>
            <a:endParaRPr lang="en-US" sz="800" dirty="0"/>
          </a:p>
        </p:txBody>
      </p:sp>
      <p:sp>
        <p:nvSpPr>
          <p:cNvPr id="136" name="Shape 134"/>
          <p:cNvSpPr/>
          <p:nvPr/>
        </p:nvSpPr>
        <p:spPr>
          <a:xfrm>
            <a:off x="7699248" y="3291840"/>
            <a:ext cx="777240" cy="228600"/>
          </a:xfrm>
          <a:prstGeom prst="roundRect">
            <a:avLst>
              <a:gd name="adj" fmla="val 16000"/>
            </a:avLst>
          </a:prstGeom>
          <a:solidFill>
            <a:srgbClr val="E8F5E8"/>
          </a:solidFill>
          <a:ln w="6350">
            <a:solidFill>
              <a:srgbClr val="FFFFFF"/>
            </a:solidFill>
            <a:prstDash val="solid"/>
          </a:ln>
        </p:spPr>
        <p:txBody>
          <a:bodyPr/>
          <a:lstStyle/>
          <a:p>
            <a:endParaRPr lang="en-US"/>
          </a:p>
        </p:txBody>
      </p:sp>
      <p:sp>
        <p:nvSpPr>
          <p:cNvPr id="137" name="Text 135"/>
          <p:cNvSpPr/>
          <p:nvPr/>
        </p:nvSpPr>
        <p:spPr>
          <a:xfrm>
            <a:off x="7699248" y="3291840"/>
            <a:ext cx="777240" cy="228600"/>
          </a:xfrm>
          <a:prstGeom prst="rect">
            <a:avLst/>
          </a:prstGeom>
          <a:noFill/>
          <a:ln/>
        </p:spPr>
        <p:txBody>
          <a:bodyPr wrap="square" lIns="0" tIns="0" rIns="0" bIns="0" rtlCol="0" anchor="ctr"/>
          <a:lstStyle/>
          <a:p>
            <a:pPr marL="0" indent="0" algn="ctr">
              <a:buNone/>
            </a:pPr>
            <a:r>
              <a:rPr lang="en-US" sz="800" dirty="0">
                <a:solidFill>
                  <a:srgbClr val="1D6A72"/>
                </a:solidFill>
                <a:latin typeface="Arial" pitchFamily="34" charset="0"/>
                <a:ea typeface="Arial" pitchFamily="34" charset="-122"/>
                <a:cs typeface="Arial" pitchFamily="34" charset="-120"/>
              </a:rPr>
              <a:t>56</a:t>
            </a:r>
            <a:endParaRPr lang="en-US" sz="800" dirty="0"/>
          </a:p>
        </p:txBody>
      </p:sp>
      <p:sp>
        <p:nvSpPr>
          <p:cNvPr id="138" name="Text 136"/>
          <p:cNvSpPr/>
          <p:nvPr/>
        </p:nvSpPr>
        <p:spPr>
          <a:xfrm>
            <a:off x="320040" y="3785616"/>
            <a:ext cx="896112" cy="228600"/>
          </a:xfrm>
          <a:prstGeom prst="rect">
            <a:avLst/>
          </a:prstGeom>
          <a:noFill/>
          <a:ln/>
        </p:spPr>
        <p:txBody>
          <a:bodyPr wrap="square" rtlCol="0" anchor="ctr"/>
          <a:lstStyle/>
          <a:p>
            <a:pPr marL="0" indent="0">
              <a:buNone/>
            </a:pPr>
            <a:r>
              <a:rPr lang="en-US" sz="800" b="1" dirty="0">
                <a:solidFill>
                  <a:srgbClr val="1F4E79"/>
                </a:solidFill>
                <a:latin typeface="Arial" pitchFamily="34" charset="0"/>
                <a:ea typeface="Arial" pitchFamily="34" charset="-122"/>
                <a:cs typeface="Arial" pitchFamily="34" charset="-120"/>
              </a:rPr>
              <a:t>Week 3</a:t>
            </a:r>
            <a:endParaRPr lang="en-US" sz="800" dirty="0"/>
          </a:p>
        </p:txBody>
      </p:sp>
      <p:sp>
        <p:nvSpPr>
          <p:cNvPr id="139" name="Shape 137"/>
          <p:cNvSpPr/>
          <p:nvPr/>
        </p:nvSpPr>
        <p:spPr>
          <a:xfrm>
            <a:off x="1261872" y="3785616"/>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140" name="Text 138"/>
          <p:cNvSpPr/>
          <p:nvPr/>
        </p:nvSpPr>
        <p:spPr>
          <a:xfrm>
            <a:off x="1261872" y="3785616"/>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141" name="Shape 139"/>
          <p:cNvSpPr/>
          <p:nvPr/>
        </p:nvSpPr>
        <p:spPr>
          <a:xfrm>
            <a:off x="2066544" y="3785616"/>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142" name="Text 140"/>
          <p:cNvSpPr/>
          <p:nvPr/>
        </p:nvSpPr>
        <p:spPr>
          <a:xfrm>
            <a:off x="2066544" y="3785616"/>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143" name="Shape 141"/>
          <p:cNvSpPr/>
          <p:nvPr/>
        </p:nvSpPr>
        <p:spPr>
          <a:xfrm>
            <a:off x="2871216" y="3785616"/>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144" name="Text 142"/>
          <p:cNvSpPr/>
          <p:nvPr/>
        </p:nvSpPr>
        <p:spPr>
          <a:xfrm>
            <a:off x="2871216" y="3785616"/>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145" name="Shape 143"/>
          <p:cNvSpPr/>
          <p:nvPr/>
        </p:nvSpPr>
        <p:spPr>
          <a:xfrm>
            <a:off x="3675888" y="3785616"/>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146" name="Text 144"/>
          <p:cNvSpPr/>
          <p:nvPr/>
        </p:nvSpPr>
        <p:spPr>
          <a:xfrm>
            <a:off x="3675888" y="3785616"/>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147" name="Shape 145"/>
          <p:cNvSpPr/>
          <p:nvPr/>
        </p:nvSpPr>
        <p:spPr>
          <a:xfrm>
            <a:off x="4480560" y="3785616"/>
            <a:ext cx="777240" cy="228600"/>
          </a:xfrm>
          <a:prstGeom prst="roundRect">
            <a:avLst>
              <a:gd name="adj" fmla="val 16000"/>
            </a:avLst>
          </a:prstGeom>
          <a:solidFill>
            <a:srgbClr val="1F4E79"/>
          </a:solidFill>
          <a:ln w="6350">
            <a:solidFill>
              <a:srgbClr val="FFFFFF"/>
            </a:solidFill>
            <a:prstDash val="solid"/>
          </a:ln>
        </p:spPr>
        <p:txBody>
          <a:bodyPr/>
          <a:lstStyle/>
          <a:p>
            <a:endParaRPr lang="en-US"/>
          </a:p>
        </p:txBody>
      </p:sp>
      <p:sp>
        <p:nvSpPr>
          <p:cNvPr id="148" name="Text 146"/>
          <p:cNvSpPr/>
          <p:nvPr/>
        </p:nvSpPr>
        <p:spPr>
          <a:xfrm>
            <a:off x="4480560" y="3785616"/>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N12</a:t>
            </a:r>
            <a:endParaRPr lang="en-US" sz="800" dirty="0"/>
          </a:p>
        </p:txBody>
      </p:sp>
      <p:sp>
        <p:nvSpPr>
          <p:cNvPr id="149" name="Shape 147"/>
          <p:cNvSpPr/>
          <p:nvPr/>
        </p:nvSpPr>
        <p:spPr>
          <a:xfrm>
            <a:off x="5285232" y="3785616"/>
            <a:ext cx="777240" cy="228600"/>
          </a:xfrm>
          <a:prstGeom prst="roundRect">
            <a:avLst>
              <a:gd name="adj" fmla="val 16000"/>
            </a:avLst>
          </a:prstGeom>
          <a:solidFill>
            <a:srgbClr val="1F4E79"/>
          </a:solidFill>
          <a:ln w="6350">
            <a:solidFill>
              <a:srgbClr val="FFFFFF"/>
            </a:solidFill>
            <a:prstDash val="solid"/>
          </a:ln>
        </p:spPr>
        <p:txBody>
          <a:bodyPr/>
          <a:lstStyle/>
          <a:p>
            <a:endParaRPr lang="en-US"/>
          </a:p>
        </p:txBody>
      </p:sp>
      <p:sp>
        <p:nvSpPr>
          <p:cNvPr id="150" name="Text 148"/>
          <p:cNvSpPr/>
          <p:nvPr/>
        </p:nvSpPr>
        <p:spPr>
          <a:xfrm>
            <a:off x="5285232" y="3785616"/>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N12</a:t>
            </a:r>
            <a:endParaRPr lang="en-US" sz="800" dirty="0"/>
          </a:p>
        </p:txBody>
      </p:sp>
      <p:sp>
        <p:nvSpPr>
          <p:cNvPr id="151" name="Shape 149"/>
          <p:cNvSpPr/>
          <p:nvPr/>
        </p:nvSpPr>
        <p:spPr>
          <a:xfrm>
            <a:off x="6089904" y="3785616"/>
            <a:ext cx="777240" cy="228600"/>
          </a:xfrm>
          <a:prstGeom prst="roundRect">
            <a:avLst>
              <a:gd name="adj" fmla="val 16000"/>
            </a:avLst>
          </a:prstGeom>
          <a:solidFill>
            <a:srgbClr val="1F4E79"/>
          </a:solidFill>
          <a:ln w="6350">
            <a:solidFill>
              <a:srgbClr val="FFFFFF"/>
            </a:solidFill>
            <a:prstDash val="solid"/>
          </a:ln>
        </p:spPr>
        <p:txBody>
          <a:bodyPr/>
          <a:lstStyle/>
          <a:p>
            <a:endParaRPr lang="en-US"/>
          </a:p>
        </p:txBody>
      </p:sp>
      <p:sp>
        <p:nvSpPr>
          <p:cNvPr id="152" name="Text 150"/>
          <p:cNvSpPr/>
          <p:nvPr/>
        </p:nvSpPr>
        <p:spPr>
          <a:xfrm>
            <a:off x="6089904" y="3785616"/>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N12</a:t>
            </a:r>
            <a:endParaRPr lang="en-US" sz="800" dirty="0"/>
          </a:p>
        </p:txBody>
      </p:sp>
      <p:sp>
        <p:nvSpPr>
          <p:cNvPr id="153" name="Shape 151"/>
          <p:cNvSpPr/>
          <p:nvPr/>
        </p:nvSpPr>
        <p:spPr>
          <a:xfrm>
            <a:off x="6894576" y="3785616"/>
            <a:ext cx="777240" cy="228600"/>
          </a:xfrm>
          <a:prstGeom prst="roundRect">
            <a:avLst>
              <a:gd name="adj" fmla="val 16000"/>
            </a:avLst>
          </a:prstGeom>
          <a:solidFill>
            <a:srgbClr val="E8F0E8"/>
          </a:solidFill>
          <a:ln w="6350">
            <a:solidFill>
              <a:srgbClr val="FFFFFF"/>
            </a:solidFill>
            <a:prstDash val="solid"/>
          </a:ln>
        </p:spPr>
        <p:txBody>
          <a:bodyPr/>
          <a:lstStyle/>
          <a:p>
            <a:endParaRPr lang="en-US"/>
          </a:p>
        </p:txBody>
      </p:sp>
      <p:sp>
        <p:nvSpPr>
          <p:cNvPr id="154" name="Text 152"/>
          <p:cNvSpPr/>
          <p:nvPr/>
        </p:nvSpPr>
        <p:spPr>
          <a:xfrm>
            <a:off x="6894576" y="3785616"/>
            <a:ext cx="777240" cy="228600"/>
          </a:xfrm>
          <a:prstGeom prst="rect">
            <a:avLst/>
          </a:prstGeom>
          <a:noFill/>
          <a:ln/>
        </p:spPr>
        <p:txBody>
          <a:bodyPr wrap="square" lIns="0" tIns="0" rIns="0" bIns="0" rtlCol="0" anchor="ctr"/>
          <a:lstStyle/>
          <a:p>
            <a:pPr marL="0" indent="0" algn="ctr">
              <a:buNone/>
            </a:pPr>
            <a:r>
              <a:rPr lang="en-US" sz="800" dirty="0">
                <a:solidFill>
                  <a:srgbClr val="1D6A72"/>
                </a:solidFill>
                <a:latin typeface="Arial" pitchFamily="34" charset="0"/>
                <a:ea typeface="Arial" pitchFamily="34" charset="-122"/>
                <a:cs typeface="Arial" pitchFamily="34" charset="-120"/>
              </a:rPr>
              <a:t>36</a:t>
            </a:r>
            <a:endParaRPr lang="en-US" sz="800" dirty="0"/>
          </a:p>
        </p:txBody>
      </p:sp>
      <p:sp>
        <p:nvSpPr>
          <p:cNvPr id="155" name="Shape 153"/>
          <p:cNvSpPr/>
          <p:nvPr/>
        </p:nvSpPr>
        <p:spPr>
          <a:xfrm>
            <a:off x="7699248" y="3785616"/>
            <a:ext cx="777240" cy="228600"/>
          </a:xfrm>
          <a:prstGeom prst="roundRect">
            <a:avLst>
              <a:gd name="adj" fmla="val 16000"/>
            </a:avLst>
          </a:prstGeom>
          <a:solidFill>
            <a:srgbClr val="E8F5E8"/>
          </a:solidFill>
          <a:ln w="6350">
            <a:solidFill>
              <a:srgbClr val="FFFFFF"/>
            </a:solidFill>
            <a:prstDash val="solid"/>
          </a:ln>
        </p:spPr>
        <p:txBody>
          <a:bodyPr/>
          <a:lstStyle/>
          <a:p>
            <a:endParaRPr lang="en-US"/>
          </a:p>
        </p:txBody>
      </p:sp>
      <p:sp>
        <p:nvSpPr>
          <p:cNvPr id="156" name="Text 154"/>
          <p:cNvSpPr/>
          <p:nvPr/>
        </p:nvSpPr>
        <p:spPr>
          <a:xfrm>
            <a:off x="7699248" y="3785616"/>
            <a:ext cx="777240" cy="228600"/>
          </a:xfrm>
          <a:prstGeom prst="rect">
            <a:avLst/>
          </a:prstGeom>
          <a:noFill/>
          <a:ln/>
        </p:spPr>
        <p:txBody>
          <a:bodyPr wrap="square" lIns="0" tIns="0" rIns="0" bIns="0" rtlCol="0" anchor="ctr"/>
          <a:lstStyle/>
          <a:p>
            <a:pPr marL="0" indent="0" algn="ctr">
              <a:buNone/>
            </a:pPr>
            <a:r>
              <a:rPr lang="en-US" sz="800" dirty="0">
                <a:solidFill>
                  <a:srgbClr val="1D6A72"/>
                </a:solidFill>
                <a:latin typeface="Arial" pitchFamily="34" charset="0"/>
                <a:ea typeface="Arial" pitchFamily="34" charset="-122"/>
                <a:cs typeface="Arial" pitchFamily="34" charset="-120"/>
              </a:rPr>
              <a:t>38</a:t>
            </a:r>
            <a:endParaRPr lang="en-US" sz="800" dirty="0"/>
          </a:p>
        </p:txBody>
      </p:sp>
      <p:sp>
        <p:nvSpPr>
          <p:cNvPr id="157" name="Text 155"/>
          <p:cNvSpPr/>
          <p:nvPr/>
        </p:nvSpPr>
        <p:spPr>
          <a:xfrm>
            <a:off x="320040" y="4032504"/>
            <a:ext cx="896112" cy="228600"/>
          </a:xfrm>
          <a:prstGeom prst="rect">
            <a:avLst/>
          </a:prstGeom>
          <a:noFill/>
          <a:ln/>
        </p:spPr>
        <p:txBody>
          <a:bodyPr wrap="square" rtlCol="0" anchor="ctr"/>
          <a:lstStyle/>
          <a:p>
            <a:pPr marL="0" indent="0">
              <a:buNone/>
            </a:pPr>
            <a:r>
              <a:rPr lang="en-US" sz="800" b="1" dirty="0">
                <a:solidFill>
                  <a:srgbClr val="1F4E79"/>
                </a:solidFill>
                <a:latin typeface="Arial" pitchFamily="34" charset="0"/>
                <a:ea typeface="Arial" pitchFamily="34" charset="-122"/>
                <a:cs typeface="Arial" pitchFamily="34" charset="-120"/>
              </a:rPr>
              <a:t>Week 4</a:t>
            </a:r>
            <a:endParaRPr lang="en-US" sz="800" dirty="0"/>
          </a:p>
        </p:txBody>
      </p:sp>
      <p:sp>
        <p:nvSpPr>
          <p:cNvPr id="158" name="Shape 156"/>
          <p:cNvSpPr/>
          <p:nvPr/>
        </p:nvSpPr>
        <p:spPr>
          <a:xfrm>
            <a:off x="1261872" y="4032504"/>
            <a:ext cx="777240" cy="228600"/>
          </a:xfrm>
          <a:prstGeom prst="roundRect">
            <a:avLst>
              <a:gd name="adj" fmla="val 16000"/>
            </a:avLst>
          </a:prstGeom>
          <a:solidFill>
            <a:srgbClr val="1F4E79"/>
          </a:solidFill>
          <a:ln w="6350">
            <a:solidFill>
              <a:srgbClr val="FFFFFF"/>
            </a:solidFill>
            <a:prstDash val="solid"/>
          </a:ln>
        </p:spPr>
        <p:txBody>
          <a:bodyPr/>
          <a:lstStyle/>
          <a:p>
            <a:endParaRPr lang="en-US"/>
          </a:p>
        </p:txBody>
      </p:sp>
      <p:sp>
        <p:nvSpPr>
          <p:cNvPr id="159" name="Text 157"/>
          <p:cNvSpPr/>
          <p:nvPr/>
        </p:nvSpPr>
        <p:spPr>
          <a:xfrm>
            <a:off x="1261872" y="4032504"/>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N12</a:t>
            </a:r>
            <a:endParaRPr lang="en-US" sz="800" dirty="0"/>
          </a:p>
        </p:txBody>
      </p:sp>
      <p:sp>
        <p:nvSpPr>
          <p:cNvPr id="160" name="Shape 158"/>
          <p:cNvSpPr/>
          <p:nvPr/>
        </p:nvSpPr>
        <p:spPr>
          <a:xfrm>
            <a:off x="2066544" y="4032504"/>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161" name="Text 159"/>
          <p:cNvSpPr/>
          <p:nvPr/>
        </p:nvSpPr>
        <p:spPr>
          <a:xfrm>
            <a:off x="2066544" y="4032504"/>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162" name="Shape 160"/>
          <p:cNvSpPr/>
          <p:nvPr/>
        </p:nvSpPr>
        <p:spPr>
          <a:xfrm>
            <a:off x="2871216" y="4032504"/>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163" name="Text 161"/>
          <p:cNvSpPr/>
          <p:nvPr/>
        </p:nvSpPr>
        <p:spPr>
          <a:xfrm>
            <a:off x="2871216" y="4032504"/>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164" name="Shape 162"/>
          <p:cNvSpPr/>
          <p:nvPr/>
        </p:nvSpPr>
        <p:spPr>
          <a:xfrm>
            <a:off x="3675888" y="4032504"/>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165" name="Text 163"/>
          <p:cNvSpPr/>
          <p:nvPr/>
        </p:nvSpPr>
        <p:spPr>
          <a:xfrm>
            <a:off x="3675888" y="4032504"/>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166" name="Shape 164"/>
          <p:cNvSpPr/>
          <p:nvPr/>
        </p:nvSpPr>
        <p:spPr>
          <a:xfrm>
            <a:off x="4480560" y="4032504"/>
            <a:ext cx="777240" cy="228600"/>
          </a:xfrm>
          <a:prstGeom prst="roundRect">
            <a:avLst>
              <a:gd name="adj" fmla="val 16000"/>
            </a:avLst>
          </a:prstGeom>
          <a:solidFill>
            <a:srgbClr val="1D6A72"/>
          </a:solidFill>
          <a:ln w="6350">
            <a:solidFill>
              <a:srgbClr val="FFFFFF"/>
            </a:solidFill>
            <a:prstDash val="solid"/>
          </a:ln>
        </p:spPr>
        <p:txBody>
          <a:bodyPr/>
          <a:lstStyle/>
          <a:p>
            <a:endParaRPr lang="en-US"/>
          </a:p>
        </p:txBody>
      </p:sp>
      <p:sp>
        <p:nvSpPr>
          <p:cNvPr id="167" name="Text 165"/>
          <p:cNvSpPr/>
          <p:nvPr/>
        </p:nvSpPr>
        <p:spPr>
          <a:xfrm>
            <a:off x="4480560" y="4032504"/>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D12</a:t>
            </a:r>
            <a:endParaRPr lang="en-US" sz="800" dirty="0"/>
          </a:p>
        </p:txBody>
      </p:sp>
      <p:sp>
        <p:nvSpPr>
          <p:cNvPr id="168" name="Shape 166"/>
          <p:cNvSpPr/>
          <p:nvPr/>
        </p:nvSpPr>
        <p:spPr>
          <a:xfrm>
            <a:off x="5285232" y="4032504"/>
            <a:ext cx="777240" cy="228600"/>
          </a:xfrm>
          <a:prstGeom prst="roundRect">
            <a:avLst>
              <a:gd name="adj" fmla="val 16000"/>
            </a:avLst>
          </a:prstGeom>
          <a:solidFill>
            <a:srgbClr val="1D6A72"/>
          </a:solidFill>
          <a:ln w="6350">
            <a:solidFill>
              <a:srgbClr val="FFFFFF"/>
            </a:solidFill>
            <a:prstDash val="solid"/>
          </a:ln>
        </p:spPr>
        <p:txBody>
          <a:bodyPr/>
          <a:lstStyle/>
          <a:p>
            <a:endParaRPr lang="en-US"/>
          </a:p>
        </p:txBody>
      </p:sp>
      <p:sp>
        <p:nvSpPr>
          <p:cNvPr id="169" name="Text 167"/>
          <p:cNvSpPr/>
          <p:nvPr/>
        </p:nvSpPr>
        <p:spPr>
          <a:xfrm>
            <a:off x="5285232" y="4032504"/>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D12</a:t>
            </a:r>
            <a:endParaRPr lang="en-US" sz="800" dirty="0"/>
          </a:p>
        </p:txBody>
      </p:sp>
      <p:sp>
        <p:nvSpPr>
          <p:cNvPr id="170" name="Shape 168"/>
          <p:cNvSpPr/>
          <p:nvPr/>
        </p:nvSpPr>
        <p:spPr>
          <a:xfrm>
            <a:off x="6089904" y="4032504"/>
            <a:ext cx="777240" cy="228600"/>
          </a:xfrm>
          <a:prstGeom prst="roundRect">
            <a:avLst>
              <a:gd name="adj" fmla="val 16000"/>
            </a:avLst>
          </a:prstGeom>
          <a:solidFill>
            <a:srgbClr val="1D6A72"/>
          </a:solidFill>
          <a:ln w="6350">
            <a:solidFill>
              <a:srgbClr val="FFFFFF"/>
            </a:solidFill>
            <a:prstDash val="solid"/>
          </a:ln>
        </p:spPr>
        <p:txBody>
          <a:bodyPr/>
          <a:lstStyle/>
          <a:p>
            <a:endParaRPr lang="en-US"/>
          </a:p>
        </p:txBody>
      </p:sp>
      <p:sp>
        <p:nvSpPr>
          <p:cNvPr id="171" name="Text 169"/>
          <p:cNvSpPr/>
          <p:nvPr/>
        </p:nvSpPr>
        <p:spPr>
          <a:xfrm>
            <a:off x="6089904" y="4032504"/>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D12</a:t>
            </a:r>
            <a:endParaRPr lang="en-US" sz="800" dirty="0"/>
          </a:p>
        </p:txBody>
      </p:sp>
      <p:sp>
        <p:nvSpPr>
          <p:cNvPr id="172" name="Shape 170"/>
          <p:cNvSpPr/>
          <p:nvPr/>
        </p:nvSpPr>
        <p:spPr>
          <a:xfrm>
            <a:off x="6894576" y="4032504"/>
            <a:ext cx="777240" cy="228600"/>
          </a:xfrm>
          <a:prstGeom prst="roundRect">
            <a:avLst>
              <a:gd name="adj" fmla="val 16000"/>
            </a:avLst>
          </a:prstGeom>
          <a:solidFill>
            <a:srgbClr val="E8F0E8"/>
          </a:solidFill>
          <a:ln w="6350">
            <a:solidFill>
              <a:srgbClr val="FFFFFF"/>
            </a:solidFill>
            <a:prstDash val="solid"/>
          </a:ln>
        </p:spPr>
        <p:txBody>
          <a:bodyPr/>
          <a:lstStyle/>
          <a:p>
            <a:endParaRPr lang="en-US"/>
          </a:p>
        </p:txBody>
      </p:sp>
      <p:sp>
        <p:nvSpPr>
          <p:cNvPr id="173" name="Text 171"/>
          <p:cNvSpPr/>
          <p:nvPr/>
        </p:nvSpPr>
        <p:spPr>
          <a:xfrm>
            <a:off x="6894576" y="4032504"/>
            <a:ext cx="777240" cy="228600"/>
          </a:xfrm>
          <a:prstGeom prst="rect">
            <a:avLst/>
          </a:prstGeom>
          <a:noFill/>
          <a:ln/>
        </p:spPr>
        <p:txBody>
          <a:bodyPr wrap="square" lIns="0" tIns="0" rIns="0" bIns="0" rtlCol="0" anchor="ctr"/>
          <a:lstStyle/>
          <a:p>
            <a:pPr marL="0" indent="0" algn="ctr">
              <a:buNone/>
            </a:pPr>
            <a:r>
              <a:rPr lang="en-US" sz="800" dirty="0">
                <a:solidFill>
                  <a:srgbClr val="1D6A72"/>
                </a:solidFill>
                <a:latin typeface="Arial" pitchFamily="34" charset="0"/>
                <a:ea typeface="Arial" pitchFamily="34" charset="-122"/>
                <a:cs typeface="Arial" pitchFamily="34" charset="-120"/>
              </a:rPr>
              <a:t>48</a:t>
            </a:r>
            <a:endParaRPr lang="en-US" sz="800" dirty="0"/>
          </a:p>
        </p:txBody>
      </p:sp>
      <p:sp>
        <p:nvSpPr>
          <p:cNvPr id="174" name="Shape 172"/>
          <p:cNvSpPr/>
          <p:nvPr/>
        </p:nvSpPr>
        <p:spPr>
          <a:xfrm>
            <a:off x="7699248" y="4032504"/>
            <a:ext cx="777240" cy="228600"/>
          </a:xfrm>
          <a:prstGeom prst="roundRect">
            <a:avLst>
              <a:gd name="adj" fmla="val 16000"/>
            </a:avLst>
          </a:prstGeom>
          <a:solidFill>
            <a:srgbClr val="E8F5E8"/>
          </a:solidFill>
          <a:ln w="6350">
            <a:solidFill>
              <a:srgbClr val="FFFFFF"/>
            </a:solidFill>
            <a:prstDash val="solid"/>
          </a:ln>
        </p:spPr>
        <p:txBody>
          <a:bodyPr/>
          <a:lstStyle/>
          <a:p>
            <a:endParaRPr lang="en-US"/>
          </a:p>
        </p:txBody>
      </p:sp>
      <p:sp>
        <p:nvSpPr>
          <p:cNvPr id="175" name="Text 173"/>
          <p:cNvSpPr/>
          <p:nvPr/>
        </p:nvSpPr>
        <p:spPr>
          <a:xfrm>
            <a:off x="7699248" y="4032504"/>
            <a:ext cx="777240" cy="228600"/>
          </a:xfrm>
          <a:prstGeom prst="rect">
            <a:avLst/>
          </a:prstGeom>
          <a:noFill/>
          <a:ln/>
        </p:spPr>
        <p:txBody>
          <a:bodyPr wrap="square" lIns="0" tIns="0" rIns="0" bIns="0" rtlCol="0" anchor="ctr"/>
          <a:lstStyle/>
          <a:p>
            <a:pPr marL="0" indent="0" algn="ctr">
              <a:buNone/>
            </a:pPr>
            <a:r>
              <a:rPr lang="en-US" sz="800" dirty="0">
                <a:solidFill>
                  <a:srgbClr val="1D6A72"/>
                </a:solidFill>
                <a:latin typeface="Arial" pitchFamily="34" charset="0"/>
                <a:ea typeface="Arial" pitchFamily="34" charset="-122"/>
                <a:cs typeface="Arial" pitchFamily="34" charset="-120"/>
              </a:rPr>
              <a:t>56</a:t>
            </a:r>
            <a:endParaRPr lang="en-US" sz="800" dirty="0"/>
          </a:p>
        </p:txBody>
      </p:sp>
      <p:sp>
        <p:nvSpPr>
          <p:cNvPr id="176" name="Text 174"/>
          <p:cNvSpPr/>
          <p:nvPr/>
        </p:nvSpPr>
        <p:spPr>
          <a:xfrm>
            <a:off x="320040" y="4279392"/>
            <a:ext cx="896112" cy="228600"/>
          </a:xfrm>
          <a:prstGeom prst="rect">
            <a:avLst/>
          </a:prstGeom>
          <a:noFill/>
          <a:ln/>
        </p:spPr>
        <p:txBody>
          <a:bodyPr wrap="square" rtlCol="0" anchor="ctr"/>
          <a:lstStyle/>
          <a:p>
            <a:pPr marL="0" indent="0">
              <a:buNone/>
            </a:pPr>
            <a:r>
              <a:rPr lang="en-US" sz="800" b="1" dirty="0">
                <a:solidFill>
                  <a:srgbClr val="1F4E79"/>
                </a:solidFill>
                <a:latin typeface="Arial" pitchFamily="34" charset="0"/>
                <a:ea typeface="Arial" pitchFamily="34" charset="-122"/>
                <a:cs typeface="Arial" pitchFamily="34" charset="-120"/>
              </a:rPr>
              <a:t>Week 5</a:t>
            </a:r>
            <a:endParaRPr lang="en-US" sz="800" dirty="0"/>
          </a:p>
        </p:txBody>
      </p:sp>
      <p:sp>
        <p:nvSpPr>
          <p:cNvPr id="177" name="Shape 175"/>
          <p:cNvSpPr/>
          <p:nvPr/>
        </p:nvSpPr>
        <p:spPr>
          <a:xfrm>
            <a:off x="1261872" y="4279392"/>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178" name="Text 176"/>
          <p:cNvSpPr/>
          <p:nvPr/>
        </p:nvSpPr>
        <p:spPr>
          <a:xfrm>
            <a:off x="1261872" y="4279392"/>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179" name="Shape 177"/>
          <p:cNvSpPr/>
          <p:nvPr/>
        </p:nvSpPr>
        <p:spPr>
          <a:xfrm>
            <a:off x="2066544" y="4279392"/>
            <a:ext cx="777240" cy="228600"/>
          </a:xfrm>
          <a:prstGeom prst="roundRect">
            <a:avLst>
              <a:gd name="adj" fmla="val 16000"/>
            </a:avLst>
          </a:prstGeom>
          <a:solidFill>
            <a:srgbClr val="1F4E79"/>
          </a:solidFill>
          <a:ln w="6350">
            <a:solidFill>
              <a:srgbClr val="FFFFFF"/>
            </a:solidFill>
            <a:prstDash val="solid"/>
          </a:ln>
        </p:spPr>
        <p:txBody>
          <a:bodyPr/>
          <a:lstStyle/>
          <a:p>
            <a:endParaRPr lang="en-US"/>
          </a:p>
        </p:txBody>
      </p:sp>
      <p:sp>
        <p:nvSpPr>
          <p:cNvPr id="180" name="Text 178"/>
          <p:cNvSpPr/>
          <p:nvPr/>
        </p:nvSpPr>
        <p:spPr>
          <a:xfrm>
            <a:off x="2066544" y="4279392"/>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N12</a:t>
            </a:r>
            <a:endParaRPr lang="en-US" sz="800" dirty="0"/>
          </a:p>
        </p:txBody>
      </p:sp>
      <p:sp>
        <p:nvSpPr>
          <p:cNvPr id="181" name="Shape 179"/>
          <p:cNvSpPr/>
          <p:nvPr/>
        </p:nvSpPr>
        <p:spPr>
          <a:xfrm>
            <a:off x="2871216" y="4279392"/>
            <a:ext cx="777240" cy="228600"/>
          </a:xfrm>
          <a:prstGeom prst="roundRect">
            <a:avLst>
              <a:gd name="adj" fmla="val 16000"/>
            </a:avLst>
          </a:prstGeom>
          <a:solidFill>
            <a:srgbClr val="1F4E79"/>
          </a:solidFill>
          <a:ln w="6350">
            <a:solidFill>
              <a:srgbClr val="FFFFFF"/>
            </a:solidFill>
            <a:prstDash val="solid"/>
          </a:ln>
        </p:spPr>
        <p:txBody>
          <a:bodyPr/>
          <a:lstStyle/>
          <a:p>
            <a:endParaRPr lang="en-US"/>
          </a:p>
        </p:txBody>
      </p:sp>
      <p:sp>
        <p:nvSpPr>
          <p:cNvPr id="182" name="Text 180"/>
          <p:cNvSpPr/>
          <p:nvPr/>
        </p:nvSpPr>
        <p:spPr>
          <a:xfrm>
            <a:off x="2871216" y="4279392"/>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N12</a:t>
            </a:r>
            <a:endParaRPr lang="en-US" sz="800" dirty="0"/>
          </a:p>
        </p:txBody>
      </p:sp>
      <p:sp>
        <p:nvSpPr>
          <p:cNvPr id="183" name="Shape 181"/>
          <p:cNvSpPr/>
          <p:nvPr/>
        </p:nvSpPr>
        <p:spPr>
          <a:xfrm>
            <a:off x="3675888" y="4279392"/>
            <a:ext cx="777240" cy="228600"/>
          </a:xfrm>
          <a:prstGeom prst="roundRect">
            <a:avLst>
              <a:gd name="adj" fmla="val 16000"/>
            </a:avLst>
          </a:prstGeom>
          <a:solidFill>
            <a:srgbClr val="1F4E79"/>
          </a:solidFill>
          <a:ln w="6350">
            <a:solidFill>
              <a:srgbClr val="FFFFFF"/>
            </a:solidFill>
            <a:prstDash val="solid"/>
          </a:ln>
        </p:spPr>
        <p:txBody>
          <a:bodyPr/>
          <a:lstStyle/>
          <a:p>
            <a:endParaRPr lang="en-US"/>
          </a:p>
        </p:txBody>
      </p:sp>
      <p:sp>
        <p:nvSpPr>
          <p:cNvPr id="184" name="Text 182"/>
          <p:cNvSpPr/>
          <p:nvPr/>
        </p:nvSpPr>
        <p:spPr>
          <a:xfrm>
            <a:off x="3675888" y="4279392"/>
            <a:ext cx="7772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N12</a:t>
            </a:r>
            <a:endParaRPr lang="en-US" sz="800" dirty="0"/>
          </a:p>
        </p:txBody>
      </p:sp>
      <p:sp>
        <p:nvSpPr>
          <p:cNvPr id="185" name="Shape 183"/>
          <p:cNvSpPr/>
          <p:nvPr/>
        </p:nvSpPr>
        <p:spPr>
          <a:xfrm>
            <a:off x="4480560" y="4279392"/>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186" name="Text 184"/>
          <p:cNvSpPr/>
          <p:nvPr/>
        </p:nvSpPr>
        <p:spPr>
          <a:xfrm>
            <a:off x="4480560" y="4279392"/>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187" name="Shape 185"/>
          <p:cNvSpPr/>
          <p:nvPr/>
        </p:nvSpPr>
        <p:spPr>
          <a:xfrm>
            <a:off x="5285232" y="4279392"/>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188" name="Text 186"/>
          <p:cNvSpPr/>
          <p:nvPr/>
        </p:nvSpPr>
        <p:spPr>
          <a:xfrm>
            <a:off x="5285232" y="4279392"/>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189" name="Shape 187"/>
          <p:cNvSpPr/>
          <p:nvPr/>
        </p:nvSpPr>
        <p:spPr>
          <a:xfrm>
            <a:off x="6089904" y="4279392"/>
            <a:ext cx="777240" cy="228600"/>
          </a:xfrm>
          <a:prstGeom prst="roundRect">
            <a:avLst>
              <a:gd name="adj" fmla="val 16000"/>
            </a:avLst>
          </a:prstGeom>
          <a:solidFill>
            <a:srgbClr val="E2E8F0"/>
          </a:solidFill>
          <a:ln w="6350">
            <a:solidFill>
              <a:srgbClr val="FFFFFF"/>
            </a:solidFill>
            <a:prstDash val="solid"/>
          </a:ln>
        </p:spPr>
        <p:txBody>
          <a:bodyPr/>
          <a:lstStyle/>
          <a:p>
            <a:endParaRPr lang="en-US"/>
          </a:p>
        </p:txBody>
      </p:sp>
      <p:sp>
        <p:nvSpPr>
          <p:cNvPr id="190" name="Text 188"/>
          <p:cNvSpPr/>
          <p:nvPr/>
        </p:nvSpPr>
        <p:spPr>
          <a:xfrm>
            <a:off x="6089904" y="4279392"/>
            <a:ext cx="777240" cy="228600"/>
          </a:xfrm>
          <a:prstGeom prst="rect">
            <a:avLst/>
          </a:prstGeom>
          <a:noFill/>
          <a:ln/>
        </p:spPr>
        <p:txBody>
          <a:bodyPr wrap="square" lIns="0" tIns="0" rIns="0" bIns="0"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off</a:t>
            </a:r>
            <a:endParaRPr lang="en-US" sz="800" dirty="0"/>
          </a:p>
        </p:txBody>
      </p:sp>
      <p:sp>
        <p:nvSpPr>
          <p:cNvPr id="191" name="Shape 189"/>
          <p:cNvSpPr/>
          <p:nvPr/>
        </p:nvSpPr>
        <p:spPr>
          <a:xfrm>
            <a:off x="6894576" y="4279392"/>
            <a:ext cx="777240" cy="228600"/>
          </a:xfrm>
          <a:prstGeom prst="roundRect">
            <a:avLst>
              <a:gd name="adj" fmla="val 16000"/>
            </a:avLst>
          </a:prstGeom>
          <a:solidFill>
            <a:srgbClr val="E8F0E8"/>
          </a:solidFill>
          <a:ln w="6350">
            <a:solidFill>
              <a:srgbClr val="FFFFFF"/>
            </a:solidFill>
            <a:prstDash val="solid"/>
          </a:ln>
        </p:spPr>
        <p:txBody>
          <a:bodyPr/>
          <a:lstStyle/>
          <a:p>
            <a:endParaRPr lang="en-US"/>
          </a:p>
        </p:txBody>
      </p:sp>
      <p:sp>
        <p:nvSpPr>
          <p:cNvPr id="192" name="Text 190"/>
          <p:cNvSpPr/>
          <p:nvPr/>
        </p:nvSpPr>
        <p:spPr>
          <a:xfrm>
            <a:off x="6894576" y="4279392"/>
            <a:ext cx="777240" cy="228600"/>
          </a:xfrm>
          <a:prstGeom prst="rect">
            <a:avLst/>
          </a:prstGeom>
          <a:noFill/>
          <a:ln/>
        </p:spPr>
        <p:txBody>
          <a:bodyPr wrap="square" lIns="0" tIns="0" rIns="0" bIns="0" rtlCol="0" anchor="ctr"/>
          <a:lstStyle/>
          <a:p>
            <a:pPr marL="0" indent="0" algn="ctr">
              <a:buNone/>
            </a:pPr>
            <a:r>
              <a:rPr lang="en-US" sz="800" dirty="0">
                <a:solidFill>
                  <a:srgbClr val="1D6A72"/>
                </a:solidFill>
                <a:latin typeface="Arial" pitchFamily="34" charset="0"/>
                <a:ea typeface="Arial" pitchFamily="34" charset="-122"/>
                <a:cs typeface="Arial" pitchFamily="34" charset="-120"/>
              </a:rPr>
              <a:t>36</a:t>
            </a:r>
            <a:endParaRPr lang="en-US" sz="800" dirty="0"/>
          </a:p>
        </p:txBody>
      </p:sp>
      <p:sp>
        <p:nvSpPr>
          <p:cNvPr id="193" name="Shape 191"/>
          <p:cNvSpPr/>
          <p:nvPr/>
        </p:nvSpPr>
        <p:spPr>
          <a:xfrm>
            <a:off x="7699248" y="4279392"/>
            <a:ext cx="777240" cy="228600"/>
          </a:xfrm>
          <a:prstGeom prst="roundRect">
            <a:avLst>
              <a:gd name="adj" fmla="val 16000"/>
            </a:avLst>
          </a:prstGeom>
          <a:solidFill>
            <a:srgbClr val="E8F5E8"/>
          </a:solidFill>
          <a:ln w="6350">
            <a:solidFill>
              <a:srgbClr val="FFFFFF"/>
            </a:solidFill>
            <a:prstDash val="solid"/>
          </a:ln>
        </p:spPr>
        <p:txBody>
          <a:bodyPr/>
          <a:lstStyle/>
          <a:p>
            <a:endParaRPr lang="en-US"/>
          </a:p>
        </p:txBody>
      </p:sp>
      <p:sp>
        <p:nvSpPr>
          <p:cNvPr id="194" name="Text 192"/>
          <p:cNvSpPr/>
          <p:nvPr/>
        </p:nvSpPr>
        <p:spPr>
          <a:xfrm>
            <a:off x="7699248" y="4279392"/>
            <a:ext cx="777240" cy="228600"/>
          </a:xfrm>
          <a:prstGeom prst="rect">
            <a:avLst/>
          </a:prstGeom>
          <a:noFill/>
          <a:ln/>
        </p:spPr>
        <p:txBody>
          <a:bodyPr wrap="square" lIns="0" tIns="0" rIns="0" bIns="0" rtlCol="0" anchor="ctr"/>
          <a:lstStyle/>
          <a:p>
            <a:pPr marL="0" indent="0" algn="ctr">
              <a:buNone/>
            </a:pPr>
            <a:r>
              <a:rPr lang="en-US" sz="800" dirty="0">
                <a:solidFill>
                  <a:srgbClr val="1D6A72"/>
                </a:solidFill>
                <a:latin typeface="Arial" pitchFamily="34" charset="0"/>
                <a:ea typeface="Arial" pitchFamily="34" charset="-122"/>
                <a:cs typeface="Arial" pitchFamily="34" charset="-120"/>
              </a:rPr>
              <a:t>38</a:t>
            </a:r>
            <a:endParaRPr lang="en-US" sz="800" dirty="0"/>
          </a:p>
        </p:txBody>
      </p:sp>
      <p:sp>
        <p:nvSpPr>
          <p:cNvPr id="195" name="Text 193"/>
          <p:cNvSpPr/>
          <p:nvPr/>
        </p:nvSpPr>
        <p:spPr>
          <a:xfrm>
            <a:off x="320040" y="3538728"/>
            <a:ext cx="896112" cy="228600"/>
          </a:xfrm>
          <a:prstGeom prst="rect">
            <a:avLst/>
          </a:prstGeom>
          <a:noFill/>
          <a:ln/>
        </p:spPr>
        <p:txBody>
          <a:bodyPr wrap="square" rtlCol="0" anchor="ctr"/>
          <a:lstStyle/>
          <a:p>
            <a:pPr marL="0" indent="0">
              <a:buNone/>
            </a:pPr>
            <a:r>
              <a:rPr lang="en-US" sz="800" b="1" dirty="0">
                <a:solidFill>
                  <a:srgbClr val="1D9E75"/>
                </a:solidFill>
                <a:latin typeface="Arial" pitchFamily="34" charset="0"/>
                <a:ea typeface="Arial" pitchFamily="34" charset="-122"/>
                <a:cs typeface="Arial" pitchFamily="34" charset="-120"/>
              </a:rPr>
              <a:t>Week 2</a:t>
            </a:r>
            <a:endParaRPr lang="en-US" sz="800" dirty="0"/>
          </a:p>
          <a:p>
            <a:pPr marL="0" indent="0">
              <a:buNone/>
            </a:pPr>
            <a:r>
              <a:rPr lang="en-US" sz="800" b="1" dirty="0">
                <a:solidFill>
                  <a:srgbClr val="1D9E75"/>
                </a:solidFill>
                <a:latin typeface="Arial" pitchFamily="34" charset="0"/>
                <a:ea typeface="Arial" pitchFamily="34" charset="-122"/>
                <a:cs typeface="Arial" pitchFamily="34" charset="-120"/>
              </a:rPr>
              <a:t>(off)</a:t>
            </a:r>
            <a:endParaRPr lang="en-US" sz="800" dirty="0"/>
          </a:p>
        </p:txBody>
      </p:sp>
      <p:sp>
        <p:nvSpPr>
          <p:cNvPr id="196" name="Shape 194"/>
          <p:cNvSpPr/>
          <p:nvPr/>
        </p:nvSpPr>
        <p:spPr>
          <a:xfrm>
            <a:off x="1261872" y="3538728"/>
            <a:ext cx="777240" cy="228600"/>
          </a:xfrm>
          <a:prstGeom prst="roundRect">
            <a:avLst>
              <a:gd name="adj" fmla="val 16000"/>
            </a:avLst>
          </a:prstGeom>
          <a:solidFill>
            <a:srgbClr val="E8F5E8"/>
          </a:solidFill>
          <a:ln w="6350">
            <a:solidFill>
              <a:srgbClr val="FFFFFF"/>
            </a:solidFill>
            <a:prstDash val="solid"/>
          </a:ln>
        </p:spPr>
        <p:txBody>
          <a:bodyPr/>
          <a:lstStyle/>
          <a:p>
            <a:endParaRPr lang="en-US"/>
          </a:p>
        </p:txBody>
      </p:sp>
      <p:sp>
        <p:nvSpPr>
          <p:cNvPr id="197" name="Text 195"/>
          <p:cNvSpPr/>
          <p:nvPr/>
        </p:nvSpPr>
        <p:spPr>
          <a:xfrm>
            <a:off x="1261872" y="3538728"/>
            <a:ext cx="777240" cy="228600"/>
          </a:xfrm>
          <a:prstGeom prst="rect">
            <a:avLst/>
          </a:prstGeom>
          <a:noFill/>
          <a:ln/>
        </p:spPr>
        <p:txBody>
          <a:bodyPr wrap="square" lIns="0" tIns="0" rIns="0" bIns="0" rtlCol="0" anchor="ctr"/>
          <a:lstStyle/>
          <a:p>
            <a:pPr marL="0" indent="0" algn="ctr">
              <a:buNone/>
            </a:pPr>
            <a:r>
              <a:rPr lang="en-US" sz="800" dirty="0">
                <a:solidFill>
                  <a:srgbClr val="1D9E75"/>
                </a:solidFill>
                <a:latin typeface="Arial" pitchFamily="34" charset="0"/>
                <a:ea typeface="Arial" pitchFamily="34" charset="-122"/>
                <a:cs typeface="Arial" pitchFamily="34" charset="-120"/>
              </a:rPr>
              <a:t>week off</a:t>
            </a:r>
            <a:endParaRPr lang="en-US" sz="800" dirty="0"/>
          </a:p>
        </p:txBody>
      </p:sp>
      <p:sp>
        <p:nvSpPr>
          <p:cNvPr id="198" name="Shape 196"/>
          <p:cNvSpPr/>
          <p:nvPr/>
        </p:nvSpPr>
        <p:spPr>
          <a:xfrm>
            <a:off x="2066544" y="3538728"/>
            <a:ext cx="777240" cy="228600"/>
          </a:xfrm>
          <a:prstGeom prst="roundRect">
            <a:avLst>
              <a:gd name="adj" fmla="val 16000"/>
            </a:avLst>
          </a:prstGeom>
          <a:solidFill>
            <a:srgbClr val="E8F5E8"/>
          </a:solidFill>
          <a:ln w="6350">
            <a:solidFill>
              <a:srgbClr val="FFFFFF"/>
            </a:solidFill>
            <a:prstDash val="solid"/>
          </a:ln>
        </p:spPr>
        <p:txBody>
          <a:bodyPr/>
          <a:lstStyle/>
          <a:p>
            <a:endParaRPr lang="en-US"/>
          </a:p>
        </p:txBody>
      </p:sp>
      <p:sp>
        <p:nvSpPr>
          <p:cNvPr id="199" name="Text 197"/>
          <p:cNvSpPr/>
          <p:nvPr/>
        </p:nvSpPr>
        <p:spPr>
          <a:xfrm>
            <a:off x="2066544" y="3538728"/>
            <a:ext cx="777240" cy="228600"/>
          </a:xfrm>
          <a:prstGeom prst="rect">
            <a:avLst/>
          </a:prstGeom>
          <a:noFill/>
          <a:ln/>
        </p:spPr>
        <p:txBody>
          <a:bodyPr wrap="square" lIns="0" tIns="0" rIns="0" bIns="0" rtlCol="0" anchor="ctr"/>
          <a:lstStyle/>
          <a:p>
            <a:pPr marL="0" indent="0" algn="ctr">
              <a:buNone/>
            </a:pPr>
            <a:r>
              <a:rPr lang="en-US" sz="800" dirty="0">
                <a:solidFill>
                  <a:srgbClr val="1D9E75"/>
                </a:solidFill>
                <a:latin typeface="Arial" pitchFamily="34" charset="0"/>
                <a:ea typeface="Arial" pitchFamily="34" charset="-122"/>
                <a:cs typeface="Arial" pitchFamily="34" charset="-120"/>
              </a:rPr>
              <a:t>week off</a:t>
            </a:r>
            <a:endParaRPr lang="en-US" sz="800" dirty="0"/>
          </a:p>
        </p:txBody>
      </p:sp>
      <p:sp>
        <p:nvSpPr>
          <p:cNvPr id="200" name="Shape 198"/>
          <p:cNvSpPr/>
          <p:nvPr/>
        </p:nvSpPr>
        <p:spPr>
          <a:xfrm>
            <a:off x="2871216" y="3538728"/>
            <a:ext cx="777240" cy="228600"/>
          </a:xfrm>
          <a:prstGeom prst="roundRect">
            <a:avLst>
              <a:gd name="adj" fmla="val 16000"/>
            </a:avLst>
          </a:prstGeom>
          <a:solidFill>
            <a:srgbClr val="E8F5E8"/>
          </a:solidFill>
          <a:ln w="6350">
            <a:solidFill>
              <a:srgbClr val="FFFFFF"/>
            </a:solidFill>
            <a:prstDash val="solid"/>
          </a:ln>
        </p:spPr>
        <p:txBody>
          <a:bodyPr/>
          <a:lstStyle/>
          <a:p>
            <a:endParaRPr lang="en-US"/>
          </a:p>
        </p:txBody>
      </p:sp>
      <p:sp>
        <p:nvSpPr>
          <p:cNvPr id="201" name="Text 199"/>
          <p:cNvSpPr/>
          <p:nvPr/>
        </p:nvSpPr>
        <p:spPr>
          <a:xfrm>
            <a:off x="2871216" y="3538728"/>
            <a:ext cx="777240" cy="228600"/>
          </a:xfrm>
          <a:prstGeom prst="rect">
            <a:avLst/>
          </a:prstGeom>
          <a:noFill/>
          <a:ln/>
        </p:spPr>
        <p:txBody>
          <a:bodyPr wrap="square" lIns="0" tIns="0" rIns="0" bIns="0" rtlCol="0" anchor="ctr"/>
          <a:lstStyle/>
          <a:p>
            <a:pPr marL="0" indent="0" algn="ctr">
              <a:buNone/>
            </a:pPr>
            <a:r>
              <a:rPr lang="en-US" sz="800" dirty="0">
                <a:solidFill>
                  <a:srgbClr val="1D9E75"/>
                </a:solidFill>
                <a:latin typeface="Arial" pitchFamily="34" charset="0"/>
                <a:ea typeface="Arial" pitchFamily="34" charset="-122"/>
                <a:cs typeface="Arial" pitchFamily="34" charset="-120"/>
              </a:rPr>
              <a:t>week off</a:t>
            </a:r>
            <a:endParaRPr lang="en-US" sz="800" dirty="0"/>
          </a:p>
        </p:txBody>
      </p:sp>
      <p:sp>
        <p:nvSpPr>
          <p:cNvPr id="202" name="Shape 200"/>
          <p:cNvSpPr/>
          <p:nvPr/>
        </p:nvSpPr>
        <p:spPr>
          <a:xfrm>
            <a:off x="3675888" y="3538728"/>
            <a:ext cx="777240" cy="228600"/>
          </a:xfrm>
          <a:prstGeom prst="roundRect">
            <a:avLst>
              <a:gd name="adj" fmla="val 16000"/>
            </a:avLst>
          </a:prstGeom>
          <a:solidFill>
            <a:srgbClr val="E8F5E8"/>
          </a:solidFill>
          <a:ln w="6350">
            <a:solidFill>
              <a:srgbClr val="FFFFFF"/>
            </a:solidFill>
            <a:prstDash val="solid"/>
          </a:ln>
        </p:spPr>
        <p:txBody>
          <a:bodyPr/>
          <a:lstStyle/>
          <a:p>
            <a:endParaRPr lang="en-US"/>
          </a:p>
        </p:txBody>
      </p:sp>
      <p:sp>
        <p:nvSpPr>
          <p:cNvPr id="203" name="Text 201"/>
          <p:cNvSpPr/>
          <p:nvPr/>
        </p:nvSpPr>
        <p:spPr>
          <a:xfrm>
            <a:off x="3675888" y="3538728"/>
            <a:ext cx="777240" cy="228600"/>
          </a:xfrm>
          <a:prstGeom prst="rect">
            <a:avLst/>
          </a:prstGeom>
          <a:noFill/>
          <a:ln/>
        </p:spPr>
        <p:txBody>
          <a:bodyPr wrap="square" lIns="0" tIns="0" rIns="0" bIns="0" rtlCol="0" anchor="ctr"/>
          <a:lstStyle/>
          <a:p>
            <a:pPr marL="0" indent="0" algn="ctr">
              <a:buNone/>
            </a:pPr>
            <a:r>
              <a:rPr lang="en-US" sz="800" dirty="0">
                <a:solidFill>
                  <a:srgbClr val="1D9E75"/>
                </a:solidFill>
                <a:latin typeface="Arial" pitchFamily="34" charset="0"/>
                <a:ea typeface="Arial" pitchFamily="34" charset="-122"/>
                <a:cs typeface="Arial" pitchFamily="34" charset="-120"/>
              </a:rPr>
              <a:t>week off</a:t>
            </a:r>
            <a:endParaRPr lang="en-US" sz="800" dirty="0"/>
          </a:p>
        </p:txBody>
      </p:sp>
      <p:sp>
        <p:nvSpPr>
          <p:cNvPr id="204" name="Shape 202"/>
          <p:cNvSpPr/>
          <p:nvPr/>
        </p:nvSpPr>
        <p:spPr>
          <a:xfrm>
            <a:off x="4480560" y="3538728"/>
            <a:ext cx="777240" cy="228600"/>
          </a:xfrm>
          <a:prstGeom prst="roundRect">
            <a:avLst>
              <a:gd name="adj" fmla="val 16000"/>
            </a:avLst>
          </a:prstGeom>
          <a:solidFill>
            <a:srgbClr val="E8F5E8"/>
          </a:solidFill>
          <a:ln w="6350">
            <a:solidFill>
              <a:srgbClr val="FFFFFF"/>
            </a:solidFill>
            <a:prstDash val="solid"/>
          </a:ln>
        </p:spPr>
        <p:txBody>
          <a:bodyPr/>
          <a:lstStyle/>
          <a:p>
            <a:endParaRPr lang="en-US"/>
          </a:p>
        </p:txBody>
      </p:sp>
      <p:sp>
        <p:nvSpPr>
          <p:cNvPr id="205" name="Text 203"/>
          <p:cNvSpPr/>
          <p:nvPr/>
        </p:nvSpPr>
        <p:spPr>
          <a:xfrm>
            <a:off x="4480560" y="3538728"/>
            <a:ext cx="777240" cy="228600"/>
          </a:xfrm>
          <a:prstGeom prst="rect">
            <a:avLst/>
          </a:prstGeom>
          <a:noFill/>
          <a:ln/>
        </p:spPr>
        <p:txBody>
          <a:bodyPr wrap="square" lIns="0" tIns="0" rIns="0" bIns="0" rtlCol="0" anchor="ctr"/>
          <a:lstStyle/>
          <a:p>
            <a:pPr marL="0" indent="0" algn="ctr">
              <a:buNone/>
            </a:pPr>
            <a:r>
              <a:rPr lang="en-US" sz="800" dirty="0">
                <a:solidFill>
                  <a:srgbClr val="1D9E75"/>
                </a:solidFill>
                <a:latin typeface="Arial" pitchFamily="34" charset="0"/>
                <a:ea typeface="Arial" pitchFamily="34" charset="-122"/>
                <a:cs typeface="Arial" pitchFamily="34" charset="-120"/>
              </a:rPr>
              <a:t>week off</a:t>
            </a:r>
            <a:endParaRPr lang="en-US" sz="800" dirty="0"/>
          </a:p>
        </p:txBody>
      </p:sp>
      <p:sp>
        <p:nvSpPr>
          <p:cNvPr id="206" name="Shape 204"/>
          <p:cNvSpPr/>
          <p:nvPr/>
        </p:nvSpPr>
        <p:spPr>
          <a:xfrm>
            <a:off x="5285232" y="3538728"/>
            <a:ext cx="777240" cy="228600"/>
          </a:xfrm>
          <a:prstGeom prst="roundRect">
            <a:avLst>
              <a:gd name="adj" fmla="val 16000"/>
            </a:avLst>
          </a:prstGeom>
          <a:solidFill>
            <a:srgbClr val="E8F5E8"/>
          </a:solidFill>
          <a:ln w="6350">
            <a:solidFill>
              <a:srgbClr val="FFFFFF"/>
            </a:solidFill>
            <a:prstDash val="solid"/>
          </a:ln>
        </p:spPr>
        <p:txBody>
          <a:bodyPr/>
          <a:lstStyle/>
          <a:p>
            <a:endParaRPr lang="en-US"/>
          </a:p>
        </p:txBody>
      </p:sp>
      <p:sp>
        <p:nvSpPr>
          <p:cNvPr id="207" name="Text 205"/>
          <p:cNvSpPr/>
          <p:nvPr/>
        </p:nvSpPr>
        <p:spPr>
          <a:xfrm>
            <a:off x="5285232" y="3538728"/>
            <a:ext cx="777240" cy="228600"/>
          </a:xfrm>
          <a:prstGeom prst="rect">
            <a:avLst/>
          </a:prstGeom>
          <a:noFill/>
          <a:ln/>
        </p:spPr>
        <p:txBody>
          <a:bodyPr wrap="square" lIns="0" tIns="0" rIns="0" bIns="0" rtlCol="0" anchor="ctr"/>
          <a:lstStyle/>
          <a:p>
            <a:pPr marL="0" indent="0" algn="ctr">
              <a:buNone/>
            </a:pPr>
            <a:r>
              <a:rPr lang="en-US" sz="800" dirty="0">
                <a:solidFill>
                  <a:srgbClr val="1D9E75"/>
                </a:solidFill>
                <a:latin typeface="Arial" pitchFamily="34" charset="0"/>
                <a:ea typeface="Arial" pitchFamily="34" charset="-122"/>
                <a:cs typeface="Arial" pitchFamily="34" charset="-120"/>
              </a:rPr>
              <a:t>week off</a:t>
            </a:r>
            <a:endParaRPr lang="en-US" sz="800" dirty="0"/>
          </a:p>
        </p:txBody>
      </p:sp>
      <p:sp>
        <p:nvSpPr>
          <p:cNvPr id="208" name="Shape 206"/>
          <p:cNvSpPr/>
          <p:nvPr/>
        </p:nvSpPr>
        <p:spPr>
          <a:xfrm>
            <a:off x="6089904" y="3538728"/>
            <a:ext cx="777240" cy="228600"/>
          </a:xfrm>
          <a:prstGeom prst="roundRect">
            <a:avLst>
              <a:gd name="adj" fmla="val 16000"/>
            </a:avLst>
          </a:prstGeom>
          <a:solidFill>
            <a:srgbClr val="E8F5E8"/>
          </a:solidFill>
          <a:ln w="6350">
            <a:solidFill>
              <a:srgbClr val="FFFFFF"/>
            </a:solidFill>
            <a:prstDash val="solid"/>
          </a:ln>
        </p:spPr>
        <p:txBody>
          <a:bodyPr/>
          <a:lstStyle/>
          <a:p>
            <a:endParaRPr lang="en-US"/>
          </a:p>
        </p:txBody>
      </p:sp>
      <p:sp>
        <p:nvSpPr>
          <p:cNvPr id="209" name="Text 207"/>
          <p:cNvSpPr/>
          <p:nvPr/>
        </p:nvSpPr>
        <p:spPr>
          <a:xfrm>
            <a:off x="6089904" y="3538728"/>
            <a:ext cx="777240" cy="228600"/>
          </a:xfrm>
          <a:prstGeom prst="rect">
            <a:avLst/>
          </a:prstGeom>
          <a:noFill/>
          <a:ln/>
        </p:spPr>
        <p:txBody>
          <a:bodyPr wrap="square" lIns="0" tIns="0" rIns="0" bIns="0" rtlCol="0" anchor="ctr"/>
          <a:lstStyle/>
          <a:p>
            <a:pPr marL="0" indent="0" algn="ctr">
              <a:buNone/>
            </a:pPr>
            <a:r>
              <a:rPr lang="en-US" sz="800" dirty="0">
                <a:solidFill>
                  <a:srgbClr val="1D9E75"/>
                </a:solidFill>
                <a:latin typeface="Arial" pitchFamily="34" charset="0"/>
                <a:ea typeface="Arial" pitchFamily="34" charset="-122"/>
                <a:cs typeface="Arial" pitchFamily="34" charset="-120"/>
              </a:rPr>
              <a:t>week off</a:t>
            </a:r>
            <a:endParaRPr lang="en-US" sz="800" dirty="0"/>
          </a:p>
        </p:txBody>
      </p:sp>
      <p:sp>
        <p:nvSpPr>
          <p:cNvPr id="210" name="Shape 208"/>
          <p:cNvSpPr/>
          <p:nvPr/>
        </p:nvSpPr>
        <p:spPr>
          <a:xfrm>
            <a:off x="6894576" y="3538728"/>
            <a:ext cx="777240" cy="228600"/>
          </a:xfrm>
          <a:prstGeom prst="roundRect">
            <a:avLst>
              <a:gd name="adj" fmla="val 16000"/>
            </a:avLst>
          </a:prstGeom>
          <a:solidFill>
            <a:srgbClr val="E8F5E8"/>
          </a:solidFill>
          <a:ln w="6350">
            <a:solidFill>
              <a:srgbClr val="FFFFFF"/>
            </a:solidFill>
            <a:prstDash val="solid"/>
          </a:ln>
        </p:spPr>
        <p:txBody>
          <a:bodyPr/>
          <a:lstStyle/>
          <a:p>
            <a:endParaRPr lang="en-US"/>
          </a:p>
        </p:txBody>
      </p:sp>
      <p:sp>
        <p:nvSpPr>
          <p:cNvPr id="211" name="Text 209"/>
          <p:cNvSpPr/>
          <p:nvPr/>
        </p:nvSpPr>
        <p:spPr>
          <a:xfrm>
            <a:off x="6894576" y="3538728"/>
            <a:ext cx="777240" cy="228600"/>
          </a:xfrm>
          <a:prstGeom prst="rect">
            <a:avLst/>
          </a:prstGeom>
          <a:noFill/>
          <a:ln/>
        </p:spPr>
        <p:txBody>
          <a:bodyPr wrap="square" lIns="0" tIns="0" rIns="0" bIns="0" rtlCol="0" anchor="ctr"/>
          <a:lstStyle/>
          <a:p>
            <a:pPr marL="0" indent="0" algn="ctr">
              <a:buNone/>
            </a:pPr>
            <a:r>
              <a:rPr lang="en-US" sz="800" dirty="0">
                <a:solidFill>
                  <a:srgbClr val="1D9E75"/>
                </a:solidFill>
                <a:latin typeface="Arial" pitchFamily="34" charset="0"/>
                <a:ea typeface="Arial" pitchFamily="34" charset="-122"/>
                <a:cs typeface="Arial" pitchFamily="34" charset="-120"/>
              </a:rPr>
              <a:t>0</a:t>
            </a:r>
            <a:endParaRPr lang="en-US" sz="800" dirty="0"/>
          </a:p>
        </p:txBody>
      </p:sp>
      <p:sp>
        <p:nvSpPr>
          <p:cNvPr id="212" name="Shape 210"/>
          <p:cNvSpPr/>
          <p:nvPr/>
        </p:nvSpPr>
        <p:spPr>
          <a:xfrm>
            <a:off x="7699248" y="3538728"/>
            <a:ext cx="777240" cy="228600"/>
          </a:xfrm>
          <a:prstGeom prst="roundRect">
            <a:avLst>
              <a:gd name="adj" fmla="val 16000"/>
            </a:avLst>
          </a:prstGeom>
          <a:solidFill>
            <a:srgbClr val="E8F5E8"/>
          </a:solidFill>
          <a:ln w="6350">
            <a:solidFill>
              <a:srgbClr val="FFFFFF"/>
            </a:solidFill>
            <a:prstDash val="solid"/>
          </a:ln>
        </p:spPr>
        <p:txBody>
          <a:bodyPr/>
          <a:lstStyle/>
          <a:p>
            <a:endParaRPr lang="en-US"/>
          </a:p>
        </p:txBody>
      </p:sp>
      <p:sp>
        <p:nvSpPr>
          <p:cNvPr id="213" name="Text 211"/>
          <p:cNvSpPr/>
          <p:nvPr/>
        </p:nvSpPr>
        <p:spPr>
          <a:xfrm>
            <a:off x="7699248" y="3538728"/>
            <a:ext cx="777240" cy="228600"/>
          </a:xfrm>
          <a:prstGeom prst="rect">
            <a:avLst/>
          </a:prstGeom>
          <a:noFill/>
          <a:ln/>
        </p:spPr>
        <p:txBody>
          <a:bodyPr wrap="square" lIns="0" tIns="0" rIns="0" bIns="0" rtlCol="0" anchor="ctr"/>
          <a:lstStyle/>
          <a:p>
            <a:pPr marL="0" indent="0" algn="ctr">
              <a:buNone/>
            </a:pPr>
            <a:r>
              <a:rPr lang="en-US" sz="800" dirty="0">
                <a:solidFill>
                  <a:srgbClr val="1D9E75"/>
                </a:solidFill>
                <a:latin typeface="Arial" pitchFamily="34" charset="0"/>
                <a:ea typeface="Arial" pitchFamily="34" charset="-122"/>
                <a:cs typeface="Arial" pitchFamily="34" charset="-120"/>
              </a:rPr>
              <a:t>0</a:t>
            </a:r>
            <a:endParaRPr lang="en-US" sz="800" dirty="0"/>
          </a:p>
        </p:txBody>
      </p:sp>
      <p:sp>
        <p:nvSpPr>
          <p:cNvPr id="214" name="Text 212"/>
          <p:cNvSpPr/>
          <p:nvPr/>
        </p:nvSpPr>
        <p:spPr>
          <a:xfrm>
            <a:off x="1261872" y="4553712"/>
            <a:ext cx="7315200" cy="182880"/>
          </a:xfrm>
          <a:prstGeom prst="rect">
            <a:avLst/>
          </a:prstGeom>
          <a:noFill/>
          <a:ln/>
        </p:spPr>
        <p:txBody>
          <a:bodyPr wrap="square" rtlCol="0" anchor="ctr"/>
          <a:lstStyle/>
          <a:p>
            <a:pPr marL="0" indent="0">
              <a:buNone/>
            </a:pPr>
            <a:r>
              <a:rPr lang="en-US" sz="900" i="1" dirty="0">
                <a:solidFill>
                  <a:srgbClr val="1D6A72"/>
                </a:solidFill>
                <a:latin typeface="Arial" pitchFamily="34" charset="0"/>
                <a:ea typeface="Arial" pitchFamily="34" charset="-122"/>
                <a:cs typeface="Arial" pitchFamily="34" charset="-120"/>
              </a:rPr>
              <a:t>5 crews × 37.6 pay-hrs = 188 pay-hours/week (same total!)</a:t>
            </a:r>
            <a:endParaRPr lang="en-US" sz="900" dirty="0"/>
          </a:p>
        </p:txBody>
      </p:sp>
      <p:sp>
        <p:nvSpPr>
          <p:cNvPr id="215" name="Shape 213"/>
          <p:cNvSpPr/>
          <p:nvPr/>
        </p:nvSpPr>
        <p:spPr>
          <a:xfrm>
            <a:off x="365760" y="4782312"/>
            <a:ext cx="8412480" cy="411480"/>
          </a:xfrm>
          <a:prstGeom prst="roundRect">
            <a:avLst>
              <a:gd name="adj" fmla="val 22222"/>
            </a:avLst>
          </a:prstGeom>
          <a:solidFill>
            <a:srgbClr val="1F4E79"/>
          </a:solidFill>
          <a:ln w="12700">
            <a:solidFill>
              <a:srgbClr val="1F4E79"/>
            </a:solidFill>
            <a:prstDash val="solid"/>
          </a:ln>
        </p:spPr>
        <p:txBody>
          <a:bodyPr/>
          <a:lstStyle/>
          <a:p>
            <a:endParaRPr lang="en-US"/>
          </a:p>
        </p:txBody>
      </p:sp>
      <p:sp>
        <p:nvSpPr>
          <p:cNvPr id="216" name="Text 214"/>
          <p:cNvSpPr/>
          <p:nvPr/>
        </p:nvSpPr>
        <p:spPr>
          <a:xfrm>
            <a:off x="457200" y="4800600"/>
            <a:ext cx="8229600" cy="384048"/>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Same pay-hours. One full week off in every five. A 34-hour average work week. The best recruiting tool in the industry.</a:t>
            </a:r>
            <a:endParaRPr lang="en-US" sz="1200" dirty="0"/>
          </a:p>
        </p:txBody>
      </p:sp>
      <p:sp>
        <p:nvSpPr>
          <p:cNvPr id="217" name="chip"/>
          <p:cNvSpPr/>
          <p:nvPr/>
        </p:nvSpPr>
        <p:spPr>
          <a:xfrm>
            <a:off x="4754880" y="1088136"/>
            <a:ext cx="347472" cy="182880"/>
          </a:xfrm>
          <a:prstGeom prst="roundRect">
            <a:avLst>
              <a:gd name="adj" fmla="val 25000"/>
            </a:avLst>
          </a:prstGeom>
          <a:solidFill>
            <a:srgbClr val="1D6A72"/>
          </a:solidFill>
          <a:ln>
            <a:noFill/>
          </a:ln>
        </p:spPr>
        <p:txBody>
          <a:bodyPr lIns="0" tIns="0" rIns="0" bIns="0" anchor="ctr"/>
          <a:lstStyle/>
          <a:p>
            <a:pPr algn="ctr">
              <a:buNone/>
            </a:pPr>
            <a:r>
              <a:rPr lang="en-US" sz="700" b="1" dirty="0">
                <a:solidFill>
                  <a:srgbClr val="FFFFFF"/>
                </a:solidFill>
                <a:latin typeface="Arial" pitchFamily="34" charset="0"/>
              </a:rPr>
              <a:t>D12</a:t>
            </a:r>
          </a:p>
        </p:txBody>
      </p:sp>
      <p:sp>
        <p:nvSpPr>
          <p:cNvPr id="218" name="lt"/>
          <p:cNvSpPr/>
          <p:nvPr/>
        </p:nvSpPr>
        <p:spPr>
          <a:xfrm>
            <a:off x="5138928" y="1088136"/>
            <a:ext cx="877824" cy="182880"/>
          </a:xfrm>
          <a:prstGeom prst="rect">
            <a:avLst/>
          </a:prstGeom>
        </p:spPr>
        <p:txBody>
          <a:bodyPr lIns="14000" tIns="0" rIns="0" bIns="0" anchor="ctr"/>
          <a:lstStyle/>
          <a:p>
            <a:pPr algn="l">
              <a:buNone/>
            </a:pPr>
            <a:r>
              <a:rPr lang="en-US" sz="750" dirty="0">
                <a:solidFill>
                  <a:srgbClr val="64748B"/>
                </a:solidFill>
                <a:latin typeface="Arial" pitchFamily="34" charset="0"/>
              </a:rPr>
              <a:t>6:00a – 6:00p</a:t>
            </a:r>
          </a:p>
        </p:txBody>
      </p:sp>
      <p:sp>
        <p:nvSpPr>
          <p:cNvPr id="219" name="chip"/>
          <p:cNvSpPr/>
          <p:nvPr/>
        </p:nvSpPr>
        <p:spPr>
          <a:xfrm>
            <a:off x="6035040" y="1088136"/>
            <a:ext cx="347472" cy="182880"/>
          </a:xfrm>
          <a:prstGeom prst="roundRect">
            <a:avLst>
              <a:gd name="adj" fmla="val 25000"/>
            </a:avLst>
          </a:prstGeom>
          <a:solidFill>
            <a:srgbClr val="1F4E79"/>
          </a:solidFill>
          <a:ln>
            <a:noFill/>
          </a:ln>
        </p:spPr>
        <p:txBody>
          <a:bodyPr lIns="0" tIns="0" rIns="0" bIns="0" anchor="ctr"/>
          <a:lstStyle/>
          <a:p>
            <a:pPr algn="ctr">
              <a:buNone/>
            </a:pPr>
            <a:r>
              <a:rPr lang="en-US" sz="700" b="1" dirty="0">
                <a:solidFill>
                  <a:srgbClr val="FFFFFF"/>
                </a:solidFill>
                <a:latin typeface="Arial" pitchFamily="34" charset="0"/>
              </a:rPr>
              <a:t>N12</a:t>
            </a:r>
          </a:p>
        </p:txBody>
      </p:sp>
      <p:sp>
        <p:nvSpPr>
          <p:cNvPr id="220" name="lt"/>
          <p:cNvSpPr/>
          <p:nvPr/>
        </p:nvSpPr>
        <p:spPr>
          <a:xfrm>
            <a:off x="6419088" y="1088136"/>
            <a:ext cx="877824" cy="182880"/>
          </a:xfrm>
          <a:prstGeom prst="rect">
            <a:avLst/>
          </a:prstGeom>
        </p:spPr>
        <p:txBody>
          <a:bodyPr lIns="14000" tIns="0" rIns="0" bIns="0" anchor="ctr"/>
          <a:lstStyle/>
          <a:p>
            <a:pPr algn="l">
              <a:buNone/>
            </a:pPr>
            <a:r>
              <a:rPr lang="en-US" sz="750" dirty="0">
                <a:solidFill>
                  <a:srgbClr val="64748B"/>
                </a:solidFill>
                <a:latin typeface="Arial" pitchFamily="34" charset="0"/>
              </a:rPr>
              <a:t>6:00p – 6:00a</a:t>
            </a:r>
          </a:p>
        </p:txBody>
      </p:sp>
      <p:sp>
        <p:nvSpPr>
          <p:cNvPr id="221" name="chip"/>
          <p:cNvSpPr/>
          <p:nvPr/>
        </p:nvSpPr>
        <p:spPr>
          <a:xfrm>
            <a:off x="7315200" y="1088136"/>
            <a:ext cx="347472" cy="182880"/>
          </a:xfrm>
          <a:prstGeom prst="roundRect">
            <a:avLst>
              <a:gd name="adj" fmla="val 25000"/>
            </a:avLst>
          </a:prstGeom>
          <a:solidFill>
            <a:srgbClr val="E2E8F0"/>
          </a:solidFill>
          <a:ln w="9525">
            <a:solidFill>
              <a:srgbClr val="CBD5E1"/>
            </a:solidFill>
          </a:ln>
        </p:spPr>
        <p:txBody>
          <a:bodyPr lIns="0" tIns="0" rIns="0" bIns="0" anchor="ctr"/>
          <a:lstStyle/>
          <a:p>
            <a:pPr algn="ctr">
              <a:buNone/>
            </a:pPr>
            <a:r>
              <a:rPr lang="en-US" sz="700" b="1" dirty="0">
                <a:solidFill>
                  <a:srgbClr val="64748B"/>
                </a:solidFill>
                <a:latin typeface="Arial" pitchFamily="34" charset="0"/>
              </a:rPr>
              <a:t>off</a:t>
            </a:r>
          </a:p>
        </p:txBody>
      </p:sp>
      <p:sp>
        <p:nvSpPr>
          <p:cNvPr id="222" name="lt"/>
          <p:cNvSpPr/>
          <p:nvPr/>
        </p:nvSpPr>
        <p:spPr>
          <a:xfrm>
            <a:off x="7699248" y="1088136"/>
            <a:ext cx="877824" cy="182880"/>
          </a:xfrm>
          <a:prstGeom prst="rect">
            <a:avLst/>
          </a:prstGeom>
        </p:spPr>
        <p:txBody>
          <a:bodyPr lIns="14000" tIns="0" rIns="0" bIns="0" anchor="ctr"/>
          <a:lstStyle/>
          <a:p>
            <a:pPr algn="l">
              <a:buNone/>
            </a:pPr>
            <a:r>
              <a:rPr lang="en-US" sz="750" dirty="0">
                <a:solidFill>
                  <a:srgbClr val="64748B"/>
                </a:solidFill>
                <a:latin typeface="Arial" pitchFamily="34" charset="0"/>
              </a:rPr>
              <a:t>off</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95943" y="182880"/>
            <a:ext cx="8490857" cy="548640"/>
          </a:xfrm>
          <a:prstGeom prst="rect">
            <a:avLst/>
          </a:prstGeom>
          <a:noFill/>
          <a:ln/>
        </p:spPr>
        <p:txBody>
          <a:bodyPr wrap="square" rtlCol="0" anchor="ctr"/>
          <a:lstStyle/>
          <a:p>
            <a:pPr marL="0" indent="0">
              <a:buNone/>
            </a:pPr>
            <a:r>
              <a:rPr lang="en-US" sz="2800" b="1" dirty="0">
                <a:solidFill>
                  <a:srgbClr val="1F4E79"/>
                </a:solidFill>
                <a:latin typeface="Cambria" pitchFamily="34" charset="0"/>
                <a:ea typeface="Cambria" pitchFamily="34" charset="-122"/>
                <a:cs typeface="Cambria" pitchFamily="34" charset="-120"/>
              </a:rPr>
              <a:t>When Competing for Labor: Framing Is Important</a:t>
            </a:r>
            <a:endParaRPr lang="en-US" sz="2800" dirty="0"/>
          </a:p>
        </p:txBody>
      </p:sp>
      <p:sp>
        <p:nvSpPr>
          <p:cNvPr id="3" name="Text 1"/>
          <p:cNvSpPr/>
          <p:nvPr/>
        </p:nvSpPr>
        <p:spPr>
          <a:xfrm>
            <a:off x="457200" y="749808"/>
            <a:ext cx="8229600" cy="274320"/>
          </a:xfrm>
          <a:prstGeom prst="rect">
            <a:avLst/>
          </a:prstGeom>
          <a:noFill/>
          <a:ln/>
        </p:spPr>
        <p:txBody>
          <a:bodyPr wrap="square" rtlCol="0" anchor="ctr"/>
          <a:lstStyle/>
          <a:p>
            <a:pPr marL="0" indent="0">
              <a:buNone/>
            </a:pPr>
            <a:r>
              <a:rPr lang="en-US" sz="1200" i="1" dirty="0">
                <a:solidFill>
                  <a:srgbClr val="64748B"/>
                </a:solidFill>
                <a:latin typeface="Arial" pitchFamily="34" charset="0"/>
                <a:ea typeface="Arial" pitchFamily="34" charset="-122"/>
                <a:cs typeface="Arial" pitchFamily="34" charset="-120"/>
              </a:rPr>
              <a:t>What the offer actually says — and what it really delivers</a:t>
            </a:r>
            <a:endParaRPr lang="en-US" sz="1200" dirty="0"/>
          </a:p>
        </p:txBody>
      </p:sp>
      <p:sp>
        <p:nvSpPr>
          <p:cNvPr id="4" name="Shape 2"/>
          <p:cNvSpPr/>
          <p:nvPr/>
        </p:nvSpPr>
        <p:spPr>
          <a:xfrm>
            <a:off x="365760" y="1051560"/>
            <a:ext cx="4114800" cy="3794760"/>
          </a:xfrm>
          <a:prstGeom prst="roundRect">
            <a:avLst>
              <a:gd name="adj" fmla="val 289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US"/>
          </a:p>
        </p:txBody>
      </p:sp>
      <p:sp>
        <p:nvSpPr>
          <p:cNvPr id="5" name="Shape 3"/>
          <p:cNvSpPr/>
          <p:nvPr/>
        </p:nvSpPr>
        <p:spPr>
          <a:xfrm>
            <a:off x="365760" y="1051560"/>
            <a:ext cx="4114800" cy="713232"/>
          </a:xfrm>
          <a:prstGeom prst="roundRect">
            <a:avLst>
              <a:gd name="adj" fmla="val 15385"/>
            </a:avLst>
          </a:prstGeom>
          <a:solidFill>
            <a:srgbClr val="64748B"/>
          </a:solidFill>
          <a:ln w="12700">
            <a:solidFill>
              <a:srgbClr val="64748B"/>
            </a:solidFill>
            <a:prstDash val="solid"/>
          </a:ln>
        </p:spPr>
        <p:txBody>
          <a:bodyPr/>
          <a:lstStyle/>
          <a:p>
            <a:endParaRPr lang="en-US"/>
          </a:p>
        </p:txBody>
      </p:sp>
      <p:sp>
        <p:nvSpPr>
          <p:cNvPr id="6" name="Shape 4"/>
          <p:cNvSpPr/>
          <p:nvPr/>
        </p:nvSpPr>
        <p:spPr>
          <a:xfrm>
            <a:off x="365760" y="1508760"/>
            <a:ext cx="4114800" cy="256032"/>
          </a:xfrm>
          <a:prstGeom prst="rect">
            <a:avLst/>
          </a:prstGeom>
          <a:solidFill>
            <a:srgbClr val="64748B"/>
          </a:solidFill>
          <a:ln w="12700">
            <a:solidFill>
              <a:srgbClr val="64748B"/>
            </a:solidFill>
            <a:prstDash val="solid"/>
          </a:ln>
        </p:spPr>
        <p:txBody>
          <a:bodyPr/>
          <a:lstStyle/>
          <a:p>
            <a:endParaRPr lang="en-US"/>
          </a:p>
        </p:txBody>
      </p:sp>
      <p:sp>
        <p:nvSpPr>
          <p:cNvPr id="7" name="Text 5"/>
          <p:cNvSpPr/>
          <p:nvPr/>
        </p:nvSpPr>
        <p:spPr>
          <a:xfrm>
            <a:off x="457200" y="1078992"/>
            <a:ext cx="3931920" cy="667512"/>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Traditional 8-Hour</a:t>
            </a:r>
            <a:endParaRPr lang="en-US" sz="1400" dirty="0"/>
          </a:p>
          <a:p>
            <a:pPr marL="0" indent="0" algn="ctr">
              <a:buNone/>
            </a:pPr>
            <a:r>
              <a:rPr lang="en-US" sz="1400" b="1" dirty="0">
                <a:solidFill>
                  <a:srgbClr val="FFFFFF"/>
                </a:solidFill>
                <a:latin typeface="Cambria" pitchFamily="34" charset="0"/>
                <a:ea typeface="Cambria" pitchFamily="34" charset="-122"/>
                <a:cs typeface="Cambria" pitchFamily="34" charset="-120"/>
              </a:rPr>
              <a:t>Job Posting</a:t>
            </a:r>
            <a:endParaRPr lang="en-US" sz="1400" dirty="0"/>
          </a:p>
        </p:txBody>
      </p:sp>
      <p:sp>
        <p:nvSpPr>
          <p:cNvPr id="8" name="Text 6"/>
          <p:cNvSpPr/>
          <p:nvPr/>
        </p:nvSpPr>
        <p:spPr>
          <a:xfrm>
            <a:off x="502920" y="1847088"/>
            <a:ext cx="3840480" cy="256032"/>
          </a:xfrm>
          <a:prstGeom prst="rect">
            <a:avLst/>
          </a:prstGeom>
          <a:noFill/>
          <a:ln/>
        </p:spPr>
        <p:txBody>
          <a:bodyPr wrap="square" rtlCol="0" anchor="ctr"/>
          <a:lstStyle/>
          <a:p>
            <a:pPr marL="0" indent="0">
              <a:buNone/>
            </a:pPr>
            <a:r>
              <a:rPr lang="en-US" sz="1100" b="1" dirty="0">
                <a:solidFill>
                  <a:srgbClr val="64748B"/>
                </a:solidFill>
                <a:latin typeface="Arial" pitchFamily="34" charset="0"/>
                <a:ea typeface="Arial" pitchFamily="34" charset="-122"/>
                <a:cs typeface="Arial" pitchFamily="34" charset="-120"/>
              </a:rPr>
              <a:t>What It Says:</a:t>
            </a:r>
            <a:endParaRPr lang="en-US" sz="1100" dirty="0"/>
          </a:p>
        </p:txBody>
      </p:sp>
      <p:sp>
        <p:nvSpPr>
          <p:cNvPr id="9" name="Text 7"/>
          <p:cNvSpPr/>
          <p:nvPr/>
        </p:nvSpPr>
        <p:spPr>
          <a:xfrm>
            <a:off x="548640" y="2103120"/>
            <a:ext cx="3749040" cy="237744"/>
          </a:xfrm>
          <a:prstGeom prst="rect">
            <a:avLst/>
          </a:prstGeom>
          <a:noFill/>
          <a:ln/>
        </p:spPr>
        <p:txBody>
          <a:bodyPr wrap="square" rtlCol="0" anchor="ctr"/>
          <a:lstStyle/>
          <a:p>
            <a:pPr marL="0" indent="0">
              <a:buNone/>
            </a:pPr>
            <a:r>
              <a:rPr lang="en-US" sz="1200" dirty="0">
                <a:solidFill>
                  <a:srgbClr val="1A1A2E"/>
                </a:solidFill>
                <a:latin typeface="Arial" pitchFamily="34" charset="0"/>
                <a:ea typeface="Arial" pitchFamily="34" charset="-122"/>
                <a:cs typeface="Arial" pitchFamily="34" charset="-120"/>
              </a:rPr>
              <a:t>· All day shifts</a:t>
            </a:r>
            <a:endParaRPr lang="en-US" sz="1200" dirty="0"/>
          </a:p>
        </p:txBody>
      </p:sp>
      <p:sp>
        <p:nvSpPr>
          <p:cNvPr id="10" name="Text 8"/>
          <p:cNvSpPr/>
          <p:nvPr/>
        </p:nvSpPr>
        <p:spPr>
          <a:xfrm>
            <a:off x="548640" y="2359152"/>
            <a:ext cx="3749040" cy="237744"/>
          </a:xfrm>
          <a:prstGeom prst="rect">
            <a:avLst/>
          </a:prstGeom>
          <a:noFill/>
          <a:ln/>
        </p:spPr>
        <p:txBody>
          <a:bodyPr wrap="square" rtlCol="0" anchor="ctr"/>
          <a:lstStyle/>
          <a:p>
            <a:pPr marL="0" indent="0">
              <a:buNone/>
            </a:pPr>
            <a:r>
              <a:rPr lang="en-US" sz="1200" dirty="0">
                <a:solidFill>
                  <a:srgbClr val="1A1A2E"/>
                </a:solidFill>
                <a:latin typeface="Arial" pitchFamily="34" charset="0"/>
                <a:ea typeface="Arial" pitchFamily="34" charset="-122"/>
                <a:cs typeface="Arial" pitchFamily="34" charset="-120"/>
              </a:rPr>
              <a:t>· All weekends off</a:t>
            </a:r>
            <a:endParaRPr lang="en-US" sz="1200" dirty="0"/>
          </a:p>
        </p:txBody>
      </p:sp>
      <p:sp>
        <p:nvSpPr>
          <p:cNvPr id="11" name="Text 9"/>
          <p:cNvSpPr/>
          <p:nvPr/>
        </p:nvSpPr>
        <p:spPr>
          <a:xfrm>
            <a:off x="548640" y="2615184"/>
            <a:ext cx="3749040" cy="237744"/>
          </a:xfrm>
          <a:prstGeom prst="rect">
            <a:avLst/>
          </a:prstGeom>
          <a:noFill/>
          <a:ln/>
        </p:spPr>
        <p:txBody>
          <a:bodyPr wrap="square" rtlCol="0" anchor="ctr"/>
          <a:lstStyle/>
          <a:p>
            <a:pPr marL="0" indent="0">
              <a:buNone/>
            </a:pPr>
            <a:r>
              <a:rPr lang="en-US" sz="1200" dirty="0">
                <a:solidFill>
                  <a:srgbClr val="1A1A2E"/>
                </a:solidFill>
                <a:latin typeface="Arial" pitchFamily="34" charset="0"/>
                <a:ea typeface="Arial" pitchFamily="34" charset="-122"/>
                <a:cs typeface="Arial" pitchFamily="34" charset="-120"/>
              </a:rPr>
              <a:t>· 8-hour shifts</a:t>
            </a:r>
            <a:endParaRPr lang="en-US" sz="1200" dirty="0"/>
          </a:p>
        </p:txBody>
      </p:sp>
      <p:sp>
        <p:nvSpPr>
          <p:cNvPr id="12" name="Shape 10"/>
          <p:cNvSpPr/>
          <p:nvPr/>
        </p:nvSpPr>
        <p:spPr>
          <a:xfrm>
            <a:off x="502920" y="2907792"/>
            <a:ext cx="3840480" cy="0"/>
          </a:xfrm>
          <a:prstGeom prst="line">
            <a:avLst/>
          </a:prstGeom>
          <a:noFill/>
          <a:ln w="6350">
            <a:solidFill>
              <a:srgbClr val="E2E8F0"/>
            </a:solidFill>
            <a:prstDash val="solid"/>
          </a:ln>
        </p:spPr>
        <p:txBody>
          <a:bodyPr/>
          <a:lstStyle/>
          <a:p>
            <a:endParaRPr lang="en-US"/>
          </a:p>
        </p:txBody>
      </p:sp>
      <p:sp>
        <p:nvSpPr>
          <p:cNvPr id="13" name="Text 11"/>
          <p:cNvSpPr/>
          <p:nvPr/>
        </p:nvSpPr>
        <p:spPr>
          <a:xfrm>
            <a:off x="502920" y="2971800"/>
            <a:ext cx="3840480" cy="256032"/>
          </a:xfrm>
          <a:prstGeom prst="rect">
            <a:avLst/>
          </a:prstGeom>
          <a:noFill/>
          <a:ln/>
        </p:spPr>
        <p:txBody>
          <a:bodyPr wrap="square" rtlCol="0" anchor="ctr"/>
          <a:lstStyle/>
          <a:p>
            <a:pPr marL="0" indent="0">
              <a:buNone/>
            </a:pPr>
            <a:r>
              <a:rPr lang="en-US" sz="1100" b="1" dirty="0">
                <a:solidFill>
                  <a:srgbClr val="64748B"/>
                </a:solidFill>
                <a:latin typeface="Arial" pitchFamily="34" charset="0"/>
                <a:ea typeface="Arial" pitchFamily="34" charset="-122"/>
                <a:cs typeface="Arial" pitchFamily="34" charset="-120"/>
              </a:rPr>
              <a:t>What It Really Delivers:</a:t>
            </a:r>
            <a:endParaRPr lang="en-US" sz="1100" dirty="0"/>
          </a:p>
        </p:txBody>
      </p:sp>
      <p:sp>
        <p:nvSpPr>
          <p:cNvPr id="14" name="Text 12"/>
          <p:cNvSpPr/>
          <p:nvPr/>
        </p:nvSpPr>
        <p:spPr>
          <a:xfrm>
            <a:off x="548640" y="3227832"/>
            <a:ext cx="3749040" cy="256032"/>
          </a:xfrm>
          <a:prstGeom prst="rect">
            <a:avLst/>
          </a:prstGeom>
          <a:noFill/>
          <a:ln/>
        </p:spPr>
        <p:txBody>
          <a:bodyPr wrap="square" rtlCol="0" anchor="ctr"/>
          <a:lstStyle/>
          <a:p>
            <a:pPr marL="0" indent="0">
              <a:buNone/>
            </a:pPr>
            <a:r>
              <a:rPr lang="en-US" sz="1200" dirty="0">
                <a:solidFill>
                  <a:srgbClr val="1A1A2E"/>
                </a:solidFill>
                <a:latin typeface="Arial" pitchFamily="34" charset="0"/>
                <a:ea typeface="Arial" pitchFamily="34" charset="-122"/>
                <a:cs typeface="Arial" pitchFamily="34" charset="-120"/>
              </a:rPr>
              <a:t>· 40-hour paycheck</a:t>
            </a:r>
            <a:endParaRPr lang="en-US" sz="1200" dirty="0"/>
          </a:p>
        </p:txBody>
      </p:sp>
      <p:sp>
        <p:nvSpPr>
          <p:cNvPr id="15" name="Text 13"/>
          <p:cNvSpPr/>
          <p:nvPr/>
        </p:nvSpPr>
        <p:spPr>
          <a:xfrm>
            <a:off x="548640" y="3502152"/>
            <a:ext cx="3749040" cy="256032"/>
          </a:xfrm>
          <a:prstGeom prst="rect">
            <a:avLst/>
          </a:prstGeom>
          <a:noFill/>
          <a:ln/>
        </p:spPr>
        <p:txBody>
          <a:bodyPr wrap="square" rtlCol="0" anchor="ctr"/>
          <a:lstStyle/>
          <a:p>
            <a:pPr marL="0" indent="0">
              <a:buNone/>
            </a:pPr>
            <a:r>
              <a:rPr lang="en-US" sz="1200" dirty="0">
                <a:solidFill>
                  <a:srgbClr val="1A1A2E"/>
                </a:solidFill>
                <a:latin typeface="Arial" pitchFamily="34" charset="0"/>
                <a:ea typeface="Arial" pitchFamily="34" charset="-122"/>
                <a:cs typeface="Arial" pitchFamily="34" charset="-120"/>
              </a:rPr>
              <a:t>· 2-day breaks</a:t>
            </a:r>
            <a:endParaRPr lang="en-US" sz="1200" dirty="0"/>
          </a:p>
        </p:txBody>
      </p:sp>
      <p:sp>
        <p:nvSpPr>
          <p:cNvPr id="16" name="Text 14"/>
          <p:cNvSpPr/>
          <p:nvPr/>
        </p:nvSpPr>
        <p:spPr>
          <a:xfrm>
            <a:off x="548640" y="3776472"/>
            <a:ext cx="3749040" cy="256032"/>
          </a:xfrm>
          <a:prstGeom prst="rect">
            <a:avLst/>
          </a:prstGeom>
          <a:noFill/>
          <a:ln/>
        </p:spPr>
        <p:txBody>
          <a:bodyPr wrap="square" rtlCol="0" anchor="ctr"/>
          <a:lstStyle/>
          <a:p>
            <a:pPr marL="0" indent="0">
              <a:buNone/>
            </a:pPr>
            <a:r>
              <a:rPr lang="en-US" sz="1200" dirty="0">
                <a:solidFill>
                  <a:srgbClr val="1A1A2E"/>
                </a:solidFill>
                <a:latin typeface="Arial" pitchFamily="34" charset="0"/>
                <a:ea typeface="Arial" pitchFamily="34" charset="-122"/>
                <a:cs typeface="Arial" pitchFamily="34" charset="-120"/>
              </a:rPr>
              <a:t>· 260 days of work/year</a:t>
            </a:r>
            <a:endParaRPr lang="en-US" sz="1200" dirty="0"/>
          </a:p>
        </p:txBody>
      </p:sp>
      <p:sp>
        <p:nvSpPr>
          <p:cNvPr id="17" name="Text 15"/>
          <p:cNvSpPr/>
          <p:nvPr/>
        </p:nvSpPr>
        <p:spPr>
          <a:xfrm>
            <a:off x="548640" y="4050792"/>
            <a:ext cx="3749040" cy="256032"/>
          </a:xfrm>
          <a:prstGeom prst="rect">
            <a:avLst/>
          </a:prstGeom>
          <a:noFill/>
          <a:ln/>
        </p:spPr>
        <p:txBody>
          <a:bodyPr wrap="square" rtlCol="0" anchor="ctr"/>
          <a:lstStyle/>
          <a:p>
            <a:pPr marL="0" indent="0">
              <a:buNone/>
            </a:pPr>
            <a:r>
              <a:rPr lang="en-US" sz="1200" dirty="0">
                <a:solidFill>
                  <a:srgbClr val="1A1A2E"/>
                </a:solidFill>
                <a:latin typeface="Arial" pitchFamily="34" charset="0"/>
                <a:ea typeface="Arial" pitchFamily="34" charset="-122"/>
                <a:cs typeface="Arial" pitchFamily="34" charset="-120"/>
              </a:rPr>
              <a:t>· 5 workdays in a row</a:t>
            </a:r>
            <a:endParaRPr lang="en-US" sz="1200" dirty="0"/>
          </a:p>
        </p:txBody>
      </p:sp>
      <p:sp>
        <p:nvSpPr>
          <p:cNvPr id="18" name="Text 16"/>
          <p:cNvSpPr/>
          <p:nvPr/>
        </p:nvSpPr>
        <p:spPr>
          <a:xfrm>
            <a:off x="548640" y="4325112"/>
            <a:ext cx="3749040" cy="256032"/>
          </a:xfrm>
          <a:prstGeom prst="rect">
            <a:avLst/>
          </a:prstGeom>
          <a:noFill/>
          <a:ln/>
        </p:spPr>
        <p:txBody>
          <a:bodyPr wrap="square" rtlCol="0" anchor="ctr"/>
          <a:lstStyle/>
          <a:p>
            <a:pPr marL="0" indent="0">
              <a:buNone/>
            </a:pPr>
            <a:r>
              <a:rPr lang="en-US" sz="1200" dirty="0">
                <a:solidFill>
                  <a:srgbClr val="1A1A2E"/>
                </a:solidFill>
                <a:latin typeface="Arial" pitchFamily="34" charset="0"/>
                <a:ea typeface="Arial" pitchFamily="34" charset="-122"/>
                <a:cs typeface="Arial" pitchFamily="34" charset="-120"/>
              </a:rPr>
              <a:t>· 40 hrs vacation = 1 week off</a:t>
            </a:r>
            <a:endParaRPr lang="en-US" sz="1200" dirty="0"/>
          </a:p>
        </p:txBody>
      </p:sp>
      <p:sp>
        <p:nvSpPr>
          <p:cNvPr id="19" name="Shape 17"/>
          <p:cNvSpPr/>
          <p:nvPr/>
        </p:nvSpPr>
        <p:spPr>
          <a:xfrm>
            <a:off x="4846320" y="1051560"/>
            <a:ext cx="4114800" cy="3794760"/>
          </a:xfrm>
          <a:prstGeom prst="roundRect">
            <a:avLst>
              <a:gd name="adj" fmla="val 289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US"/>
          </a:p>
        </p:txBody>
      </p:sp>
      <p:sp>
        <p:nvSpPr>
          <p:cNvPr id="20" name="Shape 18"/>
          <p:cNvSpPr/>
          <p:nvPr/>
        </p:nvSpPr>
        <p:spPr>
          <a:xfrm>
            <a:off x="4846320" y="1051560"/>
            <a:ext cx="4114800" cy="713232"/>
          </a:xfrm>
          <a:prstGeom prst="roundRect">
            <a:avLst>
              <a:gd name="adj" fmla="val 15385"/>
            </a:avLst>
          </a:prstGeom>
          <a:solidFill>
            <a:srgbClr val="1D6A72"/>
          </a:solidFill>
          <a:ln w="12700">
            <a:solidFill>
              <a:srgbClr val="1D6A72"/>
            </a:solidFill>
            <a:prstDash val="solid"/>
          </a:ln>
        </p:spPr>
        <p:txBody>
          <a:bodyPr/>
          <a:lstStyle/>
          <a:p>
            <a:endParaRPr lang="en-US"/>
          </a:p>
        </p:txBody>
      </p:sp>
      <p:sp>
        <p:nvSpPr>
          <p:cNvPr id="21" name="Shape 19"/>
          <p:cNvSpPr/>
          <p:nvPr/>
        </p:nvSpPr>
        <p:spPr>
          <a:xfrm>
            <a:off x="4846320" y="1508760"/>
            <a:ext cx="4114800" cy="256032"/>
          </a:xfrm>
          <a:prstGeom prst="rect">
            <a:avLst/>
          </a:prstGeom>
          <a:solidFill>
            <a:srgbClr val="1D6A72"/>
          </a:solidFill>
          <a:ln w="12700">
            <a:solidFill>
              <a:srgbClr val="1D6A72"/>
            </a:solidFill>
            <a:prstDash val="solid"/>
          </a:ln>
        </p:spPr>
        <p:txBody>
          <a:bodyPr/>
          <a:lstStyle/>
          <a:p>
            <a:endParaRPr lang="en-US"/>
          </a:p>
        </p:txBody>
      </p:sp>
      <p:sp>
        <p:nvSpPr>
          <p:cNvPr id="22" name="Text 20"/>
          <p:cNvSpPr/>
          <p:nvPr/>
        </p:nvSpPr>
        <p:spPr>
          <a:xfrm>
            <a:off x="4937760" y="1078992"/>
            <a:ext cx="3931920" cy="667512"/>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12-Hour Schedule</a:t>
            </a:r>
            <a:endParaRPr lang="en-US" sz="1400" dirty="0"/>
          </a:p>
          <a:p>
            <a:pPr marL="0" indent="0" algn="ctr">
              <a:buNone/>
            </a:pPr>
            <a:r>
              <a:rPr lang="en-US" sz="1400" b="1" dirty="0">
                <a:solidFill>
                  <a:srgbClr val="FFFFFF"/>
                </a:solidFill>
                <a:latin typeface="Cambria" pitchFamily="34" charset="0"/>
                <a:ea typeface="Cambria" pitchFamily="34" charset="-122"/>
                <a:cs typeface="Cambria" pitchFamily="34" charset="-120"/>
              </a:rPr>
              <a:t>Job Posting</a:t>
            </a:r>
            <a:endParaRPr lang="en-US" sz="1400" dirty="0"/>
          </a:p>
        </p:txBody>
      </p:sp>
      <p:sp>
        <p:nvSpPr>
          <p:cNvPr id="23" name="Text 21"/>
          <p:cNvSpPr/>
          <p:nvPr/>
        </p:nvSpPr>
        <p:spPr>
          <a:xfrm>
            <a:off x="4983480" y="1847088"/>
            <a:ext cx="3840480" cy="256032"/>
          </a:xfrm>
          <a:prstGeom prst="rect">
            <a:avLst/>
          </a:prstGeom>
          <a:noFill/>
          <a:ln/>
        </p:spPr>
        <p:txBody>
          <a:bodyPr wrap="square" rtlCol="0" anchor="ctr"/>
          <a:lstStyle/>
          <a:p>
            <a:pPr marL="0" indent="0">
              <a:buNone/>
            </a:pPr>
            <a:r>
              <a:rPr lang="en-US" sz="1100" b="1" dirty="0">
                <a:solidFill>
                  <a:srgbClr val="64748B"/>
                </a:solidFill>
                <a:latin typeface="Arial" pitchFamily="34" charset="0"/>
                <a:ea typeface="Arial" pitchFamily="34" charset="-122"/>
                <a:cs typeface="Arial" pitchFamily="34" charset="-120"/>
              </a:rPr>
              <a:t>What It Says:</a:t>
            </a:r>
            <a:endParaRPr lang="en-US" sz="1100" dirty="0"/>
          </a:p>
        </p:txBody>
      </p:sp>
      <p:sp>
        <p:nvSpPr>
          <p:cNvPr id="24" name="Text 22"/>
          <p:cNvSpPr/>
          <p:nvPr/>
        </p:nvSpPr>
        <p:spPr>
          <a:xfrm>
            <a:off x="5029200" y="2103120"/>
            <a:ext cx="3749040" cy="237744"/>
          </a:xfrm>
          <a:prstGeom prst="rect">
            <a:avLst/>
          </a:prstGeom>
          <a:noFill/>
          <a:ln/>
        </p:spPr>
        <p:txBody>
          <a:bodyPr wrap="square" rtlCol="0" anchor="ctr"/>
          <a:lstStyle/>
          <a:p>
            <a:pPr marL="0" indent="0">
              <a:buNone/>
            </a:pPr>
            <a:r>
              <a:rPr lang="en-US" sz="1200" dirty="0">
                <a:solidFill>
                  <a:srgbClr val="1A1A2E"/>
                </a:solidFill>
                <a:latin typeface="Arial" pitchFamily="34" charset="0"/>
                <a:ea typeface="Arial" pitchFamily="34" charset="-122"/>
                <a:cs typeface="Arial" pitchFamily="34" charset="-120"/>
              </a:rPr>
              <a:t>· Rotating shifts</a:t>
            </a:r>
            <a:endParaRPr lang="en-US" sz="1200" dirty="0"/>
          </a:p>
        </p:txBody>
      </p:sp>
      <p:sp>
        <p:nvSpPr>
          <p:cNvPr id="25" name="Text 23"/>
          <p:cNvSpPr/>
          <p:nvPr/>
        </p:nvSpPr>
        <p:spPr>
          <a:xfrm>
            <a:off x="5029200" y="2359152"/>
            <a:ext cx="3749040" cy="237744"/>
          </a:xfrm>
          <a:prstGeom prst="rect">
            <a:avLst/>
          </a:prstGeom>
          <a:noFill/>
          <a:ln/>
        </p:spPr>
        <p:txBody>
          <a:bodyPr wrap="square" rtlCol="0" anchor="ctr"/>
          <a:lstStyle/>
          <a:p>
            <a:pPr marL="0" indent="0">
              <a:buNone/>
            </a:pPr>
            <a:r>
              <a:rPr lang="en-US" sz="1200" dirty="0">
                <a:solidFill>
                  <a:srgbClr val="1A1A2E"/>
                </a:solidFill>
                <a:latin typeface="Arial" pitchFamily="34" charset="0"/>
                <a:ea typeface="Arial" pitchFamily="34" charset="-122"/>
                <a:cs typeface="Arial" pitchFamily="34" charset="-120"/>
              </a:rPr>
              <a:t>· Work half the weekends</a:t>
            </a:r>
            <a:endParaRPr lang="en-US" sz="1200" dirty="0"/>
          </a:p>
        </p:txBody>
      </p:sp>
      <p:sp>
        <p:nvSpPr>
          <p:cNvPr id="26" name="Text 24"/>
          <p:cNvSpPr/>
          <p:nvPr/>
        </p:nvSpPr>
        <p:spPr>
          <a:xfrm>
            <a:off x="5029200" y="2615184"/>
            <a:ext cx="3749040" cy="237744"/>
          </a:xfrm>
          <a:prstGeom prst="rect">
            <a:avLst/>
          </a:prstGeom>
          <a:noFill/>
          <a:ln/>
        </p:spPr>
        <p:txBody>
          <a:bodyPr wrap="square" rtlCol="0" anchor="ctr"/>
          <a:lstStyle/>
          <a:p>
            <a:pPr marL="0" indent="0">
              <a:buNone/>
            </a:pPr>
            <a:r>
              <a:rPr lang="en-US" sz="1200" dirty="0">
                <a:solidFill>
                  <a:srgbClr val="1A1A2E"/>
                </a:solidFill>
                <a:latin typeface="Arial" pitchFamily="34" charset="0"/>
                <a:ea typeface="Arial" pitchFamily="34" charset="-122"/>
                <a:cs typeface="Arial" pitchFamily="34" charset="-120"/>
              </a:rPr>
              <a:t>· 12-hour shifts</a:t>
            </a:r>
            <a:endParaRPr lang="en-US" sz="1200" dirty="0"/>
          </a:p>
        </p:txBody>
      </p:sp>
      <p:sp>
        <p:nvSpPr>
          <p:cNvPr id="27" name="Shape 25"/>
          <p:cNvSpPr/>
          <p:nvPr/>
        </p:nvSpPr>
        <p:spPr>
          <a:xfrm>
            <a:off x="4983480" y="2907792"/>
            <a:ext cx="3840480" cy="0"/>
          </a:xfrm>
          <a:prstGeom prst="line">
            <a:avLst/>
          </a:prstGeom>
          <a:noFill/>
          <a:ln w="6350">
            <a:solidFill>
              <a:srgbClr val="E2E8F0"/>
            </a:solidFill>
            <a:prstDash val="solid"/>
          </a:ln>
        </p:spPr>
        <p:txBody>
          <a:bodyPr/>
          <a:lstStyle/>
          <a:p>
            <a:endParaRPr lang="en-US"/>
          </a:p>
        </p:txBody>
      </p:sp>
      <p:sp>
        <p:nvSpPr>
          <p:cNvPr id="28" name="Text 26"/>
          <p:cNvSpPr/>
          <p:nvPr/>
        </p:nvSpPr>
        <p:spPr>
          <a:xfrm>
            <a:off x="4983480" y="2971800"/>
            <a:ext cx="3840480" cy="256032"/>
          </a:xfrm>
          <a:prstGeom prst="rect">
            <a:avLst/>
          </a:prstGeom>
          <a:noFill/>
          <a:ln/>
        </p:spPr>
        <p:txBody>
          <a:bodyPr wrap="square" rtlCol="0" anchor="ctr"/>
          <a:lstStyle/>
          <a:p>
            <a:pPr marL="0" indent="0">
              <a:buNone/>
            </a:pPr>
            <a:r>
              <a:rPr lang="en-US" sz="1100" b="1" dirty="0">
                <a:solidFill>
                  <a:srgbClr val="1D6A72"/>
                </a:solidFill>
                <a:latin typeface="Arial" pitchFamily="34" charset="0"/>
                <a:ea typeface="Arial" pitchFamily="34" charset="-122"/>
                <a:cs typeface="Arial" pitchFamily="34" charset="-120"/>
              </a:rPr>
              <a:t>What It Really Delivers:</a:t>
            </a:r>
            <a:endParaRPr lang="en-US" sz="1100" dirty="0"/>
          </a:p>
        </p:txBody>
      </p:sp>
      <p:sp>
        <p:nvSpPr>
          <p:cNvPr id="29" name="Text 27"/>
          <p:cNvSpPr/>
          <p:nvPr/>
        </p:nvSpPr>
        <p:spPr>
          <a:xfrm>
            <a:off x="5029200" y="3227832"/>
            <a:ext cx="3749040" cy="256032"/>
          </a:xfrm>
          <a:prstGeom prst="rect">
            <a:avLst/>
          </a:prstGeom>
          <a:noFill/>
          <a:ln/>
        </p:spPr>
        <p:txBody>
          <a:bodyPr wrap="square" rtlCol="0" anchor="ctr"/>
          <a:lstStyle/>
          <a:p>
            <a:pPr marL="0" indent="0">
              <a:buNone/>
            </a:pPr>
            <a:r>
              <a:rPr lang="en-US" sz="1200" dirty="0">
                <a:solidFill>
                  <a:srgbClr val="1A1A2E"/>
                </a:solidFill>
                <a:latin typeface="Arial" pitchFamily="34" charset="0"/>
                <a:ea typeface="Arial" pitchFamily="34" charset="-122"/>
                <a:cs typeface="Arial" pitchFamily="34" charset="-120"/>
              </a:rPr>
              <a:t>· 44-hour paycheck</a:t>
            </a:r>
            <a:endParaRPr lang="en-US" sz="1200" dirty="0"/>
          </a:p>
        </p:txBody>
      </p:sp>
      <p:sp>
        <p:nvSpPr>
          <p:cNvPr id="30" name="Text 28"/>
          <p:cNvSpPr/>
          <p:nvPr/>
        </p:nvSpPr>
        <p:spPr>
          <a:xfrm>
            <a:off x="5029200" y="3502152"/>
            <a:ext cx="3749040" cy="256032"/>
          </a:xfrm>
          <a:prstGeom prst="rect">
            <a:avLst/>
          </a:prstGeom>
          <a:noFill/>
          <a:ln/>
        </p:spPr>
        <p:txBody>
          <a:bodyPr wrap="square" rtlCol="0" anchor="ctr"/>
          <a:lstStyle/>
          <a:p>
            <a:pPr marL="0" indent="0">
              <a:buNone/>
            </a:pPr>
            <a:r>
              <a:rPr lang="en-US" sz="1200" dirty="0">
                <a:solidFill>
                  <a:srgbClr val="1A1A2E"/>
                </a:solidFill>
                <a:latin typeface="Arial" pitchFamily="34" charset="0"/>
                <a:ea typeface="Arial" pitchFamily="34" charset="-122"/>
                <a:cs typeface="Arial" pitchFamily="34" charset="-120"/>
              </a:rPr>
              <a:t>· 8-day break every month</a:t>
            </a:r>
            <a:endParaRPr lang="en-US" sz="1200" dirty="0"/>
          </a:p>
        </p:txBody>
      </p:sp>
      <p:sp>
        <p:nvSpPr>
          <p:cNvPr id="31" name="Text 29"/>
          <p:cNvSpPr/>
          <p:nvPr/>
        </p:nvSpPr>
        <p:spPr>
          <a:xfrm>
            <a:off x="5029200" y="3776472"/>
            <a:ext cx="3749040" cy="256032"/>
          </a:xfrm>
          <a:prstGeom prst="rect">
            <a:avLst/>
          </a:prstGeom>
          <a:noFill/>
          <a:ln/>
        </p:spPr>
        <p:txBody>
          <a:bodyPr wrap="square" rtlCol="0" anchor="ctr"/>
          <a:lstStyle/>
          <a:p>
            <a:pPr marL="0" indent="0">
              <a:buNone/>
            </a:pPr>
            <a:r>
              <a:rPr lang="en-US" sz="1200" dirty="0">
                <a:solidFill>
                  <a:srgbClr val="1A1A2E"/>
                </a:solidFill>
                <a:latin typeface="Arial" pitchFamily="34" charset="0"/>
                <a:ea typeface="Arial" pitchFamily="34" charset="-122"/>
                <a:cs typeface="Arial" pitchFamily="34" charset="-120"/>
              </a:rPr>
              <a:t>· 182 days of work/year</a:t>
            </a:r>
            <a:endParaRPr lang="en-US" sz="1200" dirty="0"/>
          </a:p>
        </p:txBody>
      </p:sp>
      <p:sp>
        <p:nvSpPr>
          <p:cNvPr id="32" name="Text 30"/>
          <p:cNvSpPr/>
          <p:nvPr/>
        </p:nvSpPr>
        <p:spPr>
          <a:xfrm>
            <a:off x="5029200" y="4050792"/>
            <a:ext cx="3749040" cy="256032"/>
          </a:xfrm>
          <a:prstGeom prst="rect">
            <a:avLst/>
          </a:prstGeom>
          <a:noFill/>
          <a:ln/>
        </p:spPr>
        <p:txBody>
          <a:bodyPr wrap="square" rtlCol="0" anchor="ctr"/>
          <a:lstStyle/>
          <a:p>
            <a:pPr marL="0" indent="0">
              <a:buNone/>
            </a:pPr>
            <a:r>
              <a:rPr lang="en-US" sz="1200" dirty="0">
                <a:solidFill>
                  <a:srgbClr val="1A1A2E"/>
                </a:solidFill>
                <a:latin typeface="Arial" pitchFamily="34" charset="0"/>
                <a:ea typeface="Arial" pitchFamily="34" charset="-122"/>
                <a:cs typeface="Arial" pitchFamily="34" charset="-120"/>
              </a:rPr>
              <a:t>· 3-day weekends every other week</a:t>
            </a:r>
            <a:endParaRPr lang="en-US" sz="1200" dirty="0"/>
          </a:p>
        </p:txBody>
      </p:sp>
      <p:sp>
        <p:nvSpPr>
          <p:cNvPr id="33" name="Text 31"/>
          <p:cNvSpPr/>
          <p:nvPr/>
        </p:nvSpPr>
        <p:spPr>
          <a:xfrm>
            <a:off x="5029200" y="4325112"/>
            <a:ext cx="3749040" cy="256032"/>
          </a:xfrm>
          <a:prstGeom prst="rect">
            <a:avLst/>
          </a:prstGeom>
          <a:noFill/>
          <a:ln/>
        </p:spPr>
        <p:txBody>
          <a:bodyPr wrap="square" rtlCol="0" anchor="ctr"/>
          <a:lstStyle/>
          <a:p>
            <a:pPr marL="0" indent="0">
              <a:buNone/>
            </a:pPr>
            <a:r>
              <a:rPr lang="en-US" sz="1200" dirty="0">
                <a:solidFill>
                  <a:srgbClr val="1A1A2E"/>
                </a:solidFill>
                <a:latin typeface="Arial" pitchFamily="34" charset="0"/>
                <a:ea typeface="Arial" pitchFamily="34" charset="-122"/>
                <a:cs typeface="Arial" pitchFamily="34" charset="-120"/>
              </a:rPr>
              <a:t>· 48 hrs vacation = 2 weeks off</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bg>
      <p:bgPr>
        <a:solidFill>
          <a:srgbClr val="1F4E79"/>
        </a:solidFill>
        <a:effectLst/>
      </p:bgPr>
    </p:bg>
    <p:spTree>
      <p:nvGrpSpPr>
        <p:cNvPr id="1" name=""/>
        <p:cNvGrpSpPr/>
        <p:nvPr/>
      </p:nvGrpSpPr>
      <p:grpSpPr>
        <a:xfrm>
          <a:off x="0" y="0"/>
          <a:ext cx="0" cy="0"/>
          <a:chOff x="0" y="0"/>
          <a:chExt cx="0" cy="0"/>
        </a:xfrm>
      </p:grpSpPr>
      <p:sp>
        <p:nvSpPr>
          <p:cNvPr id="2" name="Text 0"/>
          <p:cNvSpPr/>
          <p:nvPr/>
        </p:nvSpPr>
        <p:spPr>
          <a:xfrm>
            <a:off x="457200" y="914400"/>
            <a:ext cx="1828800" cy="1097280"/>
          </a:xfrm>
          <a:prstGeom prst="rect">
            <a:avLst/>
          </a:prstGeom>
          <a:noFill/>
          <a:ln/>
        </p:spPr>
        <p:txBody>
          <a:bodyPr wrap="square" rtlCol="0" anchor="ctr"/>
          <a:lstStyle/>
          <a:p>
            <a:pPr marL="0" indent="0" algn="l">
              <a:buNone/>
            </a:pPr>
            <a:r>
              <a:rPr lang="en-US" sz="7200" b="1" dirty="0">
                <a:solidFill>
                  <a:srgbClr val="E8610A"/>
                </a:solidFill>
                <a:latin typeface="Cambria" pitchFamily="34" charset="0"/>
                <a:ea typeface="Cambria" pitchFamily="34" charset="-122"/>
                <a:cs typeface="Cambria" pitchFamily="34" charset="-120"/>
              </a:rPr>
              <a:t>04</a:t>
            </a:r>
            <a:endParaRPr lang="en-US" sz="7200" dirty="0"/>
          </a:p>
        </p:txBody>
      </p:sp>
      <p:sp>
        <p:nvSpPr>
          <p:cNvPr id="3" name="Text 1"/>
          <p:cNvSpPr/>
          <p:nvPr/>
        </p:nvSpPr>
        <p:spPr>
          <a:xfrm>
            <a:off x="457200" y="2011680"/>
            <a:ext cx="8229600" cy="1005840"/>
          </a:xfrm>
          <a:prstGeom prst="rect">
            <a:avLst/>
          </a:prstGeom>
          <a:noFill/>
          <a:ln/>
        </p:spPr>
        <p:txBody>
          <a:bodyPr wrap="square"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The 5-Day Operation</a:t>
            </a:r>
            <a:endParaRPr lang="en-US" sz="3600" dirty="0"/>
          </a:p>
          <a:p>
            <a:pPr marL="0" indent="0" algn="l">
              <a:buNone/>
            </a:pPr>
            <a:r>
              <a:rPr lang="en-US" sz="3600" b="1" dirty="0">
                <a:solidFill>
                  <a:srgbClr val="FFFFFF"/>
                </a:solidFill>
                <a:latin typeface="Cambria" pitchFamily="34" charset="0"/>
                <a:ea typeface="Cambria" pitchFamily="34" charset="-122"/>
                <a:cs typeface="Cambria" pitchFamily="34" charset="-120"/>
              </a:rPr>
              <a:t>Challenge</a:t>
            </a:r>
            <a:endParaRPr lang="en-US" sz="3600" dirty="0"/>
          </a:p>
        </p:txBody>
      </p:sp>
      <p:sp>
        <p:nvSpPr>
          <p:cNvPr id="4" name="Text 2"/>
          <p:cNvSpPr/>
          <p:nvPr/>
        </p:nvSpPr>
        <p:spPr>
          <a:xfrm>
            <a:off x="457200" y="3063240"/>
            <a:ext cx="7315200" cy="502920"/>
          </a:xfrm>
          <a:prstGeom prst="rect">
            <a:avLst/>
          </a:prstGeom>
          <a:noFill/>
          <a:ln/>
        </p:spPr>
        <p:txBody>
          <a:bodyPr wrap="square" rtlCol="0" anchor="ctr"/>
          <a:lstStyle/>
          <a:p>
            <a:pPr marL="0" indent="0" algn="l">
              <a:buNone/>
            </a:pPr>
            <a:r>
              <a:rPr lang="en-US" sz="1600" i="1" dirty="0">
                <a:solidFill>
                  <a:srgbClr val="94A3B8"/>
                </a:solidFill>
                <a:latin typeface="Arial" pitchFamily="34" charset="0"/>
                <a:ea typeface="Arial" pitchFamily="34" charset="-122"/>
                <a:cs typeface="Arial" pitchFamily="34" charset="-120"/>
              </a:rPr>
              <a:t>When you need more hours — what are your options?</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marL="0" indent="0">
              <a:buNone/>
            </a:pPr>
            <a:r>
              <a:rPr lang="en-US" sz="2200" b="1" dirty="0">
                <a:solidFill>
                  <a:srgbClr val="1F4E79"/>
                </a:solidFill>
                <a:latin typeface="Cambria" pitchFamily="34" charset="0"/>
                <a:ea typeface="Cambria" pitchFamily="34" charset="-122"/>
                <a:cs typeface="Cambria" pitchFamily="34" charset="-120"/>
              </a:rPr>
              <a:t>If You Need More Hours From Your Mon–Fri Single-Shift Operation</a:t>
            </a:r>
            <a:endParaRPr lang="en-US" sz="2200" dirty="0"/>
          </a:p>
        </p:txBody>
      </p:sp>
      <p:sp>
        <p:nvSpPr>
          <p:cNvPr id="3" name="Text 1"/>
          <p:cNvSpPr/>
          <p:nvPr/>
        </p:nvSpPr>
        <p:spPr>
          <a:xfrm>
            <a:off x="457200" y="795528"/>
            <a:ext cx="8229600" cy="256032"/>
          </a:xfrm>
          <a:prstGeom prst="rect">
            <a:avLst/>
          </a:prstGeom>
          <a:noFill/>
          <a:ln/>
        </p:spPr>
        <p:txBody>
          <a:bodyPr wrap="square" rtlCol="0" anchor="ctr"/>
          <a:lstStyle/>
          <a:p>
            <a:pPr marL="0" indent="0">
              <a:buNone/>
            </a:pPr>
            <a:r>
              <a:rPr lang="en-US" sz="1200" i="1" dirty="0">
                <a:solidFill>
                  <a:srgbClr val="64748B"/>
                </a:solidFill>
                <a:latin typeface="Arial" pitchFamily="34" charset="0"/>
                <a:ea typeface="Arial" pitchFamily="34" charset="-122"/>
                <a:cs typeface="Arial" pitchFamily="34" charset="-120"/>
              </a:rPr>
              <a:t>The schedule question and the staffing question are the same question.</a:t>
            </a:r>
            <a:endParaRPr lang="en-US" sz="1200" dirty="0"/>
          </a:p>
        </p:txBody>
      </p:sp>
      <p:sp>
        <p:nvSpPr>
          <p:cNvPr id="4" name="rr"/>
          <p:cNvSpPr/>
          <p:nvPr/>
        </p:nvSpPr>
        <p:spPr>
          <a:xfrm>
            <a:off x="274320" y="1097280"/>
            <a:ext cx="2390503" cy="292608"/>
          </a:xfrm>
          <a:prstGeom prst="roundRect">
            <a:avLst>
              <a:gd name="adj" fmla="val 18750"/>
            </a:avLst>
          </a:prstGeom>
          <a:solidFill>
            <a:srgbClr val="D97706">
              <a:alpha val="40000"/>
            </a:srgbClr>
          </a:solidFill>
          <a:ln w="12700">
            <a:solidFill>
              <a:srgbClr val="D97706"/>
            </a:solidFill>
            <a:prstDash val="solid"/>
          </a:ln>
        </p:spPr>
        <p:txBody>
          <a:bodyPr/>
          <a:lstStyle/>
          <a:p>
            <a:endParaRPr lang="en-US"/>
          </a:p>
        </p:txBody>
      </p:sp>
      <p:sp>
        <p:nvSpPr>
          <p:cNvPr id="5" name="t"/>
          <p:cNvSpPr/>
          <p:nvPr/>
        </p:nvSpPr>
        <p:spPr>
          <a:xfrm>
            <a:off x="274320" y="1115568"/>
            <a:ext cx="2390503" cy="256032"/>
          </a:xfrm>
          <a:prstGeom prst="rect">
            <a:avLst/>
          </a:prstGeom>
        </p:spPr>
        <p:txBody>
          <a:bodyPr wrap="square" lIns="0" tIns="0" rIns="0" bIns="0" rtlCol="0" anchor="ctr"/>
          <a:lstStyle/>
          <a:p>
            <a:pPr marL="0" indent="0" algn="ctr">
              <a:buNone/>
            </a:pPr>
            <a:r>
              <a:rPr lang="en-US" sz="800" b="1" dirty="0">
                <a:solidFill>
                  <a:srgbClr val="D97706"/>
                </a:solidFill>
                <a:latin typeface="Arial" pitchFamily="34" charset="0"/>
                <a:ea typeface="Arial" pitchFamily="34" charset="-122"/>
                <a:cs typeface="Arial" pitchFamily="34" charset="-120"/>
              </a:rPr>
              <a:t>Short-term: overtime</a:t>
            </a:r>
          </a:p>
        </p:txBody>
      </p:sp>
      <p:sp>
        <p:nvSpPr>
          <p:cNvPr id="6" name="rr"/>
          <p:cNvSpPr/>
          <p:nvPr/>
        </p:nvSpPr>
        <p:spPr>
          <a:xfrm>
            <a:off x="2756263" y="1097280"/>
            <a:ext cx="6113417" cy="292608"/>
          </a:xfrm>
          <a:prstGeom prst="roundRect">
            <a:avLst>
              <a:gd name="adj" fmla="val 18750"/>
            </a:avLst>
          </a:prstGeom>
          <a:solidFill>
            <a:srgbClr val="1D6A72">
              <a:alpha val="40000"/>
            </a:srgbClr>
          </a:solidFill>
          <a:ln w="12700">
            <a:solidFill>
              <a:srgbClr val="1D6A72"/>
            </a:solidFill>
            <a:prstDash val="solid"/>
          </a:ln>
        </p:spPr>
        <p:txBody>
          <a:bodyPr/>
          <a:lstStyle/>
          <a:p>
            <a:endParaRPr lang="en-US"/>
          </a:p>
        </p:txBody>
      </p:sp>
      <p:sp>
        <p:nvSpPr>
          <p:cNvPr id="7" name="t"/>
          <p:cNvSpPr/>
          <p:nvPr/>
        </p:nvSpPr>
        <p:spPr>
          <a:xfrm>
            <a:off x="2756263" y="1115568"/>
            <a:ext cx="6113417" cy="256032"/>
          </a:xfrm>
          <a:prstGeom prst="rect">
            <a:avLst/>
          </a:prstGeom>
        </p:spPr>
        <p:txBody>
          <a:bodyPr wrap="square" lIns="0" tIns="0" rIns="0" bIns="0" rtlCol="0" anchor="ctr"/>
          <a:lstStyle/>
          <a:p>
            <a:pPr marL="0" indent="0" algn="ctr">
              <a:buNone/>
            </a:pPr>
            <a:r>
              <a:rPr lang="en-US" sz="800" b="1" dirty="0">
                <a:solidFill>
                  <a:srgbClr val="1D6A72"/>
                </a:solidFill>
                <a:latin typeface="Arial" pitchFamily="34" charset="0"/>
                <a:ea typeface="Arial" pitchFamily="34" charset="-122"/>
                <a:cs typeface="Arial" pitchFamily="34" charset="-120"/>
              </a:rPr>
              <a:t>Long-term: restructure (all require new hires)</a:t>
            </a:r>
          </a:p>
        </p:txBody>
      </p:sp>
      <p:sp>
        <p:nvSpPr>
          <p:cNvPr id="8" name="rr"/>
          <p:cNvSpPr/>
          <p:nvPr/>
        </p:nvSpPr>
        <p:spPr>
          <a:xfrm>
            <a:off x="274320" y="1463040"/>
            <a:ext cx="1149531" cy="3246120"/>
          </a:xfrm>
          <a:prstGeom prst="roundRect">
            <a:avLst>
              <a:gd name="adj" fmla="val 5556"/>
            </a:avLst>
          </a:prstGeom>
          <a:solidFill>
            <a:srgbClr val="F0F4F8"/>
          </a:solidFill>
          <a:ln w="19050">
            <a:solidFill>
              <a:srgbClr val="D97706"/>
            </a:solidFill>
            <a:prstDash val="solid"/>
          </a:ln>
        </p:spPr>
        <p:txBody>
          <a:bodyPr/>
          <a:lstStyle/>
          <a:p>
            <a:endParaRPr lang="en-US"/>
          </a:p>
        </p:txBody>
      </p:sp>
      <p:sp>
        <p:nvSpPr>
          <p:cNvPr id="9" name="t"/>
          <p:cNvSpPr/>
          <p:nvPr/>
        </p:nvSpPr>
        <p:spPr>
          <a:xfrm>
            <a:off x="320040" y="1499616"/>
            <a:ext cx="1058091" cy="182880"/>
          </a:xfrm>
          <a:prstGeom prst="rect">
            <a:avLst/>
          </a:prstGeom>
        </p:spPr>
        <p:txBody>
          <a:bodyPr wrap="square" lIns="0" tIns="0" rIns="0" bIns="0" rtlCol="0" anchor="ctr"/>
          <a:lstStyle/>
          <a:p>
            <a:pPr marL="0" indent="0" algn="ctr">
              <a:buNone/>
            </a:pPr>
            <a:r>
              <a:rPr lang="en-US" sz="1000" b="1" dirty="0">
                <a:solidFill>
                  <a:srgbClr val="D97706"/>
                </a:solidFill>
                <a:latin typeface="Arial" pitchFamily="34" charset="0"/>
                <a:ea typeface="Arial" pitchFamily="34" charset="-122"/>
                <a:cs typeface="Arial" pitchFamily="34" charset="-120"/>
              </a:rPr>
              <a:t>S1</a:t>
            </a:r>
          </a:p>
        </p:txBody>
      </p:sp>
      <p:sp>
        <p:nvSpPr>
          <p:cNvPr id="10" name="t"/>
          <p:cNvSpPr/>
          <p:nvPr/>
        </p:nvSpPr>
        <p:spPr>
          <a:xfrm>
            <a:off x="320040" y="1691640"/>
            <a:ext cx="1058091" cy="493776"/>
          </a:xfrm>
          <a:prstGeom prst="rect">
            <a:avLst/>
          </a:prstGeom>
        </p:spPr>
        <p:txBody>
          <a:bodyPr wrap="square" lIns="0" tIns="0" rIns="0" bIns="0" rtlCol="0" anchor="ctr"/>
          <a:lstStyle/>
          <a:p>
            <a:pPr marL="0" indent="0" algn="ctr">
              <a:buNone/>
            </a:pPr>
            <a:r>
              <a:rPr lang="en-US" sz="850" b="1" dirty="0">
                <a:solidFill>
                  <a:srgbClr val="1F4E79"/>
                </a:solidFill>
                <a:latin typeface="Cambria" pitchFamily="34" charset="0"/>
                <a:ea typeface="Cambria" pitchFamily="34" charset="-122"/>
                <a:cs typeface="Cambria" pitchFamily="34" charset="-120"/>
              </a:rPr>
              <a:t>5-day · 8-hr</a:t>
            </a:r>
          </a:p>
        </p:txBody>
      </p:sp>
      <p:sp>
        <p:nvSpPr>
          <p:cNvPr id="11" name="t"/>
          <p:cNvSpPr/>
          <p:nvPr/>
        </p:nvSpPr>
        <p:spPr>
          <a:xfrm>
            <a:off x="320040" y="2194560"/>
            <a:ext cx="1058091" cy="530352"/>
          </a:xfrm>
          <a:prstGeom prst="rect">
            <a:avLst/>
          </a:prstGeom>
        </p:spPr>
        <p:txBody>
          <a:bodyPr wrap="square" lIns="0" tIns="0" rIns="0" bIns="0" rtlCol="0" anchor="ctr"/>
          <a:lstStyle/>
          <a:p>
            <a:pPr marL="0" indent="0" algn="ctr">
              <a:buNone/>
            </a:pPr>
            <a:r>
              <a:rPr lang="en-US" sz="2600" b="1" dirty="0">
                <a:solidFill>
                  <a:srgbClr val="1D6A72"/>
                </a:solidFill>
                <a:latin typeface="Cambria" pitchFamily="34" charset="0"/>
                <a:ea typeface="Cambria" pitchFamily="34" charset="-122"/>
                <a:cs typeface="Cambria" pitchFamily="34" charset="-120"/>
              </a:rPr>
              <a:t>40</a:t>
            </a:r>
          </a:p>
        </p:txBody>
      </p:sp>
      <p:sp>
        <p:nvSpPr>
          <p:cNvPr id="12" name="t"/>
          <p:cNvSpPr/>
          <p:nvPr/>
        </p:nvSpPr>
        <p:spPr>
          <a:xfrm>
            <a:off x="320040" y="2724912"/>
            <a:ext cx="1058091" cy="164592"/>
          </a:xfrm>
          <a:prstGeom prst="rect">
            <a:avLst/>
          </a:prstGeom>
        </p:spPr>
        <p:txBody>
          <a:bodyPr wrap="square" lIns="0" tIns="0" rIns="0" bIns="0" rtlCol="0" anchor="ctr"/>
          <a:lstStyle/>
          <a:p>
            <a:pPr marL="0" indent="0" algn="ctr">
              <a:buNone/>
            </a:pPr>
            <a:r>
              <a:rPr lang="en-US" sz="750" dirty="0">
                <a:solidFill>
                  <a:srgbClr val="64748B"/>
                </a:solidFill>
                <a:latin typeface="Arial" pitchFamily="34" charset="0"/>
                <a:ea typeface="Arial" pitchFamily="34" charset="-122"/>
                <a:cs typeface="Arial" pitchFamily="34" charset="-120"/>
              </a:rPr>
              <a:t>prod hrs/wk</a:t>
            </a:r>
          </a:p>
        </p:txBody>
      </p:sp>
      <p:sp>
        <p:nvSpPr>
          <p:cNvPr id="13" name="ln"/>
          <p:cNvSpPr/>
          <p:nvPr/>
        </p:nvSpPr>
        <p:spPr>
          <a:xfrm>
            <a:off x="365760" y="2907792"/>
            <a:ext cx="966651" cy="0"/>
          </a:xfrm>
          <a:prstGeom prst="line">
            <a:avLst/>
          </a:prstGeom>
          <a:ln w="6350">
            <a:solidFill>
              <a:srgbClr val="E2E8F0"/>
            </a:solidFill>
          </a:ln>
        </p:spPr>
        <p:txBody>
          <a:bodyPr/>
          <a:lstStyle/>
          <a:p>
            <a:endParaRPr lang="en-US"/>
          </a:p>
        </p:txBody>
      </p:sp>
      <p:sp>
        <p:nvSpPr>
          <p:cNvPr id="14" name="t"/>
          <p:cNvSpPr/>
          <p:nvPr/>
        </p:nvSpPr>
        <p:spPr>
          <a:xfrm>
            <a:off x="320040" y="2944368"/>
            <a:ext cx="1058091" cy="274320"/>
          </a:xfrm>
          <a:prstGeom prst="rect">
            <a:avLst/>
          </a:prstGeom>
        </p:spPr>
        <p:txBody>
          <a:bodyPr wrap="square" lIns="0" tIns="0" rIns="0" bIns="0" rtlCol="0" anchor="ctr"/>
          <a:lstStyle/>
          <a:p>
            <a:pPr marL="0" indent="0" algn="ctr">
              <a:buNone/>
            </a:pPr>
            <a:r>
              <a:rPr lang="en-US" sz="1400" b="1" dirty="0">
                <a:solidFill>
                  <a:srgbClr val="64748B"/>
                </a:solidFill>
                <a:latin typeface="Cambria" pitchFamily="34" charset="0"/>
                <a:ea typeface="Cambria" pitchFamily="34" charset="-122"/>
                <a:cs typeface="Cambria" pitchFamily="34" charset="-120"/>
              </a:rPr>
              <a:t>40</a:t>
            </a:r>
          </a:p>
        </p:txBody>
      </p:sp>
      <p:sp>
        <p:nvSpPr>
          <p:cNvPr id="15" name="t"/>
          <p:cNvSpPr/>
          <p:nvPr/>
        </p:nvSpPr>
        <p:spPr>
          <a:xfrm>
            <a:off x="320040" y="3227832"/>
            <a:ext cx="1058091" cy="155448"/>
          </a:xfrm>
          <a:prstGeom prst="rect">
            <a:avLst/>
          </a:prstGeom>
        </p:spPr>
        <p:txBody>
          <a:bodyPr wrap="square" lIns="0" tIns="0" rIns="0" bIns="0" rtlCol="0" anchor="ctr"/>
          <a:lstStyle/>
          <a:p>
            <a:pPr marL="0" indent="0" algn="ctr">
              <a:buNone/>
            </a:pPr>
            <a:r>
              <a:rPr lang="en-US" sz="700" dirty="0">
                <a:solidFill>
                  <a:srgbClr val="94A3B8"/>
                </a:solidFill>
                <a:latin typeface="Arial" pitchFamily="34" charset="0"/>
                <a:ea typeface="Arial" pitchFamily="34" charset="-122"/>
                <a:cs typeface="Arial" pitchFamily="34" charset="-120"/>
              </a:rPr>
              <a:t>hrs/employee/wk</a:t>
            </a:r>
          </a:p>
        </p:txBody>
      </p:sp>
      <p:sp>
        <p:nvSpPr>
          <p:cNvPr id="16" name="ln"/>
          <p:cNvSpPr/>
          <p:nvPr/>
        </p:nvSpPr>
        <p:spPr>
          <a:xfrm>
            <a:off x="365760" y="3401568"/>
            <a:ext cx="966651" cy="0"/>
          </a:xfrm>
          <a:prstGeom prst="line">
            <a:avLst/>
          </a:prstGeom>
          <a:ln w="6350">
            <a:solidFill>
              <a:srgbClr val="E2E8F0"/>
            </a:solidFill>
          </a:ln>
        </p:spPr>
        <p:txBody>
          <a:bodyPr/>
          <a:lstStyle/>
          <a:p>
            <a:endParaRPr lang="en-US"/>
          </a:p>
        </p:txBody>
      </p:sp>
      <p:sp>
        <p:nvSpPr>
          <p:cNvPr id="17" name="t"/>
          <p:cNvSpPr/>
          <p:nvPr/>
        </p:nvSpPr>
        <p:spPr>
          <a:xfrm>
            <a:off x="320040" y="3456432"/>
            <a:ext cx="1058091" cy="731520"/>
          </a:xfrm>
          <a:prstGeom prst="rect">
            <a:avLst/>
          </a:prstGeom>
        </p:spPr>
        <p:txBody>
          <a:bodyPr wrap="square" lIns="0" tIns="0" rIns="0" bIns="0" rtlCol="0" anchor="ctr"/>
          <a:lstStyle/>
          <a:p>
            <a:pPr marL="0" indent="0" algn="ctr">
              <a:buNone/>
            </a:pPr>
            <a:r>
              <a:rPr lang="en-US" sz="800" dirty="0">
                <a:solidFill>
                  <a:srgbClr val="1A1A2E"/>
                </a:solidFill>
                <a:latin typeface="Arial" pitchFamily="34" charset="0"/>
                <a:ea typeface="Arial" pitchFamily="34" charset="-122"/>
                <a:cs typeface="Arial" pitchFamily="34" charset="-120"/>
              </a:rPr>
              <a:t>No restructure</a:t>
            </a:r>
          </a:p>
          <a:p>
            <a:pPr marL="0" indent="0" algn="ctr">
              <a:buNone/>
            </a:pPr>
            <a:r>
              <a:rPr lang="en-US" sz="800" dirty="0">
                <a:solidFill>
                  <a:srgbClr val="1A1A2E"/>
                </a:solidFill>
                <a:latin typeface="Arial" pitchFamily="34" charset="0"/>
                <a:ea typeface="Arial" pitchFamily="34" charset="-122"/>
                <a:cs typeface="Arial" pitchFamily="34" charset="-120"/>
              </a:rPr>
              <a:t>Reversible</a:t>
            </a:r>
          </a:p>
          <a:p>
            <a:pPr marL="0" indent="0" algn="ctr">
              <a:buNone/>
            </a:pPr>
            <a:r>
              <a:rPr lang="en-US" sz="800" dirty="0">
                <a:solidFill>
                  <a:srgbClr val="1A1A2E"/>
                </a:solidFill>
                <a:latin typeface="Arial" pitchFamily="34" charset="0"/>
                <a:ea typeface="Arial" pitchFamily="34" charset="-122"/>
                <a:cs typeface="Arial" pitchFamily="34" charset="-120"/>
              </a:rPr>
              <a:t>No new hires</a:t>
            </a:r>
          </a:p>
        </p:txBody>
      </p:sp>
      <p:sp>
        <p:nvSpPr>
          <p:cNvPr id="18" name="rr"/>
          <p:cNvSpPr/>
          <p:nvPr/>
        </p:nvSpPr>
        <p:spPr>
          <a:xfrm>
            <a:off x="320040" y="4334256"/>
            <a:ext cx="1058091" cy="274320"/>
          </a:xfrm>
          <a:prstGeom prst="roundRect">
            <a:avLst>
              <a:gd name="adj" fmla="val 20000"/>
            </a:avLst>
          </a:prstGeom>
          <a:solidFill>
            <a:srgbClr val="D97706"/>
          </a:solidFill>
          <a:ln w="12700">
            <a:solidFill>
              <a:srgbClr val="D97706"/>
            </a:solidFill>
            <a:prstDash val="solid"/>
          </a:ln>
        </p:spPr>
        <p:txBody>
          <a:bodyPr/>
          <a:lstStyle/>
          <a:p>
            <a:endParaRPr lang="en-US"/>
          </a:p>
        </p:txBody>
      </p:sp>
      <p:sp>
        <p:nvSpPr>
          <p:cNvPr id="19" name="t"/>
          <p:cNvSpPr/>
          <p:nvPr/>
        </p:nvSpPr>
        <p:spPr>
          <a:xfrm>
            <a:off x="320040" y="4334256"/>
            <a:ext cx="1058091" cy="274320"/>
          </a:xfrm>
          <a:prstGeom prst="rect">
            <a:avLst/>
          </a:prstGeom>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Baseline</a:t>
            </a:r>
          </a:p>
        </p:txBody>
      </p:sp>
      <p:sp>
        <p:nvSpPr>
          <p:cNvPr id="20" name="rr"/>
          <p:cNvSpPr/>
          <p:nvPr/>
        </p:nvSpPr>
        <p:spPr>
          <a:xfrm>
            <a:off x="1515291" y="1463040"/>
            <a:ext cx="1149531" cy="3246120"/>
          </a:xfrm>
          <a:prstGeom prst="roundRect">
            <a:avLst>
              <a:gd name="adj" fmla="val 5556"/>
            </a:avLst>
          </a:prstGeom>
          <a:solidFill>
            <a:srgbClr val="F0F4F8"/>
          </a:solidFill>
          <a:ln w="19050">
            <a:solidFill>
              <a:srgbClr val="D97706"/>
            </a:solidFill>
            <a:prstDash val="solid"/>
          </a:ln>
        </p:spPr>
        <p:txBody>
          <a:bodyPr/>
          <a:lstStyle/>
          <a:p>
            <a:endParaRPr lang="en-US"/>
          </a:p>
        </p:txBody>
      </p:sp>
      <p:sp>
        <p:nvSpPr>
          <p:cNvPr id="21" name="t"/>
          <p:cNvSpPr/>
          <p:nvPr/>
        </p:nvSpPr>
        <p:spPr>
          <a:xfrm>
            <a:off x="1561011" y="1499616"/>
            <a:ext cx="1058091" cy="182880"/>
          </a:xfrm>
          <a:prstGeom prst="rect">
            <a:avLst/>
          </a:prstGeom>
        </p:spPr>
        <p:txBody>
          <a:bodyPr wrap="square" lIns="0" tIns="0" rIns="0" bIns="0" rtlCol="0" anchor="ctr"/>
          <a:lstStyle/>
          <a:p>
            <a:pPr marL="0" indent="0" algn="ctr">
              <a:buNone/>
            </a:pPr>
            <a:r>
              <a:rPr lang="en-US" sz="1000" b="1" dirty="0">
                <a:solidFill>
                  <a:srgbClr val="D97706"/>
                </a:solidFill>
                <a:latin typeface="Arial" pitchFamily="34" charset="0"/>
                <a:ea typeface="Arial" pitchFamily="34" charset="-122"/>
                <a:cs typeface="Arial" pitchFamily="34" charset="-120"/>
              </a:rPr>
              <a:t>S2</a:t>
            </a:r>
          </a:p>
        </p:txBody>
      </p:sp>
      <p:sp>
        <p:nvSpPr>
          <p:cNvPr id="22" name="t"/>
          <p:cNvSpPr/>
          <p:nvPr/>
        </p:nvSpPr>
        <p:spPr>
          <a:xfrm>
            <a:off x="1561011" y="1691640"/>
            <a:ext cx="1058091" cy="493776"/>
          </a:xfrm>
          <a:prstGeom prst="rect">
            <a:avLst/>
          </a:prstGeom>
        </p:spPr>
        <p:txBody>
          <a:bodyPr wrap="square" lIns="0" tIns="0" rIns="0" bIns="0" rtlCol="0" anchor="ctr"/>
          <a:lstStyle/>
          <a:p>
            <a:pPr marL="0" indent="0" algn="ctr">
              <a:buNone/>
            </a:pPr>
            <a:r>
              <a:rPr lang="en-US" sz="850" b="1" dirty="0">
                <a:solidFill>
                  <a:srgbClr val="1F4E79"/>
                </a:solidFill>
                <a:latin typeface="Cambria" pitchFamily="34" charset="0"/>
                <a:ea typeface="Cambria" pitchFamily="34" charset="-122"/>
                <a:cs typeface="Cambria" pitchFamily="34" charset="-120"/>
              </a:rPr>
              <a:t>5-day · 10-hr</a:t>
            </a:r>
          </a:p>
        </p:txBody>
      </p:sp>
      <p:sp>
        <p:nvSpPr>
          <p:cNvPr id="23" name="t"/>
          <p:cNvSpPr/>
          <p:nvPr/>
        </p:nvSpPr>
        <p:spPr>
          <a:xfrm>
            <a:off x="1561011" y="2194560"/>
            <a:ext cx="1058091" cy="530352"/>
          </a:xfrm>
          <a:prstGeom prst="rect">
            <a:avLst/>
          </a:prstGeom>
        </p:spPr>
        <p:txBody>
          <a:bodyPr wrap="square" lIns="0" tIns="0" rIns="0" bIns="0" rtlCol="0" anchor="ctr"/>
          <a:lstStyle/>
          <a:p>
            <a:pPr marL="0" indent="0" algn="ctr">
              <a:buNone/>
            </a:pPr>
            <a:r>
              <a:rPr lang="en-US" sz="2600" b="1" dirty="0">
                <a:solidFill>
                  <a:srgbClr val="1D6A72"/>
                </a:solidFill>
                <a:latin typeface="Cambria" pitchFamily="34" charset="0"/>
                <a:ea typeface="Cambria" pitchFamily="34" charset="-122"/>
                <a:cs typeface="Cambria" pitchFamily="34" charset="-120"/>
              </a:rPr>
              <a:t>50</a:t>
            </a:r>
          </a:p>
        </p:txBody>
      </p:sp>
      <p:sp>
        <p:nvSpPr>
          <p:cNvPr id="24" name="t"/>
          <p:cNvSpPr/>
          <p:nvPr/>
        </p:nvSpPr>
        <p:spPr>
          <a:xfrm>
            <a:off x="1561011" y="2724912"/>
            <a:ext cx="1058091" cy="164592"/>
          </a:xfrm>
          <a:prstGeom prst="rect">
            <a:avLst/>
          </a:prstGeom>
        </p:spPr>
        <p:txBody>
          <a:bodyPr wrap="square" lIns="0" tIns="0" rIns="0" bIns="0" rtlCol="0" anchor="ctr"/>
          <a:lstStyle/>
          <a:p>
            <a:pPr marL="0" indent="0" algn="ctr">
              <a:buNone/>
            </a:pPr>
            <a:r>
              <a:rPr lang="en-US" sz="750" dirty="0">
                <a:solidFill>
                  <a:srgbClr val="64748B"/>
                </a:solidFill>
                <a:latin typeface="Arial" pitchFamily="34" charset="0"/>
                <a:ea typeface="Arial" pitchFamily="34" charset="-122"/>
                <a:cs typeface="Arial" pitchFamily="34" charset="-120"/>
              </a:rPr>
              <a:t>prod hrs/wk</a:t>
            </a:r>
          </a:p>
        </p:txBody>
      </p:sp>
      <p:sp>
        <p:nvSpPr>
          <p:cNvPr id="25" name="ln"/>
          <p:cNvSpPr/>
          <p:nvPr/>
        </p:nvSpPr>
        <p:spPr>
          <a:xfrm>
            <a:off x="1606731" y="2907792"/>
            <a:ext cx="966651" cy="0"/>
          </a:xfrm>
          <a:prstGeom prst="line">
            <a:avLst/>
          </a:prstGeom>
          <a:ln w="6350">
            <a:solidFill>
              <a:srgbClr val="E2E8F0"/>
            </a:solidFill>
          </a:ln>
        </p:spPr>
        <p:txBody>
          <a:bodyPr/>
          <a:lstStyle/>
          <a:p>
            <a:endParaRPr lang="en-US"/>
          </a:p>
        </p:txBody>
      </p:sp>
      <p:sp>
        <p:nvSpPr>
          <p:cNvPr id="26" name="t"/>
          <p:cNvSpPr/>
          <p:nvPr/>
        </p:nvSpPr>
        <p:spPr>
          <a:xfrm>
            <a:off x="1561011" y="2944368"/>
            <a:ext cx="1058091" cy="274320"/>
          </a:xfrm>
          <a:prstGeom prst="rect">
            <a:avLst/>
          </a:prstGeom>
        </p:spPr>
        <p:txBody>
          <a:bodyPr wrap="square" lIns="0" tIns="0" rIns="0" bIns="0" rtlCol="0" anchor="ctr"/>
          <a:lstStyle/>
          <a:p>
            <a:pPr marL="0" indent="0" algn="ctr">
              <a:buNone/>
            </a:pPr>
            <a:r>
              <a:rPr lang="en-US" sz="1400" b="1" dirty="0">
                <a:solidFill>
                  <a:srgbClr val="64748B"/>
                </a:solidFill>
                <a:latin typeface="Cambria" pitchFamily="34" charset="0"/>
                <a:ea typeface="Cambria" pitchFamily="34" charset="-122"/>
                <a:cs typeface="Cambria" pitchFamily="34" charset="-120"/>
              </a:rPr>
              <a:t>50</a:t>
            </a:r>
          </a:p>
        </p:txBody>
      </p:sp>
      <p:sp>
        <p:nvSpPr>
          <p:cNvPr id="27" name="t"/>
          <p:cNvSpPr/>
          <p:nvPr/>
        </p:nvSpPr>
        <p:spPr>
          <a:xfrm>
            <a:off x="1561011" y="3227832"/>
            <a:ext cx="1058091" cy="155448"/>
          </a:xfrm>
          <a:prstGeom prst="rect">
            <a:avLst/>
          </a:prstGeom>
        </p:spPr>
        <p:txBody>
          <a:bodyPr wrap="square" lIns="0" tIns="0" rIns="0" bIns="0" rtlCol="0" anchor="ctr"/>
          <a:lstStyle/>
          <a:p>
            <a:pPr marL="0" indent="0" algn="ctr">
              <a:buNone/>
            </a:pPr>
            <a:r>
              <a:rPr lang="en-US" sz="700" dirty="0">
                <a:solidFill>
                  <a:srgbClr val="94A3B8"/>
                </a:solidFill>
                <a:latin typeface="Arial" pitchFamily="34" charset="0"/>
                <a:ea typeface="Arial" pitchFamily="34" charset="-122"/>
                <a:cs typeface="Arial" pitchFamily="34" charset="-120"/>
              </a:rPr>
              <a:t>hrs/employee/wk</a:t>
            </a:r>
          </a:p>
        </p:txBody>
      </p:sp>
      <p:sp>
        <p:nvSpPr>
          <p:cNvPr id="28" name="ln"/>
          <p:cNvSpPr/>
          <p:nvPr/>
        </p:nvSpPr>
        <p:spPr>
          <a:xfrm>
            <a:off x="1606731" y="3401568"/>
            <a:ext cx="966651" cy="0"/>
          </a:xfrm>
          <a:prstGeom prst="line">
            <a:avLst/>
          </a:prstGeom>
          <a:ln w="6350">
            <a:solidFill>
              <a:srgbClr val="E2E8F0"/>
            </a:solidFill>
          </a:ln>
        </p:spPr>
        <p:txBody>
          <a:bodyPr/>
          <a:lstStyle/>
          <a:p>
            <a:endParaRPr lang="en-US"/>
          </a:p>
        </p:txBody>
      </p:sp>
      <p:sp>
        <p:nvSpPr>
          <p:cNvPr id="29" name="t"/>
          <p:cNvSpPr/>
          <p:nvPr/>
        </p:nvSpPr>
        <p:spPr>
          <a:xfrm>
            <a:off x="1561011" y="3456432"/>
            <a:ext cx="1058091" cy="731520"/>
          </a:xfrm>
          <a:prstGeom prst="rect">
            <a:avLst/>
          </a:prstGeom>
        </p:spPr>
        <p:txBody>
          <a:bodyPr wrap="square" lIns="0" tIns="0" rIns="0" bIns="0" rtlCol="0" anchor="ctr"/>
          <a:lstStyle/>
          <a:p>
            <a:pPr marL="0" indent="0" algn="ctr">
              <a:buNone/>
            </a:pPr>
            <a:r>
              <a:rPr lang="en-US" sz="800" dirty="0">
                <a:solidFill>
                  <a:srgbClr val="1A1A2E"/>
                </a:solidFill>
                <a:latin typeface="Arial" pitchFamily="34" charset="0"/>
                <a:ea typeface="Arial" pitchFamily="34" charset="-122"/>
                <a:cs typeface="Arial" pitchFamily="34" charset="-120"/>
              </a:rPr>
              <a:t>Same 12 people</a:t>
            </a:r>
          </a:p>
          <a:p>
            <a:pPr marL="0" indent="0" algn="ctr">
              <a:buNone/>
            </a:pPr>
            <a:r>
              <a:rPr lang="en-US" sz="800" dirty="0">
                <a:solidFill>
                  <a:srgbClr val="1A1A2E"/>
                </a:solidFill>
                <a:latin typeface="Arial" pitchFamily="34" charset="0"/>
                <a:ea typeface="Arial" pitchFamily="34" charset="-122"/>
                <a:cs typeface="Arial" pitchFamily="34" charset="-120"/>
              </a:rPr>
              <a:t>OT after 40 hrs</a:t>
            </a:r>
          </a:p>
          <a:p>
            <a:pPr marL="0" indent="0" algn="ctr">
              <a:buNone/>
            </a:pPr>
            <a:r>
              <a:rPr lang="en-US" sz="800" dirty="0">
                <a:solidFill>
                  <a:srgbClr val="1A1A2E"/>
                </a:solidFill>
                <a:latin typeface="Arial" pitchFamily="34" charset="0"/>
                <a:ea typeface="Arial" pitchFamily="34" charset="-122"/>
                <a:cs typeface="Arial" pitchFamily="34" charset="-120"/>
              </a:rPr>
              <a:t>No new hires</a:t>
            </a:r>
          </a:p>
        </p:txBody>
      </p:sp>
      <p:sp>
        <p:nvSpPr>
          <p:cNvPr id="30" name="rr"/>
          <p:cNvSpPr/>
          <p:nvPr/>
        </p:nvSpPr>
        <p:spPr>
          <a:xfrm>
            <a:off x="1561011" y="4334256"/>
            <a:ext cx="1058091" cy="274320"/>
          </a:xfrm>
          <a:prstGeom prst="roundRect">
            <a:avLst>
              <a:gd name="adj" fmla="val 20000"/>
            </a:avLst>
          </a:prstGeom>
          <a:solidFill>
            <a:srgbClr val="1D6A72"/>
          </a:solidFill>
          <a:ln w="12700">
            <a:solidFill>
              <a:srgbClr val="1D6A72"/>
            </a:solidFill>
            <a:prstDash val="solid"/>
          </a:ln>
        </p:spPr>
        <p:txBody>
          <a:bodyPr/>
          <a:lstStyle/>
          <a:p>
            <a:endParaRPr lang="en-US"/>
          </a:p>
        </p:txBody>
      </p:sp>
      <p:sp>
        <p:nvSpPr>
          <p:cNvPr id="31" name="t"/>
          <p:cNvSpPr/>
          <p:nvPr/>
        </p:nvSpPr>
        <p:spPr>
          <a:xfrm>
            <a:off x="1561011" y="4334256"/>
            <a:ext cx="1058091" cy="274320"/>
          </a:xfrm>
          <a:prstGeom prst="rect">
            <a:avLst/>
          </a:prstGeom>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+25%</a:t>
            </a:r>
          </a:p>
        </p:txBody>
      </p:sp>
      <p:sp>
        <p:nvSpPr>
          <p:cNvPr id="32" name="rr"/>
          <p:cNvSpPr/>
          <p:nvPr/>
        </p:nvSpPr>
        <p:spPr>
          <a:xfrm>
            <a:off x="2756263" y="1463040"/>
            <a:ext cx="1149531" cy="3246120"/>
          </a:xfrm>
          <a:prstGeom prst="roundRect">
            <a:avLst>
              <a:gd name="adj" fmla="val 5556"/>
            </a:avLst>
          </a:prstGeom>
          <a:solidFill>
            <a:srgbClr val="F0F4F8"/>
          </a:solidFill>
          <a:ln w="19050">
            <a:solidFill>
              <a:srgbClr val="1D6A72"/>
            </a:solidFill>
            <a:prstDash val="solid"/>
          </a:ln>
        </p:spPr>
        <p:txBody>
          <a:bodyPr/>
          <a:lstStyle/>
          <a:p>
            <a:endParaRPr lang="en-US"/>
          </a:p>
        </p:txBody>
      </p:sp>
      <p:sp>
        <p:nvSpPr>
          <p:cNvPr id="33" name="t"/>
          <p:cNvSpPr/>
          <p:nvPr/>
        </p:nvSpPr>
        <p:spPr>
          <a:xfrm>
            <a:off x="2801983" y="1499616"/>
            <a:ext cx="1058091" cy="182880"/>
          </a:xfrm>
          <a:prstGeom prst="rect">
            <a:avLst/>
          </a:prstGeom>
        </p:spPr>
        <p:txBody>
          <a:bodyPr wrap="square" lIns="0" tIns="0" rIns="0" bIns="0" rtlCol="0" anchor="ctr"/>
          <a:lstStyle/>
          <a:p>
            <a:pPr marL="0" indent="0" algn="ctr">
              <a:buNone/>
            </a:pPr>
            <a:r>
              <a:rPr lang="en-US" sz="1000" b="1" dirty="0">
                <a:solidFill>
                  <a:srgbClr val="1D6A72"/>
                </a:solidFill>
                <a:latin typeface="Arial" pitchFamily="34" charset="0"/>
                <a:ea typeface="Arial" pitchFamily="34" charset="-122"/>
                <a:cs typeface="Arial" pitchFamily="34" charset="-120"/>
              </a:rPr>
              <a:t>S3</a:t>
            </a:r>
          </a:p>
        </p:txBody>
      </p:sp>
      <p:sp>
        <p:nvSpPr>
          <p:cNvPr id="34" name="t"/>
          <p:cNvSpPr/>
          <p:nvPr/>
        </p:nvSpPr>
        <p:spPr>
          <a:xfrm>
            <a:off x="2801983" y="1691640"/>
            <a:ext cx="1058091" cy="493776"/>
          </a:xfrm>
          <a:prstGeom prst="rect">
            <a:avLst/>
          </a:prstGeom>
        </p:spPr>
        <p:txBody>
          <a:bodyPr wrap="square" lIns="0" tIns="0" rIns="0" bIns="0" rtlCol="0" anchor="ctr"/>
          <a:lstStyle/>
          <a:p>
            <a:pPr marL="0" indent="0" algn="ctr">
              <a:buNone/>
            </a:pPr>
            <a:r>
              <a:rPr lang="en-US" sz="850" b="1" dirty="0">
                <a:solidFill>
                  <a:srgbClr val="1F4E79"/>
                </a:solidFill>
                <a:latin typeface="Cambria" pitchFamily="34" charset="0"/>
                <a:ea typeface="Cambria" pitchFamily="34" charset="-122"/>
                <a:cs typeface="Cambria" pitchFamily="34" charset="-120"/>
              </a:rPr>
              <a:t>5-day stagger · 10-hr</a:t>
            </a:r>
          </a:p>
        </p:txBody>
      </p:sp>
      <p:sp>
        <p:nvSpPr>
          <p:cNvPr id="35" name="t"/>
          <p:cNvSpPr/>
          <p:nvPr/>
        </p:nvSpPr>
        <p:spPr>
          <a:xfrm>
            <a:off x="2801983" y="2194560"/>
            <a:ext cx="1058091" cy="530352"/>
          </a:xfrm>
          <a:prstGeom prst="rect">
            <a:avLst/>
          </a:prstGeom>
        </p:spPr>
        <p:txBody>
          <a:bodyPr wrap="square" lIns="0" tIns="0" rIns="0" bIns="0" rtlCol="0" anchor="ctr"/>
          <a:lstStyle/>
          <a:p>
            <a:pPr marL="0" indent="0" algn="ctr">
              <a:buNone/>
            </a:pPr>
            <a:r>
              <a:rPr lang="en-US" sz="2600" b="1" dirty="0">
                <a:solidFill>
                  <a:srgbClr val="1D6A72"/>
                </a:solidFill>
                <a:latin typeface="Cambria" pitchFamily="34" charset="0"/>
                <a:ea typeface="Cambria" pitchFamily="34" charset="-122"/>
                <a:cs typeface="Cambria" pitchFamily="34" charset="-120"/>
              </a:rPr>
              <a:t>50</a:t>
            </a:r>
          </a:p>
        </p:txBody>
      </p:sp>
      <p:sp>
        <p:nvSpPr>
          <p:cNvPr id="36" name="t"/>
          <p:cNvSpPr/>
          <p:nvPr/>
        </p:nvSpPr>
        <p:spPr>
          <a:xfrm>
            <a:off x="2801983" y="2724912"/>
            <a:ext cx="1058091" cy="164592"/>
          </a:xfrm>
          <a:prstGeom prst="rect">
            <a:avLst/>
          </a:prstGeom>
        </p:spPr>
        <p:txBody>
          <a:bodyPr wrap="square" lIns="0" tIns="0" rIns="0" bIns="0" rtlCol="0" anchor="ctr"/>
          <a:lstStyle/>
          <a:p>
            <a:pPr marL="0" indent="0" algn="ctr">
              <a:buNone/>
            </a:pPr>
            <a:r>
              <a:rPr lang="en-US" sz="750" dirty="0">
                <a:solidFill>
                  <a:srgbClr val="64748B"/>
                </a:solidFill>
                <a:latin typeface="Arial" pitchFamily="34" charset="0"/>
                <a:ea typeface="Arial" pitchFamily="34" charset="-122"/>
                <a:cs typeface="Arial" pitchFamily="34" charset="-120"/>
              </a:rPr>
              <a:t>prod hrs/wk</a:t>
            </a:r>
          </a:p>
        </p:txBody>
      </p:sp>
      <p:sp>
        <p:nvSpPr>
          <p:cNvPr id="37" name="ln"/>
          <p:cNvSpPr/>
          <p:nvPr/>
        </p:nvSpPr>
        <p:spPr>
          <a:xfrm>
            <a:off x="2847703" y="2907792"/>
            <a:ext cx="966651" cy="0"/>
          </a:xfrm>
          <a:prstGeom prst="line">
            <a:avLst/>
          </a:prstGeom>
          <a:ln w="6350">
            <a:solidFill>
              <a:srgbClr val="E2E8F0"/>
            </a:solidFill>
          </a:ln>
        </p:spPr>
        <p:txBody>
          <a:bodyPr/>
          <a:lstStyle/>
          <a:p>
            <a:endParaRPr lang="en-US"/>
          </a:p>
        </p:txBody>
      </p:sp>
      <p:sp>
        <p:nvSpPr>
          <p:cNvPr id="38" name="t"/>
          <p:cNvSpPr/>
          <p:nvPr/>
        </p:nvSpPr>
        <p:spPr>
          <a:xfrm>
            <a:off x="2801983" y="2944368"/>
            <a:ext cx="1058091" cy="274320"/>
          </a:xfrm>
          <a:prstGeom prst="rect">
            <a:avLst/>
          </a:prstGeom>
        </p:spPr>
        <p:txBody>
          <a:bodyPr wrap="square" lIns="0" tIns="0" rIns="0" bIns="0" rtlCol="0" anchor="ctr"/>
          <a:lstStyle/>
          <a:p>
            <a:pPr marL="0" indent="0" algn="ctr">
              <a:buNone/>
            </a:pPr>
            <a:r>
              <a:rPr lang="en-US" sz="1400" b="1" dirty="0">
                <a:solidFill>
                  <a:srgbClr val="64748B"/>
                </a:solidFill>
                <a:latin typeface="Cambria" pitchFamily="34" charset="0"/>
                <a:ea typeface="Cambria" pitchFamily="34" charset="-122"/>
                <a:cs typeface="Cambria" pitchFamily="34" charset="-120"/>
              </a:rPr>
              <a:t>40</a:t>
            </a:r>
          </a:p>
        </p:txBody>
      </p:sp>
      <p:sp>
        <p:nvSpPr>
          <p:cNvPr id="39" name="t"/>
          <p:cNvSpPr/>
          <p:nvPr/>
        </p:nvSpPr>
        <p:spPr>
          <a:xfrm>
            <a:off x="2801983" y="3227832"/>
            <a:ext cx="1058091" cy="155448"/>
          </a:xfrm>
          <a:prstGeom prst="rect">
            <a:avLst/>
          </a:prstGeom>
        </p:spPr>
        <p:txBody>
          <a:bodyPr wrap="square" lIns="0" tIns="0" rIns="0" bIns="0" rtlCol="0" anchor="ctr"/>
          <a:lstStyle/>
          <a:p>
            <a:pPr marL="0" indent="0" algn="ctr">
              <a:buNone/>
            </a:pPr>
            <a:r>
              <a:rPr lang="en-US" sz="700" dirty="0">
                <a:solidFill>
                  <a:srgbClr val="94A3B8"/>
                </a:solidFill>
                <a:latin typeface="Arial" pitchFamily="34" charset="0"/>
                <a:ea typeface="Arial" pitchFamily="34" charset="-122"/>
                <a:cs typeface="Arial" pitchFamily="34" charset="-120"/>
              </a:rPr>
              <a:t>hrs/employee/wk</a:t>
            </a:r>
          </a:p>
        </p:txBody>
      </p:sp>
      <p:sp>
        <p:nvSpPr>
          <p:cNvPr id="40" name="ln"/>
          <p:cNvSpPr/>
          <p:nvPr/>
        </p:nvSpPr>
        <p:spPr>
          <a:xfrm>
            <a:off x="2847703" y="3401568"/>
            <a:ext cx="966651" cy="0"/>
          </a:xfrm>
          <a:prstGeom prst="line">
            <a:avLst/>
          </a:prstGeom>
          <a:ln w="6350">
            <a:solidFill>
              <a:srgbClr val="E2E8F0"/>
            </a:solidFill>
          </a:ln>
        </p:spPr>
        <p:txBody>
          <a:bodyPr/>
          <a:lstStyle/>
          <a:p>
            <a:endParaRPr lang="en-US"/>
          </a:p>
        </p:txBody>
      </p:sp>
      <p:sp>
        <p:nvSpPr>
          <p:cNvPr id="41" name="t"/>
          <p:cNvSpPr/>
          <p:nvPr/>
        </p:nvSpPr>
        <p:spPr>
          <a:xfrm>
            <a:off x="2801983" y="3456432"/>
            <a:ext cx="1058091" cy="731520"/>
          </a:xfrm>
          <a:prstGeom prst="rect">
            <a:avLst/>
          </a:prstGeom>
        </p:spPr>
        <p:txBody>
          <a:bodyPr wrap="square" lIns="0" tIns="0" rIns="0" bIns="0" rtlCol="0" anchor="ctr"/>
          <a:lstStyle/>
          <a:p>
            <a:pPr marL="0" indent="0" algn="ctr">
              <a:buNone/>
            </a:pPr>
            <a:r>
              <a:rPr lang="en-US" sz="800" dirty="0">
                <a:solidFill>
                  <a:srgbClr val="1A1A2E"/>
                </a:solidFill>
                <a:latin typeface="Arial" pitchFamily="34" charset="0"/>
                <a:ea typeface="Arial" pitchFamily="34" charset="-122"/>
                <a:cs typeface="Arial" pitchFamily="34" charset="-120"/>
              </a:rPr>
              <a:t>+4 hires</a:t>
            </a:r>
          </a:p>
          <a:p>
            <a:pPr marL="0" indent="0" algn="ctr">
              <a:buNone/>
            </a:pPr>
            <a:r>
              <a:rPr lang="en-US" sz="800" dirty="0">
                <a:solidFill>
                  <a:srgbClr val="1A1A2E"/>
                </a:solidFill>
                <a:latin typeface="Arial" pitchFamily="34" charset="0"/>
                <a:ea typeface="Arial" pitchFamily="34" charset="-122"/>
                <a:cs typeface="Arial" pitchFamily="34" charset="-120"/>
              </a:rPr>
              <a:t>No OT</a:t>
            </a:r>
          </a:p>
          <a:p>
            <a:pPr marL="0" indent="0" algn="ctr">
              <a:buNone/>
            </a:pPr>
            <a:r>
              <a:rPr lang="en-US" sz="800" dirty="0">
                <a:solidFill>
                  <a:srgbClr val="1A1A2E"/>
                </a:solidFill>
                <a:latin typeface="Arial" pitchFamily="34" charset="0"/>
                <a:ea typeface="Arial" pitchFamily="34" charset="-122"/>
                <a:cs typeface="Arial" pitchFamily="34" charset="-120"/>
              </a:rPr>
              <a:t>Daily buffer</a:t>
            </a:r>
          </a:p>
        </p:txBody>
      </p:sp>
      <p:sp>
        <p:nvSpPr>
          <p:cNvPr id="42" name="rr"/>
          <p:cNvSpPr/>
          <p:nvPr/>
        </p:nvSpPr>
        <p:spPr>
          <a:xfrm>
            <a:off x="2801983" y="4334256"/>
            <a:ext cx="1058091" cy="274320"/>
          </a:xfrm>
          <a:prstGeom prst="roundRect">
            <a:avLst>
              <a:gd name="adj" fmla="val 20000"/>
            </a:avLst>
          </a:prstGeom>
          <a:solidFill>
            <a:srgbClr val="1D6A72"/>
          </a:solidFill>
          <a:ln w="12700">
            <a:solidFill>
              <a:srgbClr val="1D6A72"/>
            </a:solidFill>
            <a:prstDash val="solid"/>
          </a:ln>
        </p:spPr>
        <p:txBody>
          <a:bodyPr/>
          <a:lstStyle/>
          <a:p>
            <a:endParaRPr lang="en-US"/>
          </a:p>
        </p:txBody>
      </p:sp>
      <p:sp>
        <p:nvSpPr>
          <p:cNvPr id="43" name="t"/>
          <p:cNvSpPr/>
          <p:nvPr/>
        </p:nvSpPr>
        <p:spPr>
          <a:xfrm>
            <a:off x="2801983" y="4334256"/>
            <a:ext cx="1058091" cy="274320"/>
          </a:xfrm>
          <a:prstGeom prst="rect">
            <a:avLst/>
          </a:prstGeom>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+25%</a:t>
            </a:r>
          </a:p>
        </p:txBody>
      </p:sp>
      <p:sp>
        <p:nvSpPr>
          <p:cNvPr id="44" name="rr"/>
          <p:cNvSpPr/>
          <p:nvPr/>
        </p:nvSpPr>
        <p:spPr>
          <a:xfrm>
            <a:off x="3997234" y="1463040"/>
            <a:ext cx="1149531" cy="3246120"/>
          </a:xfrm>
          <a:prstGeom prst="roundRect">
            <a:avLst>
              <a:gd name="adj" fmla="val 5556"/>
            </a:avLst>
          </a:prstGeom>
          <a:solidFill>
            <a:srgbClr val="F0F4F8"/>
          </a:solidFill>
          <a:ln w="19050">
            <a:solidFill>
              <a:srgbClr val="1D6A72"/>
            </a:solidFill>
            <a:prstDash val="solid"/>
          </a:ln>
        </p:spPr>
        <p:txBody>
          <a:bodyPr/>
          <a:lstStyle/>
          <a:p>
            <a:endParaRPr lang="en-US"/>
          </a:p>
        </p:txBody>
      </p:sp>
      <p:sp>
        <p:nvSpPr>
          <p:cNvPr id="45" name="t"/>
          <p:cNvSpPr/>
          <p:nvPr/>
        </p:nvSpPr>
        <p:spPr>
          <a:xfrm>
            <a:off x="4042954" y="1499616"/>
            <a:ext cx="1058091" cy="182880"/>
          </a:xfrm>
          <a:prstGeom prst="rect">
            <a:avLst/>
          </a:prstGeom>
        </p:spPr>
        <p:txBody>
          <a:bodyPr wrap="square" lIns="0" tIns="0" rIns="0" bIns="0" rtlCol="0" anchor="ctr"/>
          <a:lstStyle/>
          <a:p>
            <a:pPr marL="0" indent="0" algn="ctr">
              <a:buNone/>
            </a:pPr>
            <a:r>
              <a:rPr lang="en-US" sz="1000" b="1" dirty="0">
                <a:solidFill>
                  <a:srgbClr val="1D6A72"/>
                </a:solidFill>
                <a:latin typeface="Arial" pitchFamily="34" charset="0"/>
                <a:ea typeface="Arial" pitchFamily="34" charset="-122"/>
                <a:cs typeface="Arial" pitchFamily="34" charset="-120"/>
              </a:rPr>
              <a:t>S4</a:t>
            </a:r>
          </a:p>
        </p:txBody>
      </p:sp>
      <p:sp>
        <p:nvSpPr>
          <p:cNvPr id="46" name="t"/>
          <p:cNvSpPr/>
          <p:nvPr/>
        </p:nvSpPr>
        <p:spPr>
          <a:xfrm>
            <a:off x="4042954" y="1691640"/>
            <a:ext cx="1058091" cy="493776"/>
          </a:xfrm>
          <a:prstGeom prst="rect">
            <a:avLst/>
          </a:prstGeom>
        </p:spPr>
        <p:txBody>
          <a:bodyPr wrap="square" lIns="0" tIns="0" rIns="0" bIns="0" rtlCol="0" anchor="ctr"/>
          <a:lstStyle/>
          <a:p>
            <a:pPr marL="0" indent="0" algn="ctr">
              <a:buNone/>
            </a:pPr>
            <a:r>
              <a:rPr lang="en-US" sz="850" b="1" dirty="0">
                <a:solidFill>
                  <a:srgbClr val="1F4E79"/>
                </a:solidFill>
                <a:latin typeface="Cambria" pitchFamily="34" charset="0"/>
                <a:ea typeface="Cambria" pitchFamily="34" charset="-122"/>
                <a:cs typeface="Cambria" pitchFamily="34" charset="-120"/>
              </a:rPr>
              <a:t>5-day · 12-hr</a:t>
            </a:r>
          </a:p>
        </p:txBody>
      </p:sp>
      <p:sp>
        <p:nvSpPr>
          <p:cNvPr id="47" name="t"/>
          <p:cNvSpPr/>
          <p:nvPr/>
        </p:nvSpPr>
        <p:spPr>
          <a:xfrm>
            <a:off x="4042954" y="2194560"/>
            <a:ext cx="1058091" cy="530352"/>
          </a:xfrm>
          <a:prstGeom prst="rect">
            <a:avLst/>
          </a:prstGeom>
        </p:spPr>
        <p:txBody>
          <a:bodyPr wrap="square" lIns="0" tIns="0" rIns="0" bIns="0" rtlCol="0" anchor="ctr"/>
          <a:lstStyle/>
          <a:p>
            <a:pPr marL="0" indent="0" algn="ctr">
              <a:buNone/>
            </a:pPr>
            <a:r>
              <a:rPr lang="en-US" sz="2600" b="1" dirty="0">
                <a:solidFill>
                  <a:srgbClr val="1D6A72"/>
                </a:solidFill>
                <a:latin typeface="Cambria" pitchFamily="34" charset="0"/>
                <a:ea typeface="Cambria" pitchFamily="34" charset="-122"/>
                <a:cs typeface="Cambria" pitchFamily="34" charset="-120"/>
              </a:rPr>
              <a:t>60</a:t>
            </a:r>
          </a:p>
        </p:txBody>
      </p:sp>
      <p:sp>
        <p:nvSpPr>
          <p:cNvPr id="48" name="t"/>
          <p:cNvSpPr/>
          <p:nvPr/>
        </p:nvSpPr>
        <p:spPr>
          <a:xfrm>
            <a:off x="4042954" y="2724912"/>
            <a:ext cx="1058091" cy="164592"/>
          </a:xfrm>
          <a:prstGeom prst="rect">
            <a:avLst/>
          </a:prstGeom>
        </p:spPr>
        <p:txBody>
          <a:bodyPr wrap="square" lIns="0" tIns="0" rIns="0" bIns="0" rtlCol="0" anchor="ctr"/>
          <a:lstStyle/>
          <a:p>
            <a:pPr marL="0" indent="0" algn="ctr">
              <a:buNone/>
            </a:pPr>
            <a:r>
              <a:rPr lang="en-US" sz="750" dirty="0">
                <a:solidFill>
                  <a:srgbClr val="64748B"/>
                </a:solidFill>
                <a:latin typeface="Arial" pitchFamily="34" charset="0"/>
                <a:ea typeface="Arial" pitchFamily="34" charset="-122"/>
                <a:cs typeface="Arial" pitchFamily="34" charset="-120"/>
              </a:rPr>
              <a:t>prod hrs/wk</a:t>
            </a:r>
          </a:p>
        </p:txBody>
      </p:sp>
      <p:sp>
        <p:nvSpPr>
          <p:cNvPr id="49" name="ln"/>
          <p:cNvSpPr/>
          <p:nvPr/>
        </p:nvSpPr>
        <p:spPr>
          <a:xfrm>
            <a:off x="4088674" y="2907792"/>
            <a:ext cx="966651" cy="0"/>
          </a:xfrm>
          <a:prstGeom prst="line">
            <a:avLst/>
          </a:prstGeom>
          <a:ln w="6350">
            <a:solidFill>
              <a:srgbClr val="E2E8F0"/>
            </a:solidFill>
          </a:ln>
        </p:spPr>
        <p:txBody>
          <a:bodyPr/>
          <a:lstStyle/>
          <a:p>
            <a:endParaRPr lang="en-US"/>
          </a:p>
        </p:txBody>
      </p:sp>
      <p:sp>
        <p:nvSpPr>
          <p:cNvPr id="50" name="t"/>
          <p:cNvSpPr/>
          <p:nvPr/>
        </p:nvSpPr>
        <p:spPr>
          <a:xfrm>
            <a:off x="4042954" y="2944368"/>
            <a:ext cx="1058091" cy="274320"/>
          </a:xfrm>
          <a:prstGeom prst="rect">
            <a:avLst/>
          </a:prstGeom>
        </p:spPr>
        <p:txBody>
          <a:bodyPr wrap="square" lIns="0" tIns="0" rIns="0" bIns="0" rtlCol="0" anchor="ctr"/>
          <a:lstStyle/>
          <a:p>
            <a:pPr marL="0" indent="0" algn="ctr">
              <a:buNone/>
            </a:pPr>
            <a:r>
              <a:rPr lang="en-US" sz="1400" b="1" dirty="0">
                <a:solidFill>
                  <a:srgbClr val="64748B"/>
                </a:solidFill>
                <a:latin typeface="Cambria" pitchFamily="34" charset="0"/>
                <a:ea typeface="Cambria" pitchFamily="34" charset="-122"/>
                <a:cs typeface="Cambria" pitchFamily="34" charset="-120"/>
              </a:rPr>
              <a:t>40–48</a:t>
            </a:r>
          </a:p>
        </p:txBody>
      </p:sp>
      <p:sp>
        <p:nvSpPr>
          <p:cNvPr id="51" name="t"/>
          <p:cNvSpPr/>
          <p:nvPr/>
        </p:nvSpPr>
        <p:spPr>
          <a:xfrm>
            <a:off x="4042954" y="3227832"/>
            <a:ext cx="1058091" cy="155448"/>
          </a:xfrm>
          <a:prstGeom prst="rect">
            <a:avLst/>
          </a:prstGeom>
        </p:spPr>
        <p:txBody>
          <a:bodyPr wrap="square" lIns="0" tIns="0" rIns="0" bIns="0" rtlCol="0" anchor="ctr"/>
          <a:lstStyle/>
          <a:p>
            <a:pPr marL="0" indent="0" algn="ctr">
              <a:buNone/>
            </a:pPr>
            <a:r>
              <a:rPr lang="en-US" sz="700" dirty="0">
                <a:solidFill>
                  <a:srgbClr val="94A3B8"/>
                </a:solidFill>
                <a:latin typeface="Arial" pitchFamily="34" charset="0"/>
                <a:ea typeface="Arial" pitchFamily="34" charset="-122"/>
                <a:cs typeface="Arial" pitchFamily="34" charset="-120"/>
              </a:rPr>
              <a:t>hrs/employee/wk</a:t>
            </a:r>
          </a:p>
        </p:txBody>
      </p:sp>
      <p:sp>
        <p:nvSpPr>
          <p:cNvPr id="52" name="ln"/>
          <p:cNvSpPr/>
          <p:nvPr/>
        </p:nvSpPr>
        <p:spPr>
          <a:xfrm>
            <a:off x="4088674" y="3401568"/>
            <a:ext cx="966651" cy="0"/>
          </a:xfrm>
          <a:prstGeom prst="line">
            <a:avLst/>
          </a:prstGeom>
          <a:ln w="6350">
            <a:solidFill>
              <a:srgbClr val="E2E8F0"/>
            </a:solidFill>
          </a:ln>
        </p:spPr>
        <p:txBody>
          <a:bodyPr/>
          <a:lstStyle/>
          <a:p>
            <a:endParaRPr lang="en-US"/>
          </a:p>
        </p:txBody>
      </p:sp>
      <p:sp>
        <p:nvSpPr>
          <p:cNvPr id="53" name="t"/>
          <p:cNvSpPr/>
          <p:nvPr/>
        </p:nvSpPr>
        <p:spPr>
          <a:xfrm>
            <a:off x="4042954" y="3456432"/>
            <a:ext cx="1058091" cy="731520"/>
          </a:xfrm>
          <a:prstGeom prst="rect">
            <a:avLst/>
          </a:prstGeom>
        </p:spPr>
        <p:txBody>
          <a:bodyPr wrap="square" lIns="0" tIns="0" rIns="0" bIns="0" rtlCol="0" anchor="ctr"/>
          <a:lstStyle/>
          <a:p>
            <a:pPr marL="0" indent="0" algn="ctr">
              <a:buNone/>
            </a:pPr>
            <a:r>
              <a:rPr lang="en-US" sz="800" dirty="0">
                <a:solidFill>
                  <a:srgbClr val="1A1A2E"/>
                </a:solidFill>
                <a:latin typeface="Arial" pitchFamily="34" charset="0"/>
                <a:ea typeface="Arial" pitchFamily="34" charset="-122"/>
                <a:cs typeface="Arial" pitchFamily="34" charset="-120"/>
              </a:rPr>
              <a:t>+6 hires</a:t>
            </a:r>
          </a:p>
          <a:p>
            <a:pPr marL="0" indent="0" algn="ctr">
              <a:buNone/>
            </a:pPr>
            <a:r>
              <a:rPr lang="en-US" sz="800" dirty="0">
                <a:solidFill>
                  <a:srgbClr val="1A1A2E"/>
                </a:solidFill>
                <a:latin typeface="Arial" pitchFamily="34" charset="0"/>
                <a:ea typeface="Arial" pitchFamily="34" charset="-122"/>
                <a:cs typeface="Arial" pitchFamily="34" charset="-120"/>
              </a:rPr>
              <a:t>Longer shifts</a:t>
            </a:r>
          </a:p>
          <a:p>
            <a:pPr marL="0" indent="0" algn="ctr">
              <a:buNone/>
            </a:pPr>
            <a:r>
              <a:rPr lang="en-US" sz="800" dirty="0">
                <a:solidFill>
                  <a:srgbClr val="1A1A2E"/>
                </a:solidFill>
                <a:latin typeface="Arial" pitchFamily="34" charset="0"/>
                <a:ea typeface="Arial" pitchFamily="34" charset="-122"/>
                <a:cs typeface="Arial" pitchFamily="34" charset="-120"/>
              </a:rPr>
              <a:t>Uneven load</a:t>
            </a:r>
          </a:p>
        </p:txBody>
      </p:sp>
      <p:sp>
        <p:nvSpPr>
          <p:cNvPr id="54" name="rr"/>
          <p:cNvSpPr/>
          <p:nvPr/>
        </p:nvSpPr>
        <p:spPr>
          <a:xfrm>
            <a:off x="4042954" y="4334256"/>
            <a:ext cx="1058091" cy="274320"/>
          </a:xfrm>
          <a:prstGeom prst="roundRect">
            <a:avLst>
              <a:gd name="adj" fmla="val 20000"/>
            </a:avLst>
          </a:prstGeom>
          <a:solidFill>
            <a:srgbClr val="1D6A72"/>
          </a:solidFill>
          <a:ln w="12700">
            <a:solidFill>
              <a:srgbClr val="1D6A72"/>
            </a:solidFill>
            <a:prstDash val="solid"/>
          </a:ln>
        </p:spPr>
        <p:txBody>
          <a:bodyPr/>
          <a:lstStyle/>
          <a:p>
            <a:endParaRPr lang="en-US"/>
          </a:p>
        </p:txBody>
      </p:sp>
      <p:sp>
        <p:nvSpPr>
          <p:cNvPr id="55" name="t"/>
          <p:cNvSpPr/>
          <p:nvPr/>
        </p:nvSpPr>
        <p:spPr>
          <a:xfrm>
            <a:off x="4042954" y="4334256"/>
            <a:ext cx="1058091" cy="274320"/>
          </a:xfrm>
          <a:prstGeom prst="rect">
            <a:avLst/>
          </a:prstGeom>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+50%</a:t>
            </a:r>
          </a:p>
        </p:txBody>
      </p:sp>
      <p:sp>
        <p:nvSpPr>
          <p:cNvPr id="56" name="rr"/>
          <p:cNvSpPr/>
          <p:nvPr/>
        </p:nvSpPr>
        <p:spPr>
          <a:xfrm>
            <a:off x="5238206" y="1463040"/>
            <a:ext cx="1149531" cy="3246120"/>
          </a:xfrm>
          <a:prstGeom prst="roundRect">
            <a:avLst>
              <a:gd name="adj" fmla="val 5556"/>
            </a:avLst>
          </a:prstGeom>
          <a:solidFill>
            <a:srgbClr val="F0F4F8"/>
          </a:solidFill>
          <a:ln w="19050">
            <a:solidFill>
              <a:srgbClr val="1D6A72"/>
            </a:solidFill>
            <a:prstDash val="solid"/>
          </a:ln>
        </p:spPr>
        <p:txBody>
          <a:bodyPr/>
          <a:lstStyle/>
          <a:p>
            <a:endParaRPr lang="en-US"/>
          </a:p>
        </p:txBody>
      </p:sp>
      <p:sp>
        <p:nvSpPr>
          <p:cNvPr id="57" name="t"/>
          <p:cNvSpPr/>
          <p:nvPr/>
        </p:nvSpPr>
        <p:spPr>
          <a:xfrm>
            <a:off x="5283926" y="1499616"/>
            <a:ext cx="1058091" cy="182880"/>
          </a:xfrm>
          <a:prstGeom prst="rect">
            <a:avLst/>
          </a:prstGeom>
        </p:spPr>
        <p:txBody>
          <a:bodyPr wrap="square" lIns="0" tIns="0" rIns="0" bIns="0" rtlCol="0" anchor="ctr"/>
          <a:lstStyle/>
          <a:p>
            <a:pPr marL="0" indent="0" algn="ctr">
              <a:buNone/>
            </a:pPr>
            <a:r>
              <a:rPr lang="en-US" sz="1000" b="1" dirty="0">
                <a:solidFill>
                  <a:srgbClr val="1D6A72"/>
                </a:solidFill>
                <a:latin typeface="Arial" pitchFamily="34" charset="0"/>
                <a:ea typeface="Arial" pitchFamily="34" charset="-122"/>
                <a:cs typeface="Arial" pitchFamily="34" charset="-120"/>
              </a:rPr>
              <a:t>S5</a:t>
            </a:r>
          </a:p>
        </p:txBody>
      </p:sp>
      <p:sp>
        <p:nvSpPr>
          <p:cNvPr id="58" name="t"/>
          <p:cNvSpPr/>
          <p:nvPr/>
        </p:nvSpPr>
        <p:spPr>
          <a:xfrm>
            <a:off x="5283926" y="1691640"/>
            <a:ext cx="1058091" cy="493776"/>
          </a:xfrm>
          <a:prstGeom prst="rect">
            <a:avLst/>
          </a:prstGeom>
        </p:spPr>
        <p:txBody>
          <a:bodyPr wrap="square" lIns="0" tIns="0" rIns="0" bIns="0" rtlCol="0" anchor="ctr"/>
          <a:lstStyle/>
          <a:p>
            <a:pPr marL="0" indent="0" algn="ctr">
              <a:buNone/>
            </a:pPr>
            <a:r>
              <a:rPr lang="en-US" sz="850" b="1" dirty="0">
                <a:solidFill>
                  <a:srgbClr val="1F4E79"/>
                </a:solidFill>
                <a:latin typeface="Cambria" pitchFamily="34" charset="0"/>
                <a:ea typeface="Cambria" pitchFamily="34" charset="-122"/>
                <a:cs typeface="Cambria" pitchFamily="34" charset="-120"/>
              </a:rPr>
              <a:t>6-day stagger · 10-hr</a:t>
            </a:r>
          </a:p>
        </p:txBody>
      </p:sp>
      <p:sp>
        <p:nvSpPr>
          <p:cNvPr id="59" name="t"/>
          <p:cNvSpPr/>
          <p:nvPr/>
        </p:nvSpPr>
        <p:spPr>
          <a:xfrm>
            <a:off x="5283926" y="2194560"/>
            <a:ext cx="1058091" cy="530352"/>
          </a:xfrm>
          <a:prstGeom prst="rect">
            <a:avLst/>
          </a:prstGeom>
        </p:spPr>
        <p:txBody>
          <a:bodyPr wrap="square" lIns="0" tIns="0" rIns="0" bIns="0" rtlCol="0" anchor="ctr"/>
          <a:lstStyle/>
          <a:p>
            <a:pPr marL="0" indent="0" algn="ctr">
              <a:buNone/>
            </a:pPr>
            <a:r>
              <a:rPr lang="en-US" sz="2600" b="1" dirty="0">
                <a:solidFill>
                  <a:srgbClr val="1D6A72"/>
                </a:solidFill>
                <a:latin typeface="Cambria" pitchFamily="34" charset="0"/>
                <a:ea typeface="Cambria" pitchFamily="34" charset="-122"/>
                <a:cs typeface="Cambria" pitchFamily="34" charset="-120"/>
              </a:rPr>
              <a:t>60</a:t>
            </a:r>
          </a:p>
        </p:txBody>
      </p:sp>
      <p:sp>
        <p:nvSpPr>
          <p:cNvPr id="60" name="t"/>
          <p:cNvSpPr/>
          <p:nvPr/>
        </p:nvSpPr>
        <p:spPr>
          <a:xfrm>
            <a:off x="5283926" y="2724912"/>
            <a:ext cx="1058091" cy="164592"/>
          </a:xfrm>
          <a:prstGeom prst="rect">
            <a:avLst/>
          </a:prstGeom>
        </p:spPr>
        <p:txBody>
          <a:bodyPr wrap="square" lIns="0" tIns="0" rIns="0" bIns="0" rtlCol="0" anchor="ctr"/>
          <a:lstStyle/>
          <a:p>
            <a:pPr marL="0" indent="0" algn="ctr">
              <a:buNone/>
            </a:pPr>
            <a:r>
              <a:rPr lang="en-US" sz="750" dirty="0">
                <a:solidFill>
                  <a:srgbClr val="64748B"/>
                </a:solidFill>
                <a:latin typeface="Arial" pitchFamily="34" charset="0"/>
                <a:ea typeface="Arial" pitchFamily="34" charset="-122"/>
                <a:cs typeface="Arial" pitchFamily="34" charset="-120"/>
              </a:rPr>
              <a:t>prod hrs/wk</a:t>
            </a:r>
          </a:p>
        </p:txBody>
      </p:sp>
      <p:sp>
        <p:nvSpPr>
          <p:cNvPr id="61" name="ln"/>
          <p:cNvSpPr/>
          <p:nvPr/>
        </p:nvSpPr>
        <p:spPr>
          <a:xfrm>
            <a:off x="5329646" y="2907792"/>
            <a:ext cx="966651" cy="0"/>
          </a:xfrm>
          <a:prstGeom prst="line">
            <a:avLst/>
          </a:prstGeom>
          <a:ln w="6350">
            <a:solidFill>
              <a:srgbClr val="E2E8F0"/>
            </a:solidFill>
          </a:ln>
        </p:spPr>
        <p:txBody>
          <a:bodyPr/>
          <a:lstStyle/>
          <a:p>
            <a:endParaRPr lang="en-US"/>
          </a:p>
        </p:txBody>
      </p:sp>
      <p:sp>
        <p:nvSpPr>
          <p:cNvPr id="62" name="t"/>
          <p:cNvSpPr/>
          <p:nvPr/>
        </p:nvSpPr>
        <p:spPr>
          <a:xfrm>
            <a:off x="5283926" y="2944368"/>
            <a:ext cx="1058091" cy="274320"/>
          </a:xfrm>
          <a:prstGeom prst="rect">
            <a:avLst/>
          </a:prstGeom>
        </p:spPr>
        <p:txBody>
          <a:bodyPr wrap="square" lIns="0" tIns="0" rIns="0" bIns="0" rtlCol="0" anchor="ctr"/>
          <a:lstStyle/>
          <a:p>
            <a:pPr marL="0" indent="0" algn="ctr">
              <a:buNone/>
            </a:pPr>
            <a:r>
              <a:rPr lang="en-US" sz="1400" b="1" dirty="0">
                <a:solidFill>
                  <a:srgbClr val="64748B"/>
                </a:solidFill>
                <a:latin typeface="Cambria" pitchFamily="34" charset="0"/>
                <a:ea typeface="Cambria" pitchFamily="34" charset="-122"/>
                <a:cs typeface="Cambria" pitchFamily="34" charset="-120"/>
              </a:rPr>
              <a:t>40</a:t>
            </a:r>
          </a:p>
        </p:txBody>
      </p:sp>
      <p:sp>
        <p:nvSpPr>
          <p:cNvPr id="63" name="t"/>
          <p:cNvSpPr/>
          <p:nvPr/>
        </p:nvSpPr>
        <p:spPr>
          <a:xfrm>
            <a:off x="5283926" y="3227832"/>
            <a:ext cx="1058091" cy="155448"/>
          </a:xfrm>
          <a:prstGeom prst="rect">
            <a:avLst/>
          </a:prstGeom>
        </p:spPr>
        <p:txBody>
          <a:bodyPr wrap="square" lIns="0" tIns="0" rIns="0" bIns="0" rtlCol="0" anchor="ctr"/>
          <a:lstStyle/>
          <a:p>
            <a:pPr marL="0" indent="0" algn="ctr">
              <a:buNone/>
            </a:pPr>
            <a:r>
              <a:rPr lang="en-US" sz="700" dirty="0">
                <a:solidFill>
                  <a:srgbClr val="94A3B8"/>
                </a:solidFill>
                <a:latin typeface="Arial" pitchFamily="34" charset="0"/>
                <a:ea typeface="Arial" pitchFamily="34" charset="-122"/>
                <a:cs typeface="Arial" pitchFamily="34" charset="-120"/>
              </a:rPr>
              <a:t>hrs/employee/wk</a:t>
            </a:r>
          </a:p>
        </p:txBody>
      </p:sp>
      <p:sp>
        <p:nvSpPr>
          <p:cNvPr id="64" name="ln"/>
          <p:cNvSpPr/>
          <p:nvPr/>
        </p:nvSpPr>
        <p:spPr>
          <a:xfrm>
            <a:off x="5329646" y="3401568"/>
            <a:ext cx="966651" cy="0"/>
          </a:xfrm>
          <a:prstGeom prst="line">
            <a:avLst/>
          </a:prstGeom>
          <a:ln w="6350">
            <a:solidFill>
              <a:srgbClr val="E2E8F0"/>
            </a:solidFill>
          </a:ln>
        </p:spPr>
        <p:txBody>
          <a:bodyPr/>
          <a:lstStyle/>
          <a:p>
            <a:endParaRPr lang="en-US"/>
          </a:p>
        </p:txBody>
      </p:sp>
      <p:sp>
        <p:nvSpPr>
          <p:cNvPr id="65" name="t"/>
          <p:cNvSpPr/>
          <p:nvPr/>
        </p:nvSpPr>
        <p:spPr>
          <a:xfrm>
            <a:off x="5283926" y="3456432"/>
            <a:ext cx="1058091" cy="731520"/>
          </a:xfrm>
          <a:prstGeom prst="rect">
            <a:avLst/>
          </a:prstGeom>
        </p:spPr>
        <p:txBody>
          <a:bodyPr wrap="square" lIns="0" tIns="0" rIns="0" bIns="0" rtlCol="0" anchor="ctr"/>
          <a:lstStyle/>
          <a:p>
            <a:pPr marL="0" indent="0" algn="ctr">
              <a:buNone/>
            </a:pPr>
            <a:r>
              <a:rPr lang="en-US" sz="800" dirty="0">
                <a:solidFill>
                  <a:srgbClr val="1A1A2E"/>
                </a:solidFill>
                <a:latin typeface="Arial" pitchFamily="34" charset="0"/>
                <a:ea typeface="Arial" pitchFamily="34" charset="-122"/>
                <a:cs typeface="Arial" pitchFamily="34" charset="-120"/>
              </a:rPr>
              <a:t>+6 hires</a:t>
            </a:r>
          </a:p>
          <a:p>
            <a:pPr marL="0" indent="0" algn="ctr">
              <a:buNone/>
            </a:pPr>
            <a:r>
              <a:rPr lang="en-US" sz="800" dirty="0">
                <a:solidFill>
                  <a:srgbClr val="1A1A2E"/>
                </a:solidFill>
                <a:latin typeface="Arial" pitchFamily="34" charset="0"/>
                <a:ea typeface="Arial" pitchFamily="34" charset="-122"/>
                <a:cs typeface="Arial" pitchFamily="34" charset="-120"/>
              </a:rPr>
              <a:t>No OT</a:t>
            </a:r>
          </a:p>
          <a:p>
            <a:pPr marL="0" indent="0" algn="ctr">
              <a:buNone/>
            </a:pPr>
            <a:r>
              <a:rPr lang="en-US" sz="800" dirty="0">
                <a:solidFill>
                  <a:srgbClr val="1A1A2E"/>
                </a:solidFill>
                <a:latin typeface="Arial" pitchFamily="34" charset="0"/>
                <a:ea typeface="Arial" pitchFamily="34" charset="-122"/>
                <a:cs typeface="Arial" pitchFamily="34" charset="-120"/>
              </a:rPr>
              <a:t>Sat coverage</a:t>
            </a:r>
          </a:p>
        </p:txBody>
      </p:sp>
      <p:sp>
        <p:nvSpPr>
          <p:cNvPr id="66" name="rr"/>
          <p:cNvSpPr/>
          <p:nvPr/>
        </p:nvSpPr>
        <p:spPr>
          <a:xfrm>
            <a:off x="5283926" y="4334256"/>
            <a:ext cx="1058091" cy="274320"/>
          </a:xfrm>
          <a:prstGeom prst="roundRect">
            <a:avLst>
              <a:gd name="adj" fmla="val 20000"/>
            </a:avLst>
          </a:prstGeom>
          <a:solidFill>
            <a:srgbClr val="1D6A72"/>
          </a:solidFill>
          <a:ln w="12700">
            <a:solidFill>
              <a:srgbClr val="1D6A72"/>
            </a:solidFill>
            <a:prstDash val="solid"/>
          </a:ln>
        </p:spPr>
        <p:txBody>
          <a:bodyPr/>
          <a:lstStyle/>
          <a:p>
            <a:endParaRPr lang="en-US"/>
          </a:p>
        </p:txBody>
      </p:sp>
      <p:sp>
        <p:nvSpPr>
          <p:cNvPr id="67" name="t"/>
          <p:cNvSpPr/>
          <p:nvPr/>
        </p:nvSpPr>
        <p:spPr>
          <a:xfrm>
            <a:off x="5283926" y="4334256"/>
            <a:ext cx="1058091" cy="274320"/>
          </a:xfrm>
          <a:prstGeom prst="rect">
            <a:avLst/>
          </a:prstGeom>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+50%</a:t>
            </a:r>
          </a:p>
        </p:txBody>
      </p:sp>
      <p:sp>
        <p:nvSpPr>
          <p:cNvPr id="68" name="rr"/>
          <p:cNvSpPr/>
          <p:nvPr/>
        </p:nvSpPr>
        <p:spPr>
          <a:xfrm>
            <a:off x="6479177" y="1463040"/>
            <a:ext cx="1149531" cy="3246120"/>
          </a:xfrm>
          <a:prstGeom prst="roundRect">
            <a:avLst>
              <a:gd name="adj" fmla="val 5556"/>
            </a:avLst>
          </a:prstGeom>
          <a:solidFill>
            <a:srgbClr val="F0F4F8"/>
          </a:solidFill>
          <a:ln w="19050">
            <a:solidFill>
              <a:srgbClr val="1D6A72"/>
            </a:solidFill>
            <a:prstDash val="solid"/>
          </a:ln>
        </p:spPr>
        <p:txBody>
          <a:bodyPr/>
          <a:lstStyle/>
          <a:p>
            <a:endParaRPr lang="en-US"/>
          </a:p>
        </p:txBody>
      </p:sp>
      <p:sp>
        <p:nvSpPr>
          <p:cNvPr id="69" name="t"/>
          <p:cNvSpPr/>
          <p:nvPr/>
        </p:nvSpPr>
        <p:spPr>
          <a:xfrm>
            <a:off x="6524897" y="1499616"/>
            <a:ext cx="1058091" cy="182880"/>
          </a:xfrm>
          <a:prstGeom prst="rect">
            <a:avLst/>
          </a:prstGeom>
        </p:spPr>
        <p:txBody>
          <a:bodyPr wrap="square" lIns="0" tIns="0" rIns="0" bIns="0" rtlCol="0" anchor="ctr"/>
          <a:lstStyle/>
          <a:p>
            <a:pPr marL="0" indent="0" algn="ctr">
              <a:buNone/>
            </a:pPr>
            <a:r>
              <a:rPr lang="en-US" sz="1000" b="1" dirty="0">
                <a:solidFill>
                  <a:srgbClr val="1D6A72"/>
                </a:solidFill>
                <a:latin typeface="Arial" pitchFamily="34" charset="0"/>
                <a:ea typeface="Arial" pitchFamily="34" charset="-122"/>
                <a:cs typeface="Arial" pitchFamily="34" charset="-120"/>
              </a:rPr>
              <a:t>S6</a:t>
            </a:r>
          </a:p>
        </p:txBody>
      </p:sp>
      <p:sp>
        <p:nvSpPr>
          <p:cNvPr id="70" name="t"/>
          <p:cNvSpPr/>
          <p:nvPr/>
        </p:nvSpPr>
        <p:spPr>
          <a:xfrm>
            <a:off x="6524897" y="1691640"/>
            <a:ext cx="1058091" cy="493776"/>
          </a:xfrm>
          <a:prstGeom prst="rect">
            <a:avLst/>
          </a:prstGeom>
        </p:spPr>
        <p:txBody>
          <a:bodyPr wrap="square" lIns="0" tIns="0" rIns="0" bIns="0" rtlCol="0" anchor="ctr"/>
          <a:lstStyle/>
          <a:p>
            <a:pPr marL="0" indent="0" algn="ctr">
              <a:buNone/>
            </a:pPr>
            <a:r>
              <a:rPr lang="en-US" sz="850" b="1" dirty="0">
                <a:solidFill>
                  <a:srgbClr val="1F4E79"/>
                </a:solidFill>
                <a:latin typeface="Cambria" pitchFamily="34" charset="0"/>
                <a:ea typeface="Cambria" pitchFamily="34" charset="-122"/>
                <a:cs typeface="Cambria" pitchFamily="34" charset="-120"/>
              </a:rPr>
              <a:t>6-day · 12-hr</a:t>
            </a:r>
          </a:p>
        </p:txBody>
      </p:sp>
      <p:sp>
        <p:nvSpPr>
          <p:cNvPr id="71" name="t"/>
          <p:cNvSpPr/>
          <p:nvPr/>
        </p:nvSpPr>
        <p:spPr>
          <a:xfrm>
            <a:off x="6524897" y="2194560"/>
            <a:ext cx="1058091" cy="530352"/>
          </a:xfrm>
          <a:prstGeom prst="rect">
            <a:avLst/>
          </a:prstGeom>
        </p:spPr>
        <p:txBody>
          <a:bodyPr wrap="square" lIns="0" tIns="0" rIns="0" bIns="0" rtlCol="0" anchor="ctr"/>
          <a:lstStyle/>
          <a:p>
            <a:pPr marL="0" indent="0" algn="ctr">
              <a:buNone/>
            </a:pPr>
            <a:r>
              <a:rPr lang="en-US" sz="2600" b="1" dirty="0">
                <a:solidFill>
                  <a:srgbClr val="1D6A72"/>
                </a:solidFill>
                <a:latin typeface="Cambria" pitchFamily="34" charset="0"/>
                <a:ea typeface="Cambria" pitchFamily="34" charset="-122"/>
                <a:cs typeface="Cambria" pitchFamily="34" charset="-120"/>
              </a:rPr>
              <a:t>72</a:t>
            </a:r>
          </a:p>
        </p:txBody>
      </p:sp>
      <p:sp>
        <p:nvSpPr>
          <p:cNvPr id="72" name="t"/>
          <p:cNvSpPr/>
          <p:nvPr/>
        </p:nvSpPr>
        <p:spPr>
          <a:xfrm>
            <a:off x="6524897" y="2724912"/>
            <a:ext cx="1058091" cy="164592"/>
          </a:xfrm>
          <a:prstGeom prst="rect">
            <a:avLst/>
          </a:prstGeom>
        </p:spPr>
        <p:txBody>
          <a:bodyPr wrap="square" lIns="0" tIns="0" rIns="0" bIns="0" rtlCol="0" anchor="ctr"/>
          <a:lstStyle/>
          <a:p>
            <a:pPr marL="0" indent="0" algn="ctr">
              <a:buNone/>
            </a:pPr>
            <a:r>
              <a:rPr lang="en-US" sz="750" dirty="0">
                <a:solidFill>
                  <a:srgbClr val="64748B"/>
                </a:solidFill>
                <a:latin typeface="Arial" pitchFamily="34" charset="0"/>
                <a:ea typeface="Arial" pitchFamily="34" charset="-122"/>
                <a:cs typeface="Arial" pitchFamily="34" charset="-120"/>
              </a:rPr>
              <a:t>prod hrs/wk</a:t>
            </a:r>
          </a:p>
        </p:txBody>
      </p:sp>
      <p:sp>
        <p:nvSpPr>
          <p:cNvPr id="73" name="ln"/>
          <p:cNvSpPr/>
          <p:nvPr/>
        </p:nvSpPr>
        <p:spPr>
          <a:xfrm>
            <a:off x="6570617" y="2907792"/>
            <a:ext cx="966651" cy="0"/>
          </a:xfrm>
          <a:prstGeom prst="line">
            <a:avLst/>
          </a:prstGeom>
          <a:ln w="6350">
            <a:solidFill>
              <a:srgbClr val="E2E8F0"/>
            </a:solidFill>
          </a:ln>
        </p:spPr>
        <p:txBody>
          <a:bodyPr/>
          <a:lstStyle/>
          <a:p>
            <a:endParaRPr lang="en-US"/>
          </a:p>
        </p:txBody>
      </p:sp>
      <p:sp>
        <p:nvSpPr>
          <p:cNvPr id="74" name="t"/>
          <p:cNvSpPr/>
          <p:nvPr/>
        </p:nvSpPr>
        <p:spPr>
          <a:xfrm>
            <a:off x="6524897" y="2944368"/>
            <a:ext cx="1058091" cy="274320"/>
          </a:xfrm>
          <a:prstGeom prst="rect">
            <a:avLst/>
          </a:prstGeom>
        </p:spPr>
        <p:txBody>
          <a:bodyPr wrap="square" lIns="0" tIns="0" rIns="0" bIns="0" rtlCol="0" anchor="ctr"/>
          <a:lstStyle/>
          <a:p>
            <a:pPr marL="0" indent="0" algn="ctr">
              <a:buNone/>
            </a:pPr>
            <a:r>
              <a:rPr lang="en-US" sz="1400" b="1" dirty="0">
                <a:solidFill>
                  <a:srgbClr val="64748B"/>
                </a:solidFill>
                <a:latin typeface="Cambria" pitchFamily="34" charset="0"/>
                <a:ea typeface="Cambria" pitchFamily="34" charset="-122"/>
                <a:cs typeface="Cambria" pitchFamily="34" charset="-120"/>
              </a:rPr>
              <a:t>48</a:t>
            </a:r>
          </a:p>
        </p:txBody>
      </p:sp>
      <p:sp>
        <p:nvSpPr>
          <p:cNvPr id="75" name="t"/>
          <p:cNvSpPr/>
          <p:nvPr/>
        </p:nvSpPr>
        <p:spPr>
          <a:xfrm>
            <a:off x="6524897" y="3227832"/>
            <a:ext cx="1058091" cy="155448"/>
          </a:xfrm>
          <a:prstGeom prst="rect">
            <a:avLst/>
          </a:prstGeom>
        </p:spPr>
        <p:txBody>
          <a:bodyPr wrap="square" lIns="0" tIns="0" rIns="0" bIns="0" rtlCol="0" anchor="ctr"/>
          <a:lstStyle/>
          <a:p>
            <a:pPr marL="0" indent="0" algn="ctr">
              <a:buNone/>
            </a:pPr>
            <a:r>
              <a:rPr lang="en-US" sz="700" dirty="0">
                <a:solidFill>
                  <a:srgbClr val="94A3B8"/>
                </a:solidFill>
                <a:latin typeface="Arial" pitchFamily="34" charset="0"/>
                <a:ea typeface="Arial" pitchFamily="34" charset="-122"/>
                <a:cs typeface="Arial" pitchFamily="34" charset="-120"/>
              </a:rPr>
              <a:t>hrs/employee/wk</a:t>
            </a:r>
          </a:p>
        </p:txBody>
      </p:sp>
      <p:sp>
        <p:nvSpPr>
          <p:cNvPr id="76" name="ln"/>
          <p:cNvSpPr/>
          <p:nvPr/>
        </p:nvSpPr>
        <p:spPr>
          <a:xfrm>
            <a:off x="6570617" y="3401568"/>
            <a:ext cx="966651" cy="0"/>
          </a:xfrm>
          <a:prstGeom prst="line">
            <a:avLst/>
          </a:prstGeom>
          <a:ln w="6350">
            <a:solidFill>
              <a:srgbClr val="E2E8F0"/>
            </a:solidFill>
          </a:ln>
        </p:spPr>
        <p:txBody>
          <a:bodyPr/>
          <a:lstStyle/>
          <a:p>
            <a:endParaRPr lang="en-US"/>
          </a:p>
        </p:txBody>
      </p:sp>
      <p:sp>
        <p:nvSpPr>
          <p:cNvPr id="77" name="t"/>
          <p:cNvSpPr/>
          <p:nvPr/>
        </p:nvSpPr>
        <p:spPr>
          <a:xfrm>
            <a:off x="6524897" y="3456432"/>
            <a:ext cx="1058091" cy="731520"/>
          </a:xfrm>
          <a:prstGeom prst="rect">
            <a:avLst/>
          </a:prstGeom>
        </p:spPr>
        <p:txBody>
          <a:bodyPr wrap="square" lIns="0" tIns="0" rIns="0" bIns="0" rtlCol="0" anchor="ctr"/>
          <a:lstStyle/>
          <a:p>
            <a:pPr marL="0" indent="0" algn="ctr">
              <a:buNone/>
            </a:pPr>
            <a:r>
              <a:rPr lang="en-US" sz="800" dirty="0">
                <a:solidFill>
                  <a:srgbClr val="1A1A2E"/>
                </a:solidFill>
                <a:latin typeface="Arial" pitchFamily="34" charset="0"/>
                <a:ea typeface="Arial" pitchFamily="34" charset="-122"/>
                <a:cs typeface="Arial" pitchFamily="34" charset="-120"/>
              </a:rPr>
              <a:t>+6 hires</a:t>
            </a:r>
          </a:p>
          <a:p>
            <a:pPr marL="0" indent="0" algn="ctr">
              <a:buNone/>
            </a:pPr>
            <a:r>
              <a:rPr lang="en-US" sz="800" dirty="0">
                <a:solidFill>
                  <a:srgbClr val="1A1A2E"/>
                </a:solidFill>
                <a:latin typeface="Arial" pitchFamily="34" charset="0"/>
                <a:ea typeface="Arial" pitchFamily="34" charset="-122"/>
                <a:cs typeface="Arial" pitchFamily="34" charset="-120"/>
              </a:rPr>
              <a:t>Max 6-day output</a:t>
            </a:r>
          </a:p>
          <a:p>
            <a:pPr marL="0" indent="0" algn="ctr">
              <a:buNone/>
            </a:pPr>
            <a:r>
              <a:rPr lang="en-US" sz="800" dirty="0">
                <a:solidFill>
                  <a:srgbClr val="1A1A2E"/>
                </a:solidFill>
                <a:latin typeface="Arial" pitchFamily="34" charset="0"/>
                <a:ea typeface="Arial" pitchFamily="34" charset="-122"/>
                <a:cs typeface="Arial" pitchFamily="34" charset="-120"/>
              </a:rPr>
              <a:t>48 hrs/person</a:t>
            </a:r>
          </a:p>
        </p:txBody>
      </p:sp>
      <p:sp>
        <p:nvSpPr>
          <p:cNvPr id="78" name="rr"/>
          <p:cNvSpPr/>
          <p:nvPr/>
        </p:nvSpPr>
        <p:spPr>
          <a:xfrm>
            <a:off x="6524897" y="4334256"/>
            <a:ext cx="1058091" cy="274320"/>
          </a:xfrm>
          <a:prstGeom prst="roundRect">
            <a:avLst>
              <a:gd name="adj" fmla="val 20000"/>
            </a:avLst>
          </a:prstGeom>
          <a:solidFill>
            <a:srgbClr val="1F4E79"/>
          </a:solidFill>
          <a:ln w="12700">
            <a:solidFill>
              <a:srgbClr val="1F4E79"/>
            </a:solidFill>
            <a:prstDash val="solid"/>
          </a:ln>
        </p:spPr>
        <p:txBody>
          <a:bodyPr/>
          <a:lstStyle/>
          <a:p>
            <a:endParaRPr lang="en-US"/>
          </a:p>
        </p:txBody>
      </p:sp>
      <p:sp>
        <p:nvSpPr>
          <p:cNvPr id="79" name="t"/>
          <p:cNvSpPr/>
          <p:nvPr/>
        </p:nvSpPr>
        <p:spPr>
          <a:xfrm>
            <a:off x="6524897" y="4334256"/>
            <a:ext cx="1058091" cy="274320"/>
          </a:xfrm>
          <a:prstGeom prst="rect">
            <a:avLst/>
          </a:prstGeom>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+80%</a:t>
            </a:r>
          </a:p>
        </p:txBody>
      </p:sp>
      <p:sp>
        <p:nvSpPr>
          <p:cNvPr id="80" name="rr"/>
          <p:cNvSpPr/>
          <p:nvPr/>
        </p:nvSpPr>
        <p:spPr>
          <a:xfrm>
            <a:off x="7720149" y="1463040"/>
            <a:ext cx="1149531" cy="3246120"/>
          </a:xfrm>
          <a:prstGeom prst="roundRect">
            <a:avLst>
              <a:gd name="adj" fmla="val 5556"/>
            </a:avLst>
          </a:prstGeom>
          <a:solidFill>
            <a:srgbClr val="F0F4F8"/>
          </a:solidFill>
          <a:ln w="19050">
            <a:solidFill>
              <a:srgbClr val="1D6A72"/>
            </a:solidFill>
            <a:prstDash val="solid"/>
          </a:ln>
        </p:spPr>
        <p:txBody>
          <a:bodyPr/>
          <a:lstStyle/>
          <a:p>
            <a:endParaRPr lang="en-US"/>
          </a:p>
        </p:txBody>
      </p:sp>
      <p:sp>
        <p:nvSpPr>
          <p:cNvPr id="81" name="t"/>
          <p:cNvSpPr/>
          <p:nvPr/>
        </p:nvSpPr>
        <p:spPr>
          <a:xfrm>
            <a:off x="7765869" y="1499616"/>
            <a:ext cx="1058091" cy="182880"/>
          </a:xfrm>
          <a:prstGeom prst="rect">
            <a:avLst/>
          </a:prstGeom>
        </p:spPr>
        <p:txBody>
          <a:bodyPr wrap="square" lIns="0" tIns="0" rIns="0" bIns="0" rtlCol="0" anchor="ctr"/>
          <a:lstStyle/>
          <a:p>
            <a:pPr marL="0" indent="0" algn="ctr">
              <a:buNone/>
            </a:pPr>
            <a:r>
              <a:rPr lang="en-US" sz="1000" b="1" dirty="0">
                <a:solidFill>
                  <a:srgbClr val="1D6A72"/>
                </a:solidFill>
                <a:latin typeface="Arial" pitchFamily="34" charset="0"/>
                <a:ea typeface="Arial" pitchFamily="34" charset="-122"/>
                <a:cs typeface="Arial" pitchFamily="34" charset="-120"/>
              </a:rPr>
              <a:t>S7</a:t>
            </a:r>
          </a:p>
        </p:txBody>
      </p:sp>
      <p:sp>
        <p:nvSpPr>
          <p:cNvPr id="82" name="t"/>
          <p:cNvSpPr/>
          <p:nvPr/>
        </p:nvSpPr>
        <p:spPr>
          <a:xfrm>
            <a:off x="7765869" y="1691640"/>
            <a:ext cx="1058091" cy="493776"/>
          </a:xfrm>
          <a:prstGeom prst="rect">
            <a:avLst/>
          </a:prstGeom>
        </p:spPr>
        <p:txBody>
          <a:bodyPr wrap="square" lIns="0" tIns="0" rIns="0" bIns="0" rtlCol="0" anchor="ctr"/>
          <a:lstStyle/>
          <a:p>
            <a:pPr marL="0" indent="0" algn="ctr">
              <a:buNone/>
            </a:pPr>
            <a:r>
              <a:rPr lang="en-US" sz="850" b="1" dirty="0">
                <a:solidFill>
                  <a:srgbClr val="1F4E79"/>
                </a:solidFill>
                <a:latin typeface="Cambria" pitchFamily="34" charset="0"/>
                <a:ea typeface="Cambria" pitchFamily="34" charset="-122"/>
                <a:cs typeface="Cambria" pitchFamily="34" charset="-120"/>
              </a:rPr>
              <a:t>7-day · 12-hr</a:t>
            </a:r>
          </a:p>
        </p:txBody>
      </p:sp>
      <p:sp>
        <p:nvSpPr>
          <p:cNvPr id="83" name="t"/>
          <p:cNvSpPr/>
          <p:nvPr/>
        </p:nvSpPr>
        <p:spPr>
          <a:xfrm>
            <a:off x="7765869" y="2194560"/>
            <a:ext cx="1058091" cy="530352"/>
          </a:xfrm>
          <a:prstGeom prst="rect">
            <a:avLst/>
          </a:prstGeom>
        </p:spPr>
        <p:txBody>
          <a:bodyPr wrap="square" lIns="0" tIns="0" rIns="0" bIns="0" rtlCol="0" anchor="ctr"/>
          <a:lstStyle/>
          <a:p>
            <a:pPr marL="0" indent="0" algn="ctr">
              <a:buNone/>
            </a:pPr>
            <a:r>
              <a:rPr lang="en-US" sz="2600" b="1" dirty="0">
                <a:solidFill>
                  <a:srgbClr val="1D6A72"/>
                </a:solidFill>
                <a:latin typeface="Cambria" pitchFamily="34" charset="0"/>
                <a:ea typeface="Cambria" pitchFamily="34" charset="-122"/>
                <a:cs typeface="Cambria" pitchFamily="34" charset="-120"/>
              </a:rPr>
              <a:t>84</a:t>
            </a:r>
          </a:p>
        </p:txBody>
      </p:sp>
      <p:sp>
        <p:nvSpPr>
          <p:cNvPr id="84" name="t"/>
          <p:cNvSpPr/>
          <p:nvPr/>
        </p:nvSpPr>
        <p:spPr>
          <a:xfrm>
            <a:off x="7765869" y="2724912"/>
            <a:ext cx="1058091" cy="164592"/>
          </a:xfrm>
          <a:prstGeom prst="rect">
            <a:avLst/>
          </a:prstGeom>
        </p:spPr>
        <p:txBody>
          <a:bodyPr wrap="square" lIns="0" tIns="0" rIns="0" bIns="0" rtlCol="0" anchor="ctr"/>
          <a:lstStyle/>
          <a:p>
            <a:pPr marL="0" indent="0" algn="ctr">
              <a:buNone/>
            </a:pPr>
            <a:r>
              <a:rPr lang="en-US" sz="750" dirty="0">
                <a:solidFill>
                  <a:srgbClr val="64748B"/>
                </a:solidFill>
                <a:latin typeface="Arial" pitchFamily="34" charset="0"/>
                <a:ea typeface="Arial" pitchFamily="34" charset="-122"/>
                <a:cs typeface="Arial" pitchFamily="34" charset="-120"/>
              </a:rPr>
              <a:t>prod hrs/wk</a:t>
            </a:r>
          </a:p>
        </p:txBody>
      </p:sp>
      <p:sp>
        <p:nvSpPr>
          <p:cNvPr id="85" name="ln"/>
          <p:cNvSpPr/>
          <p:nvPr/>
        </p:nvSpPr>
        <p:spPr>
          <a:xfrm>
            <a:off x="7811589" y="2907792"/>
            <a:ext cx="966651" cy="0"/>
          </a:xfrm>
          <a:prstGeom prst="line">
            <a:avLst/>
          </a:prstGeom>
          <a:ln w="6350">
            <a:solidFill>
              <a:srgbClr val="E2E8F0"/>
            </a:solidFill>
          </a:ln>
        </p:spPr>
        <p:txBody>
          <a:bodyPr/>
          <a:lstStyle/>
          <a:p>
            <a:endParaRPr lang="en-US"/>
          </a:p>
        </p:txBody>
      </p:sp>
      <p:sp>
        <p:nvSpPr>
          <p:cNvPr id="86" name="t"/>
          <p:cNvSpPr/>
          <p:nvPr/>
        </p:nvSpPr>
        <p:spPr>
          <a:xfrm>
            <a:off x="7765869" y="2944368"/>
            <a:ext cx="1058091" cy="274320"/>
          </a:xfrm>
          <a:prstGeom prst="rect">
            <a:avLst/>
          </a:prstGeom>
        </p:spPr>
        <p:txBody>
          <a:bodyPr wrap="square" lIns="0" tIns="0" rIns="0" bIns="0" rtlCol="0" anchor="ctr"/>
          <a:lstStyle/>
          <a:p>
            <a:pPr marL="0" indent="0" algn="ctr">
              <a:buNone/>
            </a:pPr>
            <a:r>
              <a:rPr lang="en-US" sz="1400" b="1" dirty="0">
                <a:solidFill>
                  <a:srgbClr val="64748B"/>
                </a:solidFill>
                <a:latin typeface="Cambria" pitchFamily="34" charset="0"/>
                <a:ea typeface="Cambria" pitchFamily="34" charset="-122"/>
                <a:cs typeface="Cambria" pitchFamily="34" charset="-120"/>
              </a:rPr>
              <a:t>42</a:t>
            </a:r>
          </a:p>
        </p:txBody>
      </p:sp>
      <p:sp>
        <p:nvSpPr>
          <p:cNvPr id="87" name="t"/>
          <p:cNvSpPr/>
          <p:nvPr/>
        </p:nvSpPr>
        <p:spPr>
          <a:xfrm>
            <a:off x="7765869" y="3227832"/>
            <a:ext cx="1058091" cy="155448"/>
          </a:xfrm>
          <a:prstGeom prst="rect">
            <a:avLst/>
          </a:prstGeom>
        </p:spPr>
        <p:txBody>
          <a:bodyPr wrap="square" lIns="0" tIns="0" rIns="0" bIns="0" rtlCol="0" anchor="ctr"/>
          <a:lstStyle/>
          <a:p>
            <a:pPr marL="0" indent="0" algn="ctr">
              <a:buNone/>
            </a:pPr>
            <a:r>
              <a:rPr lang="en-US" sz="700" dirty="0">
                <a:solidFill>
                  <a:srgbClr val="94A3B8"/>
                </a:solidFill>
                <a:latin typeface="Arial" pitchFamily="34" charset="0"/>
                <a:ea typeface="Arial" pitchFamily="34" charset="-122"/>
                <a:cs typeface="Arial" pitchFamily="34" charset="-120"/>
              </a:rPr>
              <a:t>hrs/employee/wk</a:t>
            </a:r>
          </a:p>
        </p:txBody>
      </p:sp>
      <p:sp>
        <p:nvSpPr>
          <p:cNvPr id="88" name="ln"/>
          <p:cNvSpPr/>
          <p:nvPr/>
        </p:nvSpPr>
        <p:spPr>
          <a:xfrm>
            <a:off x="7811589" y="3401568"/>
            <a:ext cx="966651" cy="0"/>
          </a:xfrm>
          <a:prstGeom prst="line">
            <a:avLst/>
          </a:prstGeom>
          <a:ln w="6350">
            <a:solidFill>
              <a:srgbClr val="E2E8F0"/>
            </a:solidFill>
          </a:ln>
        </p:spPr>
        <p:txBody>
          <a:bodyPr/>
          <a:lstStyle/>
          <a:p>
            <a:endParaRPr lang="en-US"/>
          </a:p>
        </p:txBody>
      </p:sp>
      <p:sp>
        <p:nvSpPr>
          <p:cNvPr id="89" name="t"/>
          <p:cNvSpPr/>
          <p:nvPr/>
        </p:nvSpPr>
        <p:spPr>
          <a:xfrm>
            <a:off x="7765869" y="3456432"/>
            <a:ext cx="1058091" cy="731520"/>
          </a:xfrm>
          <a:prstGeom prst="rect">
            <a:avLst/>
          </a:prstGeom>
        </p:spPr>
        <p:txBody>
          <a:bodyPr wrap="square" lIns="0" tIns="0" rIns="0" bIns="0" rtlCol="0" anchor="ctr"/>
          <a:lstStyle/>
          <a:p>
            <a:pPr marL="0" indent="0" algn="ctr">
              <a:buNone/>
            </a:pPr>
            <a:r>
              <a:rPr lang="en-US" sz="800" dirty="0">
                <a:solidFill>
                  <a:srgbClr val="1A1A2E"/>
                </a:solidFill>
                <a:latin typeface="Arial" pitchFamily="34" charset="0"/>
                <a:ea typeface="Arial" pitchFamily="34" charset="-122"/>
                <a:cs typeface="Arial" pitchFamily="34" charset="-120"/>
              </a:rPr>
              <a:t>+6 hires</a:t>
            </a:r>
          </a:p>
          <a:p>
            <a:pPr marL="0" indent="0" algn="ctr">
              <a:buNone/>
            </a:pPr>
            <a:r>
              <a:rPr lang="en-US" sz="800" dirty="0">
                <a:solidFill>
                  <a:srgbClr val="1A1A2E"/>
                </a:solidFill>
                <a:latin typeface="Arial" pitchFamily="34" charset="0"/>
                <a:ea typeface="Arial" pitchFamily="34" charset="-122"/>
                <a:cs typeface="Arial" pitchFamily="34" charset="-120"/>
              </a:rPr>
              <a:t>7-day coverage</a:t>
            </a:r>
          </a:p>
          <a:p>
            <a:pPr marL="0" indent="0" algn="ctr">
              <a:buNone/>
            </a:pPr>
            <a:r>
              <a:rPr lang="en-US" sz="800" dirty="0">
                <a:solidFill>
                  <a:srgbClr val="1A1A2E"/>
                </a:solidFill>
                <a:latin typeface="Arial" pitchFamily="34" charset="0"/>
                <a:ea typeface="Arial" pitchFamily="34" charset="-122"/>
                <a:cs typeface="Arial" pitchFamily="34" charset="-120"/>
              </a:rPr>
              <a:t>Lower OT than S6</a:t>
            </a:r>
          </a:p>
        </p:txBody>
      </p:sp>
      <p:sp>
        <p:nvSpPr>
          <p:cNvPr id="90" name="rr"/>
          <p:cNvSpPr/>
          <p:nvPr/>
        </p:nvSpPr>
        <p:spPr>
          <a:xfrm>
            <a:off x="7765869" y="4334256"/>
            <a:ext cx="1058091" cy="274320"/>
          </a:xfrm>
          <a:prstGeom prst="roundRect">
            <a:avLst>
              <a:gd name="adj" fmla="val 20000"/>
            </a:avLst>
          </a:prstGeom>
          <a:solidFill>
            <a:srgbClr val="1F4E79"/>
          </a:solidFill>
          <a:ln w="12700">
            <a:solidFill>
              <a:srgbClr val="1F4E79"/>
            </a:solidFill>
            <a:prstDash val="solid"/>
          </a:ln>
        </p:spPr>
        <p:txBody>
          <a:bodyPr/>
          <a:lstStyle/>
          <a:p>
            <a:endParaRPr lang="en-US"/>
          </a:p>
        </p:txBody>
      </p:sp>
      <p:sp>
        <p:nvSpPr>
          <p:cNvPr id="91" name="t"/>
          <p:cNvSpPr/>
          <p:nvPr/>
        </p:nvSpPr>
        <p:spPr>
          <a:xfrm>
            <a:off x="7765869" y="4334256"/>
            <a:ext cx="1058091" cy="274320"/>
          </a:xfrm>
          <a:prstGeom prst="rect">
            <a:avLst/>
          </a:prstGeom>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+110%</a:t>
            </a:r>
          </a:p>
        </p:txBody>
      </p:sp>
      <p:sp>
        <p:nvSpPr>
          <p:cNvPr id="92" name="t"/>
          <p:cNvSpPr/>
          <p:nvPr/>
        </p:nvSpPr>
        <p:spPr>
          <a:xfrm>
            <a:off x="274320" y="4727448"/>
            <a:ext cx="8595360" cy="164592"/>
          </a:xfrm>
          <a:prstGeom prst="rect">
            <a:avLst/>
          </a:prstGeom>
        </p:spPr>
        <p:txBody>
          <a:bodyPr wrap="square" lIns="0" tIns="0" rIns="0" bIns="0" rtlCol="0" anchor="ctr"/>
          <a:lstStyle/>
          <a:p>
            <a:pPr marL="0" indent="0" algn="r">
              <a:buNone/>
            </a:pPr>
            <a:r>
              <a:rPr lang="en-US" sz="800" dirty="0">
                <a:solidFill>
                  <a:srgbClr val="94A3B8"/>
                </a:solidFill>
                <a:latin typeface="Arial" pitchFamily="34" charset="0"/>
                <a:ea typeface="Arial" pitchFamily="34" charset="-122"/>
                <a:cs typeface="Arial" pitchFamily="34" charset="-120"/>
              </a:rPr>
              <a:t>increasing production hours per week  →</a:t>
            </a:r>
          </a:p>
        </p:txBody>
      </p:sp>
      <p:sp>
        <p:nvSpPr>
          <p:cNvPr id="93" name="t"/>
          <p:cNvSpPr/>
          <p:nvPr/>
        </p:nvSpPr>
        <p:spPr>
          <a:xfrm>
            <a:off x="274320" y="4910328"/>
            <a:ext cx="8595360" cy="201168"/>
          </a:xfrm>
          <a:prstGeom prst="rect">
            <a:avLst/>
          </a:prstGeom>
        </p:spPr>
        <p:txBody>
          <a:bodyPr wrap="square" lIns="0" tIns="0" rIns="0" bIns="0" rtlCol="0" anchor="ctr"/>
          <a:lstStyle/>
          <a:p>
            <a:pPr marL="0" indent="0" algn="ctr">
              <a:buNone/>
            </a:pPr>
            <a:r>
              <a:rPr lang="en-US" sz="900" dirty="0">
                <a:solidFill>
                  <a:srgbClr val="1F4E79"/>
                </a:solidFill>
                <a:latin typeface="Arial" pitchFamily="34" charset="0"/>
                <a:ea typeface="Arial" pitchFamily="34" charset="-122"/>
                <a:cs typeface="Arial" pitchFamily="34" charset="-120"/>
              </a:rPr>
              <a:t>S4 and S5 both deliver 60 hrs/week through different paths. Which fits your workforce? That's what a survey tells you.</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30352"/>
          </a:xfrm>
          <a:prstGeom prst="rect">
            <a:avLst/>
          </a:prstGeom>
          <a:noFill/>
          <a:ln/>
        </p:spPr>
        <p:txBody>
          <a:bodyPr wrap="square"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More Output or More People? Seven Options Plotted.</a:t>
            </a:r>
            <a:endParaRPr lang="en-US" sz="2600" dirty="0"/>
          </a:p>
        </p:txBody>
      </p:sp>
      <p:sp>
        <p:nvSpPr>
          <p:cNvPr id="3" name="Text 1"/>
          <p:cNvSpPr/>
          <p:nvPr/>
        </p:nvSpPr>
        <p:spPr>
          <a:xfrm>
            <a:off x="457200" y="731520"/>
            <a:ext cx="8229600" cy="256032"/>
          </a:xfrm>
          <a:prstGeom prst="rect">
            <a:avLst/>
          </a:prstGeom>
          <a:noFill/>
          <a:ln/>
        </p:spPr>
        <p:txBody>
          <a:bodyPr wrap="square" rtlCol="0" anchor="ctr"/>
          <a:lstStyle/>
          <a:p>
            <a:pPr marL="0" indent="0">
              <a:buNone/>
            </a:pPr>
            <a:r>
              <a:rPr lang="en-US" sz="1100" i="1" dirty="0">
                <a:solidFill>
                  <a:srgbClr val="64748B"/>
                </a:solidFill>
                <a:latin typeface="Arial" pitchFamily="34" charset="0"/>
                <a:ea typeface="Arial" pitchFamily="34" charset="-122"/>
                <a:cs typeface="Arial" pitchFamily="34" charset="-120"/>
              </a:rPr>
              <a:t>Bottom-right is the goal: maximum production hours with minimum headcount.</a:t>
            </a:r>
            <a:endParaRPr lang="en-US" sz="1100" dirty="0"/>
          </a:p>
        </p:txBody>
      </p:sp>
      <p:sp>
        <p:nvSpPr>
          <p:cNvPr id="4" name="Shape 4"/>
          <p:cNvSpPr/>
          <p:nvPr/>
        </p:nvSpPr>
        <p:spPr>
          <a:xfrm>
            <a:off x="1143000" y="1078992"/>
            <a:ext cx="0" cy="3337560"/>
          </a:xfrm>
          <a:prstGeom prst="line">
            <a:avLst/>
          </a:prstGeom>
          <a:noFill/>
          <a:ln w="10160">
            <a:solidFill>
              <a:srgbClr val="E2E8F0"/>
            </a:solidFill>
            <a:prstDash val="solid"/>
          </a:ln>
        </p:spPr>
        <p:txBody>
          <a:bodyPr/>
          <a:lstStyle/>
          <a:p>
            <a:endParaRPr lang="en-US"/>
          </a:p>
        </p:txBody>
      </p:sp>
      <p:sp>
        <p:nvSpPr>
          <p:cNvPr id="5" name="Shape 5"/>
          <p:cNvSpPr/>
          <p:nvPr/>
        </p:nvSpPr>
        <p:spPr>
          <a:xfrm>
            <a:off x="1143000" y="4416552"/>
            <a:ext cx="7315200" cy="0"/>
          </a:xfrm>
          <a:prstGeom prst="line">
            <a:avLst/>
          </a:prstGeom>
          <a:noFill/>
          <a:ln w="10160">
            <a:solidFill>
              <a:srgbClr val="E2E8F0"/>
            </a:solidFill>
            <a:prstDash val="solid"/>
          </a:ln>
        </p:spPr>
        <p:txBody>
          <a:bodyPr/>
          <a:lstStyle/>
          <a:p>
            <a:endParaRPr lang="en-US"/>
          </a:p>
        </p:txBody>
      </p:sp>
      <p:sp>
        <p:nvSpPr>
          <p:cNvPr id="6" name="Shape 6"/>
          <p:cNvSpPr/>
          <p:nvPr/>
        </p:nvSpPr>
        <p:spPr>
          <a:xfrm>
            <a:off x="1808018" y="1078992"/>
            <a:ext cx="0" cy="3337560"/>
          </a:xfrm>
          <a:prstGeom prst="line">
            <a:avLst/>
          </a:prstGeom>
          <a:noFill/>
          <a:ln w="6350">
            <a:solidFill>
              <a:srgbClr val="EEEEEE"/>
            </a:solidFill>
            <a:prstDash val="solid"/>
          </a:ln>
        </p:spPr>
        <p:txBody>
          <a:bodyPr/>
          <a:lstStyle/>
          <a:p>
            <a:endParaRPr lang="en-US"/>
          </a:p>
        </p:txBody>
      </p:sp>
      <p:sp>
        <p:nvSpPr>
          <p:cNvPr id="7" name="Shape 8"/>
          <p:cNvSpPr/>
          <p:nvPr/>
        </p:nvSpPr>
        <p:spPr>
          <a:xfrm>
            <a:off x="3138055" y="1078992"/>
            <a:ext cx="0" cy="3337560"/>
          </a:xfrm>
          <a:prstGeom prst="line">
            <a:avLst/>
          </a:prstGeom>
          <a:noFill/>
          <a:ln w="6350">
            <a:solidFill>
              <a:srgbClr val="EEEEEE"/>
            </a:solidFill>
            <a:prstDash val="solid"/>
          </a:ln>
        </p:spPr>
        <p:txBody>
          <a:bodyPr/>
          <a:lstStyle/>
          <a:p>
            <a:endParaRPr lang="en-US"/>
          </a:p>
        </p:txBody>
      </p:sp>
      <p:sp>
        <p:nvSpPr>
          <p:cNvPr id="8" name="Shape 10"/>
          <p:cNvSpPr/>
          <p:nvPr/>
        </p:nvSpPr>
        <p:spPr>
          <a:xfrm>
            <a:off x="4468091" y="1078992"/>
            <a:ext cx="0" cy="3337560"/>
          </a:xfrm>
          <a:prstGeom prst="line">
            <a:avLst/>
          </a:prstGeom>
          <a:noFill/>
          <a:ln w="6350">
            <a:solidFill>
              <a:srgbClr val="EEEEEE"/>
            </a:solidFill>
            <a:prstDash val="solid"/>
          </a:ln>
        </p:spPr>
        <p:txBody>
          <a:bodyPr/>
          <a:lstStyle/>
          <a:p>
            <a:endParaRPr lang="en-US"/>
          </a:p>
        </p:txBody>
      </p:sp>
      <p:sp>
        <p:nvSpPr>
          <p:cNvPr id="9" name="Shape 12"/>
          <p:cNvSpPr/>
          <p:nvPr/>
        </p:nvSpPr>
        <p:spPr>
          <a:xfrm>
            <a:off x="6064135" y="1078992"/>
            <a:ext cx="0" cy="3337560"/>
          </a:xfrm>
          <a:prstGeom prst="line">
            <a:avLst/>
          </a:prstGeom>
          <a:noFill/>
          <a:ln w="6350">
            <a:solidFill>
              <a:srgbClr val="EEEEEE"/>
            </a:solidFill>
            <a:prstDash val="solid"/>
          </a:ln>
        </p:spPr>
        <p:txBody>
          <a:bodyPr/>
          <a:lstStyle/>
          <a:p>
            <a:endParaRPr lang="en-US"/>
          </a:p>
        </p:txBody>
      </p:sp>
      <p:sp>
        <p:nvSpPr>
          <p:cNvPr id="10" name="Shape 14"/>
          <p:cNvSpPr/>
          <p:nvPr/>
        </p:nvSpPr>
        <p:spPr>
          <a:xfrm>
            <a:off x="7660178" y="1078992"/>
            <a:ext cx="0" cy="3337560"/>
          </a:xfrm>
          <a:prstGeom prst="line">
            <a:avLst/>
          </a:prstGeom>
          <a:noFill/>
          <a:ln w="6350">
            <a:solidFill>
              <a:srgbClr val="EEEEEE"/>
            </a:solidFill>
            <a:prstDash val="solid"/>
          </a:ln>
        </p:spPr>
        <p:txBody>
          <a:bodyPr/>
          <a:lstStyle/>
          <a:p>
            <a:endParaRPr lang="en-US"/>
          </a:p>
        </p:txBody>
      </p:sp>
      <p:sp>
        <p:nvSpPr>
          <p:cNvPr id="11" name="Text 7"/>
          <p:cNvSpPr/>
          <p:nvPr/>
        </p:nvSpPr>
        <p:spPr>
          <a:xfrm>
            <a:off x="1588562" y="4480560"/>
            <a:ext cx="530352" cy="182880"/>
          </a:xfrm>
          <a:prstGeom prst="rect">
            <a:avLst/>
          </a:prstGeom>
          <a:noFill/>
          <a:ln/>
        </p:spPr>
        <p:txBody>
          <a:bodyPr wrap="square"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40 hrs</a:t>
            </a:r>
            <a:endParaRPr lang="en-US" sz="800" dirty="0"/>
          </a:p>
        </p:txBody>
      </p:sp>
      <p:sp>
        <p:nvSpPr>
          <p:cNvPr id="12" name="Text 9"/>
          <p:cNvSpPr/>
          <p:nvPr/>
        </p:nvSpPr>
        <p:spPr>
          <a:xfrm>
            <a:off x="2918599" y="4480560"/>
            <a:ext cx="530352" cy="182880"/>
          </a:xfrm>
          <a:prstGeom prst="rect">
            <a:avLst/>
          </a:prstGeom>
          <a:noFill/>
          <a:ln/>
        </p:spPr>
        <p:txBody>
          <a:bodyPr wrap="square"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50 hrs</a:t>
            </a:r>
            <a:endParaRPr lang="en-US" sz="800" dirty="0"/>
          </a:p>
        </p:txBody>
      </p:sp>
      <p:sp>
        <p:nvSpPr>
          <p:cNvPr id="13" name="Text 11"/>
          <p:cNvSpPr/>
          <p:nvPr/>
        </p:nvSpPr>
        <p:spPr>
          <a:xfrm>
            <a:off x="4248635" y="4480560"/>
            <a:ext cx="530352" cy="182880"/>
          </a:xfrm>
          <a:prstGeom prst="rect">
            <a:avLst/>
          </a:prstGeom>
          <a:noFill/>
          <a:ln/>
        </p:spPr>
        <p:txBody>
          <a:bodyPr wrap="square"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60 hrs</a:t>
            </a:r>
            <a:endParaRPr lang="en-US" sz="800" dirty="0"/>
          </a:p>
        </p:txBody>
      </p:sp>
      <p:sp>
        <p:nvSpPr>
          <p:cNvPr id="14" name="Text 13"/>
          <p:cNvSpPr/>
          <p:nvPr/>
        </p:nvSpPr>
        <p:spPr>
          <a:xfrm>
            <a:off x="5844679" y="4480560"/>
            <a:ext cx="530352" cy="182880"/>
          </a:xfrm>
          <a:prstGeom prst="rect">
            <a:avLst/>
          </a:prstGeom>
          <a:noFill/>
          <a:ln/>
        </p:spPr>
        <p:txBody>
          <a:bodyPr wrap="square"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72 hrs</a:t>
            </a:r>
            <a:endParaRPr lang="en-US" sz="800" dirty="0"/>
          </a:p>
        </p:txBody>
      </p:sp>
      <p:sp>
        <p:nvSpPr>
          <p:cNvPr id="15" name="Text 15"/>
          <p:cNvSpPr/>
          <p:nvPr/>
        </p:nvSpPr>
        <p:spPr>
          <a:xfrm>
            <a:off x="7440722" y="4480560"/>
            <a:ext cx="530352" cy="182880"/>
          </a:xfrm>
          <a:prstGeom prst="rect">
            <a:avLst/>
          </a:prstGeom>
          <a:noFill/>
          <a:ln/>
        </p:spPr>
        <p:txBody>
          <a:bodyPr wrap="square" rtlCol="0" anchor="ctr"/>
          <a:lstStyle/>
          <a:p>
            <a:pPr marL="0" indent="0" algn="ctr">
              <a:buNone/>
            </a:pPr>
            <a:r>
              <a:rPr lang="en-US" sz="800" dirty="0">
                <a:solidFill>
                  <a:srgbClr val="64748B"/>
                </a:solidFill>
                <a:latin typeface="Arial" pitchFamily="34" charset="0"/>
                <a:ea typeface="Arial" pitchFamily="34" charset="-122"/>
                <a:cs typeface="Arial" pitchFamily="34" charset="-120"/>
              </a:rPr>
              <a:t>84 hrs</a:t>
            </a:r>
            <a:endParaRPr lang="en-US" sz="800" dirty="0"/>
          </a:p>
        </p:txBody>
      </p:sp>
      <p:sp>
        <p:nvSpPr>
          <p:cNvPr id="16" name="Shape 17"/>
          <p:cNvSpPr/>
          <p:nvPr/>
        </p:nvSpPr>
        <p:spPr>
          <a:xfrm>
            <a:off x="1143000" y="3749040"/>
            <a:ext cx="7315200" cy="0"/>
          </a:xfrm>
          <a:prstGeom prst="line">
            <a:avLst/>
          </a:prstGeom>
          <a:noFill/>
          <a:ln w="6350">
            <a:solidFill>
              <a:srgbClr val="EEEEEE"/>
            </a:solidFill>
            <a:prstDash val="solid"/>
          </a:ln>
        </p:spPr>
        <p:txBody>
          <a:bodyPr/>
          <a:lstStyle/>
          <a:p>
            <a:endParaRPr lang="en-US"/>
          </a:p>
        </p:txBody>
      </p:sp>
      <p:sp>
        <p:nvSpPr>
          <p:cNvPr id="17" name="Shape 19"/>
          <p:cNvSpPr/>
          <p:nvPr/>
        </p:nvSpPr>
        <p:spPr>
          <a:xfrm>
            <a:off x="1143000" y="2414016"/>
            <a:ext cx="7315200" cy="0"/>
          </a:xfrm>
          <a:prstGeom prst="line">
            <a:avLst/>
          </a:prstGeom>
          <a:noFill/>
          <a:ln w="6350">
            <a:solidFill>
              <a:srgbClr val="EEEEEE"/>
            </a:solidFill>
            <a:prstDash val="solid"/>
          </a:ln>
        </p:spPr>
        <p:txBody>
          <a:bodyPr/>
          <a:lstStyle/>
          <a:p>
            <a:endParaRPr lang="en-US"/>
          </a:p>
        </p:txBody>
      </p:sp>
      <p:sp>
        <p:nvSpPr>
          <p:cNvPr id="18" name="Shape 21"/>
          <p:cNvSpPr/>
          <p:nvPr/>
        </p:nvSpPr>
        <p:spPr>
          <a:xfrm>
            <a:off x="1143000" y="1746504"/>
            <a:ext cx="7315200" cy="0"/>
          </a:xfrm>
          <a:prstGeom prst="line">
            <a:avLst/>
          </a:prstGeom>
          <a:noFill/>
          <a:ln w="6350">
            <a:solidFill>
              <a:srgbClr val="EEEEEE"/>
            </a:solidFill>
            <a:prstDash val="solid"/>
          </a:ln>
        </p:spPr>
        <p:txBody>
          <a:bodyPr/>
          <a:lstStyle/>
          <a:p>
            <a:endParaRPr lang="en-US"/>
          </a:p>
        </p:txBody>
      </p:sp>
      <p:sp>
        <p:nvSpPr>
          <p:cNvPr id="19" name="Text 18"/>
          <p:cNvSpPr/>
          <p:nvPr/>
        </p:nvSpPr>
        <p:spPr>
          <a:xfrm>
            <a:off x="548640" y="3639312"/>
            <a:ext cx="502920" cy="219456"/>
          </a:xfrm>
          <a:prstGeom prst="rect">
            <a:avLst/>
          </a:prstGeom>
          <a:noFill/>
          <a:ln/>
        </p:spPr>
        <p:txBody>
          <a:bodyPr wrap="square" rtlCol="0" anchor="ctr"/>
          <a:lstStyle/>
          <a:p>
            <a:pPr marL="0" indent="0" algn="r">
              <a:buNone/>
            </a:pPr>
            <a:r>
              <a:rPr lang="en-US" sz="800" dirty="0">
                <a:solidFill>
                  <a:srgbClr val="64748B"/>
                </a:solidFill>
                <a:latin typeface="Arial" pitchFamily="34" charset="0"/>
                <a:ea typeface="Arial" pitchFamily="34" charset="-122"/>
                <a:cs typeface="Arial" pitchFamily="34" charset="-120"/>
              </a:rPr>
              <a:t>12</a:t>
            </a:r>
            <a:endParaRPr lang="en-US" sz="800" dirty="0"/>
          </a:p>
        </p:txBody>
      </p:sp>
      <p:sp>
        <p:nvSpPr>
          <p:cNvPr id="20" name="Text 20"/>
          <p:cNvSpPr/>
          <p:nvPr/>
        </p:nvSpPr>
        <p:spPr>
          <a:xfrm>
            <a:off x="548640" y="2304288"/>
            <a:ext cx="502920" cy="219456"/>
          </a:xfrm>
          <a:prstGeom prst="rect">
            <a:avLst/>
          </a:prstGeom>
          <a:noFill/>
          <a:ln/>
        </p:spPr>
        <p:txBody>
          <a:bodyPr wrap="square" rtlCol="0" anchor="ctr"/>
          <a:lstStyle/>
          <a:p>
            <a:pPr marL="0" indent="0" algn="r">
              <a:buNone/>
            </a:pPr>
            <a:r>
              <a:rPr lang="en-US" sz="800" dirty="0">
                <a:solidFill>
                  <a:srgbClr val="64748B"/>
                </a:solidFill>
                <a:latin typeface="Arial" pitchFamily="34" charset="0"/>
                <a:ea typeface="Arial" pitchFamily="34" charset="-122"/>
                <a:cs typeface="Arial" pitchFamily="34" charset="-120"/>
              </a:rPr>
              <a:t>16</a:t>
            </a:r>
            <a:endParaRPr lang="en-US" sz="800" dirty="0"/>
          </a:p>
        </p:txBody>
      </p:sp>
      <p:sp>
        <p:nvSpPr>
          <p:cNvPr id="21" name="Text 22"/>
          <p:cNvSpPr/>
          <p:nvPr/>
        </p:nvSpPr>
        <p:spPr>
          <a:xfrm>
            <a:off x="548640" y="1636776"/>
            <a:ext cx="502920" cy="219456"/>
          </a:xfrm>
          <a:prstGeom prst="rect">
            <a:avLst/>
          </a:prstGeom>
          <a:noFill/>
          <a:ln/>
        </p:spPr>
        <p:txBody>
          <a:bodyPr wrap="square" rtlCol="0" anchor="ctr"/>
          <a:lstStyle/>
          <a:p>
            <a:pPr marL="0" indent="0" algn="r">
              <a:buNone/>
            </a:pPr>
            <a:r>
              <a:rPr lang="en-US" sz="800" dirty="0">
                <a:solidFill>
                  <a:srgbClr val="64748B"/>
                </a:solidFill>
                <a:latin typeface="Arial" pitchFamily="34" charset="0"/>
                <a:ea typeface="Arial" pitchFamily="34" charset="-122"/>
                <a:cs typeface="Arial" pitchFamily="34" charset="-120"/>
              </a:rPr>
              <a:t>18</a:t>
            </a:r>
            <a:endParaRPr lang="en-US" sz="800" dirty="0"/>
          </a:p>
        </p:txBody>
      </p:sp>
      <p:sp>
        <p:nvSpPr>
          <p:cNvPr id="22" name="Text 23"/>
          <p:cNvSpPr/>
          <p:nvPr/>
        </p:nvSpPr>
        <p:spPr>
          <a:xfrm rot="16200000">
            <a:off x="45720" y="2286000"/>
            <a:ext cx="1005840" cy="16459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 Employees</a:t>
            </a:r>
            <a:endParaRPr lang="en-US" sz="900" dirty="0"/>
          </a:p>
        </p:txBody>
      </p:sp>
      <p:sp>
        <p:nvSpPr>
          <p:cNvPr id="23" name="ln"/>
          <p:cNvSpPr/>
          <p:nvPr/>
        </p:nvSpPr>
        <p:spPr>
          <a:xfrm>
            <a:off x="1810512" y="3749040"/>
            <a:ext cx="1330036" cy="0"/>
          </a:xfrm>
          <a:prstGeom prst="line">
            <a:avLst/>
          </a:prstGeom>
          <a:ln w="15240" cap="rnd">
            <a:solidFill>
              <a:srgbClr val="1D6A72"/>
            </a:solidFill>
            <a:prstDash val="solid"/>
          </a:ln>
        </p:spPr>
        <p:txBody>
          <a:bodyPr/>
          <a:lstStyle/>
          <a:p>
            <a:endParaRPr lang="en-US"/>
          </a:p>
        </p:txBody>
      </p:sp>
      <p:sp>
        <p:nvSpPr>
          <p:cNvPr id="24" name="ln"/>
          <p:cNvSpPr/>
          <p:nvPr/>
        </p:nvSpPr>
        <p:spPr>
          <a:xfrm flipV="1">
            <a:off x="3140548" y="2414016"/>
            <a:ext cx="0" cy="1335024"/>
          </a:xfrm>
          <a:prstGeom prst="line">
            <a:avLst/>
          </a:prstGeom>
          <a:ln w="15240" cap="rnd">
            <a:solidFill>
              <a:srgbClr val="1D6A72"/>
            </a:solidFill>
            <a:prstDash val="solid"/>
          </a:ln>
        </p:spPr>
        <p:txBody>
          <a:bodyPr/>
          <a:lstStyle/>
          <a:p>
            <a:endParaRPr lang="en-US"/>
          </a:p>
        </p:txBody>
      </p:sp>
      <p:sp>
        <p:nvSpPr>
          <p:cNvPr id="25" name="ln"/>
          <p:cNvSpPr/>
          <p:nvPr/>
        </p:nvSpPr>
        <p:spPr>
          <a:xfrm flipV="1">
            <a:off x="3140548" y="1746504"/>
            <a:ext cx="1174588" cy="667512"/>
          </a:xfrm>
          <a:prstGeom prst="line">
            <a:avLst/>
          </a:prstGeom>
          <a:ln w="15240" cap="rnd">
            <a:solidFill>
              <a:srgbClr val="1D6A72"/>
            </a:solidFill>
            <a:prstDash val="solid"/>
          </a:ln>
        </p:spPr>
        <p:txBody>
          <a:bodyPr/>
          <a:lstStyle/>
          <a:p>
            <a:endParaRPr lang="en-US"/>
          </a:p>
        </p:txBody>
      </p:sp>
      <p:sp>
        <p:nvSpPr>
          <p:cNvPr id="26" name="ln"/>
          <p:cNvSpPr/>
          <p:nvPr/>
        </p:nvSpPr>
        <p:spPr>
          <a:xfrm>
            <a:off x="4626033" y="1746504"/>
            <a:ext cx="1440596" cy="0"/>
          </a:xfrm>
          <a:prstGeom prst="line">
            <a:avLst/>
          </a:prstGeom>
          <a:ln w="15240" cap="rnd">
            <a:solidFill>
              <a:srgbClr val="E8610A"/>
            </a:solidFill>
            <a:prstDash val="dash"/>
          </a:ln>
        </p:spPr>
        <p:txBody>
          <a:bodyPr/>
          <a:lstStyle/>
          <a:p>
            <a:endParaRPr lang="en-US"/>
          </a:p>
        </p:txBody>
      </p:sp>
      <p:sp>
        <p:nvSpPr>
          <p:cNvPr id="27" name="ln"/>
          <p:cNvSpPr/>
          <p:nvPr/>
        </p:nvSpPr>
        <p:spPr>
          <a:xfrm>
            <a:off x="6066628" y="1746504"/>
            <a:ext cx="1596044" cy="0"/>
          </a:xfrm>
          <a:prstGeom prst="line">
            <a:avLst/>
          </a:prstGeom>
          <a:ln w="15240" cap="rnd">
            <a:solidFill>
              <a:srgbClr val="E8610A"/>
            </a:solidFill>
            <a:prstDash val="dash"/>
          </a:ln>
        </p:spPr>
        <p:txBody>
          <a:bodyPr/>
          <a:lstStyle/>
          <a:p>
            <a:endParaRPr lang="en-US"/>
          </a:p>
        </p:txBody>
      </p:sp>
      <p:sp>
        <p:nvSpPr>
          <p:cNvPr id="28" name="dot"/>
          <p:cNvSpPr/>
          <p:nvPr/>
        </p:nvSpPr>
        <p:spPr>
          <a:xfrm>
            <a:off x="1687068" y="3625596"/>
            <a:ext cx="246888" cy="246888"/>
          </a:xfrm>
          <a:prstGeom prst="ellipse">
            <a:avLst/>
          </a:prstGeom>
          <a:solidFill>
            <a:srgbClr val="1D6A72"/>
          </a:solidFill>
          <a:ln w="19050">
            <a:solidFill>
              <a:srgbClr val="1D6A72"/>
            </a:solidFill>
            <a:prstDash val="solid"/>
          </a:ln>
        </p:spPr>
        <p:txBody>
          <a:bodyPr/>
          <a:lstStyle/>
          <a:p>
            <a:endParaRPr lang="en-US"/>
          </a:p>
        </p:txBody>
      </p:sp>
      <p:sp>
        <p:nvSpPr>
          <p:cNvPr id="29" name="dotlabel"/>
          <p:cNvSpPr/>
          <p:nvPr/>
        </p:nvSpPr>
        <p:spPr>
          <a:xfrm>
            <a:off x="1687068" y="3625596"/>
            <a:ext cx="246888" cy="246888"/>
          </a:xfrm>
          <a:prstGeom prst="rect">
            <a:avLst/>
          </a:prstGeom>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S1</a:t>
            </a:r>
            <a:endParaRPr lang="en-US" sz="750" dirty="0"/>
          </a:p>
        </p:txBody>
      </p:sp>
      <p:sp>
        <p:nvSpPr>
          <p:cNvPr id="30" name="dot"/>
          <p:cNvSpPr/>
          <p:nvPr/>
        </p:nvSpPr>
        <p:spPr>
          <a:xfrm>
            <a:off x="3017104" y="3625596"/>
            <a:ext cx="246888" cy="246888"/>
          </a:xfrm>
          <a:prstGeom prst="ellipse">
            <a:avLst/>
          </a:prstGeom>
          <a:solidFill>
            <a:srgbClr val="F0F4F8"/>
          </a:solidFill>
          <a:ln w="19050">
            <a:solidFill>
              <a:srgbClr val="1D6A72"/>
            </a:solidFill>
            <a:prstDash val="solid"/>
          </a:ln>
        </p:spPr>
        <p:txBody>
          <a:bodyPr/>
          <a:lstStyle/>
          <a:p>
            <a:endParaRPr lang="en-US"/>
          </a:p>
        </p:txBody>
      </p:sp>
      <p:sp>
        <p:nvSpPr>
          <p:cNvPr id="31" name="dotlabel"/>
          <p:cNvSpPr/>
          <p:nvPr/>
        </p:nvSpPr>
        <p:spPr>
          <a:xfrm>
            <a:off x="3017104" y="3625596"/>
            <a:ext cx="246888" cy="246888"/>
          </a:xfrm>
          <a:prstGeom prst="rect">
            <a:avLst/>
          </a:prstGeom>
        </p:spPr>
        <p:txBody>
          <a:bodyPr wrap="square" lIns="0" tIns="0" rIns="0" bIns="0" rtlCol="0" anchor="ctr"/>
          <a:lstStyle/>
          <a:p>
            <a:pPr marL="0" indent="0" algn="ctr">
              <a:buNone/>
            </a:pPr>
            <a:r>
              <a:rPr lang="en-US" sz="750" b="1" dirty="0">
                <a:solidFill>
                  <a:srgbClr val="1D6A72"/>
                </a:solidFill>
                <a:latin typeface="Arial" pitchFamily="34" charset="0"/>
                <a:ea typeface="Arial" pitchFamily="34" charset="-122"/>
                <a:cs typeface="Arial" pitchFamily="34" charset="-120"/>
              </a:rPr>
              <a:t>S2</a:t>
            </a:r>
            <a:endParaRPr lang="en-US" sz="750" dirty="0"/>
          </a:p>
        </p:txBody>
      </p:sp>
      <p:sp>
        <p:nvSpPr>
          <p:cNvPr id="32" name="dot"/>
          <p:cNvSpPr/>
          <p:nvPr/>
        </p:nvSpPr>
        <p:spPr>
          <a:xfrm>
            <a:off x="3017104" y="2290572"/>
            <a:ext cx="246888" cy="246888"/>
          </a:xfrm>
          <a:prstGeom prst="ellipse">
            <a:avLst/>
          </a:prstGeom>
          <a:solidFill>
            <a:srgbClr val="F0F4F8"/>
          </a:solidFill>
          <a:ln w="19050">
            <a:solidFill>
              <a:srgbClr val="1D6A72"/>
            </a:solidFill>
            <a:prstDash val="solid"/>
          </a:ln>
        </p:spPr>
        <p:txBody>
          <a:bodyPr/>
          <a:lstStyle/>
          <a:p>
            <a:endParaRPr lang="en-US"/>
          </a:p>
        </p:txBody>
      </p:sp>
      <p:sp>
        <p:nvSpPr>
          <p:cNvPr id="33" name="dotlabel"/>
          <p:cNvSpPr/>
          <p:nvPr/>
        </p:nvSpPr>
        <p:spPr>
          <a:xfrm>
            <a:off x="3017104" y="2290572"/>
            <a:ext cx="246888" cy="246888"/>
          </a:xfrm>
          <a:prstGeom prst="rect">
            <a:avLst/>
          </a:prstGeom>
        </p:spPr>
        <p:txBody>
          <a:bodyPr wrap="square" lIns="0" tIns="0" rIns="0" bIns="0" rtlCol="0" anchor="ctr"/>
          <a:lstStyle/>
          <a:p>
            <a:pPr marL="0" indent="0" algn="ctr">
              <a:buNone/>
            </a:pPr>
            <a:r>
              <a:rPr lang="en-US" sz="750" b="1" dirty="0">
                <a:solidFill>
                  <a:srgbClr val="1D6A72"/>
                </a:solidFill>
                <a:latin typeface="Arial" pitchFamily="34" charset="0"/>
                <a:ea typeface="Arial" pitchFamily="34" charset="-122"/>
                <a:cs typeface="Arial" pitchFamily="34" charset="-120"/>
              </a:rPr>
              <a:t>S3</a:t>
            </a:r>
            <a:endParaRPr lang="en-US" sz="750" dirty="0"/>
          </a:p>
        </p:txBody>
      </p:sp>
      <p:sp>
        <p:nvSpPr>
          <p:cNvPr id="34" name="dot"/>
          <p:cNvSpPr/>
          <p:nvPr/>
        </p:nvSpPr>
        <p:spPr>
          <a:xfrm>
            <a:off x="4191693" y="1623060"/>
            <a:ext cx="246888" cy="246888"/>
          </a:xfrm>
          <a:prstGeom prst="ellipse">
            <a:avLst/>
          </a:prstGeom>
          <a:solidFill>
            <a:srgbClr val="1F4E79"/>
          </a:solidFill>
          <a:ln w="19050">
            <a:solidFill>
              <a:srgbClr val="1F4E79"/>
            </a:solidFill>
            <a:prstDash val="solid"/>
          </a:ln>
        </p:spPr>
        <p:txBody>
          <a:bodyPr/>
          <a:lstStyle/>
          <a:p>
            <a:endParaRPr lang="en-US"/>
          </a:p>
        </p:txBody>
      </p:sp>
      <p:sp>
        <p:nvSpPr>
          <p:cNvPr id="35" name="dotlabel"/>
          <p:cNvSpPr/>
          <p:nvPr/>
        </p:nvSpPr>
        <p:spPr>
          <a:xfrm>
            <a:off x="4191693" y="1623060"/>
            <a:ext cx="246888" cy="246888"/>
          </a:xfrm>
          <a:prstGeom prst="rect">
            <a:avLst/>
          </a:prstGeom>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S4</a:t>
            </a:r>
            <a:endParaRPr lang="en-US" sz="750" dirty="0"/>
          </a:p>
        </p:txBody>
      </p:sp>
      <p:sp>
        <p:nvSpPr>
          <p:cNvPr id="36" name="dot"/>
          <p:cNvSpPr/>
          <p:nvPr/>
        </p:nvSpPr>
        <p:spPr>
          <a:xfrm>
            <a:off x="4502589" y="1623060"/>
            <a:ext cx="246888" cy="246888"/>
          </a:xfrm>
          <a:prstGeom prst="ellipse">
            <a:avLst/>
          </a:prstGeom>
          <a:solidFill>
            <a:srgbClr val="FFF3CD"/>
          </a:solidFill>
          <a:ln w="19050">
            <a:solidFill>
              <a:srgbClr val="E8610A"/>
            </a:solidFill>
            <a:prstDash val="solid"/>
          </a:ln>
        </p:spPr>
        <p:txBody>
          <a:bodyPr/>
          <a:lstStyle/>
          <a:p>
            <a:endParaRPr lang="en-US"/>
          </a:p>
        </p:txBody>
      </p:sp>
      <p:sp>
        <p:nvSpPr>
          <p:cNvPr id="37" name="dotlabel"/>
          <p:cNvSpPr/>
          <p:nvPr/>
        </p:nvSpPr>
        <p:spPr>
          <a:xfrm>
            <a:off x="4502589" y="1623060"/>
            <a:ext cx="246888" cy="246888"/>
          </a:xfrm>
          <a:prstGeom prst="rect">
            <a:avLst/>
          </a:prstGeom>
        </p:spPr>
        <p:txBody>
          <a:bodyPr wrap="square" lIns="0" tIns="0" rIns="0" bIns="0" rtlCol="0" anchor="ctr"/>
          <a:lstStyle/>
          <a:p>
            <a:pPr marL="0" indent="0" algn="ctr">
              <a:buNone/>
            </a:pPr>
            <a:r>
              <a:rPr lang="en-US" sz="750" b="1" dirty="0">
                <a:solidFill>
                  <a:srgbClr val="D97706"/>
                </a:solidFill>
                <a:latin typeface="Arial" pitchFamily="34" charset="0"/>
                <a:ea typeface="Arial" pitchFamily="34" charset="-122"/>
                <a:cs typeface="Arial" pitchFamily="34" charset="-120"/>
              </a:rPr>
              <a:t>S5</a:t>
            </a:r>
            <a:endParaRPr lang="en-US" sz="750" dirty="0"/>
          </a:p>
        </p:txBody>
      </p:sp>
      <p:sp>
        <p:nvSpPr>
          <p:cNvPr id="38" name="dot"/>
          <p:cNvSpPr/>
          <p:nvPr/>
        </p:nvSpPr>
        <p:spPr>
          <a:xfrm>
            <a:off x="5943184" y="1623060"/>
            <a:ext cx="246888" cy="246888"/>
          </a:xfrm>
          <a:prstGeom prst="ellipse">
            <a:avLst/>
          </a:prstGeom>
          <a:solidFill>
            <a:srgbClr val="E8610A"/>
          </a:solidFill>
          <a:ln w="19050">
            <a:solidFill>
              <a:srgbClr val="E8610A"/>
            </a:solidFill>
            <a:prstDash val="solid"/>
          </a:ln>
        </p:spPr>
        <p:txBody>
          <a:bodyPr/>
          <a:lstStyle/>
          <a:p>
            <a:endParaRPr lang="en-US"/>
          </a:p>
        </p:txBody>
      </p:sp>
      <p:sp>
        <p:nvSpPr>
          <p:cNvPr id="39" name="dotlabel"/>
          <p:cNvSpPr/>
          <p:nvPr/>
        </p:nvSpPr>
        <p:spPr>
          <a:xfrm>
            <a:off x="5943184" y="1623060"/>
            <a:ext cx="246888" cy="246888"/>
          </a:xfrm>
          <a:prstGeom prst="rect">
            <a:avLst/>
          </a:prstGeom>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S6</a:t>
            </a:r>
            <a:endParaRPr lang="en-US" sz="750" dirty="0"/>
          </a:p>
        </p:txBody>
      </p:sp>
      <p:sp>
        <p:nvSpPr>
          <p:cNvPr id="40" name="dot"/>
          <p:cNvSpPr/>
          <p:nvPr/>
        </p:nvSpPr>
        <p:spPr>
          <a:xfrm>
            <a:off x="7539228" y="1623060"/>
            <a:ext cx="246888" cy="246888"/>
          </a:xfrm>
          <a:prstGeom prst="ellipse">
            <a:avLst/>
          </a:prstGeom>
          <a:solidFill>
            <a:srgbClr val="1F4E79"/>
          </a:solidFill>
          <a:ln w="19050">
            <a:solidFill>
              <a:srgbClr val="E8610A"/>
            </a:solidFill>
            <a:prstDash val="solid"/>
          </a:ln>
        </p:spPr>
        <p:txBody>
          <a:bodyPr/>
          <a:lstStyle/>
          <a:p>
            <a:endParaRPr lang="en-US"/>
          </a:p>
        </p:txBody>
      </p:sp>
      <p:sp>
        <p:nvSpPr>
          <p:cNvPr id="41" name="dotlabel"/>
          <p:cNvSpPr/>
          <p:nvPr/>
        </p:nvSpPr>
        <p:spPr>
          <a:xfrm>
            <a:off x="7539228" y="1623060"/>
            <a:ext cx="246888" cy="246888"/>
          </a:xfrm>
          <a:prstGeom prst="rect">
            <a:avLst/>
          </a:prstGeom>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S7</a:t>
            </a:r>
            <a:endParaRPr lang="en-US" sz="750" dirty="0"/>
          </a:p>
        </p:txBody>
      </p:sp>
      <p:sp>
        <p:nvSpPr>
          <p:cNvPr id="42" name="Text 16"/>
          <p:cNvSpPr/>
          <p:nvPr/>
        </p:nvSpPr>
        <p:spPr>
          <a:xfrm>
            <a:off x="3063240" y="4636008"/>
            <a:ext cx="3474720" cy="201168"/>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Hours of coverage per week  →</a:t>
            </a:r>
            <a:endParaRPr lang="en-US" sz="900" dirty="0"/>
          </a:p>
        </p:txBody>
      </p:sp>
      <p:sp>
        <p:nvSpPr>
          <p:cNvPr id="43" name="Shape 46"/>
          <p:cNvSpPr/>
          <p:nvPr/>
        </p:nvSpPr>
        <p:spPr>
          <a:xfrm>
            <a:off x="1143000" y="4946904"/>
            <a:ext cx="292608" cy="0"/>
          </a:xfrm>
          <a:prstGeom prst="line">
            <a:avLst/>
          </a:prstGeom>
          <a:noFill/>
          <a:ln w="19050">
            <a:solidFill>
              <a:srgbClr val="1D6A72"/>
            </a:solidFill>
            <a:prstDash val="solid"/>
          </a:ln>
        </p:spPr>
        <p:txBody>
          <a:bodyPr/>
          <a:lstStyle/>
          <a:p>
            <a:endParaRPr lang="en-US"/>
          </a:p>
        </p:txBody>
      </p:sp>
      <p:sp>
        <p:nvSpPr>
          <p:cNvPr id="44" name="Text 47"/>
          <p:cNvSpPr/>
          <p:nvPr/>
        </p:nvSpPr>
        <p:spPr>
          <a:xfrm>
            <a:off x="1481328" y="4873752"/>
            <a:ext cx="640080" cy="164592"/>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5-day</a:t>
            </a:r>
            <a:endParaRPr lang="en-US" sz="800" dirty="0"/>
          </a:p>
        </p:txBody>
      </p:sp>
      <p:sp>
        <p:nvSpPr>
          <p:cNvPr id="45" name="Shape 48"/>
          <p:cNvSpPr/>
          <p:nvPr/>
        </p:nvSpPr>
        <p:spPr>
          <a:xfrm>
            <a:off x="2240280" y="4946904"/>
            <a:ext cx="292608" cy="0"/>
          </a:xfrm>
          <a:prstGeom prst="line">
            <a:avLst/>
          </a:prstGeom>
          <a:noFill/>
          <a:ln w="19050">
            <a:solidFill>
              <a:srgbClr val="E8610A"/>
            </a:solidFill>
            <a:prstDash val="dash"/>
          </a:ln>
        </p:spPr>
        <p:txBody>
          <a:bodyPr/>
          <a:lstStyle/>
          <a:p>
            <a:endParaRPr lang="en-US"/>
          </a:p>
        </p:txBody>
      </p:sp>
      <p:sp>
        <p:nvSpPr>
          <p:cNvPr id="46" name="Text 49"/>
          <p:cNvSpPr/>
          <p:nvPr/>
        </p:nvSpPr>
        <p:spPr>
          <a:xfrm>
            <a:off x="2487168" y="4873752"/>
            <a:ext cx="640080" cy="164592"/>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6/7-day</a:t>
            </a:r>
            <a:endParaRPr lang="en-US" sz="800" dirty="0"/>
          </a:p>
        </p:txBody>
      </p:sp>
      <p:sp>
        <p:nvSpPr>
          <p:cNvPr id="47" name="Shape 50"/>
          <p:cNvSpPr/>
          <p:nvPr/>
        </p:nvSpPr>
        <p:spPr>
          <a:xfrm>
            <a:off x="3337560" y="4882896"/>
            <a:ext cx="137160" cy="137160"/>
          </a:xfrm>
          <a:prstGeom prst="ellipse">
            <a:avLst/>
          </a:prstGeom>
          <a:solidFill>
            <a:srgbClr val="1D6A72"/>
          </a:solidFill>
          <a:ln w="12700">
            <a:solidFill>
              <a:srgbClr val="1D6A72"/>
            </a:solidFill>
            <a:prstDash val="solid"/>
          </a:ln>
        </p:spPr>
        <p:txBody>
          <a:bodyPr/>
          <a:lstStyle/>
          <a:p>
            <a:endParaRPr lang="en-US"/>
          </a:p>
        </p:txBody>
      </p:sp>
      <p:sp>
        <p:nvSpPr>
          <p:cNvPr id="48" name="Text 51"/>
          <p:cNvSpPr/>
          <p:nvPr/>
        </p:nvSpPr>
        <p:spPr>
          <a:xfrm>
            <a:off x="3520440" y="4873752"/>
            <a:ext cx="502920" cy="164592"/>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8-hr</a:t>
            </a:r>
            <a:endParaRPr lang="en-US" sz="800" dirty="0"/>
          </a:p>
        </p:txBody>
      </p:sp>
      <p:sp>
        <p:nvSpPr>
          <p:cNvPr id="49" name="Shape 52"/>
          <p:cNvSpPr/>
          <p:nvPr/>
        </p:nvSpPr>
        <p:spPr>
          <a:xfrm>
            <a:off x="4160520" y="4882896"/>
            <a:ext cx="137160" cy="137160"/>
          </a:xfrm>
          <a:prstGeom prst="ellipse">
            <a:avLst/>
          </a:prstGeom>
          <a:solidFill>
            <a:srgbClr val="F0F4F8"/>
          </a:solidFill>
          <a:ln w="12700">
            <a:solidFill>
              <a:srgbClr val="1D6A72"/>
            </a:solidFill>
            <a:prstDash val="solid"/>
          </a:ln>
        </p:spPr>
        <p:txBody>
          <a:bodyPr/>
          <a:lstStyle/>
          <a:p>
            <a:endParaRPr lang="en-US"/>
          </a:p>
        </p:txBody>
      </p:sp>
      <p:sp>
        <p:nvSpPr>
          <p:cNvPr id="50" name="Text 53"/>
          <p:cNvSpPr/>
          <p:nvPr/>
        </p:nvSpPr>
        <p:spPr>
          <a:xfrm>
            <a:off x="4343400" y="4873752"/>
            <a:ext cx="548640" cy="164592"/>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10-hr</a:t>
            </a:r>
            <a:endParaRPr lang="en-US" sz="800" dirty="0"/>
          </a:p>
        </p:txBody>
      </p:sp>
      <p:sp>
        <p:nvSpPr>
          <p:cNvPr id="51" name="Shape 54"/>
          <p:cNvSpPr/>
          <p:nvPr/>
        </p:nvSpPr>
        <p:spPr>
          <a:xfrm>
            <a:off x="5029200" y="4882896"/>
            <a:ext cx="137160" cy="137160"/>
          </a:xfrm>
          <a:prstGeom prst="ellipse">
            <a:avLst/>
          </a:prstGeom>
          <a:solidFill>
            <a:srgbClr val="1F4E79"/>
          </a:solidFill>
          <a:ln w="12700">
            <a:solidFill>
              <a:srgbClr val="1F4E79"/>
            </a:solidFill>
            <a:prstDash val="solid"/>
          </a:ln>
        </p:spPr>
        <p:txBody>
          <a:bodyPr/>
          <a:lstStyle/>
          <a:p>
            <a:endParaRPr lang="en-US"/>
          </a:p>
        </p:txBody>
      </p:sp>
      <p:sp>
        <p:nvSpPr>
          <p:cNvPr id="52" name="Text 55"/>
          <p:cNvSpPr/>
          <p:nvPr/>
        </p:nvSpPr>
        <p:spPr>
          <a:xfrm>
            <a:off x="5212080" y="4873752"/>
            <a:ext cx="548640" cy="164592"/>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12-hr</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1005840" cy="347472"/>
          </a:xfrm>
          <a:prstGeom prst="roundRect">
            <a:avLst>
              <a:gd name="adj" fmla="val 15789"/>
            </a:avLst>
          </a:prstGeom>
          <a:solidFill>
            <a:srgbClr val="64748B"/>
          </a:solidFill>
          <a:ln w="12700">
            <a:solidFill>
              <a:srgbClr val="64748B"/>
            </a:solidFill>
            <a:prstDash val="solid"/>
          </a:ln>
        </p:spPr>
        <p:txBody>
          <a:bodyPr/>
          <a:lstStyle/>
          <a:p>
            <a:endParaRPr lang="en-US"/>
          </a:p>
        </p:txBody>
      </p:sp>
      <p:sp>
        <p:nvSpPr>
          <p:cNvPr id="3" name="Text 1"/>
          <p:cNvSpPr/>
          <p:nvPr/>
        </p:nvSpPr>
        <p:spPr>
          <a:xfrm>
            <a:off x="365760" y="164592"/>
            <a:ext cx="10058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40 hrs coverage</a:t>
            </a:r>
            <a:endParaRPr lang="en-US" sz="1100" dirty="0"/>
          </a:p>
        </p:txBody>
      </p:sp>
      <p:sp>
        <p:nvSpPr>
          <p:cNvPr id="4" name="Text 2"/>
          <p:cNvSpPr/>
          <p:nvPr/>
        </p:nvSpPr>
        <p:spPr>
          <a:xfrm>
            <a:off x="1481328" y="164592"/>
            <a:ext cx="7315200" cy="365760"/>
          </a:xfrm>
          <a:prstGeom prst="rect">
            <a:avLst/>
          </a:prstGeom>
          <a:noFill/>
          <a:ln/>
        </p:spPr>
        <p:txBody>
          <a:bodyPr wrap="square" rtlCol="0" anchor="ctr"/>
          <a:lstStyle/>
          <a:p>
            <a:pPr marL="0" indent="0">
              <a:buNone/>
            </a:pPr>
            <a:r>
              <a:rPr lang="en-US" sz="2200" b="1" dirty="0">
                <a:solidFill>
                  <a:srgbClr val="1F4E79"/>
                </a:solidFill>
                <a:latin typeface="Cambria" pitchFamily="34" charset="0"/>
                <a:ea typeface="Cambria" pitchFamily="34" charset="-122"/>
                <a:cs typeface="Cambria" pitchFamily="34" charset="-120"/>
              </a:rPr>
              <a:t>S1 — 5-Day · 8-Hour Fixed</a:t>
            </a:r>
            <a:endParaRPr lang="en-US" sz="2200" dirty="0"/>
          </a:p>
        </p:txBody>
      </p:sp>
      <p:sp>
        <p:nvSpPr>
          <p:cNvPr id="5" name="Text 3"/>
          <p:cNvSpPr/>
          <p:nvPr/>
        </p:nvSpPr>
        <p:spPr>
          <a:xfrm>
            <a:off x="1481328" y="530352"/>
            <a:ext cx="7315200" cy="256032"/>
          </a:xfrm>
          <a:prstGeom prst="rect">
            <a:avLst/>
          </a:prstGeom>
          <a:noFill/>
          <a:ln/>
        </p:spPr>
        <p:txBody>
          <a:bodyPr wrap="square" rtlCol="0" anchor="ctr"/>
          <a:lstStyle/>
          <a:p>
            <a:pPr marL="0" indent="0">
              <a:buNone/>
            </a:pPr>
            <a:r>
              <a:rPr lang="en-US" sz="1200" i="1" dirty="0">
                <a:solidFill>
                  <a:srgbClr val="64748B"/>
                </a:solidFill>
                <a:latin typeface="Arial" pitchFamily="34" charset="0"/>
                <a:ea typeface="Arial" pitchFamily="34" charset="-122"/>
                <a:cs typeface="Arial" pitchFamily="34" charset="-120"/>
              </a:rPr>
              <a:t>The baseline</a:t>
            </a:r>
            <a:endParaRPr lang="en-US" sz="1200" dirty="0"/>
          </a:p>
        </p:txBody>
      </p:sp>
      <p:sp>
        <p:nvSpPr>
          <p:cNvPr id="6" name="Shape 4"/>
          <p:cNvSpPr/>
          <p:nvPr/>
        </p:nvSpPr>
        <p:spPr>
          <a:xfrm>
            <a:off x="1298448"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7" name="Text 5"/>
          <p:cNvSpPr/>
          <p:nvPr/>
        </p:nvSpPr>
        <p:spPr>
          <a:xfrm>
            <a:off x="1298448"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Mon</a:t>
            </a:r>
            <a:endParaRPr lang="en-US" sz="900" dirty="0"/>
          </a:p>
        </p:txBody>
      </p:sp>
      <p:sp>
        <p:nvSpPr>
          <p:cNvPr id="8" name="Shape 6"/>
          <p:cNvSpPr/>
          <p:nvPr/>
        </p:nvSpPr>
        <p:spPr>
          <a:xfrm>
            <a:off x="2267712"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9" name="Text 7"/>
          <p:cNvSpPr/>
          <p:nvPr/>
        </p:nvSpPr>
        <p:spPr>
          <a:xfrm>
            <a:off x="2267712"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Tue</a:t>
            </a:r>
            <a:endParaRPr lang="en-US" sz="900" dirty="0"/>
          </a:p>
        </p:txBody>
      </p:sp>
      <p:sp>
        <p:nvSpPr>
          <p:cNvPr id="10" name="Shape 8"/>
          <p:cNvSpPr/>
          <p:nvPr/>
        </p:nvSpPr>
        <p:spPr>
          <a:xfrm>
            <a:off x="3236976"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1" name="Text 9"/>
          <p:cNvSpPr/>
          <p:nvPr/>
        </p:nvSpPr>
        <p:spPr>
          <a:xfrm>
            <a:off x="3236976"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Wed</a:t>
            </a:r>
            <a:endParaRPr lang="en-US" sz="900" dirty="0"/>
          </a:p>
        </p:txBody>
      </p:sp>
      <p:sp>
        <p:nvSpPr>
          <p:cNvPr id="12" name="Shape 10"/>
          <p:cNvSpPr/>
          <p:nvPr/>
        </p:nvSpPr>
        <p:spPr>
          <a:xfrm>
            <a:off x="4206240"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3" name="Text 11"/>
          <p:cNvSpPr/>
          <p:nvPr/>
        </p:nvSpPr>
        <p:spPr>
          <a:xfrm>
            <a:off x="4206240"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Thu</a:t>
            </a:r>
            <a:endParaRPr lang="en-US" sz="900" dirty="0"/>
          </a:p>
        </p:txBody>
      </p:sp>
      <p:sp>
        <p:nvSpPr>
          <p:cNvPr id="14" name="Shape 12"/>
          <p:cNvSpPr/>
          <p:nvPr/>
        </p:nvSpPr>
        <p:spPr>
          <a:xfrm>
            <a:off x="5175504"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5" name="Text 13"/>
          <p:cNvSpPr/>
          <p:nvPr/>
        </p:nvSpPr>
        <p:spPr>
          <a:xfrm>
            <a:off x="5175504"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Fri</a:t>
            </a:r>
            <a:endParaRPr lang="en-US" sz="900" dirty="0"/>
          </a:p>
        </p:txBody>
      </p:sp>
      <p:sp>
        <p:nvSpPr>
          <p:cNvPr id="16" name="Shape 14"/>
          <p:cNvSpPr/>
          <p:nvPr/>
        </p:nvSpPr>
        <p:spPr>
          <a:xfrm>
            <a:off x="6144768"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7" name="Text 15"/>
          <p:cNvSpPr/>
          <p:nvPr/>
        </p:nvSpPr>
        <p:spPr>
          <a:xfrm>
            <a:off x="6144768"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Sat</a:t>
            </a:r>
            <a:endParaRPr lang="en-US" sz="900" dirty="0"/>
          </a:p>
        </p:txBody>
      </p:sp>
      <p:sp>
        <p:nvSpPr>
          <p:cNvPr id="18" name="Shape 16"/>
          <p:cNvSpPr/>
          <p:nvPr/>
        </p:nvSpPr>
        <p:spPr>
          <a:xfrm>
            <a:off x="7114032"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9" name="Text 17"/>
          <p:cNvSpPr/>
          <p:nvPr/>
        </p:nvSpPr>
        <p:spPr>
          <a:xfrm>
            <a:off x="7114032"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Sun</a:t>
            </a:r>
            <a:endParaRPr lang="en-US" sz="900" dirty="0"/>
          </a:p>
        </p:txBody>
      </p:sp>
      <p:sp>
        <p:nvSpPr>
          <p:cNvPr id="20" name="Text 18"/>
          <p:cNvSpPr/>
          <p:nvPr/>
        </p:nvSpPr>
        <p:spPr>
          <a:xfrm>
            <a:off x="320040" y="1143000"/>
            <a:ext cx="932688" cy="310896"/>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All (12)</a:t>
            </a:r>
            <a:endParaRPr lang="en-US" sz="900" dirty="0"/>
          </a:p>
        </p:txBody>
      </p:sp>
      <p:sp>
        <p:nvSpPr>
          <p:cNvPr id="21" name="Shape 19"/>
          <p:cNvSpPr/>
          <p:nvPr/>
        </p:nvSpPr>
        <p:spPr>
          <a:xfrm>
            <a:off x="1298448"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2" name="Text 20"/>
          <p:cNvSpPr/>
          <p:nvPr/>
        </p:nvSpPr>
        <p:spPr>
          <a:xfrm>
            <a:off x="1298448"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D8</a:t>
            </a:r>
            <a:endParaRPr lang="en-US" sz="1000" dirty="0"/>
          </a:p>
        </p:txBody>
      </p:sp>
      <p:sp>
        <p:nvSpPr>
          <p:cNvPr id="23" name="Shape 21"/>
          <p:cNvSpPr/>
          <p:nvPr/>
        </p:nvSpPr>
        <p:spPr>
          <a:xfrm>
            <a:off x="2267712"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4" name="Text 22"/>
          <p:cNvSpPr/>
          <p:nvPr/>
        </p:nvSpPr>
        <p:spPr>
          <a:xfrm>
            <a:off x="2267712"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D8</a:t>
            </a:r>
            <a:endParaRPr lang="en-US" sz="1000" dirty="0"/>
          </a:p>
        </p:txBody>
      </p:sp>
      <p:sp>
        <p:nvSpPr>
          <p:cNvPr id="25" name="Shape 23"/>
          <p:cNvSpPr/>
          <p:nvPr/>
        </p:nvSpPr>
        <p:spPr>
          <a:xfrm>
            <a:off x="3236976"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6" name="Text 24"/>
          <p:cNvSpPr/>
          <p:nvPr/>
        </p:nvSpPr>
        <p:spPr>
          <a:xfrm>
            <a:off x="3236976"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D8</a:t>
            </a:r>
            <a:endParaRPr lang="en-US" sz="1000" dirty="0"/>
          </a:p>
        </p:txBody>
      </p:sp>
      <p:sp>
        <p:nvSpPr>
          <p:cNvPr id="27" name="Shape 25"/>
          <p:cNvSpPr/>
          <p:nvPr/>
        </p:nvSpPr>
        <p:spPr>
          <a:xfrm>
            <a:off x="4206240"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8" name="Text 26"/>
          <p:cNvSpPr/>
          <p:nvPr/>
        </p:nvSpPr>
        <p:spPr>
          <a:xfrm>
            <a:off x="4206240"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D8</a:t>
            </a:r>
            <a:endParaRPr lang="en-US" sz="1000" dirty="0"/>
          </a:p>
        </p:txBody>
      </p:sp>
      <p:sp>
        <p:nvSpPr>
          <p:cNvPr id="29" name="Shape 27"/>
          <p:cNvSpPr/>
          <p:nvPr/>
        </p:nvSpPr>
        <p:spPr>
          <a:xfrm>
            <a:off x="5175504"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30" name="Text 28"/>
          <p:cNvSpPr/>
          <p:nvPr/>
        </p:nvSpPr>
        <p:spPr>
          <a:xfrm>
            <a:off x="5175504"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D8</a:t>
            </a:r>
            <a:endParaRPr lang="en-US" sz="1000" dirty="0"/>
          </a:p>
        </p:txBody>
      </p:sp>
      <p:sp>
        <p:nvSpPr>
          <p:cNvPr id="31" name="Shape 29"/>
          <p:cNvSpPr/>
          <p:nvPr/>
        </p:nvSpPr>
        <p:spPr>
          <a:xfrm>
            <a:off x="6144768" y="1143000"/>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32" name="Text 30"/>
          <p:cNvSpPr/>
          <p:nvPr/>
        </p:nvSpPr>
        <p:spPr>
          <a:xfrm>
            <a:off x="6144768" y="1143000"/>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3" name="Shape 31"/>
          <p:cNvSpPr/>
          <p:nvPr/>
        </p:nvSpPr>
        <p:spPr>
          <a:xfrm>
            <a:off x="7114032" y="1143000"/>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34" name="Text 32"/>
          <p:cNvSpPr/>
          <p:nvPr/>
        </p:nvSpPr>
        <p:spPr>
          <a:xfrm>
            <a:off x="7114032" y="1143000"/>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5" name="Text 33"/>
          <p:cNvSpPr/>
          <p:nvPr/>
        </p:nvSpPr>
        <p:spPr>
          <a:xfrm>
            <a:off x="320040" y="1490472"/>
            <a:ext cx="932688" cy="256032"/>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staff/day</a:t>
            </a:r>
            <a:endParaRPr lang="en-US" sz="800" dirty="0"/>
          </a:p>
        </p:txBody>
      </p:sp>
      <p:sp>
        <p:nvSpPr>
          <p:cNvPr id="36" name="Text 34"/>
          <p:cNvSpPr/>
          <p:nvPr/>
        </p:nvSpPr>
        <p:spPr>
          <a:xfrm>
            <a:off x="1298448" y="1490472"/>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37" name="Text 35"/>
          <p:cNvSpPr/>
          <p:nvPr/>
        </p:nvSpPr>
        <p:spPr>
          <a:xfrm>
            <a:off x="2267712" y="1490472"/>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38" name="Text 36"/>
          <p:cNvSpPr/>
          <p:nvPr/>
        </p:nvSpPr>
        <p:spPr>
          <a:xfrm>
            <a:off x="3236976" y="1490472"/>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39" name="Text 37"/>
          <p:cNvSpPr/>
          <p:nvPr/>
        </p:nvSpPr>
        <p:spPr>
          <a:xfrm>
            <a:off x="4206240" y="1490472"/>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40" name="Text 38"/>
          <p:cNvSpPr/>
          <p:nvPr/>
        </p:nvSpPr>
        <p:spPr>
          <a:xfrm>
            <a:off x="5175504" y="1490472"/>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41" name="Text 39"/>
          <p:cNvSpPr/>
          <p:nvPr/>
        </p:nvSpPr>
        <p:spPr>
          <a:xfrm>
            <a:off x="6144768" y="1490472"/>
            <a:ext cx="932688" cy="256032"/>
          </a:xfrm>
          <a:prstGeom prst="rect">
            <a:avLst/>
          </a:prstGeom>
          <a:noFill/>
          <a:ln/>
        </p:spPr>
        <p:txBody>
          <a:bodyPr wrap="square" rtlCol="0" anchor="ctr"/>
          <a:lstStyle/>
          <a:p>
            <a:pPr marL="0" indent="0" algn="ctr">
              <a:buNone/>
            </a:pPr>
            <a:r>
              <a:rPr lang="en-US" sz="1000" dirty="0">
                <a:solidFill>
                  <a:srgbClr val="94A3B8"/>
                </a:solidFill>
                <a:latin typeface="Arial" pitchFamily="34" charset="0"/>
                <a:ea typeface="Arial" pitchFamily="34" charset="-122"/>
                <a:cs typeface="Arial" pitchFamily="34" charset="-120"/>
              </a:rPr>
              <a:t>0</a:t>
            </a:r>
            <a:endParaRPr lang="en-US" sz="1000" dirty="0"/>
          </a:p>
        </p:txBody>
      </p:sp>
      <p:sp>
        <p:nvSpPr>
          <p:cNvPr id="42" name="Text 40"/>
          <p:cNvSpPr/>
          <p:nvPr/>
        </p:nvSpPr>
        <p:spPr>
          <a:xfrm>
            <a:off x="7114032" y="1490472"/>
            <a:ext cx="932688" cy="256032"/>
          </a:xfrm>
          <a:prstGeom prst="rect">
            <a:avLst/>
          </a:prstGeom>
          <a:noFill/>
          <a:ln/>
        </p:spPr>
        <p:txBody>
          <a:bodyPr wrap="square" rtlCol="0" anchor="ctr"/>
          <a:lstStyle/>
          <a:p>
            <a:pPr marL="0" indent="0" algn="ctr">
              <a:buNone/>
            </a:pPr>
            <a:r>
              <a:rPr lang="en-US" sz="1000" dirty="0">
                <a:solidFill>
                  <a:srgbClr val="94A3B8"/>
                </a:solidFill>
                <a:latin typeface="Arial" pitchFamily="34" charset="0"/>
                <a:ea typeface="Arial" pitchFamily="34" charset="-122"/>
                <a:cs typeface="Arial" pitchFamily="34" charset="-120"/>
              </a:rPr>
              <a:t>0</a:t>
            </a:r>
            <a:endParaRPr lang="en-US" sz="1000" dirty="0"/>
          </a:p>
        </p:txBody>
      </p:sp>
      <p:sp>
        <p:nvSpPr>
          <p:cNvPr id="43" name="Shape 41"/>
          <p:cNvSpPr/>
          <p:nvPr/>
        </p:nvSpPr>
        <p:spPr>
          <a:xfrm>
            <a:off x="365760" y="1837944"/>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44" name="Text 42"/>
          <p:cNvSpPr/>
          <p:nvPr/>
        </p:nvSpPr>
        <p:spPr>
          <a:xfrm>
            <a:off x="365760" y="1892808"/>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12</a:t>
            </a:r>
            <a:endParaRPr lang="en-US" sz="1800" dirty="0"/>
          </a:p>
        </p:txBody>
      </p:sp>
      <p:sp>
        <p:nvSpPr>
          <p:cNvPr id="45" name="Text 43"/>
          <p:cNvSpPr/>
          <p:nvPr/>
        </p:nvSpPr>
        <p:spPr>
          <a:xfrm>
            <a:off x="365760" y="2258568"/>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employees</a:t>
            </a:r>
            <a:endParaRPr lang="en-US" sz="900" dirty="0"/>
          </a:p>
        </p:txBody>
      </p:sp>
      <p:sp>
        <p:nvSpPr>
          <p:cNvPr id="46" name="Shape 44"/>
          <p:cNvSpPr/>
          <p:nvPr/>
        </p:nvSpPr>
        <p:spPr>
          <a:xfrm>
            <a:off x="1767840" y="1837944"/>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47" name="Text 45"/>
          <p:cNvSpPr/>
          <p:nvPr/>
        </p:nvSpPr>
        <p:spPr>
          <a:xfrm>
            <a:off x="1767840" y="1892808"/>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40</a:t>
            </a:r>
            <a:endParaRPr lang="en-US" sz="1800" dirty="0"/>
          </a:p>
        </p:txBody>
      </p:sp>
      <p:sp>
        <p:nvSpPr>
          <p:cNvPr id="48" name="Text 46"/>
          <p:cNvSpPr/>
          <p:nvPr/>
        </p:nvSpPr>
        <p:spPr>
          <a:xfrm>
            <a:off x="1767840" y="2258568"/>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prod hrs/week</a:t>
            </a:r>
            <a:endParaRPr lang="en-US" sz="900" dirty="0"/>
          </a:p>
        </p:txBody>
      </p:sp>
      <p:sp>
        <p:nvSpPr>
          <p:cNvPr id="49" name="Shape 47"/>
          <p:cNvSpPr/>
          <p:nvPr/>
        </p:nvSpPr>
        <p:spPr>
          <a:xfrm>
            <a:off x="3169920" y="1837944"/>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50" name="Text 48"/>
          <p:cNvSpPr/>
          <p:nvPr/>
        </p:nvSpPr>
        <p:spPr>
          <a:xfrm>
            <a:off x="3169920" y="1892808"/>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40</a:t>
            </a:r>
            <a:endParaRPr lang="en-US" sz="1800" dirty="0"/>
          </a:p>
        </p:txBody>
      </p:sp>
      <p:sp>
        <p:nvSpPr>
          <p:cNvPr id="51" name="Text 49"/>
          <p:cNvSpPr/>
          <p:nvPr/>
        </p:nvSpPr>
        <p:spPr>
          <a:xfrm>
            <a:off x="3169920" y="2258568"/>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work hrs/person</a:t>
            </a:r>
            <a:endParaRPr lang="en-US" sz="900" dirty="0"/>
          </a:p>
        </p:txBody>
      </p:sp>
      <p:sp>
        <p:nvSpPr>
          <p:cNvPr id="52" name="Shape 50"/>
          <p:cNvSpPr/>
          <p:nvPr/>
        </p:nvSpPr>
        <p:spPr>
          <a:xfrm>
            <a:off x="4572000" y="1837944"/>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53" name="Text 51"/>
          <p:cNvSpPr/>
          <p:nvPr/>
        </p:nvSpPr>
        <p:spPr>
          <a:xfrm>
            <a:off x="4572000" y="1892808"/>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40</a:t>
            </a:r>
            <a:endParaRPr lang="en-US" sz="1800" dirty="0"/>
          </a:p>
        </p:txBody>
      </p:sp>
      <p:sp>
        <p:nvSpPr>
          <p:cNvPr id="54" name="Text 52"/>
          <p:cNvSpPr/>
          <p:nvPr/>
        </p:nvSpPr>
        <p:spPr>
          <a:xfrm>
            <a:off x="4572000" y="2258568"/>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pay hrs avg</a:t>
            </a:r>
            <a:endParaRPr lang="en-US" sz="900" dirty="0"/>
          </a:p>
        </p:txBody>
      </p:sp>
      <p:sp>
        <p:nvSpPr>
          <p:cNvPr id="55" name="Shape 53"/>
          <p:cNvSpPr/>
          <p:nvPr/>
        </p:nvSpPr>
        <p:spPr>
          <a:xfrm>
            <a:off x="5974080" y="1837944"/>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56" name="Text 54"/>
          <p:cNvSpPr/>
          <p:nvPr/>
        </p:nvSpPr>
        <p:spPr>
          <a:xfrm>
            <a:off x="5974080" y="1892808"/>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0%</a:t>
            </a:r>
            <a:endParaRPr lang="en-US" sz="1800" dirty="0"/>
          </a:p>
        </p:txBody>
      </p:sp>
      <p:sp>
        <p:nvSpPr>
          <p:cNvPr id="57" name="Text 55"/>
          <p:cNvSpPr/>
          <p:nvPr/>
        </p:nvSpPr>
        <p:spPr>
          <a:xfrm>
            <a:off x="5974080" y="2258568"/>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overtime</a:t>
            </a:r>
            <a:endParaRPr lang="en-US" sz="900" dirty="0"/>
          </a:p>
        </p:txBody>
      </p:sp>
      <p:sp>
        <p:nvSpPr>
          <p:cNvPr id="58" name="Shape 56"/>
          <p:cNvSpPr/>
          <p:nvPr/>
        </p:nvSpPr>
        <p:spPr>
          <a:xfrm>
            <a:off x="7376160" y="1837944"/>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59" name="Text 57"/>
          <p:cNvSpPr/>
          <p:nvPr/>
        </p:nvSpPr>
        <p:spPr>
          <a:xfrm>
            <a:off x="7376160" y="1892808"/>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5</a:t>
            </a:r>
            <a:endParaRPr lang="en-US" sz="1800" dirty="0"/>
          </a:p>
        </p:txBody>
      </p:sp>
      <p:sp>
        <p:nvSpPr>
          <p:cNvPr id="60" name="Text 58"/>
          <p:cNvSpPr/>
          <p:nvPr/>
        </p:nvSpPr>
        <p:spPr>
          <a:xfrm>
            <a:off x="7376160" y="2258568"/>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coverage days</a:t>
            </a:r>
            <a:endParaRPr lang="en-US" sz="900" dirty="0"/>
          </a:p>
        </p:txBody>
      </p:sp>
      <p:sp>
        <p:nvSpPr>
          <p:cNvPr id="63" name="Text 61"/>
          <p:cNvSpPr/>
          <p:nvPr/>
        </p:nvSpPr>
        <p:spPr>
          <a:xfrm>
            <a:off x="365760" y="4846320"/>
            <a:ext cx="1828800" cy="201168"/>
          </a:xfrm>
          <a:prstGeom prst="rect">
            <a:avLst/>
          </a:prstGeom>
          <a:noFill/>
          <a:ln/>
        </p:spPr>
        <p:txBody>
          <a:bodyPr wrap="square" rtlCol="0" anchor="ctr"/>
          <a:lstStyle/>
          <a:p>
            <a:pPr marL="0" indent="0">
              <a:buNone/>
            </a:pPr>
            <a:r>
              <a:rPr lang="en-US" sz="900" i="1" dirty="0">
                <a:solidFill>
                  <a:srgbClr val="94A3B8"/>
                </a:solidFill>
                <a:latin typeface="Arial" pitchFamily="34" charset="0"/>
                <a:ea typeface="Arial" pitchFamily="34" charset="-122"/>
                <a:cs typeface="Arial" pitchFamily="34" charset="-120"/>
              </a:rPr>
              <a:t>← Back to chart</a:t>
            </a:r>
            <a:endParaRPr lang="en-US" sz="900" dirty="0"/>
          </a:p>
        </p:txBody>
      </p:sp>
      <p:sp>
        <p:nvSpPr>
          <p:cNvPr id="64" name="chip"/>
          <p:cNvSpPr/>
          <p:nvPr/>
        </p:nvSpPr>
        <p:spPr>
          <a:xfrm>
            <a:off x="2971800" y="2615184"/>
            <a:ext cx="384048" cy="164592"/>
          </a:xfrm>
          <a:prstGeom prst="roundRect">
            <a:avLst>
              <a:gd name="adj" fmla="val 25000"/>
            </a:avLst>
          </a:prstGeom>
          <a:solidFill>
            <a:srgbClr val="1D6A72"/>
          </a:solidFill>
          <a:ln>
            <a:noFill/>
          </a:ln>
        </p:spPr>
        <p:txBody>
          <a:bodyPr lIns="0" tIns="0" rIns="0" bIns="0" anchor="ctr"/>
          <a:lstStyle/>
          <a:p>
            <a:pPr algn="ctr">
              <a:buNone/>
            </a:pPr>
            <a:r>
              <a:rPr lang="en-US" sz="750" b="1" dirty="0">
                <a:solidFill>
                  <a:srgbClr val="FFFFFF"/>
                </a:solidFill>
                <a:latin typeface="Arial" pitchFamily="34" charset="0"/>
              </a:rPr>
              <a:t>D8</a:t>
            </a:r>
          </a:p>
        </p:txBody>
      </p:sp>
      <p:sp>
        <p:nvSpPr>
          <p:cNvPr id="65" name="lt"/>
          <p:cNvSpPr/>
          <p:nvPr/>
        </p:nvSpPr>
        <p:spPr>
          <a:xfrm>
            <a:off x="3410712" y="2615184"/>
            <a:ext cx="1143000" cy="164592"/>
          </a:xfrm>
          <a:prstGeom prst="rect">
            <a:avLst/>
          </a:prstGeom>
        </p:spPr>
        <p:txBody>
          <a:bodyPr lIns="18000" tIns="0" rIns="0" bIns="0" anchor="ctr"/>
          <a:lstStyle/>
          <a:p>
            <a:pPr algn="l">
              <a:buNone/>
            </a:pPr>
            <a:r>
              <a:rPr lang="en-US" sz="800" dirty="0">
                <a:solidFill>
                  <a:srgbClr val="64748B"/>
                </a:solidFill>
                <a:latin typeface="Arial" pitchFamily="34" charset="0"/>
              </a:rPr>
              <a:t>7:00a – 3:00p</a:t>
            </a:r>
          </a:p>
        </p:txBody>
      </p:sp>
      <p:sp>
        <p:nvSpPr>
          <p:cNvPr id="66" name="chip"/>
          <p:cNvSpPr/>
          <p:nvPr/>
        </p:nvSpPr>
        <p:spPr>
          <a:xfrm>
            <a:off x="4572000" y="2615184"/>
            <a:ext cx="384048" cy="164592"/>
          </a:xfrm>
          <a:prstGeom prst="roundRect">
            <a:avLst>
              <a:gd name="adj" fmla="val 25000"/>
            </a:avLst>
          </a:prstGeom>
          <a:solidFill>
            <a:srgbClr val="E2E8F0"/>
          </a:solidFill>
          <a:ln w="9525">
            <a:solidFill>
              <a:srgbClr val="CBD5E1"/>
            </a:solidFill>
          </a:ln>
        </p:spPr>
        <p:txBody>
          <a:bodyPr lIns="0" tIns="0" rIns="0" bIns="0" anchor="ctr"/>
          <a:lstStyle/>
          <a:p>
            <a:pPr algn="ctr">
              <a:buNone/>
            </a:pPr>
            <a:r>
              <a:rPr lang="en-US" sz="750" b="1" dirty="0">
                <a:solidFill>
                  <a:srgbClr val="64748B"/>
                </a:solidFill>
                <a:latin typeface="Arial" pitchFamily="34" charset="0"/>
              </a:rPr>
              <a:t>off</a:t>
            </a:r>
          </a:p>
        </p:txBody>
      </p:sp>
      <p:sp>
        <p:nvSpPr>
          <p:cNvPr id="67" name="lt"/>
          <p:cNvSpPr/>
          <p:nvPr/>
        </p:nvSpPr>
        <p:spPr>
          <a:xfrm>
            <a:off x="5010912" y="2615184"/>
            <a:ext cx="1143000" cy="164592"/>
          </a:xfrm>
          <a:prstGeom prst="rect">
            <a:avLst/>
          </a:prstGeom>
        </p:spPr>
        <p:txBody>
          <a:bodyPr lIns="18000" tIns="0" rIns="0" bIns="0" anchor="ctr"/>
          <a:lstStyle/>
          <a:p>
            <a:pPr algn="l">
              <a:buNone/>
            </a:pPr>
            <a:r>
              <a:rPr lang="en-US" sz="800" dirty="0">
                <a:solidFill>
                  <a:srgbClr val="64748B"/>
                </a:solidFill>
                <a:latin typeface="Arial" pitchFamily="34" charset="0"/>
              </a:rPr>
              <a:t>not scheduled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1005840" cy="347472"/>
          </a:xfrm>
          <a:prstGeom prst="roundRect">
            <a:avLst>
              <a:gd name="adj" fmla="val 15789"/>
            </a:avLst>
          </a:prstGeom>
          <a:solidFill>
            <a:srgbClr val="1D6A72"/>
          </a:solidFill>
          <a:ln w="12700">
            <a:solidFill>
              <a:srgbClr val="1D6A72"/>
            </a:solidFill>
            <a:prstDash val="solid"/>
          </a:ln>
        </p:spPr>
        <p:txBody>
          <a:bodyPr/>
          <a:lstStyle/>
          <a:p>
            <a:endParaRPr lang="en-US"/>
          </a:p>
        </p:txBody>
      </p:sp>
      <p:sp>
        <p:nvSpPr>
          <p:cNvPr id="3" name="Text 1"/>
          <p:cNvSpPr/>
          <p:nvPr/>
        </p:nvSpPr>
        <p:spPr>
          <a:xfrm>
            <a:off x="365760" y="164592"/>
            <a:ext cx="10058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50 hrs coverage</a:t>
            </a:r>
            <a:endParaRPr lang="en-US" sz="1100" dirty="0"/>
          </a:p>
        </p:txBody>
      </p:sp>
      <p:sp>
        <p:nvSpPr>
          <p:cNvPr id="4" name="Text 2"/>
          <p:cNvSpPr/>
          <p:nvPr/>
        </p:nvSpPr>
        <p:spPr>
          <a:xfrm>
            <a:off x="1481328" y="164592"/>
            <a:ext cx="7315200" cy="365760"/>
          </a:xfrm>
          <a:prstGeom prst="rect">
            <a:avLst/>
          </a:prstGeom>
          <a:noFill/>
          <a:ln/>
        </p:spPr>
        <p:txBody>
          <a:bodyPr wrap="square" rtlCol="0" anchor="ctr"/>
          <a:lstStyle/>
          <a:p>
            <a:pPr marL="0" indent="0">
              <a:buNone/>
            </a:pPr>
            <a:r>
              <a:rPr lang="en-US" sz="2200" b="1" dirty="0">
                <a:solidFill>
                  <a:srgbClr val="1F4E79"/>
                </a:solidFill>
                <a:latin typeface="Cambria" pitchFamily="34" charset="0"/>
                <a:ea typeface="Cambria" pitchFamily="34" charset="-122"/>
                <a:cs typeface="Cambria" pitchFamily="34" charset="-120"/>
              </a:rPr>
              <a:t>S2 — 5-Day · 10-Hour Fixed</a:t>
            </a:r>
            <a:endParaRPr lang="en-US" sz="2200" dirty="0"/>
          </a:p>
        </p:txBody>
      </p:sp>
      <p:sp>
        <p:nvSpPr>
          <p:cNvPr id="5" name="Text 3"/>
          <p:cNvSpPr/>
          <p:nvPr/>
        </p:nvSpPr>
        <p:spPr>
          <a:xfrm>
            <a:off x="1481328" y="530352"/>
            <a:ext cx="7315200" cy="256032"/>
          </a:xfrm>
          <a:prstGeom prst="rect">
            <a:avLst/>
          </a:prstGeom>
          <a:noFill/>
          <a:ln/>
        </p:spPr>
        <p:txBody>
          <a:bodyPr wrap="square" rtlCol="0" anchor="ctr"/>
          <a:lstStyle/>
          <a:p>
            <a:pPr marL="0" indent="0">
              <a:buNone/>
            </a:pPr>
            <a:r>
              <a:rPr lang="en-US" sz="1200" i="1" dirty="0">
                <a:solidFill>
                  <a:srgbClr val="64748B"/>
                </a:solidFill>
                <a:latin typeface="Arial" pitchFamily="34" charset="0"/>
                <a:ea typeface="Arial" pitchFamily="34" charset="-122"/>
                <a:cs typeface="Arial" pitchFamily="34" charset="-120"/>
              </a:rPr>
              <a:t>Same 12 people, 2 extra hours each day</a:t>
            </a:r>
            <a:endParaRPr lang="en-US" sz="1200" dirty="0"/>
          </a:p>
        </p:txBody>
      </p:sp>
      <p:sp>
        <p:nvSpPr>
          <p:cNvPr id="6" name="Shape 4"/>
          <p:cNvSpPr/>
          <p:nvPr/>
        </p:nvSpPr>
        <p:spPr>
          <a:xfrm>
            <a:off x="1298448"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7" name="Text 5"/>
          <p:cNvSpPr/>
          <p:nvPr/>
        </p:nvSpPr>
        <p:spPr>
          <a:xfrm>
            <a:off x="1298448"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Mon</a:t>
            </a:r>
            <a:endParaRPr lang="en-US" sz="900" dirty="0"/>
          </a:p>
        </p:txBody>
      </p:sp>
      <p:sp>
        <p:nvSpPr>
          <p:cNvPr id="8" name="Shape 6"/>
          <p:cNvSpPr/>
          <p:nvPr/>
        </p:nvSpPr>
        <p:spPr>
          <a:xfrm>
            <a:off x="2267712"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9" name="Text 7"/>
          <p:cNvSpPr/>
          <p:nvPr/>
        </p:nvSpPr>
        <p:spPr>
          <a:xfrm>
            <a:off x="2267712"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Tue</a:t>
            </a:r>
            <a:endParaRPr lang="en-US" sz="900" dirty="0"/>
          </a:p>
        </p:txBody>
      </p:sp>
      <p:sp>
        <p:nvSpPr>
          <p:cNvPr id="10" name="Shape 8"/>
          <p:cNvSpPr/>
          <p:nvPr/>
        </p:nvSpPr>
        <p:spPr>
          <a:xfrm>
            <a:off x="3236976"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1" name="Text 9"/>
          <p:cNvSpPr/>
          <p:nvPr/>
        </p:nvSpPr>
        <p:spPr>
          <a:xfrm>
            <a:off x="3236976"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Wed</a:t>
            </a:r>
            <a:endParaRPr lang="en-US" sz="900" dirty="0"/>
          </a:p>
        </p:txBody>
      </p:sp>
      <p:sp>
        <p:nvSpPr>
          <p:cNvPr id="12" name="Shape 10"/>
          <p:cNvSpPr/>
          <p:nvPr/>
        </p:nvSpPr>
        <p:spPr>
          <a:xfrm>
            <a:off x="4206240"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3" name="Text 11"/>
          <p:cNvSpPr/>
          <p:nvPr/>
        </p:nvSpPr>
        <p:spPr>
          <a:xfrm>
            <a:off x="4206240"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Thu</a:t>
            </a:r>
            <a:endParaRPr lang="en-US" sz="900" dirty="0"/>
          </a:p>
        </p:txBody>
      </p:sp>
      <p:sp>
        <p:nvSpPr>
          <p:cNvPr id="14" name="Shape 12"/>
          <p:cNvSpPr/>
          <p:nvPr/>
        </p:nvSpPr>
        <p:spPr>
          <a:xfrm>
            <a:off x="5175504"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5" name="Text 13"/>
          <p:cNvSpPr/>
          <p:nvPr/>
        </p:nvSpPr>
        <p:spPr>
          <a:xfrm>
            <a:off x="5175504"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Fri</a:t>
            </a:r>
            <a:endParaRPr lang="en-US" sz="900" dirty="0"/>
          </a:p>
        </p:txBody>
      </p:sp>
      <p:sp>
        <p:nvSpPr>
          <p:cNvPr id="16" name="Shape 14"/>
          <p:cNvSpPr/>
          <p:nvPr/>
        </p:nvSpPr>
        <p:spPr>
          <a:xfrm>
            <a:off x="6144768"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7" name="Text 15"/>
          <p:cNvSpPr/>
          <p:nvPr/>
        </p:nvSpPr>
        <p:spPr>
          <a:xfrm>
            <a:off x="6144768"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Sat</a:t>
            </a:r>
            <a:endParaRPr lang="en-US" sz="900" dirty="0"/>
          </a:p>
        </p:txBody>
      </p:sp>
      <p:sp>
        <p:nvSpPr>
          <p:cNvPr id="18" name="Shape 16"/>
          <p:cNvSpPr/>
          <p:nvPr/>
        </p:nvSpPr>
        <p:spPr>
          <a:xfrm>
            <a:off x="7114032"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9" name="Text 17"/>
          <p:cNvSpPr/>
          <p:nvPr/>
        </p:nvSpPr>
        <p:spPr>
          <a:xfrm>
            <a:off x="7114032"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Sun</a:t>
            </a:r>
            <a:endParaRPr lang="en-US" sz="900" dirty="0"/>
          </a:p>
        </p:txBody>
      </p:sp>
      <p:sp>
        <p:nvSpPr>
          <p:cNvPr id="20" name="Text 18"/>
          <p:cNvSpPr/>
          <p:nvPr/>
        </p:nvSpPr>
        <p:spPr>
          <a:xfrm>
            <a:off x="320040" y="1143000"/>
            <a:ext cx="932688" cy="310896"/>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All (12)</a:t>
            </a:r>
            <a:endParaRPr lang="en-US" sz="900" dirty="0"/>
          </a:p>
        </p:txBody>
      </p:sp>
      <p:sp>
        <p:nvSpPr>
          <p:cNvPr id="21" name="Shape 19"/>
          <p:cNvSpPr/>
          <p:nvPr/>
        </p:nvSpPr>
        <p:spPr>
          <a:xfrm>
            <a:off x="1298448"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2" name="Text 20"/>
          <p:cNvSpPr/>
          <p:nvPr/>
        </p:nvSpPr>
        <p:spPr>
          <a:xfrm>
            <a:off x="1298448"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23" name="Shape 21"/>
          <p:cNvSpPr/>
          <p:nvPr/>
        </p:nvSpPr>
        <p:spPr>
          <a:xfrm>
            <a:off x="2267712"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4" name="Text 22"/>
          <p:cNvSpPr/>
          <p:nvPr/>
        </p:nvSpPr>
        <p:spPr>
          <a:xfrm>
            <a:off x="2267712"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25" name="Shape 23"/>
          <p:cNvSpPr/>
          <p:nvPr/>
        </p:nvSpPr>
        <p:spPr>
          <a:xfrm>
            <a:off x="3236976"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6" name="Text 24"/>
          <p:cNvSpPr/>
          <p:nvPr/>
        </p:nvSpPr>
        <p:spPr>
          <a:xfrm>
            <a:off x="3236976"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27" name="Shape 25"/>
          <p:cNvSpPr/>
          <p:nvPr/>
        </p:nvSpPr>
        <p:spPr>
          <a:xfrm>
            <a:off x="4206240"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8" name="Text 26"/>
          <p:cNvSpPr/>
          <p:nvPr/>
        </p:nvSpPr>
        <p:spPr>
          <a:xfrm>
            <a:off x="4206240"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29" name="Shape 27"/>
          <p:cNvSpPr/>
          <p:nvPr/>
        </p:nvSpPr>
        <p:spPr>
          <a:xfrm>
            <a:off x="5175504"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30" name="Text 28"/>
          <p:cNvSpPr/>
          <p:nvPr/>
        </p:nvSpPr>
        <p:spPr>
          <a:xfrm>
            <a:off x="5175504"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31" name="Shape 29"/>
          <p:cNvSpPr/>
          <p:nvPr/>
        </p:nvSpPr>
        <p:spPr>
          <a:xfrm>
            <a:off x="6144768" y="1143000"/>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32" name="Text 30"/>
          <p:cNvSpPr/>
          <p:nvPr/>
        </p:nvSpPr>
        <p:spPr>
          <a:xfrm>
            <a:off x="6144768" y="1143000"/>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3" name="Shape 31"/>
          <p:cNvSpPr/>
          <p:nvPr/>
        </p:nvSpPr>
        <p:spPr>
          <a:xfrm>
            <a:off x="7114032" y="1143000"/>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34" name="Text 32"/>
          <p:cNvSpPr/>
          <p:nvPr/>
        </p:nvSpPr>
        <p:spPr>
          <a:xfrm>
            <a:off x="7114032" y="1143000"/>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5" name="Text 33"/>
          <p:cNvSpPr/>
          <p:nvPr/>
        </p:nvSpPr>
        <p:spPr>
          <a:xfrm>
            <a:off x="320040" y="1490472"/>
            <a:ext cx="932688" cy="256032"/>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staff/day</a:t>
            </a:r>
            <a:endParaRPr lang="en-US" sz="800" dirty="0"/>
          </a:p>
        </p:txBody>
      </p:sp>
      <p:sp>
        <p:nvSpPr>
          <p:cNvPr id="36" name="Text 34"/>
          <p:cNvSpPr/>
          <p:nvPr/>
        </p:nvSpPr>
        <p:spPr>
          <a:xfrm>
            <a:off x="1298448" y="1490472"/>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37" name="Text 35"/>
          <p:cNvSpPr/>
          <p:nvPr/>
        </p:nvSpPr>
        <p:spPr>
          <a:xfrm>
            <a:off x="2267712" y="1490472"/>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38" name="Text 36"/>
          <p:cNvSpPr/>
          <p:nvPr/>
        </p:nvSpPr>
        <p:spPr>
          <a:xfrm>
            <a:off x="3236976" y="1490472"/>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39" name="Text 37"/>
          <p:cNvSpPr/>
          <p:nvPr/>
        </p:nvSpPr>
        <p:spPr>
          <a:xfrm>
            <a:off x="4206240" y="1490472"/>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40" name="Text 38"/>
          <p:cNvSpPr/>
          <p:nvPr/>
        </p:nvSpPr>
        <p:spPr>
          <a:xfrm>
            <a:off x="5175504" y="1490472"/>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41" name="Text 39"/>
          <p:cNvSpPr/>
          <p:nvPr/>
        </p:nvSpPr>
        <p:spPr>
          <a:xfrm>
            <a:off x="6144768" y="1490472"/>
            <a:ext cx="932688" cy="256032"/>
          </a:xfrm>
          <a:prstGeom prst="rect">
            <a:avLst/>
          </a:prstGeom>
          <a:noFill/>
          <a:ln/>
        </p:spPr>
        <p:txBody>
          <a:bodyPr wrap="square" rtlCol="0" anchor="ctr"/>
          <a:lstStyle/>
          <a:p>
            <a:pPr marL="0" indent="0" algn="ctr">
              <a:buNone/>
            </a:pPr>
            <a:r>
              <a:rPr lang="en-US" sz="1000" dirty="0">
                <a:solidFill>
                  <a:srgbClr val="94A3B8"/>
                </a:solidFill>
                <a:latin typeface="Arial" pitchFamily="34" charset="0"/>
                <a:ea typeface="Arial" pitchFamily="34" charset="-122"/>
                <a:cs typeface="Arial" pitchFamily="34" charset="-120"/>
              </a:rPr>
              <a:t>0</a:t>
            </a:r>
            <a:endParaRPr lang="en-US" sz="1000" dirty="0"/>
          </a:p>
        </p:txBody>
      </p:sp>
      <p:sp>
        <p:nvSpPr>
          <p:cNvPr id="42" name="Text 40"/>
          <p:cNvSpPr/>
          <p:nvPr/>
        </p:nvSpPr>
        <p:spPr>
          <a:xfrm>
            <a:off x="7114032" y="1490472"/>
            <a:ext cx="932688" cy="256032"/>
          </a:xfrm>
          <a:prstGeom prst="rect">
            <a:avLst/>
          </a:prstGeom>
          <a:noFill/>
          <a:ln/>
        </p:spPr>
        <p:txBody>
          <a:bodyPr wrap="square" rtlCol="0" anchor="ctr"/>
          <a:lstStyle/>
          <a:p>
            <a:pPr marL="0" indent="0" algn="ctr">
              <a:buNone/>
            </a:pPr>
            <a:r>
              <a:rPr lang="en-US" sz="1000" dirty="0">
                <a:solidFill>
                  <a:srgbClr val="94A3B8"/>
                </a:solidFill>
                <a:latin typeface="Arial" pitchFamily="34" charset="0"/>
                <a:ea typeface="Arial" pitchFamily="34" charset="-122"/>
                <a:cs typeface="Arial" pitchFamily="34" charset="-120"/>
              </a:rPr>
              <a:t>0</a:t>
            </a:r>
            <a:endParaRPr lang="en-US" sz="1000" dirty="0"/>
          </a:p>
        </p:txBody>
      </p:sp>
      <p:sp>
        <p:nvSpPr>
          <p:cNvPr id="43" name="Shape 41"/>
          <p:cNvSpPr/>
          <p:nvPr/>
        </p:nvSpPr>
        <p:spPr>
          <a:xfrm>
            <a:off x="365760" y="1837944"/>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44" name="Text 42"/>
          <p:cNvSpPr/>
          <p:nvPr/>
        </p:nvSpPr>
        <p:spPr>
          <a:xfrm>
            <a:off x="365760" y="1892808"/>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12</a:t>
            </a:r>
            <a:endParaRPr lang="en-US" sz="1800" dirty="0"/>
          </a:p>
        </p:txBody>
      </p:sp>
      <p:sp>
        <p:nvSpPr>
          <p:cNvPr id="45" name="Text 43"/>
          <p:cNvSpPr/>
          <p:nvPr/>
        </p:nvSpPr>
        <p:spPr>
          <a:xfrm>
            <a:off x="365760" y="2258568"/>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employees</a:t>
            </a:r>
            <a:endParaRPr lang="en-US" sz="900" dirty="0"/>
          </a:p>
        </p:txBody>
      </p:sp>
      <p:sp>
        <p:nvSpPr>
          <p:cNvPr id="46" name="Shape 44"/>
          <p:cNvSpPr/>
          <p:nvPr/>
        </p:nvSpPr>
        <p:spPr>
          <a:xfrm>
            <a:off x="1767840" y="1837944"/>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47" name="Text 45"/>
          <p:cNvSpPr/>
          <p:nvPr/>
        </p:nvSpPr>
        <p:spPr>
          <a:xfrm>
            <a:off x="1767840" y="1892808"/>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50</a:t>
            </a:r>
            <a:endParaRPr lang="en-US" sz="1800" dirty="0"/>
          </a:p>
        </p:txBody>
      </p:sp>
      <p:sp>
        <p:nvSpPr>
          <p:cNvPr id="48" name="Text 46"/>
          <p:cNvSpPr/>
          <p:nvPr/>
        </p:nvSpPr>
        <p:spPr>
          <a:xfrm>
            <a:off x="1767840" y="2258568"/>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prod hrs/week</a:t>
            </a:r>
            <a:endParaRPr lang="en-US" sz="900" dirty="0"/>
          </a:p>
        </p:txBody>
      </p:sp>
      <p:sp>
        <p:nvSpPr>
          <p:cNvPr id="49" name="Shape 47"/>
          <p:cNvSpPr/>
          <p:nvPr/>
        </p:nvSpPr>
        <p:spPr>
          <a:xfrm>
            <a:off x="3169920" y="1837944"/>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50" name="Text 48"/>
          <p:cNvSpPr/>
          <p:nvPr/>
        </p:nvSpPr>
        <p:spPr>
          <a:xfrm>
            <a:off x="3169920" y="1892808"/>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50</a:t>
            </a:r>
            <a:endParaRPr lang="en-US" sz="1800" dirty="0"/>
          </a:p>
        </p:txBody>
      </p:sp>
      <p:sp>
        <p:nvSpPr>
          <p:cNvPr id="51" name="Text 49"/>
          <p:cNvSpPr/>
          <p:nvPr/>
        </p:nvSpPr>
        <p:spPr>
          <a:xfrm>
            <a:off x="3169920" y="2258568"/>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work hrs/person</a:t>
            </a:r>
            <a:endParaRPr lang="en-US" sz="900" dirty="0"/>
          </a:p>
        </p:txBody>
      </p:sp>
      <p:sp>
        <p:nvSpPr>
          <p:cNvPr id="52" name="Shape 50"/>
          <p:cNvSpPr/>
          <p:nvPr/>
        </p:nvSpPr>
        <p:spPr>
          <a:xfrm>
            <a:off x="4572000" y="1837944"/>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53" name="Text 51"/>
          <p:cNvSpPr/>
          <p:nvPr/>
        </p:nvSpPr>
        <p:spPr>
          <a:xfrm>
            <a:off x="4572000" y="1892808"/>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55</a:t>
            </a:r>
            <a:endParaRPr lang="en-US" sz="1800" dirty="0"/>
          </a:p>
        </p:txBody>
      </p:sp>
      <p:sp>
        <p:nvSpPr>
          <p:cNvPr id="54" name="Text 52"/>
          <p:cNvSpPr/>
          <p:nvPr/>
        </p:nvSpPr>
        <p:spPr>
          <a:xfrm>
            <a:off x="4572000" y="2258568"/>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pay hrs avg</a:t>
            </a:r>
            <a:endParaRPr lang="en-US" sz="900" dirty="0"/>
          </a:p>
        </p:txBody>
      </p:sp>
      <p:sp>
        <p:nvSpPr>
          <p:cNvPr id="55" name="Shape 53"/>
          <p:cNvSpPr/>
          <p:nvPr/>
        </p:nvSpPr>
        <p:spPr>
          <a:xfrm>
            <a:off x="5974080" y="1837944"/>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56" name="Text 54"/>
          <p:cNvSpPr/>
          <p:nvPr/>
        </p:nvSpPr>
        <p:spPr>
          <a:xfrm>
            <a:off x="5974080" y="1892808"/>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10 hrs</a:t>
            </a:r>
            <a:endParaRPr lang="en-US" sz="1800" dirty="0"/>
          </a:p>
        </p:txBody>
      </p:sp>
      <p:sp>
        <p:nvSpPr>
          <p:cNvPr id="57" name="Text 55"/>
          <p:cNvSpPr/>
          <p:nvPr/>
        </p:nvSpPr>
        <p:spPr>
          <a:xfrm>
            <a:off x="5974080" y="2258568"/>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OT per person</a:t>
            </a:r>
            <a:endParaRPr lang="en-US" sz="900" dirty="0"/>
          </a:p>
        </p:txBody>
      </p:sp>
      <p:sp>
        <p:nvSpPr>
          <p:cNvPr id="58" name="Shape 56"/>
          <p:cNvSpPr/>
          <p:nvPr/>
        </p:nvSpPr>
        <p:spPr>
          <a:xfrm>
            <a:off x="7376160" y="1837944"/>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59" name="Text 57"/>
          <p:cNvSpPr/>
          <p:nvPr/>
        </p:nvSpPr>
        <p:spPr>
          <a:xfrm>
            <a:off x="7376160" y="1892808"/>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5</a:t>
            </a:r>
            <a:endParaRPr lang="en-US" sz="1800" dirty="0"/>
          </a:p>
        </p:txBody>
      </p:sp>
      <p:sp>
        <p:nvSpPr>
          <p:cNvPr id="60" name="Text 58"/>
          <p:cNvSpPr/>
          <p:nvPr/>
        </p:nvSpPr>
        <p:spPr>
          <a:xfrm>
            <a:off x="7376160" y="2258568"/>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coverage days</a:t>
            </a:r>
            <a:endParaRPr lang="en-US" sz="900" dirty="0"/>
          </a:p>
        </p:txBody>
      </p:sp>
      <p:sp>
        <p:nvSpPr>
          <p:cNvPr id="63" name="Text 61"/>
          <p:cNvSpPr/>
          <p:nvPr/>
        </p:nvSpPr>
        <p:spPr>
          <a:xfrm>
            <a:off x="365760" y="4846320"/>
            <a:ext cx="1828800" cy="201168"/>
          </a:xfrm>
          <a:prstGeom prst="rect">
            <a:avLst/>
          </a:prstGeom>
          <a:noFill/>
          <a:ln/>
        </p:spPr>
        <p:txBody>
          <a:bodyPr wrap="square" rtlCol="0" anchor="ctr"/>
          <a:lstStyle/>
          <a:p>
            <a:pPr marL="0" indent="0">
              <a:buNone/>
            </a:pPr>
            <a:r>
              <a:rPr lang="en-US" sz="900" i="1" dirty="0">
                <a:solidFill>
                  <a:srgbClr val="94A3B8"/>
                </a:solidFill>
                <a:latin typeface="Arial" pitchFamily="34" charset="0"/>
                <a:ea typeface="Arial" pitchFamily="34" charset="-122"/>
                <a:cs typeface="Arial" pitchFamily="34" charset="-120"/>
              </a:rPr>
              <a:t>← Back to chart</a:t>
            </a:r>
            <a:endParaRPr lang="en-US" sz="900" dirty="0"/>
          </a:p>
        </p:txBody>
      </p:sp>
      <p:sp>
        <p:nvSpPr>
          <p:cNvPr id="64" name="chip"/>
          <p:cNvSpPr/>
          <p:nvPr/>
        </p:nvSpPr>
        <p:spPr>
          <a:xfrm>
            <a:off x="2971800" y="2615184"/>
            <a:ext cx="384048" cy="164592"/>
          </a:xfrm>
          <a:prstGeom prst="roundRect">
            <a:avLst>
              <a:gd name="adj" fmla="val 25000"/>
            </a:avLst>
          </a:prstGeom>
          <a:solidFill>
            <a:srgbClr val="1D6A72"/>
          </a:solidFill>
          <a:ln>
            <a:noFill/>
          </a:ln>
        </p:spPr>
        <p:txBody>
          <a:bodyPr lIns="0" tIns="0" rIns="0" bIns="0" anchor="ctr"/>
          <a:lstStyle/>
          <a:p>
            <a:pPr algn="ctr">
              <a:buNone/>
            </a:pPr>
            <a:r>
              <a:rPr lang="en-US" sz="750" b="1" dirty="0">
                <a:solidFill>
                  <a:srgbClr val="FFFFFF"/>
                </a:solidFill>
                <a:latin typeface="Arial" pitchFamily="34" charset="0"/>
              </a:rPr>
              <a:t>D10</a:t>
            </a:r>
          </a:p>
        </p:txBody>
      </p:sp>
      <p:sp>
        <p:nvSpPr>
          <p:cNvPr id="65" name="lt"/>
          <p:cNvSpPr/>
          <p:nvPr/>
        </p:nvSpPr>
        <p:spPr>
          <a:xfrm>
            <a:off x="3410712" y="2615184"/>
            <a:ext cx="1143000" cy="164592"/>
          </a:xfrm>
          <a:prstGeom prst="rect">
            <a:avLst/>
          </a:prstGeom>
        </p:spPr>
        <p:txBody>
          <a:bodyPr lIns="18000" tIns="0" rIns="0" bIns="0" anchor="ctr"/>
          <a:lstStyle/>
          <a:p>
            <a:pPr algn="l">
              <a:buNone/>
            </a:pPr>
            <a:r>
              <a:rPr lang="en-US" sz="800" dirty="0">
                <a:solidFill>
                  <a:srgbClr val="64748B"/>
                </a:solidFill>
                <a:latin typeface="Arial" pitchFamily="34" charset="0"/>
              </a:rPr>
              <a:t>6:00a – 4:00p</a:t>
            </a:r>
          </a:p>
        </p:txBody>
      </p:sp>
      <p:sp>
        <p:nvSpPr>
          <p:cNvPr id="66" name="chip"/>
          <p:cNvSpPr/>
          <p:nvPr/>
        </p:nvSpPr>
        <p:spPr>
          <a:xfrm>
            <a:off x="4572000" y="2615184"/>
            <a:ext cx="384048" cy="164592"/>
          </a:xfrm>
          <a:prstGeom prst="roundRect">
            <a:avLst>
              <a:gd name="adj" fmla="val 25000"/>
            </a:avLst>
          </a:prstGeom>
          <a:solidFill>
            <a:srgbClr val="E2E8F0"/>
          </a:solidFill>
          <a:ln w="9525">
            <a:solidFill>
              <a:srgbClr val="CBD5E1"/>
            </a:solidFill>
          </a:ln>
        </p:spPr>
        <p:txBody>
          <a:bodyPr lIns="0" tIns="0" rIns="0" bIns="0" anchor="ctr"/>
          <a:lstStyle/>
          <a:p>
            <a:pPr algn="ctr">
              <a:buNone/>
            </a:pPr>
            <a:r>
              <a:rPr lang="en-US" sz="750" b="1" dirty="0">
                <a:solidFill>
                  <a:srgbClr val="64748B"/>
                </a:solidFill>
                <a:latin typeface="Arial" pitchFamily="34" charset="0"/>
              </a:rPr>
              <a:t>off</a:t>
            </a:r>
          </a:p>
        </p:txBody>
      </p:sp>
      <p:sp>
        <p:nvSpPr>
          <p:cNvPr id="67" name="lt"/>
          <p:cNvSpPr/>
          <p:nvPr/>
        </p:nvSpPr>
        <p:spPr>
          <a:xfrm>
            <a:off x="5010912" y="2615184"/>
            <a:ext cx="1143000" cy="164592"/>
          </a:xfrm>
          <a:prstGeom prst="rect">
            <a:avLst/>
          </a:prstGeom>
        </p:spPr>
        <p:txBody>
          <a:bodyPr lIns="18000" tIns="0" rIns="0" bIns="0" anchor="ctr"/>
          <a:lstStyle/>
          <a:p>
            <a:pPr algn="l">
              <a:buNone/>
            </a:pPr>
            <a:r>
              <a:rPr lang="en-US" sz="800" dirty="0">
                <a:solidFill>
                  <a:srgbClr val="64748B"/>
                </a:solidFill>
                <a:latin typeface="Arial" pitchFamily="34" charset="0"/>
              </a:rPr>
              <a:t>not scheduled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1005840" cy="347472"/>
          </a:xfrm>
          <a:prstGeom prst="roundRect">
            <a:avLst>
              <a:gd name="adj" fmla="val 15789"/>
            </a:avLst>
          </a:prstGeom>
          <a:solidFill>
            <a:srgbClr val="1D6A72"/>
          </a:solidFill>
          <a:ln w="12700">
            <a:solidFill>
              <a:srgbClr val="1D6A72"/>
            </a:solidFill>
            <a:prstDash val="solid"/>
          </a:ln>
        </p:spPr>
        <p:txBody>
          <a:bodyPr/>
          <a:lstStyle/>
          <a:p>
            <a:endParaRPr lang="en-US"/>
          </a:p>
        </p:txBody>
      </p:sp>
      <p:sp>
        <p:nvSpPr>
          <p:cNvPr id="3" name="Text 1"/>
          <p:cNvSpPr/>
          <p:nvPr/>
        </p:nvSpPr>
        <p:spPr>
          <a:xfrm>
            <a:off x="365760" y="164592"/>
            <a:ext cx="10058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50 hrs coverage</a:t>
            </a:r>
            <a:endParaRPr lang="en-US" sz="1100" dirty="0"/>
          </a:p>
        </p:txBody>
      </p:sp>
      <p:sp>
        <p:nvSpPr>
          <p:cNvPr id="4" name="Text 2"/>
          <p:cNvSpPr/>
          <p:nvPr/>
        </p:nvSpPr>
        <p:spPr>
          <a:xfrm>
            <a:off x="1481328" y="164592"/>
            <a:ext cx="7315200" cy="365760"/>
          </a:xfrm>
          <a:prstGeom prst="rect">
            <a:avLst/>
          </a:prstGeom>
          <a:noFill/>
          <a:ln/>
        </p:spPr>
        <p:txBody>
          <a:bodyPr wrap="square" rtlCol="0" anchor="ctr"/>
          <a:lstStyle/>
          <a:p>
            <a:pPr marL="0" indent="0">
              <a:buNone/>
            </a:pPr>
            <a:r>
              <a:rPr lang="en-US" sz="2200" b="1" dirty="0">
                <a:solidFill>
                  <a:srgbClr val="1F4E79"/>
                </a:solidFill>
                <a:latin typeface="Cambria" pitchFamily="34" charset="0"/>
                <a:ea typeface="Cambria" pitchFamily="34" charset="-122"/>
                <a:cs typeface="Cambria" pitchFamily="34" charset="-120"/>
              </a:rPr>
              <a:t>S3 — 5-Day Staggered · 10-Hour</a:t>
            </a:r>
            <a:endParaRPr lang="en-US" sz="2200" dirty="0"/>
          </a:p>
        </p:txBody>
      </p:sp>
      <p:sp>
        <p:nvSpPr>
          <p:cNvPr id="5" name="Text 3"/>
          <p:cNvSpPr/>
          <p:nvPr/>
        </p:nvSpPr>
        <p:spPr>
          <a:xfrm>
            <a:off x="1481328" y="530352"/>
            <a:ext cx="7315200" cy="256032"/>
          </a:xfrm>
          <a:prstGeom prst="rect">
            <a:avLst/>
          </a:prstGeom>
          <a:noFill/>
          <a:ln/>
        </p:spPr>
        <p:txBody>
          <a:bodyPr wrap="square" rtlCol="0" anchor="ctr"/>
          <a:lstStyle/>
          <a:p>
            <a:pPr marL="0" indent="0">
              <a:buNone/>
            </a:pPr>
            <a:r>
              <a:rPr lang="en-US" sz="1200" i="1" dirty="0">
                <a:solidFill>
                  <a:srgbClr val="64748B"/>
                </a:solidFill>
                <a:latin typeface="Arial" pitchFamily="34" charset="0"/>
                <a:ea typeface="Arial" pitchFamily="34" charset="-122"/>
                <a:cs typeface="Arial" pitchFamily="34" charset="-120"/>
              </a:rPr>
              <a:t>5 groups, each with a different day off</a:t>
            </a:r>
            <a:endParaRPr lang="en-US" sz="1200" dirty="0"/>
          </a:p>
        </p:txBody>
      </p:sp>
      <p:sp>
        <p:nvSpPr>
          <p:cNvPr id="6" name="Shape 4"/>
          <p:cNvSpPr/>
          <p:nvPr/>
        </p:nvSpPr>
        <p:spPr>
          <a:xfrm>
            <a:off x="1298448"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7" name="Text 5"/>
          <p:cNvSpPr/>
          <p:nvPr/>
        </p:nvSpPr>
        <p:spPr>
          <a:xfrm>
            <a:off x="1298448"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Mon</a:t>
            </a:r>
            <a:endParaRPr lang="en-US" sz="900" dirty="0"/>
          </a:p>
        </p:txBody>
      </p:sp>
      <p:sp>
        <p:nvSpPr>
          <p:cNvPr id="8" name="Shape 6"/>
          <p:cNvSpPr/>
          <p:nvPr/>
        </p:nvSpPr>
        <p:spPr>
          <a:xfrm>
            <a:off x="2267712"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9" name="Text 7"/>
          <p:cNvSpPr/>
          <p:nvPr/>
        </p:nvSpPr>
        <p:spPr>
          <a:xfrm>
            <a:off x="2267712"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Tue</a:t>
            </a:r>
            <a:endParaRPr lang="en-US" sz="900" dirty="0"/>
          </a:p>
        </p:txBody>
      </p:sp>
      <p:sp>
        <p:nvSpPr>
          <p:cNvPr id="10" name="Shape 8"/>
          <p:cNvSpPr/>
          <p:nvPr/>
        </p:nvSpPr>
        <p:spPr>
          <a:xfrm>
            <a:off x="3236976"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1" name="Text 9"/>
          <p:cNvSpPr/>
          <p:nvPr/>
        </p:nvSpPr>
        <p:spPr>
          <a:xfrm>
            <a:off x="3236976"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Wed</a:t>
            </a:r>
            <a:endParaRPr lang="en-US" sz="900" dirty="0"/>
          </a:p>
        </p:txBody>
      </p:sp>
      <p:sp>
        <p:nvSpPr>
          <p:cNvPr id="12" name="Shape 10"/>
          <p:cNvSpPr/>
          <p:nvPr/>
        </p:nvSpPr>
        <p:spPr>
          <a:xfrm>
            <a:off x="4206240"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3" name="Text 11"/>
          <p:cNvSpPr/>
          <p:nvPr/>
        </p:nvSpPr>
        <p:spPr>
          <a:xfrm>
            <a:off x="4206240"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Thu</a:t>
            </a:r>
            <a:endParaRPr lang="en-US" sz="900" dirty="0"/>
          </a:p>
        </p:txBody>
      </p:sp>
      <p:sp>
        <p:nvSpPr>
          <p:cNvPr id="14" name="Shape 12"/>
          <p:cNvSpPr/>
          <p:nvPr/>
        </p:nvSpPr>
        <p:spPr>
          <a:xfrm>
            <a:off x="5175504"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5" name="Text 13"/>
          <p:cNvSpPr/>
          <p:nvPr/>
        </p:nvSpPr>
        <p:spPr>
          <a:xfrm>
            <a:off x="5175504"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Fri</a:t>
            </a:r>
            <a:endParaRPr lang="en-US" sz="900" dirty="0"/>
          </a:p>
        </p:txBody>
      </p:sp>
      <p:sp>
        <p:nvSpPr>
          <p:cNvPr id="16" name="Shape 14"/>
          <p:cNvSpPr/>
          <p:nvPr/>
        </p:nvSpPr>
        <p:spPr>
          <a:xfrm>
            <a:off x="6144768"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7" name="Text 15"/>
          <p:cNvSpPr/>
          <p:nvPr/>
        </p:nvSpPr>
        <p:spPr>
          <a:xfrm>
            <a:off x="6144768"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Sat</a:t>
            </a:r>
            <a:endParaRPr lang="en-US" sz="900" dirty="0"/>
          </a:p>
        </p:txBody>
      </p:sp>
      <p:sp>
        <p:nvSpPr>
          <p:cNvPr id="18" name="Shape 16"/>
          <p:cNvSpPr/>
          <p:nvPr/>
        </p:nvSpPr>
        <p:spPr>
          <a:xfrm>
            <a:off x="7114032"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9" name="Text 17"/>
          <p:cNvSpPr/>
          <p:nvPr/>
        </p:nvSpPr>
        <p:spPr>
          <a:xfrm>
            <a:off x="7114032"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Sun</a:t>
            </a:r>
            <a:endParaRPr lang="en-US" sz="900" dirty="0"/>
          </a:p>
        </p:txBody>
      </p:sp>
      <p:sp>
        <p:nvSpPr>
          <p:cNvPr id="20" name="Text 18"/>
          <p:cNvSpPr/>
          <p:nvPr/>
        </p:nvSpPr>
        <p:spPr>
          <a:xfrm>
            <a:off x="320040" y="1143000"/>
            <a:ext cx="932688" cy="310896"/>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G1 (4)</a:t>
            </a:r>
            <a:endParaRPr lang="en-US" sz="900" dirty="0"/>
          </a:p>
        </p:txBody>
      </p:sp>
      <p:sp>
        <p:nvSpPr>
          <p:cNvPr id="21" name="Shape 19"/>
          <p:cNvSpPr/>
          <p:nvPr/>
        </p:nvSpPr>
        <p:spPr>
          <a:xfrm>
            <a:off x="1298448"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2" name="Text 20"/>
          <p:cNvSpPr/>
          <p:nvPr/>
        </p:nvSpPr>
        <p:spPr>
          <a:xfrm>
            <a:off x="1298448"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23" name="Shape 21"/>
          <p:cNvSpPr/>
          <p:nvPr/>
        </p:nvSpPr>
        <p:spPr>
          <a:xfrm>
            <a:off x="2267712"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4" name="Text 22"/>
          <p:cNvSpPr/>
          <p:nvPr/>
        </p:nvSpPr>
        <p:spPr>
          <a:xfrm>
            <a:off x="2267712"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25" name="Shape 23"/>
          <p:cNvSpPr/>
          <p:nvPr/>
        </p:nvSpPr>
        <p:spPr>
          <a:xfrm>
            <a:off x="3236976"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6" name="Text 24"/>
          <p:cNvSpPr/>
          <p:nvPr/>
        </p:nvSpPr>
        <p:spPr>
          <a:xfrm>
            <a:off x="3236976"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27" name="Shape 25"/>
          <p:cNvSpPr/>
          <p:nvPr/>
        </p:nvSpPr>
        <p:spPr>
          <a:xfrm>
            <a:off x="4206240"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8" name="Text 26"/>
          <p:cNvSpPr/>
          <p:nvPr/>
        </p:nvSpPr>
        <p:spPr>
          <a:xfrm>
            <a:off x="4206240"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29" name="Shape 27"/>
          <p:cNvSpPr/>
          <p:nvPr/>
        </p:nvSpPr>
        <p:spPr>
          <a:xfrm>
            <a:off x="5175504" y="1143000"/>
            <a:ext cx="932688" cy="310896"/>
          </a:xfrm>
          <a:prstGeom prst="roundRect">
            <a:avLst>
              <a:gd name="adj" fmla="val 11765"/>
            </a:avLst>
          </a:prstGeom>
          <a:solidFill>
            <a:srgbClr val="FFF3CD"/>
          </a:solidFill>
          <a:ln w="6350">
            <a:solidFill>
              <a:srgbClr val="FFFFFF"/>
            </a:solidFill>
            <a:prstDash val="solid"/>
          </a:ln>
        </p:spPr>
        <p:txBody>
          <a:bodyPr/>
          <a:lstStyle/>
          <a:p>
            <a:endParaRPr lang="en-US"/>
          </a:p>
        </p:txBody>
      </p:sp>
      <p:sp>
        <p:nvSpPr>
          <p:cNvPr id="30" name="Text 28"/>
          <p:cNvSpPr/>
          <p:nvPr/>
        </p:nvSpPr>
        <p:spPr>
          <a:xfrm>
            <a:off x="5175504" y="1143000"/>
            <a:ext cx="932688" cy="310896"/>
          </a:xfrm>
          <a:prstGeom prst="rect">
            <a:avLst/>
          </a:prstGeom>
          <a:noFill/>
          <a:ln/>
        </p:spPr>
        <p:txBody>
          <a:bodyPr wrap="square" lIns="0" tIns="0" rIns="0" bIns="0" rtlCol="0" anchor="ctr"/>
          <a:lstStyle/>
          <a:p>
            <a:pPr marL="0" indent="0" algn="ctr">
              <a:buNone/>
            </a:pPr>
            <a:r>
              <a:rPr lang="en-US" sz="900" dirty="0">
                <a:solidFill>
                  <a:srgbClr val="D97706"/>
                </a:solidFill>
                <a:latin typeface="Arial" pitchFamily="34" charset="0"/>
                <a:ea typeface="Arial" pitchFamily="34" charset="-122"/>
                <a:cs typeface="Arial" pitchFamily="34" charset="-120"/>
              </a:rPr>
              <a:t>off</a:t>
            </a:r>
            <a:endParaRPr lang="en-US" sz="900" dirty="0"/>
          </a:p>
        </p:txBody>
      </p:sp>
      <p:sp>
        <p:nvSpPr>
          <p:cNvPr id="31" name="Shape 29"/>
          <p:cNvSpPr/>
          <p:nvPr/>
        </p:nvSpPr>
        <p:spPr>
          <a:xfrm>
            <a:off x="6144768" y="1143000"/>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32" name="Text 30"/>
          <p:cNvSpPr/>
          <p:nvPr/>
        </p:nvSpPr>
        <p:spPr>
          <a:xfrm>
            <a:off x="6144768" y="1143000"/>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3" name="Shape 31"/>
          <p:cNvSpPr/>
          <p:nvPr/>
        </p:nvSpPr>
        <p:spPr>
          <a:xfrm>
            <a:off x="7114032" y="1143000"/>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34" name="Text 32"/>
          <p:cNvSpPr/>
          <p:nvPr/>
        </p:nvSpPr>
        <p:spPr>
          <a:xfrm>
            <a:off x="7114032" y="1143000"/>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5" name="Text 33"/>
          <p:cNvSpPr/>
          <p:nvPr/>
        </p:nvSpPr>
        <p:spPr>
          <a:xfrm>
            <a:off x="320040" y="1490472"/>
            <a:ext cx="932688" cy="310896"/>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G2 (4)</a:t>
            </a:r>
            <a:endParaRPr lang="en-US" sz="900" dirty="0"/>
          </a:p>
        </p:txBody>
      </p:sp>
      <p:sp>
        <p:nvSpPr>
          <p:cNvPr id="36" name="Shape 34"/>
          <p:cNvSpPr/>
          <p:nvPr/>
        </p:nvSpPr>
        <p:spPr>
          <a:xfrm>
            <a:off x="1298448" y="1490472"/>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37" name="Text 35"/>
          <p:cNvSpPr/>
          <p:nvPr/>
        </p:nvSpPr>
        <p:spPr>
          <a:xfrm>
            <a:off x="1298448" y="1490472"/>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38" name="Shape 36"/>
          <p:cNvSpPr/>
          <p:nvPr/>
        </p:nvSpPr>
        <p:spPr>
          <a:xfrm>
            <a:off x="2267712" y="1490472"/>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39" name="Text 37"/>
          <p:cNvSpPr/>
          <p:nvPr/>
        </p:nvSpPr>
        <p:spPr>
          <a:xfrm>
            <a:off x="2267712" y="1490472"/>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40" name="Shape 38"/>
          <p:cNvSpPr/>
          <p:nvPr/>
        </p:nvSpPr>
        <p:spPr>
          <a:xfrm>
            <a:off x="3236976" y="1490472"/>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41" name="Text 39"/>
          <p:cNvSpPr/>
          <p:nvPr/>
        </p:nvSpPr>
        <p:spPr>
          <a:xfrm>
            <a:off x="3236976" y="1490472"/>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42" name="Shape 40"/>
          <p:cNvSpPr/>
          <p:nvPr/>
        </p:nvSpPr>
        <p:spPr>
          <a:xfrm>
            <a:off x="4206240" y="1490472"/>
            <a:ext cx="932688" cy="310896"/>
          </a:xfrm>
          <a:prstGeom prst="roundRect">
            <a:avLst>
              <a:gd name="adj" fmla="val 11765"/>
            </a:avLst>
          </a:prstGeom>
          <a:solidFill>
            <a:srgbClr val="FFF3CD"/>
          </a:solidFill>
          <a:ln w="6350">
            <a:solidFill>
              <a:srgbClr val="FFFFFF"/>
            </a:solidFill>
            <a:prstDash val="solid"/>
          </a:ln>
        </p:spPr>
        <p:txBody>
          <a:bodyPr/>
          <a:lstStyle/>
          <a:p>
            <a:endParaRPr lang="en-US"/>
          </a:p>
        </p:txBody>
      </p:sp>
      <p:sp>
        <p:nvSpPr>
          <p:cNvPr id="43" name="Text 41"/>
          <p:cNvSpPr/>
          <p:nvPr/>
        </p:nvSpPr>
        <p:spPr>
          <a:xfrm>
            <a:off x="4206240" y="1490472"/>
            <a:ext cx="932688" cy="310896"/>
          </a:xfrm>
          <a:prstGeom prst="rect">
            <a:avLst/>
          </a:prstGeom>
          <a:noFill/>
          <a:ln/>
        </p:spPr>
        <p:txBody>
          <a:bodyPr wrap="square" lIns="0" tIns="0" rIns="0" bIns="0" rtlCol="0" anchor="ctr"/>
          <a:lstStyle/>
          <a:p>
            <a:pPr marL="0" indent="0" algn="ctr">
              <a:buNone/>
            </a:pPr>
            <a:r>
              <a:rPr lang="en-US" sz="900" dirty="0">
                <a:solidFill>
                  <a:srgbClr val="D97706"/>
                </a:solidFill>
                <a:latin typeface="Arial" pitchFamily="34" charset="0"/>
                <a:ea typeface="Arial" pitchFamily="34" charset="-122"/>
                <a:cs typeface="Arial" pitchFamily="34" charset="-120"/>
              </a:rPr>
              <a:t>off</a:t>
            </a:r>
            <a:endParaRPr lang="en-US" sz="900" dirty="0"/>
          </a:p>
        </p:txBody>
      </p:sp>
      <p:sp>
        <p:nvSpPr>
          <p:cNvPr id="44" name="Shape 42"/>
          <p:cNvSpPr/>
          <p:nvPr/>
        </p:nvSpPr>
        <p:spPr>
          <a:xfrm>
            <a:off x="5175504" y="1490472"/>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45" name="Text 43"/>
          <p:cNvSpPr/>
          <p:nvPr/>
        </p:nvSpPr>
        <p:spPr>
          <a:xfrm>
            <a:off x="5175504" y="1490472"/>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46" name="Shape 44"/>
          <p:cNvSpPr/>
          <p:nvPr/>
        </p:nvSpPr>
        <p:spPr>
          <a:xfrm>
            <a:off x="6144768" y="1490472"/>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47" name="Text 45"/>
          <p:cNvSpPr/>
          <p:nvPr/>
        </p:nvSpPr>
        <p:spPr>
          <a:xfrm>
            <a:off x="6144768" y="1490472"/>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48" name="Shape 46"/>
          <p:cNvSpPr/>
          <p:nvPr/>
        </p:nvSpPr>
        <p:spPr>
          <a:xfrm>
            <a:off x="7114032" y="1490472"/>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49" name="Text 47"/>
          <p:cNvSpPr/>
          <p:nvPr/>
        </p:nvSpPr>
        <p:spPr>
          <a:xfrm>
            <a:off x="7114032" y="1490472"/>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50" name="Text 48"/>
          <p:cNvSpPr/>
          <p:nvPr/>
        </p:nvSpPr>
        <p:spPr>
          <a:xfrm>
            <a:off x="320040" y="1837944"/>
            <a:ext cx="932688" cy="310896"/>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G3 (4)</a:t>
            </a:r>
            <a:endParaRPr lang="en-US" sz="900" dirty="0"/>
          </a:p>
        </p:txBody>
      </p:sp>
      <p:sp>
        <p:nvSpPr>
          <p:cNvPr id="51" name="Shape 49"/>
          <p:cNvSpPr/>
          <p:nvPr/>
        </p:nvSpPr>
        <p:spPr>
          <a:xfrm>
            <a:off x="1298448" y="1837944"/>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52" name="Text 50"/>
          <p:cNvSpPr/>
          <p:nvPr/>
        </p:nvSpPr>
        <p:spPr>
          <a:xfrm>
            <a:off x="1298448" y="1837944"/>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53" name="Shape 51"/>
          <p:cNvSpPr/>
          <p:nvPr/>
        </p:nvSpPr>
        <p:spPr>
          <a:xfrm>
            <a:off x="2267712" y="1837944"/>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54" name="Text 52"/>
          <p:cNvSpPr/>
          <p:nvPr/>
        </p:nvSpPr>
        <p:spPr>
          <a:xfrm>
            <a:off x="2267712" y="1837944"/>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55" name="Shape 53"/>
          <p:cNvSpPr/>
          <p:nvPr/>
        </p:nvSpPr>
        <p:spPr>
          <a:xfrm>
            <a:off x="3236976" y="1837944"/>
            <a:ext cx="932688" cy="310896"/>
          </a:xfrm>
          <a:prstGeom prst="roundRect">
            <a:avLst>
              <a:gd name="adj" fmla="val 11765"/>
            </a:avLst>
          </a:prstGeom>
          <a:solidFill>
            <a:srgbClr val="FFF3CD"/>
          </a:solidFill>
          <a:ln w="6350">
            <a:solidFill>
              <a:srgbClr val="FFFFFF"/>
            </a:solidFill>
            <a:prstDash val="solid"/>
          </a:ln>
        </p:spPr>
        <p:txBody>
          <a:bodyPr/>
          <a:lstStyle/>
          <a:p>
            <a:endParaRPr lang="en-US"/>
          </a:p>
        </p:txBody>
      </p:sp>
      <p:sp>
        <p:nvSpPr>
          <p:cNvPr id="56" name="Text 54"/>
          <p:cNvSpPr/>
          <p:nvPr/>
        </p:nvSpPr>
        <p:spPr>
          <a:xfrm>
            <a:off x="3236976" y="1837944"/>
            <a:ext cx="932688" cy="310896"/>
          </a:xfrm>
          <a:prstGeom prst="rect">
            <a:avLst/>
          </a:prstGeom>
          <a:noFill/>
          <a:ln/>
        </p:spPr>
        <p:txBody>
          <a:bodyPr wrap="square" lIns="0" tIns="0" rIns="0" bIns="0" rtlCol="0" anchor="ctr"/>
          <a:lstStyle/>
          <a:p>
            <a:pPr marL="0" indent="0" algn="ctr">
              <a:buNone/>
            </a:pPr>
            <a:r>
              <a:rPr lang="en-US" sz="900" dirty="0">
                <a:solidFill>
                  <a:srgbClr val="D97706"/>
                </a:solidFill>
                <a:latin typeface="Arial" pitchFamily="34" charset="0"/>
                <a:ea typeface="Arial" pitchFamily="34" charset="-122"/>
                <a:cs typeface="Arial" pitchFamily="34" charset="-120"/>
              </a:rPr>
              <a:t>off</a:t>
            </a:r>
            <a:endParaRPr lang="en-US" sz="900" dirty="0"/>
          </a:p>
        </p:txBody>
      </p:sp>
      <p:sp>
        <p:nvSpPr>
          <p:cNvPr id="57" name="Shape 55"/>
          <p:cNvSpPr/>
          <p:nvPr/>
        </p:nvSpPr>
        <p:spPr>
          <a:xfrm>
            <a:off x="4206240" y="1837944"/>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58" name="Text 56"/>
          <p:cNvSpPr/>
          <p:nvPr/>
        </p:nvSpPr>
        <p:spPr>
          <a:xfrm>
            <a:off x="4206240" y="1837944"/>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59" name="Shape 57"/>
          <p:cNvSpPr/>
          <p:nvPr/>
        </p:nvSpPr>
        <p:spPr>
          <a:xfrm>
            <a:off x="5175504" y="1837944"/>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60" name="Text 58"/>
          <p:cNvSpPr/>
          <p:nvPr/>
        </p:nvSpPr>
        <p:spPr>
          <a:xfrm>
            <a:off x="5175504" y="1837944"/>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61" name="Shape 59"/>
          <p:cNvSpPr/>
          <p:nvPr/>
        </p:nvSpPr>
        <p:spPr>
          <a:xfrm>
            <a:off x="6144768" y="1837944"/>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62" name="Text 60"/>
          <p:cNvSpPr/>
          <p:nvPr/>
        </p:nvSpPr>
        <p:spPr>
          <a:xfrm>
            <a:off x="6144768" y="1837944"/>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63" name="Shape 61"/>
          <p:cNvSpPr/>
          <p:nvPr/>
        </p:nvSpPr>
        <p:spPr>
          <a:xfrm>
            <a:off x="7114032" y="1837944"/>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64" name="Text 62"/>
          <p:cNvSpPr/>
          <p:nvPr/>
        </p:nvSpPr>
        <p:spPr>
          <a:xfrm>
            <a:off x="7114032" y="1837944"/>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65" name="Text 63"/>
          <p:cNvSpPr/>
          <p:nvPr/>
        </p:nvSpPr>
        <p:spPr>
          <a:xfrm>
            <a:off x="320040" y="2185416"/>
            <a:ext cx="932688" cy="310896"/>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G4 (4)</a:t>
            </a:r>
            <a:endParaRPr lang="en-US" sz="900" dirty="0"/>
          </a:p>
        </p:txBody>
      </p:sp>
      <p:sp>
        <p:nvSpPr>
          <p:cNvPr id="66" name="Shape 64"/>
          <p:cNvSpPr/>
          <p:nvPr/>
        </p:nvSpPr>
        <p:spPr>
          <a:xfrm>
            <a:off x="1298448" y="2185416"/>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67" name="Text 65"/>
          <p:cNvSpPr/>
          <p:nvPr/>
        </p:nvSpPr>
        <p:spPr>
          <a:xfrm>
            <a:off x="1298448" y="2185416"/>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68" name="Shape 66"/>
          <p:cNvSpPr/>
          <p:nvPr/>
        </p:nvSpPr>
        <p:spPr>
          <a:xfrm>
            <a:off x="2267712" y="2185416"/>
            <a:ext cx="932688" cy="310896"/>
          </a:xfrm>
          <a:prstGeom prst="roundRect">
            <a:avLst>
              <a:gd name="adj" fmla="val 11765"/>
            </a:avLst>
          </a:prstGeom>
          <a:solidFill>
            <a:srgbClr val="FFF3CD"/>
          </a:solidFill>
          <a:ln w="6350">
            <a:solidFill>
              <a:srgbClr val="FFFFFF"/>
            </a:solidFill>
            <a:prstDash val="solid"/>
          </a:ln>
        </p:spPr>
        <p:txBody>
          <a:bodyPr/>
          <a:lstStyle/>
          <a:p>
            <a:endParaRPr lang="en-US"/>
          </a:p>
        </p:txBody>
      </p:sp>
      <p:sp>
        <p:nvSpPr>
          <p:cNvPr id="69" name="Text 67"/>
          <p:cNvSpPr/>
          <p:nvPr/>
        </p:nvSpPr>
        <p:spPr>
          <a:xfrm>
            <a:off x="2267712" y="2185416"/>
            <a:ext cx="932688" cy="310896"/>
          </a:xfrm>
          <a:prstGeom prst="rect">
            <a:avLst/>
          </a:prstGeom>
          <a:noFill/>
          <a:ln/>
        </p:spPr>
        <p:txBody>
          <a:bodyPr wrap="square" lIns="0" tIns="0" rIns="0" bIns="0" rtlCol="0" anchor="ctr"/>
          <a:lstStyle/>
          <a:p>
            <a:pPr marL="0" indent="0" algn="ctr">
              <a:buNone/>
            </a:pPr>
            <a:r>
              <a:rPr lang="en-US" sz="900" dirty="0">
                <a:solidFill>
                  <a:srgbClr val="D97706"/>
                </a:solidFill>
                <a:latin typeface="Arial" pitchFamily="34" charset="0"/>
                <a:ea typeface="Arial" pitchFamily="34" charset="-122"/>
                <a:cs typeface="Arial" pitchFamily="34" charset="-120"/>
              </a:rPr>
              <a:t>off</a:t>
            </a:r>
            <a:endParaRPr lang="en-US" sz="900" dirty="0"/>
          </a:p>
        </p:txBody>
      </p:sp>
      <p:sp>
        <p:nvSpPr>
          <p:cNvPr id="70" name="Shape 68"/>
          <p:cNvSpPr/>
          <p:nvPr/>
        </p:nvSpPr>
        <p:spPr>
          <a:xfrm>
            <a:off x="3236976" y="2185416"/>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71" name="Text 69"/>
          <p:cNvSpPr/>
          <p:nvPr/>
        </p:nvSpPr>
        <p:spPr>
          <a:xfrm>
            <a:off x="3236976" y="2185416"/>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72" name="Shape 70"/>
          <p:cNvSpPr/>
          <p:nvPr/>
        </p:nvSpPr>
        <p:spPr>
          <a:xfrm>
            <a:off x="4206240" y="2185416"/>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73" name="Text 71"/>
          <p:cNvSpPr/>
          <p:nvPr/>
        </p:nvSpPr>
        <p:spPr>
          <a:xfrm>
            <a:off x="4206240" y="2185416"/>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74" name="Shape 72"/>
          <p:cNvSpPr/>
          <p:nvPr/>
        </p:nvSpPr>
        <p:spPr>
          <a:xfrm>
            <a:off x="5175504" y="2185416"/>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75" name="Text 73"/>
          <p:cNvSpPr/>
          <p:nvPr/>
        </p:nvSpPr>
        <p:spPr>
          <a:xfrm>
            <a:off x="5175504" y="2185416"/>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76" name="Shape 74"/>
          <p:cNvSpPr/>
          <p:nvPr/>
        </p:nvSpPr>
        <p:spPr>
          <a:xfrm>
            <a:off x="6144768" y="2185416"/>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77" name="Text 75"/>
          <p:cNvSpPr/>
          <p:nvPr/>
        </p:nvSpPr>
        <p:spPr>
          <a:xfrm>
            <a:off x="6144768" y="2185416"/>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78" name="Shape 76"/>
          <p:cNvSpPr/>
          <p:nvPr/>
        </p:nvSpPr>
        <p:spPr>
          <a:xfrm>
            <a:off x="7114032" y="2185416"/>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79" name="Text 77"/>
          <p:cNvSpPr/>
          <p:nvPr/>
        </p:nvSpPr>
        <p:spPr>
          <a:xfrm>
            <a:off x="7114032" y="2185416"/>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80" name="Text 78"/>
          <p:cNvSpPr/>
          <p:nvPr/>
        </p:nvSpPr>
        <p:spPr>
          <a:xfrm>
            <a:off x="320040" y="2532888"/>
            <a:ext cx="932688" cy="310896"/>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G5 (4)</a:t>
            </a:r>
            <a:endParaRPr lang="en-US" sz="900" dirty="0"/>
          </a:p>
        </p:txBody>
      </p:sp>
      <p:sp>
        <p:nvSpPr>
          <p:cNvPr id="81" name="Shape 79"/>
          <p:cNvSpPr/>
          <p:nvPr/>
        </p:nvSpPr>
        <p:spPr>
          <a:xfrm>
            <a:off x="1298448" y="2532888"/>
            <a:ext cx="932688" cy="310896"/>
          </a:xfrm>
          <a:prstGeom prst="roundRect">
            <a:avLst>
              <a:gd name="adj" fmla="val 11765"/>
            </a:avLst>
          </a:prstGeom>
          <a:solidFill>
            <a:srgbClr val="FFF3CD"/>
          </a:solidFill>
          <a:ln w="6350">
            <a:solidFill>
              <a:srgbClr val="FFFFFF"/>
            </a:solidFill>
            <a:prstDash val="solid"/>
          </a:ln>
        </p:spPr>
        <p:txBody>
          <a:bodyPr/>
          <a:lstStyle/>
          <a:p>
            <a:endParaRPr lang="en-US"/>
          </a:p>
        </p:txBody>
      </p:sp>
      <p:sp>
        <p:nvSpPr>
          <p:cNvPr id="82" name="Text 80"/>
          <p:cNvSpPr/>
          <p:nvPr/>
        </p:nvSpPr>
        <p:spPr>
          <a:xfrm>
            <a:off x="1298448" y="2532888"/>
            <a:ext cx="932688" cy="310896"/>
          </a:xfrm>
          <a:prstGeom prst="rect">
            <a:avLst/>
          </a:prstGeom>
          <a:noFill/>
          <a:ln/>
        </p:spPr>
        <p:txBody>
          <a:bodyPr wrap="square" lIns="0" tIns="0" rIns="0" bIns="0" rtlCol="0" anchor="ctr"/>
          <a:lstStyle/>
          <a:p>
            <a:pPr marL="0" indent="0" algn="ctr">
              <a:buNone/>
            </a:pPr>
            <a:r>
              <a:rPr lang="en-US" sz="900" dirty="0">
                <a:solidFill>
                  <a:srgbClr val="D97706"/>
                </a:solidFill>
                <a:latin typeface="Arial" pitchFamily="34" charset="0"/>
                <a:ea typeface="Arial" pitchFamily="34" charset="-122"/>
                <a:cs typeface="Arial" pitchFamily="34" charset="-120"/>
              </a:rPr>
              <a:t>off</a:t>
            </a:r>
            <a:endParaRPr lang="en-US" sz="900" dirty="0"/>
          </a:p>
        </p:txBody>
      </p:sp>
      <p:sp>
        <p:nvSpPr>
          <p:cNvPr id="83" name="Shape 81"/>
          <p:cNvSpPr/>
          <p:nvPr/>
        </p:nvSpPr>
        <p:spPr>
          <a:xfrm>
            <a:off x="2267712" y="2532888"/>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84" name="Text 82"/>
          <p:cNvSpPr/>
          <p:nvPr/>
        </p:nvSpPr>
        <p:spPr>
          <a:xfrm>
            <a:off x="2267712" y="2532888"/>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85" name="Shape 83"/>
          <p:cNvSpPr/>
          <p:nvPr/>
        </p:nvSpPr>
        <p:spPr>
          <a:xfrm>
            <a:off x="3236976" y="2532888"/>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86" name="Text 84"/>
          <p:cNvSpPr/>
          <p:nvPr/>
        </p:nvSpPr>
        <p:spPr>
          <a:xfrm>
            <a:off x="3236976" y="2532888"/>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87" name="Shape 85"/>
          <p:cNvSpPr/>
          <p:nvPr/>
        </p:nvSpPr>
        <p:spPr>
          <a:xfrm>
            <a:off x="4206240" y="2532888"/>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88" name="Text 86"/>
          <p:cNvSpPr/>
          <p:nvPr/>
        </p:nvSpPr>
        <p:spPr>
          <a:xfrm>
            <a:off x="4206240" y="2532888"/>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89" name="Shape 87"/>
          <p:cNvSpPr/>
          <p:nvPr/>
        </p:nvSpPr>
        <p:spPr>
          <a:xfrm>
            <a:off x="5175504" y="2532888"/>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90" name="Text 88"/>
          <p:cNvSpPr/>
          <p:nvPr/>
        </p:nvSpPr>
        <p:spPr>
          <a:xfrm>
            <a:off x="5175504" y="2532888"/>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91" name="Shape 89"/>
          <p:cNvSpPr/>
          <p:nvPr/>
        </p:nvSpPr>
        <p:spPr>
          <a:xfrm>
            <a:off x="6144768" y="2532888"/>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92" name="Text 90"/>
          <p:cNvSpPr/>
          <p:nvPr/>
        </p:nvSpPr>
        <p:spPr>
          <a:xfrm>
            <a:off x="6144768" y="2532888"/>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93" name="Shape 91"/>
          <p:cNvSpPr/>
          <p:nvPr/>
        </p:nvSpPr>
        <p:spPr>
          <a:xfrm>
            <a:off x="7114032" y="2532888"/>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94" name="Text 92"/>
          <p:cNvSpPr/>
          <p:nvPr/>
        </p:nvSpPr>
        <p:spPr>
          <a:xfrm>
            <a:off x="7114032" y="2532888"/>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95" name="Text 93"/>
          <p:cNvSpPr/>
          <p:nvPr/>
        </p:nvSpPr>
        <p:spPr>
          <a:xfrm>
            <a:off x="320040" y="2880360"/>
            <a:ext cx="932688" cy="256032"/>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staff/day</a:t>
            </a:r>
            <a:endParaRPr lang="en-US" sz="800" dirty="0"/>
          </a:p>
        </p:txBody>
      </p:sp>
      <p:sp>
        <p:nvSpPr>
          <p:cNvPr id="96" name="Text 94"/>
          <p:cNvSpPr/>
          <p:nvPr/>
        </p:nvSpPr>
        <p:spPr>
          <a:xfrm>
            <a:off x="1298448" y="2880360"/>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97" name="Text 95"/>
          <p:cNvSpPr/>
          <p:nvPr/>
        </p:nvSpPr>
        <p:spPr>
          <a:xfrm>
            <a:off x="2267712" y="2880360"/>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98" name="Text 96"/>
          <p:cNvSpPr/>
          <p:nvPr/>
        </p:nvSpPr>
        <p:spPr>
          <a:xfrm>
            <a:off x="3236976" y="2880360"/>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99" name="Text 97"/>
          <p:cNvSpPr/>
          <p:nvPr/>
        </p:nvSpPr>
        <p:spPr>
          <a:xfrm>
            <a:off x="4206240" y="2880360"/>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100" name="Text 98"/>
          <p:cNvSpPr/>
          <p:nvPr/>
        </p:nvSpPr>
        <p:spPr>
          <a:xfrm>
            <a:off x="5175504" y="2880360"/>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101" name="Text 99"/>
          <p:cNvSpPr/>
          <p:nvPr/>
        </p:nvSpPr>
        <p:spPr>
          <a:xfrm>
            <a:off x="6144768" y="2880360"/>
            <a:ext cx="932688" cy="256032"/>
          </a:xfrm>
          <a:prstGeom prst="rect">
            <a:avLst/>
          </a:prstGeom>
          <a:noFill/>
          <a:ln/>
        </p:spPr>
        <p:txBody>
          <a:bodyPr wrap="square" rtlCol="0" anchor="ctr"/>
          <a:lstStyle/>
          <a:p>
            <a:pPr marL="0" indent="0" algn="ctr">
              <a:buNone/>
            </a:pPr>
            <a:r>
              <a:rPr lang="en-US" sz="1000" dirty="0">
                <a:solidFill>
                  <a:srgbClr val="94A3B8"/>
                </a:solidFill>
                <a:latin typeface="Arial" pitchFamily="34" charset="0"/>
                <a:ea typeface="Arial" pitchFamily="34" charset="-122"/>
                <a:cs typeface="Arial" pitchFamily="34" charset="-120"/>
              </a:rPr>
              <a:t>0</a:t>
            </a:r>
            <a:endParaRPr lang="en-US" sz="1000" dirty="0"/>
          </a:p>
        </p:txBody>
      </p:sp>
      <p:sp>
        <p:nvSpPr>
          <p:cNvPr id="102" name="Text 100"/>
          <p:cNvSpPr/>
          <p:nvPr/>
        </p:nvSpPr>
        <p:spPr>
          <a:xfrm>
            <a:off x="7114032" y="2880360"/>
            <a:ext cx="932688" cy="256032"/>
          </a:xfrm>
          <a:prstGeom prst="rect">
            <a:avLst/>
          </a:prstGeom>
          <a:noFill/>
          <a:ln/>
        </p:spPr>
        <p:txBody>
          <a:bodyPr wrap="square" rtlCol="0" anchor="ctr"/>
          <a:lstStyle/>
          <a:p>
            <a:pPr marL="0" indent="0" algn="ctr">
              <a:buNone/>
            </a:pPr>
            <a:r>
              <a:rPr lang="en-US" sz="1000" dirty="0">
                <a:solidFill>
                  <a:srgbClr val="94A3B8"/>
                </a:solidFill>
                <a:latin typeface="Arial" pitchFamily="34" charset="0"/>
                <a:ea typeface="Arial" pitchFamily="34" charset="-122"/>
                <a:cs typeface="Arial" pitchFamily="34" charset="-120"/>
              </a:rPr>
              <a:t>0</a:t>
            </a:r>
            <a:endParaRPr lang="en-US" sz="1000" dirty="0"/>
          </a:p>
        </p:txBody>
      </p:sp>
      <p:sp>
        <p:nvSpPr>
          <p:cNvPr id="103" name="Shape 101"/>
          <p:cNvSpPr/>
          <p:nvPr/>
        </p:nvSpPr>
        <p:spPr>
          <a:xfrm>
            <a:off x="365760" y="3227832"/>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104" name="Text 102"/>
          <p:cNvSpPr/>
          <p:nvPr/>
        </p:nvSpPr>
        <p:spPr>
          <a:xfrm>
            <a:off x="365760" y="3282696"/>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16</a:t>
            </a:r>
            <a:endParaRPr lang="en-US" sz="1800" dirty="0"/>
          </a:p>
        </p:txBody>
      </p:sp>
      <p:sp>
        <p:nvSpPr>
          <p:cNvPr id="105" name="Text 103"/>
          <p:cNvSpPr/>
          <p:nvPr/>
        </p:nvSpPr>
        <p:spPr>
          <a:xfrm>
            <a:off x="365760" y="3648456"/>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employees (+4)</a:t>
            </a:r>
            <a:endParaRPr lang="en-US" sz="900" dirty="0"/>
          </a:p>
        </p:txBody>
      </p:sp>
      <p:sp>
        <p:nvSpPr>
          <p:cNvPr id="106" name="Shape 104"/>
          <p:cNvSpPr/>
          <p:nvPr/>
        </p:nvSpPr>
        <p:spPr>
          <a:xfrm>
            <a:off x="1767840" y="3227832"/>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107" name="Text 105"/>
          <p:cNvSpPr/>
          <p:nvPr/>
        </p:nvSpPr>
        <p:spPr>
          <a:xfrm>
            <a:off x="1767840" y="3282696"/>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50</a:t>
            </a:r>
            <a:endParaRPr lang="en-US" sz="1800" dirty="0"/>
          </a:p>
        </p:txBody>
      </p:sp>
      <p:sp>
        <p:nvSpPr>
          <p:cNvPr id="108" name="Text 106"/>
          <p:cNvSpPr/>
          <p:nvPr/>
        </p:nvSpPr>
        <p:spPr>
          <a:xfrm>
            <a:off x="1767840" y="3648456"/>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prod hrs/week</a:t>
            </a:r>
            <a:endParaRPr lang="en-US" sz="900" dirty="0"/>
          </a:p>
        </p:txBody>
      </p:sp>
      <p:sp>
        <p:nvSpPr>
          <p:cNvPr id="109" name="Shape 107"/>
          <p:cNvSpPr/>
          <p:nvPr/>
        </p:nvSpPr>
        <p:spPr>
          <a:xfrm>
            <a:off x="3169920" y="3227832"/>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110" name="Text 108"/>
          <p:cNvSpPr/>
          <p:nvPr/>
        </p:nvSpPr>
        <p:spPr>
          <a:xfrm>
            <a:off x="3169920" y="3282696"/>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40</a:t>
            </a:r>
            <a:endParaRPr lang="en-US" sz="1800" dirty="0"/>
          </a:p>
        </p:txBody>
      </p:sp>
      <p:sp>
        <p:nvSpPr>
          <p:cNvPr id="111" name="Text 109"/>
          <p:cNvSpPr/>
          <p:nvPr/>
        </p:nvSpPr>
        <p:spPr>
          <a:xfrm>
            <a:off x="3169920" y="3648456"/>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work hrs/person</a:t>
            </a:r>
            <a:endParaRPr lang="en-US" sz="900" dirty="0"/>
          </a:p>
        </p:txBody>
      </p:sp>
      <p:sp>
        <p:nvSpPr>
          <p:cNvPr id="112" name="Shape 110"/>
          <p:cNvSpPr/>
          <p:nvPr/>
        </p:nvSpPr>
        <p:spPr>
          <a:xfrm>
            <a:off x="4572000" y="3227832"/>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113" name="Text 111"/>
          <p:cNvSpPr/>
          <p:nvPr/>
        </p:nvSpPr>
        <p:spPr>
          <a:xfrm>
            <a:off x="4572000" y="3282696"/>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40</a:t>
            </a:r>
            <a:endParaRPr lang="en-US" sz="1800" dirty="0"/>
          </a:p>
        </p:txBody>
      </p:sp>
      <p:sp>
        <p:nvSpPr>
          <p:cNvPr id="114" name="Text 112"/>
          <p:cNvSpPr/>
          <p:nvPr/>
        </p:nvSpPr>
        <p:spPr>
          <a:xfrm>
            <a:off x="4572000" y="3648456"/>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pay hrs avg</a:t>
            </a:r>
            <a:endParaRPr lang="en-US" sz="900" dirty="0"/>
          </a:p>
        </p:txBody>
      </p:sp>
      <p:sp>
        <p:nvSpPr>
          <p:cNvPr id="115" name="Shape 113"/>
          <p:cNvSpPr/>
          <p:nvPr/>
        </p:nvSpPr>
        <p:spPr>
          <a:xfrm>
            <a:off x="5974080" y="3227832"/>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116" name="Text 114"/>
          <p:cNvSpPr/>
          <p:nvPr/>
        </p:nvSpPr>
        <p:spPr>
          <a:xfrm>
            <a:off x="5974080" y="3282696"/>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None</a:t>
            </a:r>
            <a:endParaRPr lang="en-US" sz="1800" dirty="0"/>
          </a:p>
        </p:txBody>
      </p:sp>
      <p:sp>
        <p:nvSpPr>
          <p:cNvPr id="117" name="Text 115"/>
          <p:cNvSpPr/>
          <p:nvPr/>
        </p:nvSpPr>
        <p:spPr>
          <a:xfrm>
            <a:off x="5974080" y="3648456"/>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overtime</a:t>
            </a:r>
            <a:endParaRPr lang="en-US" sz="900" dirty="0"/>
          </a:p>
        </p:txBody>
      </p:sp>
      <p:sp>
        <p:nvSpPr>
          <p:cNvPr id="118" name="Shape 116"/>
          <p:cNvSpPr/>
          <p:nvPr/>
        </p:nvSpPr>
        <p:spPr>
          <a:xfrm>
            <a:off x="7376160" y="3227832"/>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119" name="Text 117"/>
          <p:cNvSpPr/>
          <p:nvPr/>
        </p:nvSpPr>
        <p:spPr>
          <a:xfrm>
            <a:off x="7376160" y="3282696"/>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4/day</a:t>
            </a:r>
            <a:endParaRPr lang="en-US" sz="1800" dirty="0"/>
          </a:p>
        </p:txBody>
      </p:sp>
      <p:sp>
        <p:nvSpPr>
          <p:cNvPr id="120" name="Text 118"/>
          <p:cNvSpPr/>
          <p:nvPr/>
        </p:nvSpPr>
        <p:spPr>
          <a:xfrm>
            <a:off x="7376160" y="3648456"/>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buffer pool</a:t>
            </a:r>
            <a:endParaRPr lang="en-US" sz="900" dirty="0"/>
          </a:p>
        </p:txBody>
      </p:sp>
      <p:sp>
        <p:nvSpPr>
          <p:cNvPr id="123" name="Text 121"/>
          <p:cNvSpPr/>
          <p:nvPr/>
        </p:nvSpPr>
        <p:spPr>
          <a:xfrm>
            <a:off x="365760" y="4846320"/>
            <a:ext cx="1828800" cy="201168"/>
          </a:xfrm>
          <a:prstGeom prst="rect">
            <a:avLst/>
          </a:prstGeom>
          <a:noFill/>
          <a:ln/>
        </p:spPr>
        <p:txBody>
          <a:bodyPr wrap="square" rtlCol="0" anchor="ctr"/>
          <a:lstStyle/>
          <a:p>
            <a:pPr marL="0" indent="0">
              <a:buNone/>
            </a:pPr>
            <a:r>
              <a:rPr lang="en-US" sz="900" i="1" dirty="0">
                <a:solidFill>
                  <a:srgbClr val="94A3B8"/>
                </a:solidFill>
                <a:latin typeface="Arial" pitchFamily="34" charset="0"/>
                <a:ea typeface="Arial" pitchFamily="34" charset="-122"/>
                <a:cs typeface="Arial" pitchFamily="34" charset="-120"/>
              </a:rPr>
              <a:t>← Back to chart</a:t>
            </a:r>
            <a:endParaRPr lang="en-US" sz="900" dirty="0"/>
          </a:p>
        </p:txBody>
      </p:sp>
      <p:sp>
        <p:nvSpPr>
          <p:cNvPr id="124" name="chip"/>
          <p:cNvSpPr/>
          <p:nvPr/>
        </p:nvSpPr>
        <p:spPr>
          <a:xfrm>
            <a:off x="2971800" y="4005072"/>
            <a:ext cx="384048" cy="164592"/>
          </a:xfrm>
          <a:prstGeom prst="roundRect">
            <a:avLst>
              <a:gd name="adj" fmla="val 25000"/>
            </a:avLst>
          </a:prstGeom>
          <a:solidFill>
            <a:srgbClr val="1D6A72"/>
          </a:solidFill>
          <a:ln>
            <a:noFill/>
          </a:ln>
        </p:spPr>
        <p:txBody>
          <a:bodyPr lIns="0" tIns="0" rIns="0" bIns="0" anchor="ctr"/>
          <a:lstStyle/>
          <a:p>
            <a:pPr algn="ctr">
              <a:buNone/>
            </a:pPr>
            <a:r>
              <a:rPr lang="en-US" sz="750" b="1" dirty="0">
                <a:solidFill>
                  <a:srgbClr val="FFFFFF"/>
                </a:solidFill>
                <a:latin typeface="Arial" pitchFamily="34" charset="0"/>
              </a:rPr>
              <a:t>D10</a:t>
            </a:r>
          </a:p>
        </p:txBody>
      </p:sp>
      <p:sp>
        <p:nvSpPr>
          <p:cNvPr id="125" name="lt"/>
          <p:cNvSpPr/>
          <p:nvPr/>
        </p:nvSpPr>
        <p:spPr>
          <a:xfrm>
            <a:off x="3410712" y="4005072"/>
            <a:ext cx="1143000" cy="164592"/>
          </a:xfrm>
          <a:prstGeom prst="rect">
            <a:avLst/>
          </a:prstGeom>
        </p:spPr>
        <p:txBody>
          <a:bodyPr lIns="18000" tIns="0" rIns="0" bIns="0" anchor="ctr"/>
          <a:lstStyle/>
          <a:p>
            <a:pPr algn="l">
              <a:buNone/>
            </a:pPr>
            <a:r>
              <a:rPr lang="en-US" sz="800" dirty="0">
                <a:solidFill>
                  <a:srgbClr val="64748B"/>
                </a:solidFill>
                <a:latin typeface="Arial" pitchFamily="34" charset="0"/>
              </a:rPr>
              <a:t>6:00a – 4:00p</a:t>
            </a:r>
          </a:p>
        </p:txBody>
      </p:sp>
      <p:sp>
        <p:nvSpPr>
          <p:cNvPr id="126" name="chip"/>
          <p:cNvSpPr/>
          <p:nvPr/>
        </p:nvSpPr>
        <p:spPr>
          <a:xfrm>
            <a:off x="4572000" y="4005072"/>
            <a:ext cx="384048" cy="164592"/>
          </a:xfrm>
          <a:prstGeom prst="roundRect">
            <a:avLst>
              <a:gd name="adj" fmla="val 25000"/>
            </a:avLst>
          </a:prstGeom>
          <a:solidFill>
            <a:srgbClr val="FFF3CD"/>
          </a:solidFill>
          <a:ln w="9525">
            <a:solidFill>
              <a:srgbClr val="CBD5E1"/>
            </a:solidFill>
          </a:ln>
        </p:spPr>
        <p:txBody>
          <a:bodyPr lIns="0" tIns="0" rIns="0" bIns="0" anchor="ctr"/>
          <a:lstStyle/>
          <a:p>
            <a:pPr algn="ctr">
              <a:buNone/>
            </a:pPr>
            <a:r>
              <a:rPr lang="en-US" sz="750" b="1" dirty="0">
                <a:solidFill>
                  <a:srgbClr val="64748B"/>
                </a:solidFill>
                <a:latin typeface="Arial" pitchFamily="34" charset="0"/>
              </a:rPr>
              <a:t>off</a:t>
            </a:r>
          </a:p>
        </p:txBody>
      </p:sp>
      <p:sp>
        <p:nvSpPr>
          <p:cNvPr id="127" name="lt"/>
          <p:cNvSpPr/>
          <p:nvPr/>
        </p:nvSpPr>
        <p:spPr>
          <a:xfrm>
            <a:off x="5010912" y="4005072"/>
            <a:ext cx="1143000" cy="164592"/>
          </a:xfrm>
          <a:prstGeom prst="rect">
            <a:avLst/>
          </a:prstGeom>
        </p:spPr>
        <p:txBody>
          <a:bodyPr lIns="18000" tIns="0" rIns="0" bIns="0" anchor="ctr"/>
          <a:lstStyle/>
          <a:p>
            <a:pPr algn="l">
              <a:buNone/>
            </a:pPr>
            <a:r>
              <a:rPr lang="en-US" sz="800" dirty="0">
                <a:solidFill>
                  <a:srgbClr val="64748B"/>
                </a:solidFill>
                <a:latin typeface="Arial" pitchFamily="34" charset="0"/>
              </a:rPr>
              <a:t>not scheduled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1005840" cy="347472"/>
          </a:xfrm>
          <a:prstGeom prst="roundRect">
            <a:avLst>
              <a:gd name="adj" fmla="val 15789"/>
            </a:avLst>
          </a:prstGeom>
          <a:solidFill>
            <a:srgbClr val="1D6A72"/>
          </a:solidFill>
          <a:ln w="12700">
            <a:solidFill>
              <a:srgbClr val="1D6A72"/>
            </a:solidFill>
            <a:prstDash val="solid"/>
          </a:ln>
        </p:spPr>
        <p:txBody>
          <a:bodyPr/>
          <a:lstStyle/>
          <a:p>
            <a:endParaRPr lang="en-US"/>
          </a:p>
        </p:txBody>
      </p:sp>
      <p:sp>
        <p:nvSpPr>
          <p:cNvPr id="3" name="Text 1"/>
          <p:cNvSpPr/>
          <p:nvPr/>
        </p:nvSpPr>
        <p:spPr>
          <a:xfrm>
            <a:off x="365760" y="164592"/>
            <a:ext cx="10058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60 hrs coverage</a:t>
            </a:r>
            <a:endParaRPr lang="en-US" sz="1100" dirty="0"/>
          </a:p>
        </p:txBody>
      </p:sp>
      <p:sp>
        <p:nvSpPr>
          <p:cNvPr id="4" name="Text 2"/>
          <p:cNvSpPr/>
          <p:nvPr/>
        </p:nvSpPr>
        <p:spPr>
          <a:xfrm>
            <a:off x="1481328" y="164592"/>
            <a:ext cx="7315200" cy="365760"/>
          </a:xfrm>
          <a:prstGeom prst="rect">
            <a:avLst/>
          </a:prstGeom>
          <a:noFill/>
          <a:ln/>
        </p:spPr>
        <p:txBody>
          <a:bodyPr wrap="square" rtlCol="0" anchor="ctr"/>
          <a:lstStyle/>
          <a:p>
            <a:pPr marL="0" indent="0">
              <a:buNone/>
            </a:pPr>
            <a:r>
              <a:rPr lang="en-US" sz="2200" b="1" dirty="0">
                <a:solidFill>
                  <a:srgbClr val="1F4E79"/>
                </a:solidFill>
                <a:latin typeface="Cambria" pitchFamily="34" charset="0"/>
                <a:ea typeface="Cambria" pitchFamily="34" charset="-122"/>
                <a:cs typeface="Cambria" pitchFamily="34" charset="-120"/>
              </a:rPr>
              <a:t>S4 — 5-Day · 12-Hour</a:t>
            </a:r>
            <a:endParaRPr lang="en-US" sz="2200" dirty="0"/>
          </a:p>
        </p:txBody>
      </p:sp>
      <p:sp>
        <p:nvSpPr>
          <p:cNvPr id="5" name="Text 3"/>
          <p:cNvSpPr/>
          <p:nvPr/>
        </p:nvSpPr>
        <p:spPr>
          <a:xfrm>
            <a:off x="1481328" y="530352"/>
            <a:ext cx="7315200" cy="256032"/>
          </a:xfrm>
          <a:prstGeom prst="rect">
            <a:avLst/>
          </a:prstGeom>
          <a:noFill/>
          <a:ln/>
        </p:spPr>
        <p:txBody>
          <a:bodyPr wrap="square" rtlCol="0" anchor="ctr"/>
          <a:lstStyle/>
          <a:p>
            <a:pPr marL="0" indent="0">
              <a:buNone/>
            </a:pPr>
            <a:r>
              <a:rPr lang="en-US" sz="1200" i="1" dirty="0">
                <a:solidFill>
                  <a:srgbClr val="64748B"/>
                </a:solidFill>
                <a:latin typeface="Arial" pitchFamily="34" charset="0"/>
                <a:ea typeface="Arial" pitchFamily="34" charset="-122"/>
                <a:cs typeface="Arial" pitchFamily="34" charset="-120"/>
              </a:rPr>
              <a:t>3 sub-groups with different patterns</a:t>
            </a:r>
            <a:endParaRPr lang="en-US" sz="1200" dirty="0"/>
          </a:p>
        </p:txBody>
      </p:sp>
      <p:sp>
        <p:nvSpPr>
          <p:cNvPr id="6" name="Shape 4"/>
          <p:cNvSpPr/>
          <p:nvPr/>
        </p:nvSpPr>
        <p:spPr>
          <a:xfrm>
            <a:off x="1298448"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7" name="Text 5"/>
          <p:cNvSpPr/>
          <p:nvPr/>
        </p:nvSpPr>
        <p:spPr>
          <a:xfrm>
            <a:off x="1298448"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Mon</a:t>
            </a:r>
            <a:endParaRPr lang="en-US" sz="900" dirty="0"/>
          </a:p>
        </p:txBody>
      </p:sp>
      <p:sp>
        <p:nvSpPr>
          <p:cNvPr id="8" name="Shape 6"/>
          <p:cNvSpPr/>
          <p:nvPr/>
        </p:nvSpPr>
        <p:spPr>
          <a:xfrm>
            <a:off x="2267712"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9" name="Text 7"/>
          <p:cNvSpPr/>
          <p:nvPr/>
        </p:nvSpPr>
        <p:spPr>
          <a:xfrm>
            <a:off x="2267712"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Tue</a:t>
            </a:r>
            <a:endParaRPr lang="en-US" sz="900" dirty="0"/>
          </a:p>
        </p:txBody>
      </p:sp>
      <p:sp>
        <p:nvSpPr>
          <p:cNvPr id="10" name="Shape 8"/>
          <p:cNvSpPr/>
          <p:nvPr/>
        </p:nvSpPr>
        <p:spPr>
          <a:xfrm>
            <a:off x="3236976"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1" name="Text 9"/>
          <p:cNvSpPr/>
          <p:nvPr/>
        </p:nvSpPr>
        <p:spPr>
          <a:xfrm>
            <a:off x="3236976"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Wed</a:t>
            </a:r>
            <a:endParaRPr lang="en-US" sz="900" dirty="0"/>
          </a:p>
        </p:txBody>
      </p:sp>
      <p:sp>
        <p:nvSpPr>
          <p:cNvPr id="12" name="Shape 10"/>
          <p:cNvSpPr/>
          <p:nvPr/>
        </p:nvSpPr>
        <p:spPr>
          <a:xfrm>
            <a:off x="4206240"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3" name="Text 11"/>
          <p:cNvSpPr/>
          <p:nvPr/>
        </p:nvSpPr>
        <p:spPr>
          <a:xfrm>
            <a:off x="4206240"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Thu</a:t>
            </a:r>
            <a:endParaRPr lang="en-US" sz="900" dirty="0"/>
          </a:p>
        </p:txBody>
      </p:sp>
      <p:sp>
        <p:nvSpPr>
          <p:cNvPr id="14" name="Shape 12"/>
          <p:cNvSpPr/>
          <p:nvPr/>
        </p:nvSpPr>
        <p:spPr>
          <a:xfrm>
            <a:off x="5175504"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5" name="Text 13"/>
          <p:cNvSpPr/>
          <p:nvPr/>
        </p:nvSpPr>
        <p:spPr>
          <a:xfrm>
            <a:off x="5175504"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Fri</a:t>
            </a:r>
            <a:endParaRPr lang="en-US" sz="900" dirty="0"/>
          </a:p>
        </p:txBody>
      </p:sp>
      <p:sp>
        <p:nvSpPr>
          <p:cNvPr id="16" name="Shape 14"/>
          <p:cNvSpPr/>
          <p:nvPr/>
        </p:nvSpPr>
        <p:spPr>
          <a:xfrm>
            <a:off x="6144768"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7" name="Text 15"/>
          <p:cNvSpPr/>
          <p:nvPr/>
        </p:nvSpPr>
        <p:spPr>
          <a:xfrm>
            <a:off x="6144768"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Sat</a:t>
            </a:r>
            <a:endParaRPr lang="en-US" sz="900" dirty="0"/>
          </a:p>
        </p:txBody>
      </p:sp>
      <p:sp>
        <p:nvSpPr>
          <p:cNvPr id="18" name="Shape 16"/>
          <p:cNvSpPr/>
          <p:nvPr/>
        </p:nvSpPr>
        <p:spPr>
          <a:xfrm>
            <a:off x="7114032"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9" name="Text 17"/>
          <p:cNvSpPr/>
          <p:nvPr/>
        </p:nvSpPr>
        <p:spPr>
          <a:xfrm>
            <a:off x="7114032"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Sun</a:t>
            </a:r>
            <a:endParaRPr lang="en-US" sz="900" dirty="0"/>
          </a:p>
        </p:txBody>
      </p:sp>
      <p:sp>
        <p:nvSpPr>
          <p:cNvPr id="20" name="Text 18"/>
          <p:cNvSpPr/>
          <p:nvPr/>
        </p:nvSpPr>
        <p:spPr>
          <a:xfrm>
            <a:off x="320040" y="1143000"/>
            <a:ext cx="932688" cy="310896"/>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G1 (6)</a:t>
            </a:r>
            <a:endParaRPr lang="en-US" sz="900" dirty="0"/>
          </a:p>
        </p:txBody>
      </p:sp>
      <p:sp>
        <p:nvSpPr>
          <p:cNvPr id="21" name="Shape 19"/>
          <p:cNvSpPr/>
          <p:nvPr/>
        </p:nvSpPr>
        <p:spPr>
          <a:xfrm>
            <a:off x="1298448"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2" name="Text 20"/>
          <p:cNvSpPr/>
          <p:nvPr/>
        </p:nvSpPr>
        <p:spPr>
          <a:xfrm>
            <a:off x="1298448"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23" name="Shape 21"/>
          <p:cNvSpPr/>
          <p:nvPr/>
        </p:nvSpPr>
        <p:spPr>
          <a:xfrm>
            <a:off x="2267712"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4" name="Text 22"/>
          <p:cNvSpPr/>
          <p:nvPr/>
        </p:nvSpPr>
        <p:spPr>
          <a:xfrm>
            <a:off x="2267712"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25" name="Shape 23"/>
          <p:cNvSpPr/>
          <p:nvPr/>
        </p:nvSpPr>
        <p:spPr>
          <a:xfrm>
            <a:off x="3236976"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6" name="Text 24"/>
          <p:cNvSpPr/>
          <p:nvPr/>
        </p:nvSpPr>
        <p:spPr>
          <a:xfrm>
            <a:off x="3236976"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27" name="Shape 25"/>
          <p:cNvSpPr/>
          <p:nvPr/>
        </p:nvSpPr>
        <p:spPr>
          <a:xfrm>
            <a:off x="4206240" y="1143000"/>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28" name="Text 26"/>
          <p:cNvSpPr/>
          <p:nvPr/>
        </p:nvSpPr>
        <p:spPr>
          <a:xfrm>
            <a:off x="4206240" y="1143000"/>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29" name="Shape 27"/>
          <p:cNvSpPr/>
          <p:nvPr/>
        </p:nvSpPr>
        <p:spPr>
          <a:xfrm>
            <a:off x="5175504" y="1143000"/>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30" name="Text 28"/>
          <p:cNvSpPr/>
          <p:nvPr/>
        </p:nvSpPr>
        <p:spPr>
          <a:xfrm>
            <a:off x="5175504" y="1143000"/>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1" name="Shape 29"/>
          <p:cNvSpPr/>
          <p:nvPr/>
        </p:nvSpPr>
        <p:spPr>
          <a:xfrm>
            <a:off x="6144768" y="1143000"/>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32" name="Text 30"/>
          <p:cNvSpPr/>
          <p:nvPr/>
        </p:nvSpPr>
        <p:spPr>
          <a:xfrm>
            <a:off x="6144768" y="1143000"/>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3" name="Shape 31"/>
          <p:cNvSpPr/>
          <p:nvPr/>
        </p:nvSpPr>
        <p:spPr>
          <a:xfrm>
            <a:off x="7114032" y="1143000"/>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34" name="Text 32"/>
          <p:cNvSpPr/>
          <p:nvPr/>
        </p:nvSpPr>
        <p:spPr>
          <a:xfrm>
            <a:off x="7114032" y="1143000"/>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5" name="Text 33"/>
          <p:cNvSpPr/>
          <p:nvPr/>
        </p:nvSpPr>
        <p:spPr>
          <a:xfrm>
            <a:off x="320040" y="1490472"/>
            <a:ext cx="932688" cy="310896"/>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G2 (6)</a:t>
            </a:r>
            <a:endParaRPr lang="en-US" sz="900" dirty="0"/>
          </a:p>
        </p:txBody>
      </p:sp>
      <p:sp>
        <p:nvSpPr>
          <p:cNvPr id="36" name="Shape 34"/>
          <p:cNvSpPr/>
          <p:nvPr/>
        </p:nvSpPr>
        <p:spPr>
          <a:xfrm>
            <a:off x="1298448" y="1490472"/>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37" name="Text 35"/>
          <p:cNvSpPr/>
          <p:nvPr/>
        </p:nvSpPr>
        <p:spPr>
          <a:xfrm>
            <a:off x="1298448" y="1490472"/>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8" name="Shape 36"/>
          <p:cNvSpPr/>
          <p:nvPr/>
        </p:nvSpPr>
        <p:spPr>
          <a:xfrm>
            <a:off x="2267712" y="1490472"/>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39" name="Text 37"/>
          <p:cNvSpPr/>
          <p:nvPr/>
        </p:nvSpPr>
        <p:spPr>
          <a:xfrm>
            <a:off x="2267712" y="1490472"/>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40" name="Shape 38"/>
          <p:cNvSpPr/>
          <p:nvPr/>
        </p:nvSpPr>
        <p:spPr>
          <a:xfrm>
            <a:off x="3236976" y="1490472"/>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41" name="Text 39"/>
          <p:cNvSpPr/>
          <p:nvPr/>
        </p:nvSpPr>
        <p:spPr>
          <a:xfrm>
            <a:off x="3236976" y="1490472"/>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42" name="Shape 40"/>
          <p:cNvSpPr/>
          <p:nvPr/>
        </p:nvSpPr>
        <p:spPr>
          <a:xfrm>
            <a:off x="4206240" y="1490472"/>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43" name="Text 41"/>
          <p:cNvSpPr/>
          <p:nvPr/>
        </p:nvSpPr>
        <p:spPr>
          <a:xfrm>
            <a:off x="4206240" y="1490472"/>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44" name="Shape 42"/>
          <p:cNvSpPr/>
          <p:nvPr/>
        </p:nvSpPr>
        <p:spPr>
          <a:xfrm>
            <a:off x="5175504" y="1490472"/>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45" name="Text 43"/>
          <p:cNvSpPr/>
          <p:nvPr/>
        </p:nvSpPr>
        <p:spPr>
          <a:xfrm>
            <a:off x="5175504" y="1490472"/>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46" name="Shape 44"/>
          <p:cNvSpPr/>
          <p:nvPr/>
        </p:nvSpPr>
        <p:spPr>
          <a:xfrm>
            <a:off x="6144768" y="1490472"/>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47" name="Text 45"/>
          <p:cNvSpPr/>
          <p:nvPr/>
        </p:nvSpPr>
        <p:spPr>
          <a:xfrm>
            <a:off x="6144768" y="1490472"/>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48" name="Shape 46"/>
          <p:cNvSpPr/>
          <p:nvPr/>
        </p:nvSpPr>
        <p:spPr>
          <a:xfrm>
            <a:off x="7114032" y="1490472"/>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49" name="Text 47"/>
          <p:cNvSpPr/>
          <p:nvPr/>
        </p:nvSpPr>
        <p:spPr>
          <a:xfrm>
            <a:off x="7114032" y="1490472"/>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50" name="Text 48"/>
          <p:cNvSpPr/>
          <p:nvPr/>
        </p:nvSpPr>
        <p:spPr>
          <a:xfrm>
            <a:off x="320040" y="1837944"/>
            <a:ext cx="932688" cy="310896"/>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G3 (6)</a:t>
            </a:r>
            <a:endParaRPr lang="en-US" sz="900" dirty="0"/>
          </a:p>
        </p:txBody>
      </p:sp>
      <p:sp>
        <p:nvSpPr>
          <p:cNvPr id="51" name="Shape 49"/>
          <p:cNvSpPr/>
          <p:nvPr/>
        </p:nvSpPr>
        <p:spPr>
          <a:xfrm>
            <a:off x="1298448" y="1837944"/>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52" name="Text 50"/>
          <p:cNvSpPr/>
          <p:nvPr/>
        </p:nvSpPr>
        <p:spPr>
          <a:xfrm>
            <a:off x="1298448" y="1837944"/>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53" name="Shape 51"/>
          <p:cNvSpPr/>
          <p:nvPr/>
        </p:nvSpPr>
        <p:spPr>
          <a:xfrm>
            <a:off x="2267712" y="1837944"/>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54" name="Text 52"/>
          <p:cNvSpPr/>
          <p:nvPr/>
        </p:nvSpPr>
        <p:spPr>
          <a:xfrm>
            <a:off x="2267712" y="1837944"/>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55" name="Shape 53"/>
          <p:cNvSpPr/>
          <p:nvPr/>
        </p:nvSpPr>
        <p:spPr>
          <a:xfrm>
            <a:off x="3236976" y="1837944"/>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56" name="Text 54"/>
          <p:cNvSpPr/>
          <p:nvPr/>
        </p:nvSpPr>
        <p:spPr>
          <a:xfrm>
            <a:off x="3236976" y="1837944"/>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57" name="Shape 55"/>
          <p:cNvSpPr/>
          <p:nvPr/>
        </p:nvSpPr>
        <p:spPr>
          <a:xfrm>
            <a:off x="4206240" y="1837944"/>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58" name="Text 56"/>
          <p:cNvSpPr/>
          <p:nvPr/>
        </p:nvSpPr>
        <p:spPr>
          <a:xfrm>
            <a:off x="4206240" y="1837944"/>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59" name="Shape 57"/>
          <p:cNvSpPr/>
          <p:nvPr/>
        </p:nvSpPr>
        <p:spPr>
          <a:xfrm>
            <a:off x="5175504" y="1837944"/>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60" name="Text 58"/>
          <p:cNvSpPr/>
          <p:nvPr/>
        </p:nvSpPr>
        <p:spPr>
          <a:xfrm>
            <a:off x="5175504" y="1837944"/>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61" name="Shape 59"/>
          <p:cNvSpPr/>
          <p:nvPr/>
        </p:nvSpPr>
        <p:spPr>
          <a:xfrm>
            <a:off x="6144768" y="1837944"/>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62" name="Text 60"/>
          <p:cNvSpPr/>
          <p:nvPr/>
        </p:nvSpPr>
        <p:spPr>
          <a:xfrm>
            <a:off x="6144768" y="1837944"/>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63" name="Shape 61"/>
          <p:cNvSpPr/>
          <p:nvPr/>
        </p:nvSpPr>
        <p:spPr>
          <a:xfrm>
            <a:off x="7114032" y="1837944"/>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64" name="Text 62"/>
          <p:cNvSpPr/>
          <p:nvPr/>
        </p:nvSpPr>
        <p:spPr>
          <a:xfrm>
            <a:off x="7114032" y="1837944"/>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65" name="Text 63"/>
          <p:cNvSpPr/>
          <p:nvPr/>
        </p:nvSpPr>
        <p:spPr>
          <a:xfrm>
            <a:off x="320040" y="2185416"/>
            <a:ext cx="932688" cy="256032"/>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staff/day</a:t>
            </a:r>
            <a:endParaRPr lang="en-US" sz="800" dirty="0"/>
          </a:p>
        </p:txBody>
      </p:sp>
      <p:sp>
        <p:nvSpPr>
          <p:cNvPr id="66" name="Text 64"/>
          <p:cNvSpPr/>
          <p:nvPr/>
        </p:nvSpPr>
        <p:spPr>
          <a:xfrm>
            <a:off x="1298448" y="2185416"/>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67" name="Text 65"/>
          <p:cNvSpPr/>
          <p:nvPr/>
        </p:nvSpPr>
        <p:spPr>
          <a:xfrm>
            <a:off x="2267712" y="2185416"/>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68" name="Text 66"/>
          <p:cNvSpPr/>
          <p:nvPr/>
        </p:nvSpPr>
        <p:spPr>
          <a:xfrm>
            <a:off x="3236976" y="2185416"/>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69" name="Text 67"/>
          <p:cNvSpPr/>
          <p:nvPr/>
        </p:nvSpPr>
        <p:spPr>
          <a:xfrm>
            <a:off x="4206240" y="2185416"/>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70" name="Text 68"/>
          <p:cNvSpPr/>
          <p:nvPr/>
        </p:nvSpPr>
        <p:spPr>
          <a:xfrm>
            <a:off x="5175504" y="2185416"/>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71" name="Text 69"/>
          <p:cNvSpPr/>
          <p:nvPr/>
        </p:nvSpPr>
        <p:spPr>
          <a:xfrm>
            <a:off x="6144768" y="2185416"/>
            <a:ext cx="932688" cy="256032"/>
          </a:xfrm>
          <a:prstGeom prst="rect">
            <a:avLst/>
          </a:prstGeom>
          <a:noFill/>
          <a:ln/>
        </p:spPr>
        <p:txBody>
          <a:bodyPr wrap="square" rtlCol="0" anchor="ctr"/>
          <a:lstStyle/>
          <a:p>
            <a:pPr marL="0" indent="0" algn="ctr">
              <a:buNone/>
            </a:pPr>
            <a:r>
              <a:rPr lang="en-US" sz="1000" dirty="0">
                <a:solidFill>
                  <a:srgbClr val="94A3B8"/>
                </a:solidFill>
                <a:latin typeface="Arial" pitchFamily="34" charset="0"/>
                <a:ea typeface="Arial" pitchFamily="34" charset="-122"/>
                <a:cs typeface="Arial" pitchFamily="34" charset="-120"/>
              </a:rPr>
              <a:t>0</a:t>
            </a:r>
            <a:endParaRPr lang="en-US" sz="1000" dirty="0"/>
          </a:p>
        </p:txBody>
      </p:sp>
      <p:sp>
        <p:nvSpPr>
          <p:cNvPr id="72" name="Text 70"/>
          <p:cNvSpPr/>
          <p:nvPr/>
        </p:nvSpPr>
        <p:spPr>
          <a:xfrm>
            <a:off x="7114032" y="2185416"/>
            <a:ext cx="932688" cy="256032"/>
          </a:xfrm>
          <a:prstGeom prst="rect">
            <a:avLst/>
          </a:prstGeom>
          <a:noFill/>
          <a:ln/>
        </p:spPr>
        <p:txBody>
          <a:bodyPr wrap="square" rtlCol="0" anchor="ctr"/>
          <a:lstStyle/>
          <a:p>
            <a:pPr marL="0" indent="0" algn="ctr">
              <a:buNone/>
            </a:pPr>
            <a:r>
              <a:rPr lang="en-US" sz="1000" dirty="0">
                <a:solidFill>
                  <a:srgbClr val="94A3B8"/>
                </a:solidFill>
                <a:latin typeface="Arial" pitchFamily="34" charset="0"/>
                <a:ea typeface="Arial" pitchFamily="34" charset="-122"/>
                <a:cs typeface="Arial" pitchFamily="34" charset="-120"/>
              </a:rPr>
              <a:t>0</a:t>
            </a:r>
            <a:endParaRPr lang="en-US" sz="1000" dirty="0"/>
          </a:p>
        </p:txBody>
      </p:sp>
      <p:sp>
        <p:nvSpPr>
          <p:cNvPr id="73" name="Shape 71"/>
          <p:cNvSpPr/>
          <p:nvPr/>
        </p:nvSpPr>
        <p:spPr>
          <a:xfrm>
            <a:off x="365760" y="2532888"/>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74" name="Text 72"/>
          <p:cNvSpPr/>
          <p:nvPr/>
        </p:nvSpPr>
        <p:spPr>
          <a:xfrm>
            <a:off x="365760" y="2587752"/>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18</a:t>
            </a:r>
            <a:endParaRPr lang="en-US" sz="1800" dirty="0"/>
          </a:p>
        </p:txBody>
      </p:sp>
      <p:sp>
        <p:nvSpPr>
          <p:cNvPr id="75" name="Text 73"/>
          <p:cNvSpPr/>
          <p:nvPr/>
        </p:nvSpPr>
        <p:spPr>
          <a:xfrm>
            <a:off x="365760" y="2953512"/>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employees (+6)</a:t>
            </a:r>
            <a:endParaRPr lang="en-US" sz="900" dirty="0"/>
          </a:p>
        </p:txBody>
      </p:sp>
      <p:sp>
        <p:nvSpPr>
          <p:cNvPr id="76" name="Shape 74"/>
          <p:cNvSpPr/>
          <p:nvPr/>
        </p:nvSpPr>
        <p:spPr>
          <a:xfrm>
            <a:off x="1767840" y="2532888"/>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77" name="Text 75"/>
          <p:cNvSpPr/>
          <p:nvPr/>
        </p:nvSpPr>
        <p:spPr>
          <a:xfrm>
            <a:off x="1767840" y="2587752"/>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60</a:t>
            </a:r>
            <a:endParaRPr lang="en-US" sz="1800" dirty="0"/>
          </a:p>
        </p:txBody>
      </p:sp>
      <p:sp>
        <p:nvSpPr>
          <p:cNvPr id="78" name="Text 76"/>
          <p:cNvSpPr/>
          <p:nvPr/>
        </p:nvSpPr>
        <p:spPr>
          <a:xfrm>
            <a:off x="1767840" y="2953512"/>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prod hrs/week</a:t>
            </a:r>
            <a:endParaRPr lang="en-US" sz="900" dirty="0"/>
          </a:p>
        </p:txBody>
      </p:sp>
      <p:sp>
        <p:nvSpPr>
          <p:cNvPr id="79" name="Shape 77"/>
          <p:cNvSpPr/>
          <p:nvPr/>
        </p:nvSpPr>
        <p:spPr>
          <a:xfrm>
            <a:off x="3169920" y="2532888"/>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80" name="Text 78"/>
          <p:cNvSpPr/>
          <p:nvPr/>
        </p:nvSpPr>
        <p:spPr>
          <a:xfrm>
            <a:off x="3169920" y="2587752"/>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40 avg</a:t>
            </a:r>
            <a:endParaRPr lang="en-US" sz="1800" dirty="0"/>
          </a:p>
        </p:txBody>
      </p:sp>
      <p:sp>
        <p:nvSpPr>
          <p:cNvPr id="81" name="Text 79"/>
          <p:cNvSpPr/>
          <p:nvPr/>
        </p:nvSpPr>
        <p:spPr>
          <a:xfrm>
            <a:off x="3169920" y="2953512"/>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work hrs/person</a:t>
            </a:r>
            <a:endParaRPr lang="en-US" sz="900" dirty="0"/>
          </a:p>
        </p:txBody>
      </p:sp>
      <p:sp>
        <p:nvSpPr>
          <p:cNvPr id="82" name="Shape 80"/>
          <p:cNvSpPr/>
          <p:nvPr/>
        </p:nvSpPr>
        <p:spPr>
          <a:xfrm>
            <a:off x="4572000" y="2532888"/>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83" name="Text 81"/>
          <p:cNvSpPr/>
          <p:nvPr/>
        </p:nvSpPr>
        <p:spPr>
          <a:xfrm>
            <a:off x="4572000" y="2587752"/>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41.3</a:t>
            </a:r>
            <a:endParaRPr lang="en-US" sz="1800" dirty="0"/>
          </a:p>
        </p:txBody>
      </p:sp>
      <p:sp>
        <p:nvSpPr>
          <p:cNvPr id="84" name="Text 82"/>
          <p:cNvSpPr/>
          <p:nvPr/>
        </p:nvSpPr>
        <p:spPr>
          <a:xfrm>
            <a:off x="4572000" y="2953512"/>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pay hrs avg</a:t>
            </a:r>
            <a:endParaRPr lang="en-US" sz="900" dirty="0"/>
          </a:p>
        </p:txBody>
      </p:sp>
      <p:sp>
        <p:nvSpPr>
          <p:cNvPr id="85" name="Shape 83"/>
          <p:cNvSpPr/>
          <p:nvPr/>
        </p:nvSpPr>
        <p:spPr>
          <a:xfrm>
            <a:off x="5974080" y="2532888"/>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86" name="Text 84"/>
          <p:cNvSpPr/>
          <p:nvPr/>
        </p:nvSpPr>
        <p:spPr>
          <a:xfrm>
            <a:off x="5974080" y="2587752"/>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G3 only</a:t>
            </a:r>
            <a:endParaRPr lang="en-US" sz="1800" dirty="0"/>
          </a:p>
        </p:txBody>
      </p:sp>
      <p:sp>
        <p:nvSpPr>
          <p:cNvPr id="87" name="Text 85"/>
          <p:cNvSpPr/>
          <p:nvPr/>
        </p:nvSpPr>
        <p:spPr>
          <a:xfrm>
            <a:off x="5974080" y="2953512"/>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OT exposure</a:t>
            </a:r>
            <a:endParaRPr lang="en-US" sz="900" dirty="0"/>
          </a:p>
        </p:txBody>
      </p:sp>
      <p:sp>
        <p:nvSpPr>
          <p:cNvPr id="88" name="Shape 86"/>
          <p:cNvSpPr/>
          <p:nvPr/>
        </p:nvSpPr>
        <p:spPr>
          <a:xfrm>
            <a:off x="7376160" y="2532888"/>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89" name="Text 87"/>
          <p:cNvSpPr/>
          <p:nvPr/>
        </p:nvSpPr>
        <p:spPr>
          <a:xfrm>
            <a:off x="7376160" y="2587752"/>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5</a:t>
            </a:r>
            <a:endParaRPr lang="en-US" sz="1800" dirty="0"/>
          </a:p>
        </p:txBody>
      </p:sp>
      <p:sp>
        <p:nvSpPr>
          <p:cNvPr id="90" name="Text 88"/>
          <p:cNvSpPr/>
          <p:nvPr/>
        </p:nvSpPr>
        <p:spPr>
          <a:xfrm>
            <a:off x="7376160" y="2953512"/>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coverage days</a:t>
            </a:r>
            <a:endParaRPr lang="en-US" sz="900" dirty="0"/>
          </a:p>
        </p:txBody>
      </p:sp>
      <p:sp>
        <p:nvSpPr>
          <p:cNvPr id="93" name="Text 91"/>
          <p:cNvSpPr/>
          <p:nvPr/>
        </p:nvSpPr>
        <p:spPr>
          <a:xfrm>
            <a:off x="365760" y="4846320"/>
            <a:ext cx="1828800" cy="201168"/>
          </a:xfrm>
          <a:prstGeom prst="rect">
            <a:avLst/>
          </a:prstGeom>
          <a:noFill/>
          <a:ln/>
        </p:spPr>
        <p:txBody>
          <a:bodyPr wrap="square" rtlCol="0" anchor="ctr"/>
          <a:lstStyle/>
          <a:p>
            <a:pPr marL="0" indent="0">
              <a:buNone/>
            </a:pPr>
            <a:r>
              <a:rPr lang="en-US" sz="900" i="1" dirty="0">
                <a:solidFill>
                  <a:srgbClr val="94A3B8"/>
                </a:solidFill>
                <a:latin typeface="Arial" pitchFamily="34" charset="0"/>
                <a:ea typeface="Arial" pitchFamily="34" charset="-122"/>
                <a:cs typeface="Arial" pitchFamily="34" charset="-120"/>
              </a:rPr>
              <a:t>← Back to chart</a:t>
            </a:r>
            <a:endParaRPr lang="en-US" sz="900" dirty="0"/>
          </a:p>
        </p:txBody>
      </p:sp>
      <p:sp>
        <p:nvSpPr>
          <p:cNvPr id="94" name="chip"/>
          <p:cNvSpPr/>
          <p:nvPr/>
        </p:nvSpPr>
        <p:spPr>
          <a:xfrm>
            <a:off x="2971800" y="3310128"/>
            <a:ext cx="384048" cy="164592"/>
          </a:xfrm>
          <a:prstGeom prst="roundRect">
            <a:avLst>
              <a:gd name="adj" fmla="val 25000"/>
            </a:avLst>
          </a:prstGeom>
          <a:solidFill>
            <a:srgbClr val="1D6A72"/>
          </a:solidFill>
          <a:ln>
            <a:noFill/>
          </a:ln>
        </p:spPr>
        <p:txBody>
          <a:bodyPr lIns="0" tIns="0" rIns="0" bIns="0" anchor="ctr"/>
          <a:lstStyle/>
          <a:p>
            <a:pPr algn="ctr">
              <a:buNone/>
            </a:pPr>
            <a:r>
              <a:rPr lang="en-US" sz="750" b="1" dirty="0">
                <a:solidFill>
                  <a:srgbClr val="FFFFFF"/>
                </a:solidFill>
                <a:latin typeface="Arial" pitchFamily="34" charset="0"/>
              </a:rPr>
              <a:t>D12</a:t>
            </a:r>
          </a:p>
        </p:txBody>
      </p:sp>
      <p:sp>
        <p:nvSpPr>
          <p:cNvPr id="95" name="lt"/>
          <p:cNvSpPr/>
          <p:nvPr/>
        </p:nvSpPr>
        <p:spPr>
          <a:xfrm>
            <a:off x="3410712" y="3310128"/>
            <a:ext cx="1143000" cy="164592"/>
          </a:xfrm>
          <a:prstGeom prst="rect">
            <a:avLst/>
          </a:prstGeom>
        </p:spPr>
        <p:txBody>
          <a:bodyPr lIns="18000" tIns="0" rIns="0" bIns="0" anchor="ctr"/>
          <a:lstStyle/>
          <a:p>
            <a:pPr algn="l">
              <a:buNone/>
            </a:pPr>
            <a:r>
              <a:rPr lang="en-US" sz="800" dirty="0">
                <a:solidFill>
                  <a:srgbClr val="64748B"/>
                </a:solidFill>
                <a:latin typeface="Arial" pitchFamily="34" charset="0"/>
              </a:rPr>
              <a:t>6:00a – 6:00p</a:t>
            </a:r>
          </a:p>
        </p:txBody>
      </p:sp>
      <p:sp>
        <p:nvSpPr>
          <p:cNvPr id="96" name="chip"/>
          <p:cNvSpPr/>
          <p:nvPr/>
        </p:nvSpPr>
        <p:spPr>
          <a:xfrm>
            <a:off x="4572000" y="3310128"/>
            <a:ext cx="384048" cy="164592"/>
          </a:xfrm>
          <a:prstGeom prst="roundRect">
            <a:avLst>
              <a:gd name="adj" fmla="val 25000"/>
            </a:avLst>
          </a:prstGeom>
          <a:solidFill>
            <a:srgbClr val="E2E8F0"/>
          </a:solidFill>
          <a:ln w="9525">
            <a:solidFill>
              <a:srgbClr val="CBD5E1"/>
            </a:solidFill>
          </a:ln>
        </p:spPr>
        <p:txBody>
          <a:bodyPr lIns="0" tIns="0" rIns="0" bIns="0" anchor="ctr"/>
          <a:lstStyle/>
          <a:p>
            <a:pPr algn="ctr">
              <a:buNone/>
            </a:pPr>
            <a:r>
              <a:rPr lang="en-US" sz="750" b="1" dirty="0">
                <a:solidFill>
                  <a:srgbClr val="64748B"/>
                </a:solidFill>
                <a:latin typeface="Arial" pitchFamily="34" charset="0"/>
              </a:rPr>
              <a:t>off</a:t>
            </a:r>
          </a:p>
        </p:txBody>
      </p:sp>
      <p:sp>
        <p:nvSpPr>
          <p:cNvPr id="97" name="lt"/>
          <p:cNvSpPr/>
          <p:nvPr/>
        </p:nvSpPr>
        <p:spPr>
          <a:xfrm>
            <a:off x="5010912" y="3310128"/>
            <a:ext cx="1143000" cy="164592"/>
          </a:xfrm>
          <a:prstGeom prst="rect">
            <a:avLst/>
          </a:prstGeom>
        </p:spPr>
        <p:txBody>
          <a:bodyPr lIns="18000" tIns="0" rIns="0" bIns="0" anchor="ctr"/>
          <a:lstStyle/>
          <a:p>
            <a:pPr algn="l">
              <a:buNone/>
            </a:pPr>
            <a:r>
              <a:rPr lang="en-US" sz="800" dirty="0">
                <a:solidFill>
                  <a:srgbClr val="64748B"/>
                </a:solidFill>
                <a:latin typeface="Arial" pitchFamily="34" charset="0"/>
              </a:rPr>
              <a:t>not scheduled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1005840" cy="347472"/>
          </a:xfrm>
          <a:prstGeom prst="roundRect">
            <a:avLst>
              <a:gd name="adj" fmla="val 15789"/>
            </a:avLst>
          </a:prstGeom>
          <a:solidFill>
            <a:srgbClr val="E8610A"/>
          </a:solidFill>
          <a:ln w="12700">
            <a:solidFill>
              <a:srgbClr val="E8610A"/>
            </a:solidFill>
            <a:prstDash val="solid"/>
          </a:ln>
        </p:spPr>
        <p:txBody>
          <a:bodyPr/>
          <a:lstStyle/>
          <a:p>
            <a:endParaRPr lang="en-US"/>
          </a:p>
        </p:txBody>
      </p:sp>
      <p:sp>
        <p:nvSpPr>
          <p:cNvPr id="3" name="Text 1"/>
          <p:cNvSpPr/>
          <p:nvPr/>
        </p:nvSpPr>
        <p:spPr>
          <a:xfrm>
            <a:off x="365760" y="164592"/>
            <a:ext cx="10058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60 hrs coverage</a:t>
            </a:r>
            <a:endParaRPr lang="en-US" sz="1100" dirty="0"/>
          </a:p>
        </p:txBody>
      </p:sp>
      <p:sp>
        <p:nvSpPr>
          <p:cNvPr id="4" name="Text 2"/>
          <p:cNvSpPr/>
          <p:nvPr/>
        </p:nvSpPr>
        <p:spPr>
          <a:xfrm>
            <a:off x="1481328" y="164592"/>
            <a:ext cx="7315200" cy="365760"/>
          </a:xfrm>
          <a:prstGeom prst="rect">
            <a:avLst/>
          </a:prstGeom>
          <a:noFill/>
          <a:ln/>
        </p:spPr>
        <p:txBody>
          <a:bodyPr wrap="square" rtlCol="0" anchor="ctr"/>
          <a:lstStyle/>
          <a:p>
            <a:pPr marL="0" indent="0">
              <a:buNone/>
            </a:pPr>
            <a:r>
              <a:rPr lang="en-US" sz="2200" b="1" dirty="0">
                <a:solidFill>
                  <a:srgbClr val="1F4E79"/>
                </a:solidFill>
                <a:latin typeface="Cambria" pitchFamily="34" charset="0"/>
                <a:ea typeface="Cambria" pitchFamily="34" charset="-122"/>
                <a:cs typeface="Cambria" pitchFamily="34" charset="-120"/>
              </a:rPr>
              <a:t>S5 — 6-Day Staggered · 10-Hour</a:t>
            </a:r>
            <a:endParaRPr lang="en-US" sz="2200" dirty="0"/>
          </a:p>
        </p:txBody>
      </p:sp>
      <p:sp>
        <p:nvSpPr>
          <p:cNvPr id="5" name="Text 3"/>
          <p:cNvSpPr/>
          <p:nvPr/>
        </p:nvSpPr>
        <p:spPr>
          <a:xfrm>
            <a:off x="1481328" y="530352"/>
            <a:ext cx="7315200" cy="256032"/>
          </a:xfrm>
          <a:prstGeom prst="rect">
            <a:avLst/>
          </a:prstGeom>
          <a:noFill/>
          <a:ln/>
        </p:spPr>
        <p:txBody>
          <a:bodyPr wrap="square" rtlCol="0" anchor="ctr"/>
          <a:lstStyle/>
          <a:p>
            <a:pPr marL="0" indent="0">
              <a:buNone/>
            </a:pPr>
            <a:r>
              <a:rPr lang="en-US" sz="1200" i="1" dirty="0">
                <a:solidFill>
                  <a:srgbClr val="64748B"/>
                </a:solidFill>
                <a:latin typeface="Arial" pitchFamily="34" charset="0"/>
                <a:ea typeface="Arial" pitchFamily="34" charset="-122"/>
                <a:cs typeface="Arial" pitchFamily="34" charset="-120"/>
              </a:rPr>
              <a:t>3 subcrews, Mon–Sat</a:t>
            </a:r>
            <a:endParaRPr lang="en-US" sz="1200" dirty="0"/>
          </a:p>
        </p:txBody>
      </p:sp>
      <p:sp>
        <p:nvSpPr>
          <p:cNvPr id="6" name="Shape 4"/>
          <p:cNvSpPr/>
          <p:nvPr/>
        </p:nvSpPr>
        <p:spPr>
          <a:xfrm>
            <a:off x="1298448"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7" name="Text 5"/>
          <p:cNvSpPr/>
          <p:nvPr/>
        </p:nvSpPr>
        <p:spPr>
          <a:xfrm>
            <a:off x="1298448"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Mon</a:t>
            </a:r>
            <a:endParaRPr lang="en-US" sz="900" dirty="0"/>
          </a:p>
        </p:txBody>
      </p:sp>
      <p:sp>
        <p:nvSpPr>
          <p:cNvPr id="8" name="Shape 6"/>
          <p:cNvSpPr/>
          <p:nvPr/>
        </p:nvSpPr>
        <p:spPr>
          <a:xfrm>
            <a:off x="2267712"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9" name="Text 7"/>
          <p:cNvSpPr/>
          <p:nvPr/>
        </p:nvSpPr>
        <p:spPr>
          <a:xfrm>
            <a:off x="2267712"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Tue</a:t>
            </a:r>
            <a:endParaRPr lang="en-US" sz="900" dirty="0"/>
          </a:p>
        </p:txBody>
      </p:sp>
      <p:sp>
        <p:nvSpPr>
          <p:cNvPr id="10" name="Shape 8"/>
          <p:cNvSpPr/>
          <p:nvPr/>
        </p:nvSpPr>
        <p:spPr>
          <a:xfrm>
            <a:off x="3236976"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1" name="Text 9"/>
          <p:cNvSpPr/>
          <p:nvPr/>
        </p:nvSpPr>
        <p:spPr>
          <a:xfrm>
            <a:off x="3236976"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Wed</a:t>
            </a:r>
            <a:endParaRPr lang="en-US" sz="900" dirty="0"/>
          </a:p>
        </p:txBody>
      </p:sp>
      <p:sp>
        <p:nvSpPr>
          <p:cNvPr id="12" name="Shape 10"/>
          <p:cNvSpPr/>
          <p:nvPr/>
        </p:nvSpPr>
        <p:spPr>
          <a:xfrm>
            <a:off x="4206240"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3" name="Text 11"/>
          <p:cNvSpPr/>
          <p:nvPr/>
        </p:nvSpPr>
        <p:spPr>
          <a:xfrm>
            <a:off x="4206240"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Thu</a:t>
            </a:r>
            <a:endParaRPr lang="en-US" sz="900" dirty="0"/>
          </a:p>
        </p:txBody>
      </p:sp>
      <p:sp>
        <p:nvSpPr>
          <p:cNvPr id="14" name="Shape 12"/>
          <p:cNvSpPr/>
          <p:nvPr/>
        </p:nvSpPr>
        <p:spPr>
          <a:xfrm>
            <a:off x="5175504"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5" name="Text 13"/>
          <p:cNvSpPr/>
          <p:nvPr/>
        </p:nvSpPr>
        <p:spPr>
          <a:xfrm>
            <a:off x="5175504"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Fri</a:t>
            </a:r>
            <a:endParaRPr lang="en-US" sz="900" dirty="0"/>
          </a:p>
        </p:txBody>
      </p:sp>
      <p:sp>
        <p:nvSpPr>
          <p:cNvPr id="16" name="Shape 14"/>
          <p:cNvSpPr/>
          <p:nvPr/>
        </p:nvSpPr>
        <p:spPr>
          <a:xfrm>
            <a:off x="6144768"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7" name="Text 15"/>
          <p:cNvSpPr/>
          <p:nvPr/>
        </p:nvSpPr>
        <p:spPr>
          <a:xfrm>
            <a:off x="6144768"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Sat</a:t>
            </a:r>
            <a:endParaRPr lang="en-US" sz="900" dirty="0"/>
          </a:p>
        </p:txBody>
      </p:sp>
      <p:sp>
        <p:nvSpPr>
          <p:cNvPr id="18" name="Shape 16"/>
          <p:cNvSpPr/>
          <p:nvPr/>
        </p:nvSpPr>
        <p:spPr>
          <a:xfrm>
            <a:off x="7114032"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9" name="Text 17"/>
          <p:cNvSpPr/>
          <p:nvPr/>
        </p:nvSpPr>
        <p:spPr>
          <a:xfrm>
            <a:off x="7114032"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Sun</a:t>
            </a:r>
            <a:endParaRPr lang="en-US" sz="900" dirty="0"/>
          </a:p>
        </p:txBody>
      </p:sp>
      <p:sp>
        <p:nvSpPr>
          <p:cNvPr id="20" name="Text 18"/>
          <p:cNvSpPr/>
          <p:nvPr/>
        </p:nvSpPr>
        <p:spPr>
          <a:xfrm>
            <a:off x="320040" y="1143000"/>
            <a:ext cx="932688" cy="310896"/>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G1 (6)</a:t>
            </a:r>
            <a:endParaRPr lang="en-US" sz="900" dirty="0"/>
          </a:p>
        </p:txBody>
      </p:sp>
      <p:sp>
        <p:nvSpPr>
          <p:cNvPr id="21" name="Shape 19"/>
          <p:cNvSpPr/>
          <p:nvPr/>
        </p:nvSpPr>
        <p:spPr>
          <a:xfrm>
            <a:off x="1298448"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2" name="Text 20"/>
          <p:cNvSpPr/>
          <p:nvPr/>
        </p:nvSpPr>
        <p:spPr>
          <a:xfrm>
            <a:off x="1298448"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23" name="Shape 21"/>
          <p:cNvSpPr/>
          <p:nvPr/>
        </p:nvSpPr>
        <p:spPr>
          <a:xfrm>
            <a:off x="2267712"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4" name="Text 22"/>
          <p:cNvSpPr/>
          <p:nvPr/>
        </p:nvSpPr>
        <p:spPr>
          <a:xfrm>
            <a:off x="2267712"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25" name="Shape 23"/>
          <p:cNvSpPr/>
          <p:nvPr/>
        </p:nvSpPr>
        <p:spPr>
          <a:xfrm>
            <a:off x="3236976"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6" name="Text 24"/>
          <p:cNvSpPr/>
          <p:nvPr/>
        </p:nvSpPr>
        <p:spPr>
          <a:xfrm>
            <a:off x="3236976"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27" name="Shape 25"/>
          <p:cNvSpPr/>
          <p:nvPr/>
        </p:nvSpPr>
        <p:spPr>
          <a:xfrm>
            <a:off x="4206240"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8" name="Text 26"/>
          <p:cNvSpPr/>
          <p:nvPr/>
        </p:nvSpPr>
        <p:spPr>
          <a:xfrm>
            <a:off x="4206240"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29" name="Shape 27"/>
          <p:cNvSpPr/>
          <p:nvPr/>
        </p:nvSpPr>
        <p:spPr>
          <a:xfrm>
            <a:off x="5175504" y="1143000"/>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30" name="Text 28"/>
          <p:cNvSpPr/>
          <p:nvPr/>
        </p:nvSpPr>
        <p:spPr>
          <a:xfrm>
            <a:off x="5175504" y="1143000"/>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1" name="Shape 29"/>
          <p:cNvSpPr/>
          <p:nvPr/>
        </p:nvSpPr>
        <p:spPr>
          <a:xfrm>
            <a:off x="6144768" y="1143000"/>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32" name="Text 30"/>
          <p:cNvSpPr/>
          <p:nvPr/>
        </p:nvSpPr>
        <p:spPr>
          <a:xfrm>
            <a:off x="6144768" y="1143000"/>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3" name="Shape 31"/>
          <p:cNvSpPr/>
          <p:nvPr/>
        </p:nvSpPr>
        <p:spPr>
          <a:xfrm>
            <a:off x="7114032" y="1143000"/>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34" name="Text 32"/>
          <p:cNvSpPr/>
          <p:nvPr/>
        </p:nvSpPr>
        <p:spPr>
          <a:xfrm>
            <a:off x="7114032" y="1143000"/>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5" name="Text 33"/>
          <p:cNvSpPr/>
          <p:nvPr/>
        </p:nvSpPr>
        <p:spPr>
          <a:xfrm>
            <a:off x="320040" y="1490472"/>
            <a:ext cx="932688" cy="310896"/>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G2 (6)</a:t>
            </a:r>
            <a:endParaRPr lang="en-US" sz="900" dirty="0"/>
          </a:p>
        </p:txBody>
      </p:sp>
      <p:sp>
        <p:nvSpPr>
          <p:cNvPr id="36" name="Shape 34"/>
          <p:cNvSpPr/>
          <p:nvPr/>
        </p:nvSpPr>
        <p:spPr>
          <a:xfrm>
            <a:off x="1298448" y="1490472"/>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37" name="Text 35"/>
          <p:cNvSpPr/>
          <p:nvPr/>
        </p:nvSpPr>
        <p:spPr>
          <a:xfrm>
            <a:off x="1298448" y="1490472"/>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8" name="Shape 36"/>
          <p:cNvSpPr/>
          <p:nvPr/>
        </p:nvSpPr>
        <p:spPr>
          <a:xfrm>
            <a:off x="2267712" y="1490472"/>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39" name="Text 37"/>
          <p:cNvSpPr/>
          <p:nvPr/>
        </p:nvSpPr>
        <p:spPr>
          <a:xfrm>
            <a:off x="2267712" y="1490472"/>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40" name="Shape 38"/>
          <p:cNvSpPr/>
          <p:nvPr/>
        </p:nvSpPr>
        <p:spPr>
          <a:xfrm>
            <a:off x="3236976" y="1490472"/>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41" name="Text 39"/>
          <p:cNvSpPr/>
          <p:nvPr/>
        </p:nvSpPr>
        <p:spPr>
          <a:xfrm>
            <a:off x="3236976" y="1490472"/>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42" name="Shape 40"/>
          <p:cNvSpPr/>
          <p:nvPr/>
        </p:nvSpPr>
        <p:spPr>
          <a:xfrm>
            <a:off x="4206240" y="1490472"/>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43" name="Text 41"/>
          <p:cNvSpPr/>
          <p:nvPr/>
        </p:nvSpPr>
        <p:spPr>
          <a:xfrm>
            <a:off x="4206240" y="1490472"/>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44" name="Shape 42"/>
          <p:cNvSpPr/>
          <p:nvPr/>
        </p:nvSpPr>
        <p:spPr>
          <a:xfrm>
            <a:off x="5175504" y="1490472"/>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45" name="Text 43"/>
          <p:cNvSpPr/>
          <p:nvPr/>
        </p:nvSpPr>
        <p:spPr>
          <a:xfrm>
            <a:off x="5175504" y="1490472"/>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46" name="Shape 44"/>
          <p:cNvSpPr/>
          <p:nvPr/>
        </p:nvSpPr>
        <p:spPr>
          <a:xfrm>
            <a:off x="6144768" y="1490472"/>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47" name="Text 45"/>
          <p:cNvSpPr/>
          <p:nvPr/>
        </p:nvSpPr>
        <p:spPr>
          <a:xfrm>
            <a:off x="6144768" y="1490472"/>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48" name="Shape 46"/>
          <p:cNvSpPr/>
          <p:nvPr/>
        </p:nvSpPr>
        <p:spPr>
          <a:xfrm>
            <a:off x="7114032" y="1490472"/>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49" name="Text 47"/>
          <p:cNvSpPr/>
          <p:nvPr/>
        </p:nvSpPr>
        <p:spPr>
          <a:xfrm>
            <a:off x="7114032" y="1490472"/>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50" name="Text 48"/>
          <p:cNvSpPr/>
          <p:nvPr/>
        </p:nvSpPr>
        <p:spPr>
          <a:xfrm>
            <a:off x="320040" y="1837944"/>
            <a:ext cx="932688" cy="310896"/>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G3 (6)</a:t>
            </a:r>
            <a:endParaRPr lang="en-US" sz="900" dirty="0"/>
          </a:p>
        </p:txBody>
      </p:sp>
      <p:sp>
        <p:nvSpPr>
          <p:cNvPr id="51" name="Shape 49"/>
          <p:cNvSpPr/>
          <p:nvPr/>
        </p:nvSpPr>
        <p:spPr>
          <a:xfrm>
            <a:off x="1298448" y="1837944"/>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52" name="Text 50"/>
          <p:cNvSpPr/>
          <p:nvPr/>
        </p:nvSpPr>
        <p:spPr>
          <a:xfrm>
            <a:off x="1298448" y="1837944"/>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53" name="Shape 51"/>
          <p:cNvSpPr/>
          <p:nvPr/>
        </p:nvSpPr>
        <p:spPr>
          <a:xfrm>
            <a:off x="2267712" y="1837944"/>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54" name="Text 52"/>
          <p:cNvSpPr/>
          <p:nvPr/>
        </p:nvSpPr>
        <p:spPr>
          <a:xfrm>
            <a:off x="2267712" y="1837944"/>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55" name="Shape 53"/>
          <p:cNvSpPr/>
          <p:nvPr/>
        </p:nvSpPr>
        <p:spPr>
          <a:xfrm>
            <a:off x="3236976" y="1837944"/>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56" name="Text 54"/>
          <p:cNvSpPr/>
          <p:nvPr/>
        </p:nvSpPr>
        <p:spPr>
          <a:xfrm>
            <a:off x="3236976" y="1837944"/>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57" name="Shape 55"/>
          <p:cNvSpPr/>
          <p:nvPr/>
        </p:nvSpPr>
        <p:spPr>
          <a:xfrm>
            <a:off x="4206240" y="1837944"/>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58" name="Text 56"/>
          <p:cNvSpPr/>
          <p:nvPr/>
        </p:nvSpPr>
        <p:spPr>
          <a:xfrm>
            <a:off x="4206240" y="1837944"/>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59" name="Shape 57"/>
          <p:cNvSpPr/>
          <p:nvPr/>
        </p:nvSpPr>
        <p:spPr>
          <a:xfrm>
            <a:off x="5175504" y="1837944"/>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60" name="Text 58"/>
          <p:cNvSpPr/>
          <p:nvPr/>
        </p:nvSpPr>
        <p:spPr>
          <a:xfrm>
            <a:off x="5175504" y="1837944"/>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61" name="Shape 59"/>
          <p:cNvSpPr/>
          <p:nvPr/>
        </p:nvSpPr>
        <p:spPr>
          <a:xfrm>
            <a:off x="6144768" y="1837944"/>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62" name="Text 60"/>
          <p:cNvSpPr/>
          <p:nvPr/>
        </p:nvSpPr>
        <p:spPr>
          <a:xfrm>
            <a:off x="6144768" y="1837944"/>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D10</a:t>
            </a:r>
            <a:endParaRPr lang="en-US" sz="1000" dirty="0"/>
          </a:p>
        </p:txBody>
      </p:sp>
      <p:sp>
        <p:nvSpPr>
          <p:cNvPr id="63" name="Shape 61"/>
          <p:cNvSpPr/>
          <p:nvPr/>
        </p:nvSpPr>
        <p:spPr>
          <a:xfrm>
            <a:off x="7114032" y="1837944"/>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64" name="Text 62"/>
          <p:cNvSpPr/>
          <p:nvPr/>
        </p:nvSpPr>
        <p:spPr>
          <a:xfrm>
            <a:off x="7114032" y="1837944"/>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65" name="Text 63"/>
          <p:cNvSpPr/>
          <p:nvPr/>
        </p:nvSpPr>
        <p:spPr>
          <a:xfrm>
            <a:off x="320040" y="2185416"/>
            <a:ext cx="932688" cy="256032"/>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staff/day</a:t>
            </a:r>
            <a:endParaRPr lang="en-US" sz="800" dirty="0"/>
          </a:p>
        </p:txBody>
      </p:sp>
      <p:sp>
        <p:nvSpPr>
          <p:cNvPr id="66" name="Text 64"/>
          <p:cNvSpPr/>
          <p:nvPr/>
        </p:nvSpPr>
        <p:spPr>
          <a:xfrm>
            <a:off x="1298448" y="2185416"/>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67" name="Text 65"/>
          <p:cNvSpPr/>
          <p:nvPr/>
        </p:nvSpPr>
        <p:spPr>
          <a:xfrm>
            <a:off x="2267712" y="2185416"/>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68" name="Text 66"/>
          <p:cNvSpPr/>
          <p:nvPr/>
        </p:nvSpPr>
        <p:spPr>
          <a:xfrm>
            <a:off x="3236976" y="2185416"/>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69" name="Text 67"/>
          <p:cNvSpPr/>
          <p:nvPr/>
        </p:nvSpPr>
        <p:spPr>
          <a:xfrm>
            <a:off x="4206240" y="2185416"/>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70" name="Text 68"/>
          <p:cNvSpPr/>
          <p:nvPr/>
        </p:nvSpPr>
        <p:spPr>
          <a:xfrm>
            <a:off x="5175504" y="2185416"/>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71" name="Text 69"/>
          <p:cNvSpPr/>
          <p:nvPr/>
        </p:nvSpPr>
        <p:spPr>
          <a:xfrm>
            <a:off x="6144768" y="2185416"/>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72" name="Text 70"/>
          <p:cNvSpPr/>
          <p:nvPr/>
        </p:nvSpPr>
        <p:spPr>
          <a:xfrm>
            <a:off x="7114032" y="2185416"/>
            <a:ext cx="932688" cy="256032"/>
          </a:xfrm>
          <a:prstGeom prst="rect">
            <a:avLst/>
          </a:prstGeom>
          <a:noFill/>
          <a:ln/>
        </p:spPr>
        <p:txBody>
          <a:bodyPr wrap="square" rtlCol="0" anchor="ctr"/>
          <a:lstStyle/>
          <a:p>
            <a:pPr marL="0" indent="0" algn="ctr">
              <a:buNone/>
            </a:pPr>
            <a:r>
              <a:rPr lang="en-US" sz="1000" dirty="0">
                <a:solidFill>
                  <a:srgbClr val="94A3B8"/>
                </a:solidFill>
                <a:latin typeface="Arial" pitchFamily="34" charset="0"/>
                <a:ea typeface="Arial" pitchFamily="34" charset="-122"/>
                <a:cs typeface="Arial" pitchFamily="34" charset="-120"/>
              </a:rPr>
              <a:t>0</a:t>
            </a:r>
            <a:endParaRPr lang="en-US" sz="1000" dirty="0"/>
          </a:p>
        </p:txBody>
      </p:sp>
      <p:sp>
        <p:nvSpPr>
          <p:cNvPr id="73" name="Shape 71"/>
          <p:cNvSpPr/>
          <p:nvPr/>
        </p:nvSpPr>
        <p:spPr>
          <a:xfrm>
            <a:off x="365760" y="2532888"/>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74" name="Text 72"/>
          <p:cNvSpPr/>
          <p:nvPr/>
        </p:nvSpPr>
        <p:spPr>
          <a:xfrm>
            <a:off x="365760" y="2587752"/>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18</a:t>
            </a:r>
            <a:endParaRPr lang="en-US" sz="1800" dirty="0"/>
          </a:p>
        </p:txBody>
      </p:sp>
      <p:sp>
        <p:nvSpPr>
          <p:cNvPr id="75" name="Text 73"/>
          <p:cNvSpPr/>
          <p:nvPr/>
        </p:nvSpPr>
        <p:spPr>
          <a:xfrm>
            <a:off x="365760" y="2953512"/>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employees (+6)</a:t>
            </a:r>
            <a:endParaRPr lang="en-US" sz="900" dirty="0"/>
          </a:p>
        </p:txBody>
      </p:sp>
      <p:sp>
        <p:nvSpPr>
          <p:cNvPr id="76" name="Shape 74"/>
          <p:cNvSpPr/>
          <p:nvPr/>
        </p:nvSpPr>
        <p:spPr>
          <a:xfrm>
            <a:off x="1767840" y="2532888"/>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77" name="Text 75"/>
          <p:cNvSpPr/>
          <p:nvPr/>
        </p:nvSpPr>
        <p:spPr>
          <a:xfrm>
            <a:off x="1767840" y="2587752"/>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60</a:t>
            </a:r>
            <a:endParaRPr lang="en-US" sz="1800" dirty="0"/>
          </a:p>
        </p:txBody>
      </p:sp>
      <p:sp>
        <p:nvSpPr>
          <p:cNvPr id="78" name="Text 76"/>
          <p:cNvSpPr/>
          <p:nvPr/>
        </p:nvSpPr>
        <p:spPr>
          <a:xfrm>
            <a:off x="1767840" y="2953512"/>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prod hrs/week</a:t>
            </a:r>
            <a:endParaRPr lang="en-US" sz="900" dirty="0"/>
          </a:p>
        </p:txBody>
      </p:sp>
      <p:sp>
        <p:nvSpPr>
          <p:cNvPr id="79" name="Shape 77"/>
          <p:cNvSpPr/>
          <p:nvPr/>
        </p:nvSpPr>
        <p:spPr>
          <a:xfrm>
            <a:off x="3169920" y="2532888"/>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80" name="Text 78"/>
          <p:cNvSpPr/>
          <p:nvPr/>
        </p:nvSpPr>
        <p:spPr>
          <a:xfrm>
            <a:off x="3169920" y="2587752"/>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40</a:t>
            </a:r>
            <a:endParaRPr lang="en-US" sz="1800" dirty="0"/>
          </a:p>
        </p:txBody>
      </p:sp>
      <p:sp>
        <p:nvSpPr>
          <p:cNvPr id="81" name="Text 79"/>
          <p:cNvSpPr/>
          <p:nvPr/>
        </p:nvSpPr>
        <p:spPr>
          <a:xfrm>
            <a:off x="3169920" y="2953512"/>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work hrs/person</a:t>
            </a:r>
            <a:endParaRPr lang="en-US" sz="900" dirty="0"/>
          </a:p>
        </p:txBody>
      </p:sp>
      <p:sp>
        <p:nvSpPr>
          <p:cNvPr id="82" name="Shape 80"/>
          <p:cNvSpPr/>
          <p:nvPr/>
        </p:nvSpPr>
        <p:spPr>
          <a:xfrm>
            <a:off x="4572000" y="2532888"/>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83" name="Text 81"/>
          <p:cNvSpPr/>
          <p:nvPr/>
        </p:nvSpPr>
        <p:spPr>
          <a:xfrm>
            <a:off x="4572000" y="2587752"/>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40</a:t>
            </a:r>
            <a:endParaRPr lang="en-US" sz="1800" dirty="0"/>
          </a:p>
        </p:txBody>
      </p:sp>
      <p:sp>
        <p:nvSpPr>
          <p:cNvPr id="84" name="Text 82"/>
          <p:cNvSpPr/>
          <p:nvPr/>
        </p:nvSpPr>
        <p:spPr>
          <a:xfrm>
            <a:off x="4572000" y="2953512"/>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pay hrs avg</a:t>
            </a:r>
            <a:endParaRPr lang="en-US" sz="900" dirty="0"/>
          </a:p>
        </p:txBody>
      </p:sp>
      <p:sp>
        <p:nvSpPr>
          <p:cNvPr id="85" name="Shape 83"/>
          <p:cNvSpPr/>
          <p:nvPr/>
        </p:nvSpPr>
        <p:spPr>
          <a:xfrm>
            <a:off x="5974080" y="2532888"/>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86" name="Text 84"/>
          <p:cNvSpPr/>
          <p:nvPr/>
        </p:nvSpPr>
        <p:spPr>
          <a:xfrm>
            <a:off x="5974080" y="2587752"/>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None</a:t>
            </a:r>
            <a:endParaRPr lang="en-US" sz="1800" dirty="0"/>
          </a:p>
        </p:txBody>
      </p:sp>
      <p:sp>
        <p:nvSpPr>
          <p:cNvPr id="87" name="Text 85"/>
          <p:cNvSpPr/>
          <p:nvPr/>
        </p:nvSpPr>
        <p:spPr>
          <a:xfrm>
            <a:off x="5974080" y="2953512"/>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overtime</a:t>
            </a:r>
            <a:endParaRPr lang="en-US" sz="900" dirty="0"/>
          </a:p>
        </p:txBody>
      </p:sp>
      <p:sp>
        <p:nvSpPr>
          <p:cNvPr id="88" name="Shape 86"/>
          <p:cNvSpPr/>
          <p:nvPr/>
        </p:nvSpPr>
        <p:spPr>
          <a:xfrm>
            <a:off x="7376160" y="2532888"/>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89" name="Text 87"/>
          <p:cNvSpPr/>
          <p:nvPr/>
        </p:nvSpPr>
        <p:spPr>
          <a:xfrm>
            <a:off x="7376160" y="2587752"/>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6</a:t>
            </a:r>
            <a:endParaRPr lang="en-US" sz="1800" dirty="0"/>
          </a:p>
        </p:txBody>
      </p:sp>
      <p:sp>
        <p:nvSpPr>
          <p:cNvPr id="90" name="Text 88"/>
          <p:cNvSpPr/>
          <p:nvPr/>
        </p:nvSpPr>
        <p:spPr>
          <a:xfrm>
            <a:off x="7376160" y="2953512"/>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coverage days</a:t>
            </a:r>
            <a:endParaRPr lang="en-US" sz="900" dirty="0"/>
          </a:p>
        </p:txBody>
      </p:sp>
      <p:sp>
        <p:nvSpPr>
          <p:cNvPr id="93" name="Text 91"/>
          <p:cNvSpPr/>
          <p:nvPr/>
        </p:nvSpPr>
        <p:spPr>
          <a:xfrm>
            <a:off x="365760" y="4846320"/>
            <a:ext cx="1828800" cy="201168"/>
          </a:xfrm>
          <a:prstGeom prst="rect">
            <a:avLst/>
          </a:prstGeom>
          <a:noFill/>
          <a:ln/>
        </p:spPr>
        <p:txBody>
          <a:bodyPr wrap="square" rtlCol="0" anchor="ctr"/>
          <a:lstStyle/>
          <a:p>
            <a:pPr marL="0" indent="0">
              <a:buNone/>
            </a:pPr>
            <a:r>
              <a:rPr lang="en-US" sz="900" i="1" dirty="0">
                <a:solidFill>
                  <a:srgbClr val="94A3B8"/>
                </a:solidFill>
                <a:latin typeface="Arial" pitchFamily="34" charset="0"/>
                <a:ea typeface="Arial" pitchFamily="34" charset="-122"/>
                <a:cs typeface="Arial" pitchFamily="34" charset="-120"/>
              </a:rPr>
              <a:t>← Back to chart</a:t>
            </a:r>
            <a:endParaRPr lang="en-US" sz="900" dirty="0"/>
          </a:p>
        </p:txBody>
      </p:sp>
      <p:sp>
        <p:nvSpPr>
          <p:cNvPr id="94" name="chip"/>
          <p:cNvSpPr/>
          <p:nvPr/>
        </p:nvSpPr>
        <p:spPr>
          <a:xfrm>
            <a:off x="2971800" y="3310128"/>
            <a:ext cx="384048" cy="164592"/>
          </a:xfrm>
          <a:prstGeom prst="roundRect">
            <a:avLst>
              <a:gd name="adj" fmla="val 25000"/>
            </a:avLst>
          </a:prstGeom>
          <a:solidFill>
            <a:srgbClr val="1D6A72"/>
          </a:solidFill>
          <a:ln>
            <a:noFill/>
          </a:ln>
        </p:spPr>
        <p:txBody>
          <a:bodyPr lIns="0" tIns="0" rIns="0" bIns="0" anchor="ctr"/>
          <a:lstStyle/>
          <a:p>
            <a:pPr algn="ctr">
              <a:buNone/>
            </a:pPr>
            <a:r>
              <a:rPr lang="en-US" sz="750" b="1" dirty="0">
                <a:solidFill>
                  <a:srgbClr val="FFFFFF"/>
                </a:solidFill>
                <a:latin typeface="Arial" pitchFamily="34" charset="0"/>
              </a:rPr>
              <a:t>D10</a:t>
            </a:r>
          </a:p>
        </p:txBody>
      </p:sp>
      <p:sp>
        <p:nvSpPr>
          <p:cNvPr id="95" name="lt"/>
          <p:cNvSpPr/>
          <p:nvPr/>
        </p:nvSpPr>
        <p:spPr>
          <a:xfrm>
            <a:off x="3410712" y="3310128"/>
            <a:ext cx="1143000" cy="164592"/>
          </a:xfrm>
          <a:prstGeom prst="rect">
            <a:avLst/>
          </a:prstGeom>
        </p:spPr>
        <p:txBody>
          <a:bodyPr lIns="18000" tIns="0" rIns="0" bIns="0" anchor="ctr"/>
          <a:lstStyle/>
          <a:p>
            <a:pPr algn="l">
              <a:buNone/>
            </a:pPr>
            <a:r>
              <a:rPr lang="en-US" sz="800" dirty="0">
                <a:solidFill>
                  <a:srgbClr val="64748B"/>
                </a:solidFill>
                <a:latin typeface="Arial" pitchFamily="34" charset="0"/>
              </a:rPr>
              <a:t>6:00a – 4:00p</a:t>
            </a:r>
          </a:p>
        </p:txBody>
      </p:sp>
      <p:sp>
        <p:nvSpPr>
          <p:cNvPr id="96" name="chip"/>
          <p:cNvSpPr/>
          <p:nvPr/>
        </p:nvSpPr>
        <p:spPr>
          <a:xfrm>
            <a:off x="4572000" y="3310128"/>
            <a:ext cx="384048" cy="164592"/>
          </a:xfrm>
          <a:prstGeom prst="roundRect">
            <a:avLst>
              <a:gd name="adj" fmla="val 25000"/>
            </a:avLst>
          </a:prstGeom>
          <a:solidFill>
            <a:srgbClr val="E2E8F0"/>
          </a:solidFill>
          <a:ln w="9525">
            <a:solidFill>
              <a:srgbClr val="CBD5E1"/>
            </a:solidFill>
          </a:ln>
        </p:spPr>
        <p:txBody>
          <a:bodyPr lIns="0" tIns="0" rIns="0" bIns="0" anchor="ctr"/>
          <a:lstStyle/>
          <a:p>
            <a:pPr algn="ctr">
              <a:buNone/>
            </a:pPr>
            <a:r>
              <a:rPr lang="en-US" sz="750" b="1" dirty="0">
                <a:solidFill>
                  <a:srgbClr val="64748B"/>
                </a:solidFill>
                <a:latin typeface="Arial" pitchFamily="34" charset="0"/>
              </a:rPr>
              <a:t>off</a:t>
            </a:r>
          </a:p>
        </p:txBody>
      </p:sp>
      <p:sp>
        <p:nvSpPr>
          <p:cNvPr id="97" name="lt"/>
          <p:cNvSpPr/>
          <p:nvPr/>
        </p:nvSpPr>
        <p:spPr>
          <a:xfrm>
            <a:off x="5010912" y="3310128"/>
            <a:ext cx="1143000" cy="164592"/>
          </a:xfrm>
          <a:prstGeom prst="rect">
            <a:avLst/>
          </a:prstGeom>
        </p:spPr>
        <p:txBody>
          <a:bodyPr lIns="18000" tIns="0" rIns="0" bIns="0" anchor="ctr"/>
          <a:lstStyle/>
          <a:p>
            <a:pPr algn="l">
              <a:buNone/>
            </a:pPr>
            <a:r>
              <a:rPr lang="en-US" sz="800" dirty="0">
                <a:solidFill>
                  <a:srgbClr val="64748B"/>
                </a:solidFill>
                <a:latin typeface="Arial" pitchFamily="34" charset="0"/>
              </a:rPr>
              <a:t>not scheduled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1005840" cy="347472"/>
          </a:xfrm>
          <a:prstGeom prst="roundRect">
            <a:avLst>
              <a:gd name="adj" fmla="val 15789"/>
            </a:avLst>
          </a:prstGeom>
          <a:solidFill>
            <a:srgbClr val="E8610A"/>
          </a:solidFill>
          <a:ln w="12700">
            <a:solidFill>
              <a:srgbClr val="E8610A"/>
            </a:solidFill>
            <a:prstDash val="solid"/>
          </a:ln>
        </p:spPr>
        <p:txBody>
          <a:bodyPr/>
          <a:lstStyle/>
          <a:p>
            <a:endParaRPr lang="en-US"/>
          </a:p>
        </p:txBody>
      </p:sp>
      <p:sp>
        <p:nvSpPr>
          <p:cNvPr id="3" name="Text 1"/>
          <p:cNvSpPr/>
          <p:nvPr/>
        </p:nvSpPr>
        <p:spPr>
          <a:xfrm>
            <a:off x="365760" y="164592"/>
            <a:ext cx="10058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72 hrs coverage</a:t>
            </a:r>
            <a:endParaRPr lang="en-US" sz="1100" dirty="0"/>
          </a:p>
        </p:txBody>
      </p:sp>
      <p:sp>
        <p:nvSpPr>
          <p:cNvPr id="4" name="Text 2"/>
          <p:cNvSpPr/>
          <p:nvPr/>
        </p:nvSpPr>
        <p:spPr>
          <a:xfrm>
            <a:off x="1481328" y="164592"/>
            <a:ext cx="7315200" cy="365760"/>
          </a:xfrm>
          <a:prstGeom prst="rect">
            <a:avLst/>
          </a:prstGeom>
          <a:noFill/>
          <a:ln/>
        </p:spPr>
        <p:txBody>
          <a:bodyPr wrap="square" rtlCol="0" anchor="ctr"/>
          <a:lstStyle/>
          <a:p>
            <a:pPr marL="0" indent="0">
              <a:buNone/>
            </a:pPr>
            <a:r>
              <a:rPr lang="en-US" sz="2200" b="1" dirty="0">
                <a:solidFill>
                  <a:srgbClr val="1F4E79"/>
                </a:solidFill>
                <a:latin typeface="Cambria" pitchFamily="34" charset="0"/>
                <a:ea typeface="Cambria" pitchFamily="34" charset="-122"/>
                <a:cs typeface="Cambria" pitchFamily="34" charset="-120"/>
              </a:rPr>
              <a:t>S6 — 6-Day · 12-Hour</a:t>
            </a:r>
            <a:endParaRPr lang="en-US" sz="2200" dirty="0"/>
          </a:p>
        </p:txBody>
      </p:sp>
      <p:sp>
        <p:nvSpPr>
          <p:cNvPr id="5" name="Text 3"/>
          <p:cNvSpPr/>
          <p:nvPr/>
        </p:nvSpPr>
        <p:spPr>
          <a:xfrm>
            <a:off x="1481328" y="530352"/>
            <a:ext cx="7315200" cy="256032"/>
          </a:xfrm>
          <a:prstGeom prst="rect">
            <a:avLst/>
          </a:prstGeom>
          <a:noFill/>
          <a:ln/>
        </p:spPr>
        <p:txBody>
          <a:bodyPr wrap="square" rtlCol="0" anchor="ctr"/>
          <a:lstStyle/>
          <a:p>
            <a:pPr marL="0" indent="0">
              <a:buNone/>
            </a:pPr>
            <a:r>
              <a:rPr lang="en-US" sz="1200" i="1" dirty="0">
                <a:solidFill>
                  <a:srgbClr val="64748B"/>
                </a:solidFill>
                <a:latin typeface="Arial" pitchFamily="34" charset="0"/>
                <a:ea typeface="Arial" pitchFamily="34" charset="-122"/>
                <a:cs typeface="Arial" pitchFamily="34" charset="-120"/>
              </a:rPr>
              <a:t>3 subcrews, Mon–Sat, maximum output</a:t>
            </a:r>
            <a:endParaRPr lang="en-US" sz="1200" dirty="0"/>
          </a:p>
        </p:txBody>
      </p:sp>
      <p:sp>
        <p:nvSpPr>
          <p:cNvPr id="6" name="Shape 4"/>
          <p:cNvSpPr/>
          <p:nvPr/>
        </p:nvSpPr>
        <p:spPr>
          <a:xfrm>
            <a:off x="1298448"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7" name="Text 5"/>
          <p:cNvSpPr/>
          <p:nvPr/>
        </p:nvSpPr>
        <p:spPr>
          <a:xfrm>
            <a:off x="1298448"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Mon</a:t>
            </a:r>
            <a:endParaRPr lang="en-US" sz="900" dirty="0"/>
          </a:p>
        </p:txBody>
      </p:sp>
      <p:sp>
        <p:nvSpPr>
          <p:cNvPr id="8" name="Shape 6"/>
          <p:cNvSpPr/>
          <p:nvPr/>
        </p:nvSpPr>
        <p:spPr>
          <a:xfrm>
            <a:off x="2267712"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9" name="Text 7"/>
          <p:cNvSpPr/>
          <p:nvPr/>
        </p:nvSpPr>
        <p:spPr>
          <a:xfrm>
            <a:off x="2267712"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Tue</a:t>
            </a:r>
            <a:endParaRPr lang="en-US" sz="900" dirty="0"/>
          </a:p>
        </p:txBody>
      </p:sp>
      <p:sp>
        <p:nvSpPr>
          <p:cNvPr id="10" name="Shape 8"/>
          <p:cNvSpPr/>
          <p:nvPr/>
        </p:nvSpPr>
        <p:spPr>
          <a:xfrm>
            <a:off x="3236976"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1" name="Text 9"/>
          <p:cNvSpPr/>
          <p:nvPr/>
        </p:nvSpPr>
        <p:spPr>
          <a:xfrm>
            <a:off x="3236976"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Wed</a:t>
            </a:r>
            <a:endParaRPr lang="en-US" sz="900" dirty="0"/>
          </a:p>
        </p:txBody>
      </p:sp>
      <p:sp>
        <p:nvSpPr>
          <p:cNvPr id="12" name="Shape 10"/>
          <p:cNvSpPr/>
          <p:nvPr/>
        </p:nvSpPr>
        <p:spPr>
          <a:xfrm>
            <a:off x="4206240"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3" name="Text 11"/>
          <p:cNvSpPr/>
          <p:nvPr/>
        </p:nvSpPr>
        <p:spPr>
          <a:xfrm>
            <a:off x="4206240"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Thu</a:t>
            </a:r>
            <a:endParaRPr lang="en-US" sz="900" dirty="0"/>
          </a:p>
        </p:txBody>
      </p:sp>
      <p:sp>
        <p:nvSpPr>
          <p:cNvPr id="14" name="Shape 12"/>
          <p:cNvSpPr/>
          <p:nvPr/>
        </p:nvSpPr>
        <p:spPr>
          <a:xfrm>
            <a:off x="5175504"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5" name="Text 13"/>
          <p:cNvSpPr/>
          <p:nvPr/>
        </p:nvSpPr>
        <p:spPr>
          <a:xfrm>
            <a:off x="5175504"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Fri</a:t>
            </a:r>
            <a:endParaRPr lang="en-US" sz="900" dirty="0"/>
          </a:p>
        </p:txBody>
      </p:sp>
      <p:sp>
        <p:nvSpPr>
          <p:cNvPr id="16" name="Shape 14"/>
          <p:cNvSpPr/>
          <p:nvPr/>
        </p:nvSpPr>
        <p:spPr>
          <a:xfrm>
            <a:off x="6144768"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7" name="Text 15"/>
          <p:cNvSpPr/>
          <p:nvPr/>
        </p:nvSpPr>
        <p:spPr>
          <a:xfrm>
            <a:off x="6144768"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Sat</a:t>
            </a:r>
            <a:endParaRPr lang="en-US" sz="900" dirty="0"/>
          </a:p>
        </p:txBody>
      </p:sp>
      <p:sp>
        <p:nvSpPr>
          <p:cNvPr id="18" name="Shape 16"/>
          <p:cNvSpPr/>
          <p:nvPr/>
        </p:nvSpPr>
        <p:spPr>
          <a:xfrm>
            <a:off x="7114032"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9" name="Text 17"/>
          <p:cNvSpPr/>
          <p:nvPr/>
        </p:nvSpPr>
        <p:spPr>
          <a:xfrm>
            <a:off x="7114032"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Sun</a:t>
            </a:r>
            <a:endParaRPr lang="en-US" sz="900" dirty="0"/>
          </a:p>
        </p:txBody>
      </p:sp>
      <p:sp>
        <p:nvSpPr>
          <p:cNvPr id="20" name="Text 18"/>
          <p:cNvSpPr/>
          <p:nvPr/>
        </p:nvSpPr>
        <p:spPr>
          <a:xfrm>
            <a:off x="320040" y="1143000"/>
            <a:ext cx="932688" cy="310896"/>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G1 (6)</a:t>
            </a:r>
            <a:endParaRPr lang="en-US" sz="900" dirty="0"/>
          </a:p>
        </p:txBody>
      </p:sp>
      <p:sp>
        <p:nvSpPr>
          <p:cNvPr id="21" name="Shape 19"/>
          <p:cNvSpPr/>
          <p:nvPr/>
        </p:nvSpPr>
        <p:spPr>
          <a:xfrm>
            <a:off x="1298448"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2" name="Text 20"/>
          <p:cNvSpPr/>
          <p:nvPr/>
        </p:nvSpPr>
        <p:spPr>
          <a:xfrm>
            <a:off x="1298448"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23" name="Shape 21"/>
          <p:cNvSpPr/>
          <p:nvPr/>
        </p:nvSpPr>
        <p:spPr>
          <a:xfrm>
            <a:off x="2267712"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4" name="Text 22"/>
          <p:cNvSpPr/>
          <p:nvPr/>
        </p:nvSpPr>
        <p:spPr>
          <a:xfrm>
            <a:off x="2267712"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25" name="Shape 23"/>
          <p:cNvSpPr/>
          <p:nvPr/>
        </p:nvSpPr>
        <p:spPr>
          <a:xfrm>
            <a:off x="3236976"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6" name="Text 24"/>
          <p:cNvSpPr/>
          <p:nvPr/>
        </p:nvSpPr>
        <p:spPr>
          <a:xfrm>
            <a:off x="3236976"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27" name="Shape 25"/>
          <p:cNvSpPr/>
          <p:nvPr/>
        </p:nvSpPr>
        <p:spPr>
          <a:xfrm>
            <a:off x="4206240"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8" name="Text 26"/>
          <p:cNvSpPr/>
          <p:nvPr/>
        </p:nvSpPr>
        <p:spPr>
          <a:xfrm>
            <a:off x="4206240"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29" name="Shape 27"/>
          <p:cNvSpPr/>
          <p:nvPr/>
        </p:nvSpPr>
        <p:spPr>
          <a:xfrm>
            <a:off x="5175504" y="1143000"/>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30" name="Text 28"/>
          <p:cNvSpPr/>
          <p:nvPr/>
        </p:nvSpPr>
        <p:spPr>
          <a:xfrm>
            <a:off x="5175504" y="1143000"/>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1" name="Shape 29"/>
          <p:cNvSpPr/>
          <p:nvPr/>
        </p:nvSpPr>
        <p:spPr>
          <a:xfrm>
            <a:off x="6144768" y="1143000"/>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32" name="Text 30"/>
          <p:cNvSpPr/>
          <p:nvPr/>
        </p:nvSpPr>
        <p:spPr>
          <a:xfrm>
            <a:off x="6144768" y="1143000"/>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3" name="Shape 31"/>
          <p:cNvSpPr/>
          <p:nvPr/>
        </p:nvSpPr>
        <p:spPr>
          <a:xfrm>
            <a:off x="7114032" y="1143000"/>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34" name="Text 32"/>
          <p:cNvSpPr/>
          <p:nvPr/>
        </p:nvSpPr>
        <p:spPr>
          <a:xfrm>
            <a:off x="7114032" y="1143000"/>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5" name="Text 33"/>
          <p:cNvSpPr/>
          <p:nvPr/>
        </p:nvSpPr>
        <p:spPr>
          <a:xfrm>
            <a:off x="320040" y="1490472"/>
            <a:ext cx="932688" cy="310896"/>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G2 (6)</a:t>
            </a:r>
            <a:endParaRPr lang="en-US" sz="900" dirty="0"/>
          </a:p>
        </p:txBody>
      </p:sp>
      <p:sp>
        <p:nvSpPr>
          <p:cNvPr id="36" name="Shape 34"/>
          <p:cNvSpPr/>
          <p:nvPr/>
        </p:nvSpPr>
        <p:spPr>
          <a:xfrm>
            <a:off x="1298448" y="1490472"/>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37" name="Text 35"/>
          <p:cNvSpPr/>
          <p:nvPr/>
        </p:nvSpPr>
        <p:spPr>
          <a:xfrm>
            <a:off x="1298448" y="1490472"/>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8" name="Shape 36"/>
          <p:cNvSpPr/>
          <p:nvPr/>
        </p:nvSpPr>
        <p:spPr>
          <a:xfrm>
            <a:off x="2267712" y="1490472"/>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39" name="Text 37"/>
          <p:cNvSpPr/>
          <p:nvPr/>
        </p:nvSpPr>
        <p:spPr>
          <a:xfrm>
            <a:off x="2267712" y="1490472"/>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40" name="Shape 38"/>
          <p:cNvSpPr/>
          <p:nvPr/>
        </p:nvSpPr>
        <p:spPr>
          <a:xfrm>
            <a:off x="3236976" y="1490472"/>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41" name="Text 39"/>
          <p:cNvSpPr/>
          <p:nvPr/>
        </p:nvSpPr>
        <p:spPr>
          <a:xfrm>
            <a:off x="3236976" y="1490472"/>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42" name="Shape 40"/>
          <p:cNvSpPr/>
          <p:nvPr/>
        </p:nvSpPr>
        <p:spPr>
          <a:xfrm>
            <a:off x="4206240" y="1490472"/>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43" name="Text 41"/>
          <p:cNvSpPr/>
          <p:nvPr/>
        </p:nvSpPr>
        <p:spPr>
          <a:xfrm>
            <a:off x="4206240" y="1490472"/>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44" name="Shape 42"/>
          <p:cNvSpPr/>
          <p:nvPr/>
        </p:nvSpPr>
        <p:spPr>
          <a:xfrm>
            <a:off x="5175504" y="1490472"/>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45" name="Text 43"/>
          <p:cNvSpPr/>
          <p:nvPr/>
        </p:nvSpPr>
        <p:spPr>
          <a:xfrm>
            <a:off x="5175504" y="1490472"/>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46" name="Shape 44"/>
          <p:cNvSpPr/>
          <p:nvPr/>
        </p:nvSpPr>
        <p:spPr>
          <a:xfrm>
            <a:off x="6144768" y="1490472"/>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47" name="Text 45"/>
          <p:cNvSpPr/>
          <p:nvPr/>
        </p:nvSpPr>
        <p:spPr>
          <a:xfrm>
            <a:off x="6144768" y="1490472"/>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48" name="Shape 46"/>
          <p:cNvSpPr/>
          <p:nvPr/>
        </p:nvSpPr>
        <p:spPr>
          <a:xfrm>
            <a:off x="7114032" y="1490472"/>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49" name="Text 47"/>
          <p:cNvSpPr/>
          <p:nvPr/>
        </p:nvSpPr>
        <p:spPr>
          <a:xfrm>
            <a:off x="7114032" y="1490472"/>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50" name="Text 48"/>
          <p:cNvSpPr/>
          <p:nvPr/>
        </p:nvSpPr>
        <p:spPr>
          <a:xfrm>
            <a:off x="320040" y="1837944"/>
            <a:ext cx="932688" cy="310896"/>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G3 (6)</a:t>
            </a:r>
            <a:endParaRPr lang="en-US" sz="900" dirty="0"/>
          </a:p>
        </p:txBody>
      </p:sp>
      <p:sp>
        <p:nvSpPr>
          <p:cNvPr id="51" name="Shape 49"/>
          <p:cNvSpPr/>
          <p:nvPr/>
        </p:nvSpPr>
        <p:spPr>
          <a:xfrm>
            <a:off x="1298448" y="1837944"/>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52" name="Text 50"/>
          <p:cNvSpPr/>
          <p:nvPr/>
        </p:nvSpPr>
        <p:spPr>
          <a:xfrm>
            <a:off x="1298448" y="1837944"/>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53" name="Shape 51"/>
          <p:cNvSpPr/>
          <p:nvPr/>
        </p:nvSpPr>
        <p:spPr>
          <a:xfrm>
            <a:off x="2267712" y="1837944"/>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54" name="Text 52"/>
          <p:cNvSpPr/>
          <p:nvPr/>
        </p:nvSpPr>
        <p:spPr>
          <a:xfrm>
            <a:off x="2267712" y="1837944"/>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55" name="Shape 53"/>
          <p:cNvSpPr/>
          <p:nvPr/>
        </p:nvSpPr>
        <p:spPr>
          <a:xfrm>
            <a:off x="3236976" y="1837944"/>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56" name="Text 54"/>
          <p:cNvSpPr/>
          <p:nvPr/>
        </p:nvSpPr>
        <p:spPr>
          <a:xfrm>
            <a:off x="3236976" y="1837944"/>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57" name="Shape 55"/>
          <p:cNvSpPr/>
          <p:nvPr/>
        </p:nvSpPr>
        <p:spPr>
          <a:xfrm>
            <a:off x="4206240" y="1837944"/>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58" name="Text 56"/>
          <p:cNvSpPr/>
          <p:nvPr/>
        </p:nvSpPr>
        <p:spPr>
          <a:xfrm>
            <a:off x="4206240" y="1837944"/>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59" name="Shape 57"/>
          <p:cNvSpPr/>
          <p:nvPr/>
        </p:nvSpPr>
        <p:spPr>
          <a:xfrm>
            <a:off x="5175504" y="1837944"/>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60" name="Text 58"/>
          <p:cNvSpPr/>
          <p:nvPr/>
        </p:nvSpPr>
        <p:spPr>
          <a:xfrm>
            <a:off x="5175504" y="1837944"/>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61" name="Shape 59"/>
          <p:cNvSpPr/>
          <p:nvPr/>
        </p:nvSpPr>
        <p:spPr>
          <a:xfrm>
            <a:off x="6144768" y="1837944"/>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62" name="Text 60"/>
          <p:cNvSpPr/>
          <p:nvPr/>
        </p:nvSpPr>
        <p:spPr>
          <a:xfrm>
            <a:off x="6144768" y="1837944"/>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63" name="Shape 61"/>
          <p:cNvSpPr/>
          <p:nvPr/>
        </p:nvSpPr>
        <p:spPr>
          <a:xfrm>
            <a:off x="7114032" y="1837944"/>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64" name="Text 62"/>
          <p:cNvSpPr/>
          <p:nvPr/>
        </p:nvSpPr>
        <p:spPr>
          <a:xfrm>
            <a:off x="7114032" y="1837944"/>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65" name="Text 63"/>
          <p:cNvSpPr/>
          <p:nvPr/>
        </p:nvSpPr>
        <p:spPr>
          <a:xfrm>
            <a:off x="320040" y="2185416"/>
            <a:ext cx="932688" cy="256032"/>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staff/day</a:t>
            </a:r>
            <a:endParaRPr lang="en-US" sz="800" dirty="0"/>
          </a:p>
        </p:txBody>
      </p:sp>
      <p:sp>
        <p:nvSpPr>
          <p:cNvPr id="66" name="Text 64"/>
          <p:cNvSpPr/>
          <p:nvPr/>
        </p:nvSpPr>
        <p:spPr>
          <a:xfrm>
            <a:off x="1298448" y="2185416"/>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67" name="Text 65"/>
          <p:cNvSpPr/>
          <p:nvPr/>
        </p:nvSpPr>
        <p:spPr>
          <a:xfrm>
            <a:off x="2267712" y="2185416"/>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68" name="Text 66"/>
          <p:cNvSpPr/>
          <p:nvPr/>
        </p:nvSpPr>
        <p:spPr>
          <a:xfrm>
            <a:off x="3236976" y="2185416"/>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69" name="Text 67"/>
          <p:cNvSpPr/>
          <p:nvPr/>
        </p:nvSpPr>
        <p:spPr>
          <a:xfrm>
            <a:off x="4206240" y="2185416"/>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70" name="Text 68"/>
          <p:cNvSpPr/>
          <p:nvPr/>
        </p:nvSpPr>
        <p:spPr>
          <a:xfrm>
            <a:off x="5175504" y="2185416"/>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71" name="Text 69"/>
          <p:cNvSpPr/>
          <p:nvPr/>
        </p:nvSpPr>
        <p:spPr>
          <a:xfrm>
            <a:off x="6144768" y="2185416"/>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72" name="Text 70"/>
          <p:cNvSpPr/>
          <p:nvPr/>
        </p:nvSpPr>
        <p:spPr>
          <a:xfrm>
            <a:off x="7114032" y="2185416"/>
            <a:ext cx="932688" cy="256032"/>
          </a:xfrm>
          <a:prstGeom prst="rect">
            <a:avLst/>
          </a:prstGeom>
          <a:noFill/>
          <a:ln/>
        </p:spPr>
        <p:txBody>
          <a:bodyPr wrap="square" rtlCol="0" anchor="ctr"/>
          <a:lstStyle/>
          <a:p>
            <a:pPr marL="0" indent="0" algn="ctr">
              <a:buNone/>
            </a:pPr>
            <a:r>
              <a:rPr lang="en-US" sz="1000" dirty="0">
                <a:solidFill>
                  <a:srgbClr val="94A3B8"/>
                </a:solidFill>
                <a:latin typeface="Arial" pitchFamily="34" charset="0"/>
                <a:ea typeface="Arial" pitchFamily="34" charset="-122"/>
                <a:cs typeface="Arial" pitchFamily="34" charset="-120"/>
              </a:rPr>
              <a:t>0</a:t>
            </a:r>
            <a:endParaRPr lang="en-US" sz="1000" dirty="0"/>
          </a:p>
        </p:txBody>
      </p:sp>
      <p:sp>
        <p:nvSpPr>
          <p:cNvPr id="73" name="Shape 71"/>
          <p:cNvSpPr/>
          <p:nvPr/>
        </p:nvSpPr>
        <p:spPr>
          <a:xfrm>
            <a:off x="365760" y="2532888"/>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74" name="Text 72"/>
          <p:cNvSpPr/>
          <p:nvPr/>
        </p:nvSpPr>
        <p:spPr>
          <a:xfrm>
            <a:off x="365760" y="2587752"/>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18</a:t>
            </a:r>
            <a:endParaRPr lang="en-US" sz="1800" dirty="0"/>
          </a:p>
        </p:txBody>
      </p:sp>
      <p:sp>
        <p:nvSpPr>
          <p:cNvPr id="75" name="Text 73"/>
          <p:cNvSpPr/>
          <p:nvPr/>
        </p:nvSpPr>
        <p:spPr>
          <a:xfrm>
            <a:off x="365760" y="2953512"/>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employees (+6)</a:t>
            </a:r>
            <a:endParaRPr lang="en-US" sz="900" dirty="0"/>
          </a:p>
        </p:txBody>
      </p:sp>
      <p:sp>
        <p:nvSpPr>
          <p:cNvPr id="76" name="Shape 74"/>
          <p:cNvSpPr/>
          <p:nvPr/>
        </p:nvSpPr>
        <p:spPr>
          <a:xfrm>
            <a:off x="1767840" y="2532888"/>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77" name="Text 75"/>
          <p:cNvSpPr/>
          <p:nvPr/>
        </p:nvSpPr>
        <p:spPr>
          <a:xfrm>
            <a:off x="1767840" y="2587752"/>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72</a:t>
            </a:r>
            <a:endParaRPr lang="en-US" sz="1800" dirty="0"/>
          </a:p>
        </p:txBody>
      </p:sp>
      <p:sp>
        <p:nvSpPr>
          <p:cNvPr id="78" name="Text 76"/>
          <p:cNvSpPr/>
          <p:nvPr/>
        </p:nvSpPr>
        <p:spPr>
          <a:xfrm>
            <a:off x="1767840" y="2953512"/>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prod hrs/week</a:t>
            </a:r>
            <a:endParaRPr lang="en-US" sz="900" dirty="0"/>
          </a:p>
        </p:txBody>
      </p:sp>
      <p:sp>
        <p:nvSpPr>
          <p:cNvPr id="79" name="Shape 77"/>
          <p:cNvSpPr/>
          <p:nvPr/>
        </p:nvSpPr>
        <p:spPr>
          <a:xfrm>
            <a:off x="3169920" y="2532888"/>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80" name="Text 78"/>
          <p:cNvSpPr/>
          <p:nvPr/>
        </p:nvSpPr>
        <p:spPr>
          <a:xfrm>
            <a:off x="3169920" y="2587752"/>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48</a:t>
            </a:r>
            <a:endParaRPr lang="en-US" sz="1800" dirty="0"/>
          </a:p>
        </p:txBody>
      </p:sp>
      <p:sp>
        <p:nvSpPr>
          <p:cNvPr id="81" name="Text 79"/>
          <p:cNvSpPr/>
          <p:nvPr/>
        </p:nvSpPr>
        <p:spPr>
          <a:xfrm>
            <a:off x="3169920" y="2953512"/>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work hrs/person</a:t>
            </a:r>
            <a:endParaRPr lang="en-US" sz="900" dirty="0"/>
          </a:p>
        </p:txBody>
      </p:sp>
      <p:sp>
        <p:nvSpPr>
          <p:cNvPr id="82" name="Shape 80"/>
          <p:cNvSpPr/>
          <p:nvPr/>
        </p:nvSpPr>
        <p:spPr>
          <a:xfrm>
            <a:off x="4572000" y="2532888"/>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83" name="Text 81"/>
          <p:cNvSpPr/>
          <p:nvPr/>
        </p:nvSpPr>
        <p:spPr>
          <a:xfrm>
            <a:off x="4572000" y="2587752"/>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52</a:t>
            </a:r>
            <a:endParaRPr lang="en-US" sz="1800" dirty="0"/>
          </a:p>
        </p:txBody>
      </p:sp>
      <p:sp>
        <p:nvSpPr>
          <p:cNvPr id="84" name="Text 82"/>
          <p:cNvSpPr/>
          <p:nvPr/>
        </p:nvSpPr>
        <p:spPr>
          <a:xfrm>
            <a:off x="4572000" y="2953512"/>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pay hrs avg</a:t>
            </a:r>
            <a:endParaRPr lang="en-US" sz="900" dirty="0"/>
          </a:p>
        </p:txBody>
      </p:sp>
      <p:sp>
        <p:nvSpPr>
          <p:cNvPr id="85" name="Shape 83"/>
          <p:cNvSpPr/>
          <p:nvPr/>
        </p:nvSpPr>
        <p:spPr>
          <a:xfrm>
            <a:off x="5974080" y="2532888"/>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86" name="Text 84"/>
          <p:cNvSpPr/>
          <p:nvPr/>
        </p:nvSpPr>
        <p:spPr>
          <a:xfrm>
            <a:off x="5974080" y="2587752"/>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8 hrs</a:t>
            </a:r>
            <a:endParaRPr lang="en-US" sz="1800" dirty="0"/>
          </a:p>
        </p:txBody>
      </p:sp>
      <p:sp>
        <p:nvSpPr>
          <p:cNvPr id="87" name="Text 85"/>
          <p:cNvSpPr/>
          <p:nvPr/>
        </p:nvSpPr>
        <p:spPr>
          <a:xfrm>
            <a:off x="5974080" y="2953512"/>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OT per person</a:t>
            </a:r>
            <a:endParaRPr lang="en-US" sz="900" dirty="0"/>
          </a:p>
        </p:txBody>
      </p:sp>
      <p:sp>
        <p:nvSpPr>
          <p:cNvPr id="88" name="Shape 86"/>
          <p:cNvSpPr/>
          <p:nvPr/>
        </p:nvSpPr>
        <p:spPr>
          <a:xfrm>
            <a:off x="7376160" y="2532888"/>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89" name="Text 87"/>
          <p:cNvSpPr/>
          <p:nvPr/>
        </p:nvSpPr>
        <p:spPr>
          <a:xfrm>
            <a:off x="7376160" y="2587752"/>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6</a:t>
            </a:r>
            <a:endParaRPr lang="en-US" sz="1800" dirty="0"/>
          </a:p>
        </p:txBody>
      </p:sp>
      <p:sp>
        <p:nvSpPr>
          <p:cNvPr id="90" name="Text 88"/>
          <p:cNvSpPr/>
          <p:nvPr/>
        </p:nvSpPr>
        <p:spPr>
          <a:xfrm>
            <a:off x="7376160" y="2953512"/>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coverage days</a:t>
            </a:r>
            <a:endParaRPr lang="en-US" sz="900" dirty="0"/>
          </a:p>
        </p:txBody>
      </p:sp>
      <p:sp>
        <p:nvSpPr>
          <p:cNvPr id="93" name="Text 91"/>
          <p:cNvSpPr/>
          <p:nvPr/>
        </p:nvSpPr>
        <p:spPr>
          <a:xfrm>
            <a:off x="365760" y="4846320"/>
            <a:ext cx="1828800" cy="201168"/>
          </a:xfrm>
          <a:prstGeom prst="rect">
            <a:avLst/>
          </a:prstGeom>
          <a:noFill/>
          <a:ln/>
        </p:spPr>
        <p:txBody>
          <a:bodyPr wrap="square" rtlCol="0" anchor="ctr"/>
          <a:lstStyle/>
          <a:p>
            <a:pPr marL="0" indent="0">
              <a:buNone/>
            </a:pPr>
            <a:r>
              <a:rPr lang="en-US" sz="900" i="1" dirty="0">
                <a:solidFill>
                  <a:srgbClr val="94A3B8"/>
                </a:solidFill>
                <a:latin typeface="Arial" pitchFamily="34" charset="0"/>
                <a:ea typeface="Arial" pitchFamily="34" charset="-122"/>
                <a:cs typeface="Arial" pitchFamily="34" charset="-120"/>
              </a:rPr>
              <a:t>← Back to chart</a:t>
            </a:r>
            <a:endParaRPr lang="en-US" sz="900" dirty="0"/>
          </a:p>
        </p:txBody>
      </p:sp>
      <p:sp>
        <p:nvSpPr>
          <p:cNvPr id="94" name="chip"/>
          <p:cNvSpPr/>
          <p:nvPr/>
        </p:nvSpPr>
        <p:spPr>
          <a:xfrm>
            <a:off x="2971800" y="3310128"/>
            <a:ext cx="384048" cy="164592"/>
          </a:xfrm>
          <a:prstGeom prst="roundRect">
            <a:avLst>
              <a:gd name="adj" fmla="val 25000"/>
            </a:avLst>
          </a:prstGeom>
          <a:solidFill>
            <a:srgbClr val="1D6A72"/>
          </a:solidFill>
          <a:ln>
            <a:noFill/>
          </a:ln>
        </p:spPr>
        <p:txBody>
          <a:bodyPr lIns="0" tIns="0" rIns="0" bIns="0" anchor="ctr"/>
          <a:lstStyle/>
          <a:p>
            <a:pPr algn="ctr">
              <a:buNone/>
            </a:pPr>
            <a:r>
              <a:rPr lang="en-US" sz="750" b="1" dirty="0">
                <a:solidFill>
                  <a:srgbClr val="FFFFFF"/>
                </a:solidFill>
                <a:latin typeface="Arial" pitchFamily="34" charset="0"/>
              </a:rPr>
              <a:t>D12</a:t>
            </a:r>
          </a:p>
        </p:txBody>
      </p:sp>
      <p:sp>
        <p:nvSpPr>
          <p:cNvPr id="95" name="lt"/>
          <p:cNvSpPr/>
          <p:nvPr/>
        </p:nvSpPr>
        <p:spPr>
          <a:xfrm>
            <a:off x="3410712" y="3310128"/>
            <a:ext cx="1143000" cy="164592"/>
          </a:xfrm>
          <a:prstGeom prst="rect">
            <a:avLst/>
          </a:prstGeom>
        </p:spPr>
        <p:txBody>
          <a:bodyPr lIns="18000" tIns="0" rIns="0" bIns="0" anchor="ctr"/>
          <a:lstStyle/>
          <a:p>
            <a:pPr algn="l">
              <a:buNone/>
            </a:pPr>
            <a:r>
              <a:rPr lang="en-US" sz="800" dirty="0">
                <a:solidFill>
                  <a:srgbClr val="64748B"/>
                </a:solidFill>
                <a:latin typeface="Arial" pitchFamily="34" charset="0"/>
              </a:rPr>
              <a:t>6:00a – 6:00p</a:t>
            </a:r>
          </a:p>
        </p:txBody>
      </p:sp>
      <p:sp>
        <p:nvSpPr>
          <p:cNvPr id="96" name="chip"/>
          <p:cNvSpPr/>
          <p:nvPr/>
        </p:nvSpPr>
        <p:spPr>
          <a:xfrm>
            <a:off x="4572000" y="3310128"/>
            <a:ext cx="384048" cy="164592"/>
          </a:xfrm>
          <a:prstGeom prst="roundRect">
            <a:avLst>
              <a:gd name="adj" fmla="val 25000"/>
            </a:avLst>
          </a:prstGeom>
          <a:solidFill>
            <a:srgbClr val="E2E8F0"/>
          </a:solidFill>
          <a:ln w="9525">
            <a:solidFill>
              <a:srgbClr val="CBD5E1"/>
            </a:solidFill>
          </a:ln>
        </p:spPr>
        <p:txBody>
          <a:bodyPr lIns="0" tIns="0" rIns="0" bIns="0" anchor="ctr"/>
          <a:lstStyle/>
          <a:p>
            <a:pPr algn="ctr">
              <a:buNone/>
            </a:pPr>
            <a:r>
              <a:rPr lang="en-US" sz="750" b="1" dirty="0">
                <a:solidFill>
                  <a:srgbClr val="64748B"/>
                </a:solidFill>
                <a:latin typeface="Arial" pitchFamily="34" charset="0"/>
              </a:rPr>
              <a:t>off</a:t>
            </a:r>
          </a:p>
        </p:txBody>
      </p:sp>
      <p:sp>
        <p:nvSpPr>
          <p:cNvPr id="97" name="lt"/>
          <p:cNvSpPr/>
          <p:nvPr/>
        </p:nvSpPr>
        <p:spPr>
          <a:xfrm>
            <a:off x="5010912" y="3310128"/>
            <a:ext cx="1143000" cy="164592"/>
          </a:xfrm>
          <a:prstGeom prst="rect">
            <a:avLst/>
          </a:prstGeom>
        </p:spPr>
        <p:txBody>
          <a:bodyPr lIns="18000" tIns="0" rIns="0" bIns="0" anchor="ctr"/>
          <a:lstStyle/>
          <a:p>
            <a:pPr algn="l">
              <a:buNone/>
            </a:pPr>
            <a:r>
              <a:rPr lang="en-US" sz="800" dirty="0">
                <a:solidFill>
                  <a:srgbClr val="64748B"/>
                </a:solidFill>
                <a:latin typeface="Arial" pitchFamily="34" charset="0"/>
              </a:rPr>
              <a:t>not scheduled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64592"/>
            <a:ext cx="1005840" cy="347472"/>
          </a:xfrm>
          <a:prstGeom prst="roundRect">
            <a:avLst>
              <a:gd name="adj" fmla="val 15789"/>
            </a:avLst>
          </a:prstGeom>
          <a:solidFill>
            <a:srgbClr val="1F4E79"/>
          </a:solidFill>
          <a:ln w="12700">
            <a:solidFill>
              <a:srgbClr val="1F4E79"/>
            </a:solidFill>
            <a:prstDash val="solid"/>
          </a:ln>
        </p:spPr>
        <p:txBody>
          <a:bodyPr/>
          <a:lstStyle/>
          <a:p>
            <a:endParaRPr lang="en-US"/>
          </a:p>
        </p:txBody>
      </p:sp>
      <p:sp>
        <p:nvSpPr>
          <p:cNvPr id="3" name="Text 1"/>
          <p:cNvSpPr/>
          <p:nvPr/>
        </p:nvSpPr>
        <p:spPr>
          <a:xfrm>
            <a:off x="365760" y="164592"/>
            <a:ext cx="10058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84 hrs coverage</a:t>
            </a:r>
            <a:endParaRPr lang="en-US" sz="1100" dirty="0"/>
          </a:p>
        </p:txBody>
      </p:sp>
      <p:sp>
        <p:nvSpPr>
          <p:cNvPr id="4" name="Text 2"/>
          <p:cNvSpPr/>
          <p:nvPr/>
        </p:nvSpPr>
        <p:spPr>
          <a:xfrm>
            <a:off x="1481328" y="164592"/>
            <a:ext cx="7315200" cy="365760"/>
          </a:xfrm>
          <a:prstGeom prst="rect">
            <a:avLst/>
          </a:prstGeom>
          <a:noFill/>
          <a:ln/>
        </p:spPr>
        <p:txBody>
          <a:bodyPr wrap="square" rtlCol="0" anchor="ctr"/>
          <a:lstStyle/>
          <a:p>
            <a:pPr marL="0" indent="0">
              <a:buNone/>
            </a:pPr>
            <a:r>
              <a:rPr lang="en-US" sz="2200" b="1" dirty="0">
                <a:solidFill>
                  <a:srgbClr val="1F4E79"/>
                </a:solidFill>
                <a:latin typeface="Cambria" pitchFamily="34" charset="0"/>
                <a:ea typeface="Cambria" pitchFamily="34" charset="-122"/>
                <a:cs typeface="Cambria" pitchFamily="34" charset="-120"/>
              </a:rPr>
              <a:t>S7 — 7-Day · 12-Hour Alternating</a:t>
            </a:r>
            <a:endParaRPr lang="en-US" sz="2200" dirty="0"/>
          </a:p>
        </p:txBody>
      </p:sp>
      <p:sp>
        <p:nvSpPr>
          <p:cNvPr id="5" name="Text 3"/>
          <p:cNvSpPr/>
          <p:nvPr/>
        </p:nvSpPr>
        <p:spPr>
          <a:xfrm>
            <a:off x="1481328" y="530352"/>
            <a:ext cx="7315200" cy="256032"/>
          </a:xfrm>
          <a:prstGeom prst="rect">
            <a:avLst/>
          </a:prstGeom>
          <a:noFill/>
          <a:ln/>
        </p:spPr>
        <p:txBody>
          <a:bodyPr wrap="square" rtlCol="0" anchor="ctr"/>
          <a:lstStyle/>
          <a:p>
            <a:pPr marL="0" indent="0">
              <a:buNone/>
            </a:pPr>
            <a:r>
              <a:rPr lang="en-US" sz="1200" i="1" dirty="0">
                <a:solidFill>
                  <a:srgbClr val="64748B"/>
                </a:solidFill>
                <a:latin typeface="Arial" pitchFamily="34" charset="0"/>
                <a:ea typeface="Arial" pitchFamily="34" charset="-122"/>
                <a:cs typeface="Arial" pitchFamily="34" charset="-120"/>
              </a:rPr>
              <a:t>2 crews — provides 7-day machine access</a:t>
            </a:r>
            <a:endParaRPr lang="en-US" sz="1200" dirty="0"/>
          </a:p>
        </p:txBody>
      </p:sp>
      <p:sp>
        <p:nvSpPr>
          <p:cNvPr id="6" name="Shape 4"/>
          <p:cNvSpPr/>
          <p:nvPr/>
        </p:nvSpPr>
        <p:spPr>
          <a:xfrm>
            <a:off x="1298448"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7" name="Text 5"/>
          <p:cNvSpPr/>
          <p:nvPr/>
        </p:nvSpPr>
        <p:spPr>
          <a:xfrm>
            <a:off x="1298448"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Mon</a:t>
            </a:r>
            <a:endParaRPr lang="en-US" sz="900" dirty="0"/>
          </a:p>
        </p:txBody>
      </p:sp>
      <p:sp>
        <p:nvSpPr>
          <p:cNvPr id="8" name="Shape 6"/>
          <p:cNvSpPr/>
          <p:nvPr/>
        </p:nvSpPr>
        <p:spPr>
          <a:xfrm>
            <a:off x="2267712"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9" name="Text 7"/>
          <p:cNvSpPr/>
          <p:nvPr/>
        </p:nvSpPr>
        <p:spPr>
          <a:xfrm>
            <a:off x="2267712"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Tue</a:t>
            </a:r>
            <a:endParaRPr lang="en-US" sz="900" dirty="0"/>
          </a:p>
        </p:txBody>
      </p:sp>
      <p:sp>
        <p:nvSpPr>
          <p:cNvPr id="10" name="Shape 8"/>
          <p:cNvSpPr/>
          <p:nvPr/>
        </p:nvSpPr>
        <p:spPr>
          <a:xfrm>
            <a:off x="3236976"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1" name="Text 9"/>
          <p:cNvSpPr/>
          <p:nvPr/>
        </p:nvSpPr>
        <p:spPr>
          <a:xfrm>
            <a:off x="3236976"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Wed</a:t>
            </a:r>
            <a:endParaRPr lang="en-US" sz="900" dirty="0"/>
          </a:p>
        </p:txBody>
      </p:sp>
      <p:sp>
        <p:nvSpPr>
          <p:cNvPr id="12" name="Shape 10"/>
          <p:cNvSpPr/>
          <p:nvPr/>
        </p:nvSpPr>
        <p:spPr>
          <a:xfrm>
            <a:off x="4206240"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3" name="Text 11"/>
          <p:cNvSpPr/>
          <p:nvPr/>
        </p:nvSpPr>
        <p:spPr>
          <a:xfrm>
            <a:off x="4206240"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Thu</a:t>
            </a:r>
            <a:endParaRPr lang="en-US" sz="900" dirty="0"/>
          </a:p>
        </p:txBody>
      </p:sp>
      <p:sp>
        <p:nvSpPr>
          <p:cNvPr id="14" name="Shape 12"/>
          <p:cNvSpPr/>
          <p:nvPr/>
        </p:nvSpPr>
        <p:spPr>
          <a:xfrm>
            <a:off x="5175504"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5" name="Text 13"/>
          <p:cNvSpPr/>
          <p:nvPr/>
        </p:nvSpPr>
        <p:spPr>
          <a:xfrm>
            <a:off x="5175504"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Fri</a:t>
            </a:r>
            <a:endParaRPr lang="en-US" sz="900" dirty="0"/>
          </a:p>
        </p:txBody>
      </p:sp>
      <p:sp>
        <p:nvSpPr>
          <p:cNvPr id="16" name="Shape 14"/>
          <p:cNvSpPr/>
          <p:nvPr/>
        </p:nvSpPr>
        <p:spPr>
          <a:xfrm>
            <a:off x="6144768"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7" name="Text 15"/>
          <p:cNvSpPr/>
          <p:nvPr/>
        </p:nvSpPr>
        <p:spPr>
          <a:xfrm>
            <a:off x="6144768"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Sat</a:t>
            </a:r>
            <a:endParaRPr lang="en-US" sz="900" dirty="0"/>
          </a:p>
        </p:txBody>
      </p:sp>
      <p:sp>
        <p:nvSpPr>
          <p:cNvPr id="18" name="Shape 16"/>
          <p:cNvSpPr/>
          <p:nvPr/>
        </p:nvSpPr>
        <p:spPr>
          <a:xfrm>
            <a:off x="7114032" y="868680"/>
            <a:ext cx="932688" cy="256032"/>
          </a:xfrm>
          <a:prstGeom prst="roundRect">
            <a:avLst>
              <a:gd name="adj" fmla="val 10714"/>
            </a:avLst>
          </a:prstGeom>
          <a:solidFill>
            <a:srgbClr val="1F4E79"/>
          </a:solidFill>
          <a:ln w="6350">
            <a:solidFill>
              <a:srgbClr val="FFFFFF"/>
            </a:solidFill>
            <a:prstDash val="solid"/>
          </a:ln>
        </p:spPr>
        <p:txBody>
          <a:bodyPr/>
          <a:lstStyle/>
          <a:p>
            <a:endParaRPr lang="en-US"/>
          </a:p>
        </p:txBody>
      </p:sp>
      <p:sp>
        <p:nvSpPr>
          <p:cNvPr id="19" name="Text 17"/>
          <p:cNvSpPr/>
          <p:nvPr/>
        </p:nvSpPr>
        <p:spPr>
          <a:xfrm>
            <a:off x="7114032" y="868680"/>
            <a:ext cx="9326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Sun</a:t>
            </a:r>
            <a:endParaRPr lang="en-US" sz="900" dirty="0"/>
          </a:p>
        </p:txBody>
      </p:sp>
      <p:sp>
        <p:nvSpPr>
          <p:cNvPr id="20" name="Text 18"/>
          <p:cNvSpPr/>
          <p:nvPr/>
        </p:nvSpPr>
        <p:spPr>
          <a:xfrm>
            <a:off x="320040" y="1143000"/>
            <a:ext cx="932688" cy="310896"/>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G1 (12)</a:t>
            </a:r>
            <a:endParaRPr lang="en-US" sz="900" dirty="0"/>
          </a:p>
        </p:txBody>
      </p:sp>
      <p:sp>
        <p:nvSpPr>
          <p:cNvPr id="21" name="Shape 19"/>
          <p:cNvSpPr/>
          <p:nvPr/>
        </p:nvSpPr>
        <p:spPr>
          <a:xfrm>
            <a:off x="1298448" y="1143000"/>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22" name="Text 20"/>
          <p:cNvSpPr/>
          <p:nvPr/>
        </p:nvSpPr>
        <p:spPr>
          <a:xfrm>
            <a:off x="1298448" y="1143000"/>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23" name="Shape 21"/>
          <p:cNvSpPr/>
          <p:nvPr/>
        </p:nvSpPr>
        <p:spPr>
          <a:xfrm>
            <a:off x="2267712"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4" name="Text 22"/>
          <p:cNvSpPr/>
          <p:nvPr/>
        </p:nvSpPr>
        <p:spPr>
          <a:xfrm>
            <a:off x="2267712"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25" name="Shape 23"/>
          <p:cNvSpPr/>
          <p:nvPr/>
        </p:nvSpPr>
        <p:spPr>
          <a:xfrm>
            <a:off x="3236976"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26" name="Text 24"/>
          <p:cNvSpPr/>
          <p:nvPr/>
        </p:nvSpPr>
        <p:spPr>
          <a:xfrm>
            <a:off x="3236976"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27" name="Shape 25"/>
          <p:cNvSpPr/>
          <p:nvPr/>
        </p:nvSpPr>
        <p:spPr>
          <a:xfrm>
            <a:off x="4206240" y="1143000"/>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28" name="Text 26"/>
          <p:cNvSpPr/>
          <p:nvPr/>
        </p:nvSpPr>
        <p:spPr>
          <a:xfrm>
            <a:off x="4206240" y="1143000"/>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29" name="Shape 27"/>
          <p:cNvSpPr/>
          <p:nvPr/>
        </p:nvSpPr>
        <p:spPr>
          <a:xfrm>
            <a:off x="5175504" y="1143000"/>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30" name="Text 28"/>
          <p:cNvSpPr/>
          <p:nvPr/>
        </p:nvSpPr>
        <p:spPr>
          <a:xfrm>
            <a:off x="5175504" y="1143000"/>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31" name="Shape 29"/>
          <p:cNvSpPr/>
          <p:nvPr/>
        </p:nvSpPr>
        <p:spPr>
          <a:xfrm>
            <a:off x="6144768"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32" name="Text 30"/>
          <p:cNvSpPr/>
          <p:nvPr/>
        </p:nvSpPr>
        <p:spPr>
          <a:xfrm>
            <a:off x="6144768"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33" name="Shape 31"/>
          <p:cNvSpPr/>
          <p:nvPr/>
        </p:nvSpPr>
        <p:spPr>
          <a:xfrm>
            <a:off x="7114032" y="1143000"/>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34" name="Text 32"/>
          <p:cNvSpPr/>
          <p:nvPr/>
        </p:nvSpPr>
        <p:spPr>
          <a:xfrm>
            <a:off x="7114032" y="1143000"/>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35" name="Text 33"/>
          <p:cNvSpPr/>
          <p:nvPr/>
        </p:nvSpPr>
        <p:spPr>
          <a:xfrm>
            <a:off x="320040" y="1490472"/>
            <a:ext cx="932688" cy="310896"/>
          </a:xfrm>
          <a:prstGeom prst="rect">
            <a:avLst/>
          </a:prstGeom>
          <a:noFill/>
          <a:ln/>
        </p:spPr>
        <p:txBody>
          <a:bodyPr wrap="square" rtlCol="0" anchor="ctr"/>
          <a:lstStyle/>
          <a:p>
            <a:pPr marL="0" indent="0">
              <a:buNone/>
            </a:pPr>
            <a:r>
              <a:rPr lang="en-US" sz="900" b="1" dirty="0">
                <a:solidFill>
                  <a:srgbClr val="1F4E79"/>
                </a:solidFill>
                <a:latin typeface="Arial" pitchFamily="34" charset="0"/>
                <a:ea typeface="Arial" pitchFamily="34" charset="-122"/>
                <a:cs typeface="Arial" pitchFamily="34" charset="-120"/>
              </a:rPr>
              <a:t>G2 (12)</a:t>
            </a:r>
            <a:endParaRPr lang="en-US" sz="900" dirty="0"/>
          </a:p>
        </p:txBody>
      </p:sp>
      <p:sp>
        <p:nvSpPr>
          <p:cNvPr id="36" name="Shape 34"/>
          <p:cNvSpPr/>
          <p:nvPr/>
        </p:nvSpPr>
        <p:spPr>
          <a:xfrm>
            <a:off x="1298448" y="1490472"/>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37" name="Text 35"/>
          <p:cNvSpPr/>
          <p:nvPr/>
        </p:nvSpPr>
        <p:spPr>
          <a:xfrm>
            <a:off x="1298448" y="1490472"/>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38" name="Shape 36"/>
          <p:cNvSpPr/>
          <p:nvPr/>
        </p:nvSpPr>
        <p:spPr>
          <a:xfrm>
            <a:off x="2267712" y="1490472"/>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39" name="Text 37"/>
          <p:cNvSpPr/>
          <p:nvPr/>
        </p:nvSpPr>
        <p:spPr>
          <a:xfrm>
            <a:off x="2267712" y="1490472"/>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40" name="Shape 38"/>
          <p:cNvSpPr/>
          <p:nvPr/>
        </p:nvSpPr>
        <p:spPr>
          <a:xfrm>
            <a:off x="3236976" y="1490472"/>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41" name="Text 39"/>
          <p:cNvSpPr/>
          <p:nvPr/>
        </p:nvSpPr>
        <p:spPr>
          <a:xfrm>
            <a:off x="3236976" y="1490472"/>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42" name="Shape 40"/>
          <p:cNvSpPr/>
          <p:nvPr/>
        </p:nvSpPr>
        <p:spPr>
          <a:xfrm>
            <a:off x="4206240" y="1490472"/>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43" name="Text 41"/>
          <p:cNvSpPr/>
          <p:nvPr/>
        </p:nvSpPr>
        <p:spPr>
          <a:xfrm>
            <a:off x="4206240" y="1490472"/>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44" name="Shape 42"/>
          <p:cNvSpPr/>
          <p:nvPr/>
        </p:nvSpPr>
        <p:spPr>
          <a:xfrm>
            <a:off x="5175504" y="1490472"/>
            <a:ext cx="932688" cy="310896"/>
          </a:xfrm>
          <a:prstGeom prst="roundRect">
            <a:avLst>
              <a:gd name="adj" fmla="val 11765"/>
            </a:avLst>
          </a:prstGeom>
          <a:solidFill>
            <a:srgbClr val="1D6A72"/>
          </a:solidFill>
          <a:ln w="6350">
            <a:solidFill>
              <a:srgbClr val="FFFFFF"/>
            </a:solidFill>
            <a:prstDash val="solid"/>
          </a:ln>
        </p:spPr>
        <p:txBody>
          <a:bodyPr/>
          <a:lstStyle/>
          <a:p>
            <a:endParaRPr lang="en-US"/>
          </a:p>
        </p:txBody>
      </p:sp>
      <p:sp>
        <p:nvSpPr>
          <p:cNvPr id="45" name="Text 43"/>
          <p:cNvSpPr/>
          <p:nvPr/>
        </p:nvSpPr>
        <p:spPr>
          <a:xfrm>
            <a:off x="5175504" y="1490472"/>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D12</a:t>
            </a:r>
            <a:endParaRPr lang="en-US" sz="1000" dirty="0"/>
          </a:p>
        </p:txBody>
      </p:sp>
      <p:sp>
        <p:nvSpPr>
          <p:cNvPr id="46" name="Shape 44"/>
          <p:cNvSpPr/>
          <p:nvPr/>
        </p:nvSpPr>
        <p:spPr>
          <a:xfrm>
            <a:off x="6144768" y="1490472"/>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47" name="Text 45"/>
          <p:cNvSpPr/>
          <p:nvPr/>
        </p:nvSpPr>
        <p:spPr>
          <a:xfrm>
            <a:off x="6144768" y="1490472"/>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48" name="Shape 46"/>
          <p:cNvSpPr/>
          <p:nvPr/>
        </p:nvSpPr>
        <p:spPr>
          <a:xfrm>
            <a:off x="7114032" y="1490472"/>
            <a:ext cx="932688" cy="310896"/>
          </a:xfrm>
          <a:prstGeom prst="roundRect">
            <a:avLst>
              <a:gd name="adj" fmla="val 11765"/>
            </a:avLst>
          </a:prstGeom>
          <a:solidFill>
            <a:srgbClr val="E2E8F0"/>
          </a:solidFill>
          <a:ln w="6350">
            <a:solidFill>
              <a:srgbClr val="FFFFFF"/>
            </a:solidFill>
            <a:prstDash val="solid"/>
          </a:ln>
        </p:spPr>
        <p:txBody>
          <a:bodyPr/>
          <a:lstStyle/>
          <a:p>
            <a:endParaRPr lang="en-US"/>
          </a:p>
        </p:txBody>
      </p:sp>
      <p:sp>
        <p:nvSpPr>
          <p:cNvPr id="49" name="Text 47"/>
          <p:cNvSpPr/>
          <p:nvPr/>
        </p:nvSpPr>
        <p:spPr>
          <a:xfrm>
            <a:off x="7114032" y="1490472"/>
            <a:ext cx="932688" cy="310896"/>
          </a:xfrm>
          <a:prstGeom prst="rect">
            <a:avLst/>
          </a:prstGeom>
          <a:noFill/>
          <a:ln/>
        </p:spPr>
        <p:txBody>
          <a:bodyPr wrap="square" lIns="0" tIns="0" rIns="0" bIns="0"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off</a:t>
            </a:r>
            <a:endParaRPr lang="en-US" sz="900" dirty="0"/>
          </a:p>
        </p:txBody>
      </p:sp>
      <p:sp>
        <p:nvSpPr>
          <p:cNvPr id="50" name="Text 48"/>
          <p:cNvSpPr/>
          <p:nvPr/>
        </p:nvSpPr>
        <p:spPr>
          <a:xfrm>
            <a:off x="320040" y="1837944"/>
            <a:ext cx="932688" cy="256032"/>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staff/day</a:t>
            </a:r>
            <a:endParaRPr lang="en-US" sz="800" dirty="0"/>
          </a:p>
        </p:txBody>
      </p:sp>
      <p:sp>
        <p:nvSpPr>
          <p:cNvPr id="51" name="Text 49"/>
          <p:cNvSpPr/>
          <p:nvPr/>
        </p:nvSpPr>
        <p:spPr>
          <a:xfrm>
            <a:off x="1298448" y="1837944"/>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52" name="Text 50"/>
          <p:cNvSpPr/>
          <p:nvPr/>
        </p:nvSpPr>
        <p:spPr>
          <a:xfrm>
            <a:off x="2267712" y="1837944"/>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53" name="Text 51"/>
          <p:cNvSpPr/>
          <p:nvPr/>
        </p:nvSpPr>
        <p:spPr>
          <a:xfrm>
            <a:off x="3236976" y="1837944"/>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54" name="Text 52"/>
          <p:cNvSpPr/>
          <p:nvPr/>
        </p:nvSpPr>
        <p:spPr>
          <a:xfrm>
            <a:off x="4206240" y="1837944"/>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55" name="Text 53"/>
          <p:cNvSpPr/>
          <p:nvPr/>
        </p:nvSpPr>
        <p:spPr>
          <a:xfrm>
            <a:off x="5175504" y="1837944"/>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56" name="Text 54"/>
          <p:cNvSpPr/>
          <p:nvPr/>
        </p:nvSpPr>
        <p:spPr>
          <a:xfrm>
            <a:off x="6144768" y="1837944"/>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57" name="Text 55"/>
          <p:cNvSpPr/>
          <p:nvPr/>
        </p:nvSpPr>
        <p:spPr>
          <a:xfrm>
            <a:off x="7114032" y="1837944"/>
            <a:ext cx="932688" cy="256032"/>
          </a:xfrm>
          <a:prstGeom prst="rect">
            <a:avLst/>
          </a:prstGeom>
          <a:noFill/>
          <a:ln/>
        </p:spPr>
        <p:txBody>
          <a:bodyPr wrap="square" rtlCol="0" anchor="ctr"/>
          <a:lstStyle/>
          <a:p>
            <a:pPr marL="0" indent="0" algn="ctr">
              <a:buNone/>
            </a:pPr>
            <a:r>
              <a:rPr lang="en-US" sz="1000" b="1" dirty="0">
                <a:solidFill>
                  <a:srgbClr val="1F4E79"/>
                </a:solidFill>
                <a:latin typeface="Arial" pitchFamily="34" charset="0"/>
                <a:ea typeface="Arial" pitchFamily="34" charset="-122"/>
                <a:cs typeface="Arial" pitchFamily="34" charset="-120"/>
              </a:rPr>
              <a:t>12</a:t>
            </a:r>
            <a:endParaRPr lang="en-US" sz="1000" dirty="0"/>
          </a:p>
        </p:txBody>
      </p:sp>
      <p:sp>
        <p:nvSpPr>
          <p:cNvPr id="58" name="Shape 56"/>
          <p:cNvSpPr/>
          <p:nvPr/>
        </p:nvSpPr>
        <p:spPr>
          <a:xfrm>
            <a:off x="365760" y="2185416"/>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59" name="Text 57"/>
          <p:cNvSpPr/>
          <p:nvPr/>
        </p:nvSpPr>
        <p:spPr>
          <a:xfrm>
            <a:off x="365760" y="2240280"/>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18</a:t>
            </a:r>
            <a:endParaRPr lang="en-US" sz="1800" dirty="0"/>
          </a:p>
        </p:txBody>
      </p:sp>
      <p:sp>
        <p:nvSpPr>
          <p:cNvPr id="60" name="Text 58"/>
          <p:cNvSpPr/>
          <p:nvPr/>
        </p:nvSpPr>
        <p:spPr>
          <a:xfrm>
            <a:off x="365760" y="2606040"/>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employees (+6)</a:t>
            </a:r>
            <a:endParaRPr lang="en-US" sz="900" dirty="0"/>
          </a:p>
        </p:txBody>
      </p:sp>
      <p:sp>
        <p:nvSpPr>
          <p:cNvPr id="61" name="Shape 59"/>
          <p:cNvSpPr/>
          <p:nvPr/>
        </p:nvSpPr>
        <p:spPr>
          <a:xfrm>
            <a:off x="1767840" y="2185416"/>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62" name="Text 60"/>
          <p:cNvSpPr/>
          <p:nvPr/>
        </p:nvSpPr>
        <p:spPr>
          <a:xfrm>
            <a:off x="1767840" y="2240280"/>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84</a:t>
            </a:r>
            <a:endParaRPr lang="en-US" sz="1800" dirty="0"/>
          </a:p>
        </p:txBody>
      </p:sp>
      <p:sp>
        <p:nvSpPr>
          <p:cNvPr id="63" name="Text 61"/>
          <p:cNvSpPr/>
          <p:nvPr/>
        </p:nvSpPr>
        <p:spPr>
          <a:xfrm>
            <a:off x="1767840" y="2606040"/>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prod hrs/week</a:t>
            </a:r>
            <a:endParaRPr lang="en-US" sz="900" dirty="0"/>
          </a:p>
        </p:txBody>
      </p:sp>
      <p:sp>
        <p:nvSpPr>
          <p:cNvPr id="64" name="Shape 62"/>
          <p:cNvSpPr/>
          <p:nvPr/>
        </p:nvSpPr>
        <p:spPr>
          <a:xfrm>
            <a:off x="3169920" y="2185416"/>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65" name="Text 63"/>
          <p:cNvSpPr/>
          <p:nvPr/>
        </p:nvSpPr>
        <p:spPr>
          <a:xfrm>
            <a:off x="3169920" y="2240280"/>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42 avg</a:t>
            </a:r>
            <a:endParaRPr lang="en-US" sz="1800" dirty="0"/>
          </a:p>
        </p:txBody>
      </p:sp>
      <p:sp>
        <p:nvSpPr>
          <p:cNvPr id="66" name="Text 64"/>
          <p:cNvSpPr/>
          <p:nvPr/>
        </p:nvSpPr>
        <p:spPr>
          <a:xfrm>
            <a:off x="3169920" y="2606040"/>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work hrs/person</a:t>
            </a:r>
            <a:endParaRPr lang="en-US" sz="900" dirty="0"/>
          </a:p>
        </p:txBody>
      </p:sp>
      <p:sp>
        <p:nvSpPr>
          <p:cNvPr id="67" name="Shape 65"/>
          <p:cNvSpPr/>
          <p:nvPr/>
        </p:nvSpPr>
        <p:spPr>
          <a:xfrm>
            <a:off x="4572000" y="2185416"/>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68" name="Text 66"/>
          <p:cNvSpPr/>
          <p:nvPr/>
        </p:nvSpPr>
        <p:spPr>
          <a:xfrm>
            <a:off x="4572000" y="2240280"/>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44</a:t>
            </a:r>
            <a:endParaRPr lang="en-US" sz="1800" dirty="0"/>
          </a:p>
        </p:txBody>
      </p:sp>
      <p:sp>
        <p:nvSpPr>
          <p:cNvPr id="69" name="Text 67"/>
          <p:cNvSpPr/>
          <p:nvPr/>
        </p:nvSpPr>
        <p:spPr>
          <a:xfrm>
            <a:off x="4572000" y="2606040"/>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pay hrs avg</a:t>
            </a:r>
            <a:endParaRPr lang="en-US" sz="900" dirty="0"/>
          </a:p>
        </p:txBody>
      </p:sp>
      <p:sp>
        <p:nvSpPr>
          <p:cNvPr id="70" name="Shape 68"/>
          <p:cNvSpPr/>
          <p:nvPr/>
        </p:nvSpPr>
        <p:spPr>
          <a:xfrm>
            <a:off x="5974080" y="2185416"/>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71" name="Text 69"/>
          <p:cNvSpPr/>
          <p:nvPr/>
        </p:nvSpPr>
        <p:spPr>
          <a:xfrm>
            <a:off x="5974080" y="2240280"/>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Lower</a:t>
            </a:r>
            <a:endParaRPr lang="en-US" sz="1800" dirty="0"/>
          </a:p>
        </p:txBody>
      </p:sp>
      <p:sp>
        <p:nvSpPr>
          <p:cNvPr id="72" name="Text 70"/>
          <p:cNvSpPr/>
          <p:nvPr/>
        </p:nvSpPr>
        <p:spPr>
          <a:xfrm>
            <a:off x="5974080" y="2606040"/>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OT vs S6</a:t>
            </a:r>
            <a:endParaRPr lang="en-US" sz="900" dirty="0"/>
          </a:p>
        </p:txBody>
      </p:sp>
      <p:sp>
        <p:nvSpPr>
          <p:cNvPr id="73" name="Shape 71"/>
          <p:cNvSpPr/>
          <p:nvPr/>
        </p:nvSpPr>
        <p:spPr>
          <a:xfrm>
            <a:off x="7376160" y="2185416"/>
            <a:ext cx="1328928" cy="749808"/>
          </a:xfrm>
          <a:prstGeom prst="roundRect">
            <a:avLst>
              <a:gd name="adj" fmla="val 9756"/>
            </a:avLst>
          </a:prstGeom>
          <a:solidFill>
            <a:srgbClr val="F0F4F8"/>
          </a:solidFill>
          <a:ln w="6350">
            <a:solidFill>
              <a:srgbClr val="E2E8F0"/>
            </a:solidFill>
            <a:prstDash val="solid"/>
          </a:ln>
        </p:spPr>
        <p:txBody>
          <a:bodyPr/>
          <a:lstStyle/>
          <a:p>
            <a:endParaRPr lang="en-US"/>
          </a:p>
        </p:txBody>
      </p:sp>
      <p:sp>
        <p:nvSpPr>
          <p:cNvPr id="74" name="Text 72"/>
          <p:cNvSpPr/>
          <p:nvPr/>
        </p:nvSpPr>
        <p:spPr>
          <a:xfrm>
            <a:off x="7376160" y="2240280"/>
            <a:ext cx="1328928" cy="347472"/>
          </a:xfrm>
          <a:prstGeom prst="rect">
            <a:avLst/>
          </a:prstGeom>
          <a:noFill/>
          <a:ln/>
        </p:spPr>
        <p:txBody>
          <a:bodyPr wrap="square" rtlCol="0" anchor="ctr"/>
          <a:lstStyle/>
          <a:p>
            <a:pPr marL="0" indent="0" algn="ctr">
              <a:buNone/>
            </a:pPr>
            <a:r>
              <a:rPr lang="en-US" sz="1800" b="1" dirty="0">
                <a:solidFill>
                  <a:srgbClr val="1F4E79"/>
                </a:solidFill>
                <a:latin typeface="Cambria" pitchFamily="34" charset="0"/>
                <a:ea typeface="Cambria" pitchFamily="34" charset="-122"/>
                <a:cs typeface="Cambria" pitchFamily="34" charset="-120"/>
              </a:rPr>
              <a:t>7*</a:t>
            </a:r>
            <a:endParaRPr lang="en-US" sz="1800" dirty="0"/>
          </a:p>
        </p:txBody>
      </p:sp>
      <p:sp>
        <p:nvSpPr>
          <p:cNvPr id="75" name="Text 73"/>
          <p:cNvSpPr/>
          <p:nvPr/>
        </p:nvSpPr>
        <p:spPr>
          <a:xfrm>
            <a:off x="7376160" y="2606040"/>
            <a:ext cx="1328928" cy="27432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machine access days</a:t>
            </a:r>
            <a:endParaRPr lang="en-US" sz="900" dirty="0"/>
          </a:p>
        </p:txBody>
      </p:sp>
      <p:sp>
        <p:nvSpPr>
          <p:cNvPr id="78" name="Text 76"/>
          <p:cNvSpPr/>
          <p:nvPr/>
        </p:nvSpPr>
        <p:spPr>
          <a:xfrm>
            <a:off x="365760" y="4846320"/>
            <a:ext cx="1828800" cy="201168"/>
          </a:xfrm>
          <a:prstGeom prst="rect">
            <a:avLst/>
          </a:prstGeom>
          <a:noFill/>
          <a:ln/>
        </p:spPr>
        <p:txBody>
          <a:bodyPr wrap="square" rtlCol="0" anchor="ctr"/>
          <a:lstStyle/>
          <a:p>
            <a:pPr marL="0" indent="0">
              <a:buNone/>
            </a:pPr>
            <a:r>
              <a:rPr lang="en-US" sz="900" i="1" dirty="0">
                <a:solidFill>
                  <a:srgbClr val="94A3B8"/>
                </a:solidFill>
                <a:latin typeface="Arial" pitchFamily="34" charset="0"/>
                <a:ea typeface="Arial" pitchFamily="34" charset="-122"/>
                <a:cs typeface="Arial" pitchFamily="34" charset="-120"/>
              </a:rPr>
              <a:t>← Back to chart</a:t>
            </a:r>
            <a:endParaRPr lang="en-US" sz="900" dirty="0"/>
          </a:p>
        </p:txBody>
      </p:sp>
      <p:sp>
        <p:nvSpPr>
          <p:cNvPr id="79" name="chip"/>
          <p:cNvSpPr/>
          <p:nvPr/>
        </p:nvSpPr>
        <p:spPr>
          <a:xfrm>
            <a:off x="2971800" y="2962656"/>
            <a:ext cx="384048" cy="164592"/>
          </a:xfrm>
          <a:prstGeom prst="roundRect">
            <a:avLst>
              <a:gd name="adj" fmla="val 25000"/>
            </a:avLst>
          </a:prstGeom>
          <a:solidFill>
            <a:srgbClr val="1D6A72"/>
          </a:solidFill>
          <a:ln>
            <a:noFill/>
          </a:ln>
        </p:spPr>
        <p:txBody>
          <a:bodyPr lIns="0" tIns="0" rIns="0" bIns="0" anchor="ctr"/>
          <a:lstStyle/>
          <a:p>
            <a:pPr algn="ctr">
              <a:buNone/>
            </a:pPr>
            <a:r>
              <a:rPr lang="en-US" sz="750" b="1" dirty="0">
                <a:solidFill>
                  <a:srgbClr val="FFFFFF"/>
                </a:solidFill>
                <a:latin typeface="Arial" pitchFamily="34" charset="0"/>
              </a:rPr>
              <a:t>D12</a:t>
            </a:r>
          </a:p>
        </p:txBody>
      </p:sp>
      <p:sp>
        <p:nvSpPr>
          <p:cNvPr id="80" name="lt"/>
          <p:cNvSpPr/>
          <p:nvPr/>
        </p:nvSpPr>
        <p:spPr>
          <a:xfrm>
            <a:off x="3410712" y="2962656"/>
            <a:ext cx="1143000" cy="164592"/>
          </a:xfrm>
          <a:prstGeom prst="rect">
            <a:avLst/>
          </a:prstGeom>
        </p:spPr>
        <p:txBody>
          <a:bodyPr lIns="18000" tIns="0" rIns="0" bIns="0" anchor="ctr"/>
          <a:lstStyle/>
          <a:p>
            <a:pPr algn="l">
              <a:buNone/>
            </a:pPr>
            <a:r>
              <a:rPr lang="en-US" sz="800" dirty="0">
                <a:solidFill>
                  <a:srgbClr val="64748B"/>
                </a:solidFill>
                <a:latin typeface="Arial" pitchFamily="34" charset="0"/>
              </a:rPr>
              <a:t>6:00a – 6:00p</a:t>
            </a:r>
          </a:p>
        </p:txBody>
      </p:sp>
      <p:sp>
        <p:nvSpPr>
          <p:cNvPr id="81" name="chip"/>
          <p:cNvSpPr/>
          <p:nvPr/>
        </p:nvSpPr>
        <p:spPr>
          <a:xfrm>
            <a:off x="4572000" y="2962656"/>
            <a:ext cx="384048" cy="164592"/>
          </a:xfrm>
          <a:prstGeom prst="roundRect">
            <a:avLst>
              <a:gd name="adj" fmla="val 25000"/>
            </a:avLst>
          </a:prstGeom>
          <a:solidFill>
            <a:srgbClr val="E2E8F0"/>
          </a:solidFill>
          <a:ln w="9525">
            <a:solidFill>
              <a:srgbClr val="CBD5E1"/>
            </a:solidFill>
          </a:ln>
        </p:spPr>
        <p:txBody>
          <a:bodyPr lIns="0" tIns="0" rIns="0" bIns="0" anchor="ctr"/>
          <a:lstStyle/>
          <a:p>
            <a:pPr algn="ctr">
              <a:buNone/>
            </a:pPr>
            <a:r>
              <a:rPr lang="en-US" sz="750" b="1" dirty="0">
                <a:solidFill>
                  <a:srgbClr val="64748B"/>
                </a:solidFill>
                <a:latin typeface="Arial" pitchFamily="34" charset="0"/>
              </a:rPr>
              <a:t>off</a:t>
            </a:r>
          </a:p>
        </p:txBody>
      </p:sp>
      <p:sp>
        <p:nvSpPr>
          <p:cNvPr id="82" name="lt"/>
          <p:cNvSpPr/>
          <p:nvPr/>
        </p:nvSpPr>
        <p:spPr>
          <a:xfrm>
            <a:off x="5010912" y="2962656"/>
            <a:ext cx="1143000" cy="164592"/>
          </a:xfrm>
          <a:prstGeom prst="rect">
            <a:avLst/>
          </a:prstGeom>
        </p:spPr>
        <p:txBody>
          <a:bodyPr lIns="18000" tIns="0" rIns="0" bIns="0" anchor="ctr"/>
          <a:lstStyle/>
          <a:p>
            <a:pPr algn="l">
              <a:buNone/>
            </a:pPr>
            <a:r>
              <a:rPr lang="en-US" sz="800" dirty="0">
                <a:solidFill>
                  <a:srgbClr val="64748B"/>
                </a:solidFill>
                <a:latin typeface="Arial" pitchFamily="34" charset="0"/>
              </a:rPr>
              <a:t>not scheduled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rtlCol="0" anchor="ctr"/>
          <a:lstStyle/>
          <a:p>
            <a:pPr marL="0" indent="0">
              <a:buNone/>
            </a:pPr>
            <a:r>
              <a:rPr lang="en-US" sz="3200" b="1" dirty="0">
                <a:solidFill>
                  <a:srgbClr val="1F4E79"/>
                </a:solidFill>
                <a:latin typeface="Cambria" pitchFamily="34" charset="0"/>
                <a:ea typeface="Cambria" pitchFamily="34" charset="-122"/>
                <a:cs typeface="Cambria" pitchFamily="34" charset="-120"/>
              </a:rPr>
              <a:t>The Weekend Warrior Trap</a:t>
            </a:r>
            <a:endParaRPr lang="en-US" sz="3200" dirty="0"/>
          </a:p>
        </p:txBody>
      </p:sp>
      <p:sp>
        <p:nvSpPr>
          <p:cNvPr id="3" name="Shape 1"/>
          <p:cNvSpPr/>
          <p:nvPr/>
        </p:nvSpPr>
        <p:spPr>
          <a:xfrm>
            <a:off x="365760" y="868680"/>
            <a:ext cx="8412480" cy="621792"/>
          </a:xfrm>
          <a:prstGeom prst="roundRect">
            <a:avLst>
              <a:gd name="adj" fmla="val 14706"/>
            </a:avLst>
          </a:prstGeom>
          <a:solidFill>
            <a:srgbClr val="F0F4F8"/>
          </a:solidFill>
          <a:ln w="12700">
            <a:solidFill>
              <a:srgbClr val="F0F4F8"/>
            </a:solidFill>
            <a:prstDash val="solid"/>
          </a:ln>
        </p:spPr>
        <p:txBody>
          <a:bodyPr/>
          <a:lstStyle/>
          <a:p>
            <a:endParaRPr lang="en-US"/>
          </a:p>
        </p:txBody>
      </p:sp>
      <p:sp>
        <p:nvSpPr>
          <p:cNvPr id="4" name="Text 2"/>
          <p:cNvSpPr/>
          <p:nvPr/>
        </p:nvSpPr>
        <p:spPr>
          <a:xfrm>
            <a:off x="548640" y="905256"/>
            <a:ext cx="8046720" cy="548640"/>
          </a:xfrm>
          <a:prstGeom prst="rect">
            <a:avLst/>
          </a:prstGeom>
          <a:noFill/>
          <a:ln/>
        </p:spPr>
        <p:txBody>
          <a:bodyPr wrap="square" rtlCol="0" anchor="ctr"/>
          <a:lstStyle/>
          <a:p>
            <a:pPr marL="0" indent="0">
              <a:buNone/>
            </a:pPr>
            <a:r>
              <a:rPr lang="en-US" sz="1400" b="1" dirty="0">
                <a:solidFill>
                  <a:srgbClr val="1F4E79"/>
                </a:solidFill>
                <a:latin typeface="Arial" pitchFamily="34" charset="0"/>
                <a:ea typeface="Arial" pitchFamily="34" charset="-122"/>
                <a:cs typeface="Arial" pitchFamily="34" charset="-120"/>
              </a:rPr>
              <a:t>Workforce: </a:t>
            </a:r>
            <a:r>
              <a:rPr lang="en-US" sz="1400" i="1" dirty="0">
                <a:solidFill>
                  <a:srgbClr val="1F4E79"/>
                </a:solidFill>
                <a:latin typeface="Arial" pitchFamily="34" charset="0"/>
                <a:ea typeface="Arial" pitchFamily="34" charset="-122"/>
                <a:cs typeface="Arial" pitchFamily="34" charset="-120"/>
              </a:rPr>
              <a:t>“We’re tired of working so much overtime on the weekends.”</a:t>
            </a:r>
            <a:endParaRPr lang="en-US" sz="1400" dirty="0"/>
          </a:p>
        </p:txBody>
      </p:sp>
      <p:sp>
        <p:nvSpPr>
          <p:cNvPr id="5" name="Shape 3"/>
          <p:cNvSpPr/>
          <p:nvPr/>
        </p:nvSpPr>
        <p:spPr>
          <a:xfrm>
            <a:off x="365760" y="1600200"/>
            <a:ext cx="8412480" cy="621792"/>
          </a:xfrm>
          <a:prstGeom prst="roundRect">
            <a:avLst>
              <a:gd name="adj" fmla="val 14706"/>
            </a:avLst>
          </a:prstGeom>
          <a:solidFill>
            <a:srgbClr val="1F4E79"/>
          </a:solidFill>
          <a:ln w="12700">
            <a:solidFill>
              <a:srgbClr val="1F4E79"/>
            </a:solidFill>
            <a:prstDash val="solid"/>
          </a:ln>
        </p:spPr>
        <p:txBody>
          <a:bodyPr/>
          <a:lstStyle/>
          <a:p>
            <a:endParaRPr lang="en-US"/>
          </a:p>
        </p:txBody>
      </p:sp>
      <p:sp>
        <p:nvSpPr>
          <p:cNvPr id="6" name="Text 4"/>
          <p:cNvSpPr/>
          <p:nvPr/>
        </p:nvSpPr>
        <p:spPr>
          <a:xfrm>
            <a:off x="548640" y="1636776"/>
            <a:ext cx="8046720" cy="548640"/>
          </a:xfrm>
          <a:prstGeom prst="rect">
            <a:avLst/>
          </a:prstGeom>
          <a:noFill/>
          <a:ln/>
        </p:spPr>
        <p:txBody>
          <a:bodyPr wrap="square" rtlCol="0" anchor="ctr"/>
          <a:lstStyle/>
          <a:p>
            <a:pPr marL="0" indent="0">
              <a:buNone/>
            </a:pPr>
            <a:r>
              <a:rPr lang="en-US" sz="1400" b="1" dirty="0">
                <a:solidFill>
                  <a:srgbClr val="E8610A"/>
                </a:solidFill>
                <a:latin typeface="Arial" pitchFamily="34" charset="0"/>
                <a:ea typeface="Arial" pitchFamily="34" charset="-122"/>
                <a:cs typeface="Arial" pitchFamily="34" charset="-120"/>
              </a:rPr>
              <a:t>Management: </a:t>
            </a:r>
            <a:r>
              <a:rPr lang="en-US" sz="1400" i="1" dirty="0">
                <a:solidFill>
                  <a:srgbClr val="FFFFFF"/>
                </a:solidFill>
                <a:latin typeface="Arial" pitchFamily="34" charset="0"/>
                <a:ea typeface="Arial" pitchFamily="34" charset="-122"/>
                <a:cs typeface="Arial" pitchFamily="34" charset="-120"/>
              </a:rPr>
              <a:t>“Great idea — let’s hire people to work weekends for you!”</a:t>
            </a:r>
            <a:endParaRPr lang="en-US" sz="1400" dirty="0"/>
          </a:p>
        </p:txBody>
      </p:sp>
      <p:sp>
        <p:nvSpPr>
          <p:cNvPr id="7" name="Shape 5"/>
          <p:cNvSpPr/>
          <p:nvPr/>
        </p:nvSpPr>
        <p:spPr>
          <a:xfrm>
            <a:off x="365760" y="2331720"/>
            <a:ext cx="8412480" cy="621792"/>
          </a:xfrm>
          <a:prstGeom prst="roundRect">
            <a:avLst>
              <a:gd name="adj" fmla="val 14706"/>
            </a:avLst>
          </a:prstGeom>
          <a:solidFill>
            <a:srgbClr val="1D6A72"/>
          </a:solidFill>
          <a:ln w="12700">
            <a:solidFill>
              <a:srgbClr val="1D6A72"/>
            </a:solidFill>
            <a:prstDash val="solid"/>
          </a:ln>
        </p:spPr>
        <p:txBody>
          <a:bodyPr/>
          <a:lstStyle/>
          <a:p>
            <a:endParaRPr lang="en-US"/>
          </a:p>
        </p:txBody>
      </p:sp>
      <p:sp>
        <p:nvSpPr>
          <p:cNvPr id="8" name="Text 6"/>
          <p:cNvSpPr/>
          <p:nvPr/>
        </p:nvSpPr>
        <p:spPr>
          <a:xfrm>
            <a:off x="548640" y="2368296"/>
            <a:ext cx="8046720" cy="548640"/>
          </a:xfrm>
          <a:prstGeom prst="rect">
            <a:avLst/>
          </a:prstGeom>
          <a:noFill/>
          <a:ln/>
        </p:spPr>
        <p:txBody>
          <a:bodyPr wrap="square" rtlCol="0" anchor="ctr"/>
          <a:lstStyle/>
          <a:p>
            <a:pPr marL="0" indent="0">
              <a:buNone/>
            </a:pPr>
            <a:r>
              <a:rPr lang="en-US" sz="1400" b="1" dirty="0">
                <a:solidFill>
                  <a:srgbClr val="E8610A"/>
                </a:solidFill>
                <a:latin typeface="Arial" pitchFamily="34" charset="0"/>
                <a:ea typeface="Arial" pitchFamily="34" charset="-122"/>
                <a:cs typeface="Arial" pitchFamily="34" charset="-120"/>
              </a:rPr>
              <a:t>Workforce: </a:t>
            </a:r>
            <a:r>
              <a:rPr lang="en-US" sz="1400" i="1" dirty="0">
                <a:solidFill>
                  <a:srgbClr val="FFFFFF"/>
                </a:solidFill>
                <a:latin typeface="Arial" pitchFamily="34" charset="0"/>
                <a:ea typeface="Arial" pitchFamily="34" charset="-122"/>
                <a:cs typeface="Arial" pitchFamily="34" charset="-120"/>
              </a:rPr>
              <a:t>“Hurray!”</a:t>
            </a:r>
            <a:endParaRPr lang="en-US" sz="1400" dirty="0"/>
          </a:p>
        </p:txBody>
      </p:sp>
      <p:sp>
        <p:nvSpPr>
          <p:cNvPr id="9" name="Text 7"/>
          <p:cNvSpPr/>
          <p:nvPr/>
        </p:nvSpPr>
        <p:spPr>
          <a:xfrm>
            <a:off x="365760" y="3154680"/>
            <a:ext cx="8412480" cy="365760"/>
          </a:xfrm>
          <a:prstGeom prst="rect">
            <a:avLst/>
          </a:prstGeom>
          <a:noFill/>
          <a:ln/>
        </p:spPr>
        <p:txBody>
          <a:bodyPr wrap="square" rtlCol="0" anchor="ctr"/>
          <a:lstStyle/>
          <a:p>
            <a:pPr marL="0" indent="0" algn="ctr">
              <a:buNone/>
            </a:pPr>
            <a:r>
              <a:rPr lang="en-US" sz="1600" b="1" i="1" dirty="0">
                <a:solidFill>
                  <a:srgbClr val="E8610A"/>
                </a:solidFill>
                <a:latin typeface="Cambria" pitchFamily="34" charset="0"/>
                <a:ea typeface="Cambria" pitchFamily="34" charset="-122"/>
                <a:cs typeface="Cambria" pitchFamily="34" charset="-120"/>
              </a:rPr>
              <a:t>And then what happens?</a:t>
            </a:r>
            <a:endParaRPr lang="en-US" sz="1600" dirty="0"/>
          </a:p>
        </p:txBody>
      </p:sp>
      <p:sp>
        <p:nvSpPr>
          <p:cNvPr id="10" name="Shape 8"/>
          <p:cNvSpPr/>
          <p:nvPr/>
        </p:nvSpPr>
        <p:spPr>
          <a:xfrm>
            <a:off x="365760" y="3566160"/>
            <a:ext cx="8412480" cy="1298448"/>
          </a:xfrm>
          <a:prstGeom prst="roundRect">
            <a:avLst>
              <a:gd name="adj" fmla="val 7042"/>
            </a:avLst>
          </a:prstGeom>
          <a:solidFill>
            <a:srgbClr val="F0F4F8"/>
          </a:solidFill>
          <a:ln w="12700">
            <a:solidFill>
              <a:srgbClr val="E2E8F0"/>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502920" y="3639312"/>
            <a:ext cx="164592" cy="164592"/>
          </a:xfrm>
          <a:prstGeom prst="rect">
            <a:avLst/>
          </a:prstGeom>
        </p:spPr>
      </p:pic>
      <p:sp>
        <p:nvSpPr>
          <p:cNvPr id="12" name="Text 9"/>
          <p:cNvSpPr/>
          <p:nvPr/>
        </p:nvSpPr>
        <p:spPr>
          <a:xfrm>
            <a:off x="731520" y="3621024"/>
            <a:ext cx="7863840" cy="201168"/>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For year 1, it works. For years 2–5, it slowly falls apart.</a:t>
            </a:r>
            <a:endParaRPr lang="en-US" sz="1100" dirty="0"/>
          </a:p>
        </p:txBody>
      </p:sp>
      <p:pic>
        <p:nvPicPr>
          <p:cNvPr id="13" name="Image 1" descr="preencoded.png"/>
          <p:cNvPicPr>
            <a:picLocks noChangeAspect="1"/>
          </p:cNvPicPr>
          <p:nvPr/>
        </p:nvPicPr>
        <p:blipFill>
          <a:blip r:embed="rId3"/>
          <a:stretch>
            <a:fillRect/>
          </a:stretch>
        </p:blipFill>
        <p:spPr>
          <a:xfrm>
            <a:off x="502920" y="3877056"/>
            <a:ext cx="164592" cy="164592"/>
          </a:xfrm>
          <a:prstGeom prst="rect">
            <a:avLst/>
          </a:prstGeom>
        </p:spPr>
      </p:pic>
      <p:sp>
        <p:nvSpPr>
          <p:cNvPr id="14" name="Text 10"/>
          <p:cNvSpPr/>
          <p:nvPr/>
        </p:nvSpPr>
        <p:spPr>
          <a:xfrm>
            <a:off x="731520" y="3858768"/>
            <a:ext cx="7863840" cy="201168"/>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Pay too little: poorly staffed, high turnover on your hardest shifts.</a:t>
            </a:r>
            <a:endParaRPr lang="en-US" sz="1100" dirty="0"/>
          </a:p>
        </p:txBody>
      </p:sp>
      <p:pic>
        <p:nvPicPr>
          <p:cNvPr id="15" name="Image 2" descr="preencoded.png"/>
          <p:cNvPicPr>
            <a:picLocks noChangeAspect="1"/>
          </p:cNvPicPr>
          <p:nvPr/>
        </p:nvPicPr>
        <p:blipFill>
          <a:blip r:embed="rId3"/>
          <a:stretch>
            <a:fillRect/>
          </a:stretch>
        </p:blipFill>
        <p:spPr>
          <a:xfrm>
            <a:off x="502920" y="4114800"/>
            <a:ext cx="164592" cy="164592"/>
          </a:xfrm>
          <a:prstGeom prst="rect">
            <a:avLst/>
          </a:prstGeom>
        </p:spPr>
      </p:pic>
      <p:sp>
        <p:nvSpPr>
          <p:cNvPr id="16" name="Text 11"/>
          <p:cNvSpPr/>
          <p:nvPr/>
        </p:nvSpPr>
        <p:spPr>
          <a:xfrm>
            <a:off x="731520" y="4096512"/>
            <a:ext cx="7863840" cy="201168"/>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Pay too much: weekend premium creates resentment from weekday crew.</a:t>
            </a:r>
            <a:endParaRPr lang="en-US" sz="1100" dirty="0"/>
          </a:p>
        </p:txBody>
      </p:sp>
      <p:pic>
        <p:nvPicPr>
          <p:cNvPr id="17" name="Image 3" descr="preencoded.png"/>
          <p:cNvPicPr>
            <a:picLocks noChangeAspect="1"/>
          </p:cNvPicPr>
          <p:nvPr/>
        </p:nvPicPr>
        <p:blipFill>
          <a:blip r:embed="rId3"/>
          <a:stretch>
            <a:fillRect/>
          </a:stretch>
        </p:blipFill>
        <p:spPr>
          <a:xfrm>
            <a:off x="502920" y="4352544"/>
            <a:ext cx="164592" cy="164592"/>
          </a:xfrm>
          <a:prstGeom prst="rect">
            <a:avLst/>
          </a:prstGeom>
        </p:spPr>
      </p:pic>
      <p:sp>
        <p:nvSpPr>
          <p:cNvPr id="18" name="Text 12"/>
          <p:cNvSpPr/>
          <p:nvPr/>
        </p:nvSpPr>
        <p:spPr>
          <a:xfrm>
            <a:off x="731520" y="4334256"/>
            <a:ext cx="7863840" cy="201168"/>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The weekend crew develops its own culture — different pace, different habits.</a:t>
            </a:r>
            <a:endParaRPr lang="en-US" sz="1100" dirty="0"/>
          </a:p>
        </p:txBody>
      </p:sp>
      <p:pic>
        <p:nvPicPr>
          <p:cNvPr id="19" name="Image 4" descr="preencoded.png"/>
          <p:cNvPicPr>
            <a:picLocks noChangeAspect="1"/>
          </p:cNvPicPr>
          <p:nvPr/>
        </p:nvPicPr>
        <p:blipFill>
          <a:blip r:embed="rId3"/>
          <a:stretch>
            <a:fillRect/>
          </a:stretch>
        </p:blipFill>
        <p:spPr>
          <a:xfrm>
            <a:off x="502920" y="4590288"/>
            <a:ext cx="164592" cy="164592"/>
          </a:xfrm>
          <a:prstGeom prst="rect">
            <a:avLst/>
          </a:prstGeom>
        </p:spPr>
      </p:pic>
      <p:sp>
        <p:nvSpPr>
          <p:cNvPr id="20" name="Text 13"/>
          <p:cNvSpPr/>
          <p:nvPr/>
        </p:nvSpPr>
        <p:spPr>
          <a:xfrm>
            <a:off x="731520" y="4572000"/>
            <a:ext cx="7863840" cy="201168"/>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After 3–5 years, companies kill the program. The workforce does NOT take kindly to losing it.</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bg>
      <p:bgPr>
        <a:solidFill>
          <a:srgbClr val="1F4E79"/>
        </a:solidFill>
        <a:effectLst/>
      </p:bgPr>
    </p:bg>
    <p:spTree>
      <p:nvGrpSpPr>
        <p:cNvPr id="1" name=""/>
        <p:cNvGrpSpPr/>
        <p:nvPr/>
      </p:nvGrpSpPr>
      <p:grpSpPr>
        <a:xfrm>
          <a:off x="0" y="0"/>
          <a:ext cx="0" cy="0"/>
          <a:chOff x="0" y="0"/>
          <a:chExt cx="0" cy="0"/>
        </a:xfrm>
      </p:grpSpPr>
      <p:sp>
        <p:nvSpPr>
          <p:cNvPr id="2" name="Text 0"/>
          <p:cNvSpPr/>
          <p:nvPr/>
        </p:nvSpPr>
        <p:spPr>
          <a:xfrm>
            <a:off x="457200" y="914400"/>
            <a:ext cx="1828800" cy="1097280"/>
          </a:xfrm>
          <a:prstGeom prst="rect">
            <a:avLst/>
          </a:prstGeom>
          <a:noFill/>
          <a:ln/>
        </p:spPr>
        <p:txBody>
          <a:bodyPr wrap="square" rtlCol="0" anchor="ctr"/>
          <a:lstStyle/>
          <a:p>
            <a:pPr marL="0" indent="0" algn="l">
              <a:buNone/>
            </a:pPr>
            <a:r>
              <a:rPr lang="en-US" sz="7200" b="1" dirty="0">
                <a:solidFill>
                  <a:srgbClr val="E8610A"/>
                </a:solidFill>
                <a:latin typeface="Cambria" pitchFamily="34" charset="0"/>
                <a:ea typeface="Cambria" pitchFamily="34" charset="-122"/>
                <a:cs typeface="Cambria" pitchFamily="34" charset="-120"/>
              </a:rPr>
              <a:t>06</a:t>
            </a:r>
            <a:endParaRPr lang="en-US" sz="7200" dirty="0"/>
          </a:p>
        </p:txBody>
      </p:sp>
      <p:sp>
        <p:nvSpPr>
          <p:cNvPr id="3" name="Text 1"/>
          <p:cNvSpPr/>
          <p:nvPr/>
        </p:nvSpPr>
        <p:spPr>
          <a:xfrm>
            <a:off x="457200" y="2011680"/>
            <a:ext cx="8229600" cy="1005840"/>
          </a:xfrm>
          <a:prstGeom prst="rect">
            <a:avLst/>
          </a:prstGeom>
          <a:noFill/>
          <a:ln/>
        </p:spPr>
        <p:txBody>
          <a:bodyPr wrap="square"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Change Management</a:t>
            </a:r>
            <a:endParaRPr lang="en-US" sz="3600" dirty="0"/>
          </a:p>
        </p:txBody>
      </p:sp>
      <p:sp>
        <p:nvSpPr>
          <p:cNvPr id="4" name="Text 2"/>
          <p:cNvSpPr/>
          <p:nvPr/>
        </p:nvSpPr>
        <p:spPr>
          <a:xfrm>
            <a:off x="457200" y="3063240"/>
            <a:ext cx="7315200" cy="502920"/>
          </a:xfrm>
          <a:prstGeom prst="rect">
            <a:avLst/>
          </a:prstGeom>
          <a:noFill/>
          <a:ln/>
        </p:spPr>
        <p:txBody>
          <a:bodyPr wrap="square" rtlCol="0" anchor="ctr"/>
          <a:lstStyle/>
          <a:p>
            <a:pPr marL="0" indent="0" algn="l">
              <a:buNone/>
            </a:pPr>
            <a:r>
              <a:rPr lang="en-US" sz="1600" i="1" dirty="0">
                <a:solidFill>
                  <a:srgbClr val="94A3B8"/>
                </a:solidFill>
                <a:latin typeface="Arial" pitchFamily="34" charset="0"/>
                <a:ea typeface="Arial" pitchFamily="34" charset="-122"/>
                <a:cs typeface="Arial" pitchFamily="34" charset="-120"/>
              </a:rPr>
              <a:t>Union and nonunion environments — what works and what doesn’t</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rtlCol="0" anchor="ctr"/>
          <a:lstStyle/>
          <a:p>
            <a:pPr marL="0" indent="0">
              <a:buNone/>
            </a:pPr>
            <a:r>
              <a:rPr lang="en-US" sz="3200" b="1" dirty="0">
                <a:solidFill>
                  <a:srgbClr val="1F4E79"/>
                </a:solidFill>
                <a:latin typeface="Cambria" pitchFamily="34" charset="0"/>
                <a:ea typeface="Cambria" pitchFamily="34" charset="-122"/>
                <a:cs typeface="Cambria" pitchFamily="34" charset="-120"/>
              </a:rPr>
              <a:t>Why Schedule Change Fails</a:t>
            </a:r>
            <a:endParaRPr lang="en-US" sz="3200" dirty="0"/>
          </a:p>
        </p:txBody>
      </p:sp>
      <p:sp>
        <p:nvSpPr>
          <p:cNvPr id="3" name="Text 1"/>
          <p:cNvSpPr/>
          <p:nvPr/>
        </p:nvSpPr>
        <p:spPr>
          <a:xfrm>
            <a:off x="457200" y="749808"/>
            <a:ext cx="8229600" cy="274320"/>
          </a:xfrm>
          <a:prstGeom prst="rect">
            <a:avLst/>
          </a:prstGeom>
          <a:noFill/>
          <a:ln/>
        </p:spPr>
        <p:txBody>
          <a:bodyPr wrap="square" rtlCol="0" anchor="ctr"/>
          <a:lstStyle/>
          <a:p>
            <a:pPr marL="0" indent="0">
              <a:buNone/>
            </a:pPr>
            <a:r>
              <a:rPr lang="en-US" sz="1300" i="1" dirty="0">
                <a:solidFill>
                  <a:srgbClr val="E8610A"/>
                </a:solidFill>
                <a:latin typeface="Arial" pitchFamily="34" charset="0"/>
                <a:ea typeface="Arial" pitchFamily="34" charset="-122"/>
                <a:cs typeface="Arial" pitchFamily="34" charset="-120"/>
              </a:rPr>
              <a:t>It’s almost never the schedule design that fails. It’s the rollout.</a:t>
            </a:r>
            <a:endParaRPr lang="en-US" sz="1300" dirty="0"/>
          </a:p>
        </p:txBody>
      </p:sp>
      <p:sp>
        <p:nvSpPr>
          <p:cNvPr id="4" name="Shape 2"/>
          <p:cNvSpPr/>
          <p:nvPr/>
        </p:nvSpPr>
        <p:spPr>
          <a:xfrm>
            <a:off x="365760" y="1097280"/>
            <a:ext cx="8412480" cy="841248"/>
          </a:xfrm>
          <a:prstGeom prst="roundRect">
            <a:avLst>
              <a:gd name="adj" fmla="val 1087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US"/>
          </a:p>
        </p:txBody>
      </p:sp>
      <p:sp>
        <p:nvSpPr>
          <p:cNvPr id="5" name="Shape 3"/>
          <p:cNvSpPr/>
          <p:nvPr/>
        </p:nvSpPr>
        <p:spPr>
          <a:xfrm>
            <a:off x="475488" y="1243584"/>
            <a:ext cx="502920" cy="502920"/>
          </a:xfrm>
          <a:prstGeom prst="ellipse">
            <a:avLst/>
          </a:prstGeom>
          <a:solidFill>
            <a:srgbClr val="C0392B">
              <a:alpha val="12000"/>
            </a:srgbClr>
          </a:solidFill>
          <a:ln w="19050">
            <a:solidFill>
              <a:srgbClr val="C0392B"/>
            </a:solidFill>
            <a:prstDash val="solid"/>
          </a:ln>
        </p:spPr>
        <p:txBody>
          <a:bodyPr/>
          <a:lstStyle/>
          <a:p>
            <a:endParaRPr lang="en-US"/>
          </a:p>
        </p:txBody>
      </p:sp>
      <p:sp>
        <p:nvSpPr>
          <p:cNvPr id="6" name="Text 4"/>
          <p:cNvSpPr/>
          <p:nvPr/>
        </p:nvSpPr>
        <p:spPr>
          <a:xfrm>
            <a:off x="475488" y="1243584"/>
            <a:ext cx="502920" cy="502920"/>
          </a:xfrm>
          <a:prstGeom prst="rect">
            <a:avLst/>
          </a:prstGeom>
          <a:noFill/>
          <a:ln/>
        </p:spPr>
        <p:txBody>
          <a:bodyPr wrap="square" lIns="0" tIns="0" rIns="0" bIns="0" rtlCol="0" anchor="ctr"/>
          <a:lstStyle/>
          <a:p>
            <a:pPr marL="0" indent="0" algn="ctr">
              <a:buNone/>
            </a:pPr>
            <a:r>
              <a:rPr lang="en-US" sz="1800" b="1" dirty="0">
                <a:solidFill>
                  <a:srgbClr val="C0392B"/>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115568" y="1170432"/>
            <a:ext cx="7498080" cy="320040"/>
          </a:xfrm>
          <a:prstGeom prst="rect">
            <a:avLst/>
          </a:prstGeom>
          <a:noFill/>
          <a:ln/>
        </p:spPr>
        <p:txBody>
          <a:bodyPr wrap="square" rtlCol="0" anchor="ctr"/>
          <a:lstStyle/>
          <a:p>
            <a:pPr marL="0" indent="0">
              <a:buNone/>
            </a:pPr>
            <a:r>
              <a:rPr lang="en-US" sz="1400" b="1" dirty="0">
                <a:solidFill>
                  <a:srgbClr val="1F4E79"/>
                </a:solidFill>
                <a:latin typeface="Cambria" pitchFamily="34" charset="0"/>
                <a:ea typeface="Cambria" pitchFamily="34" charset="-122"/>
                <a:cs typeface="Cambria" pitchFamily="34" charset="-120"/>
              </a:rPr>
              <a:t>Single announcement, then silence</a:t>
            </a:r>
            <a:endParaRPr lang="en-US" sz="1400" dirty="0"/>
          </a:p>
        </p:txBody>
      </p:sp>
      <p:sp>
        <p:nvSpPr>
          <p:cNvPr id="8" name="Text 6"/>
          <p:cNvSpPr/>
          <p:nvPr/>
        </p:nvSpPr>
        <p:spPr>
          <a:xfrm>
            <a:off x="1115568" y="1508760"/>
            <a:ext cx="7498080" cy="402336"/>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If employees don’t perceive a positive change as positive, management hasn’t communicated enough. One bulletin board notice is not a communication strategy. Multi-channel, repeated messaging is.</a:t>
            </a:r>
            <a:endParaRPr lang="en-US" sz="1100" dirty="0"/>
          </a:p>
        </p:txBody>
      </p:sp>
      <p:sp>
        <p:nvSpPr>
          <p:cNvPr id="9" name="Shape 7"/>
          <p:cNvSpPr/>
          <p:nvPr/>
        </p:nvSpPr>
        <p:spPr>
          <a:xfrm>
            <a:off x="365760" y="2057400"/>
            <a:ext cx="8412480" cy="841248"/>
          </a:xfrm>
          <a:prstGeom prst="roundRect">
            <a:avLst>
              <a:gd name="adj" fmla="val 1087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US"/>
          </a:p>
        </p:txBody>
      </p:sp>
      <p:sp>
        <p:nvSpPr>
          <p:cNvPr id="10" name="Shape 8"/>
          <p:cNvSpPr/>
          <p:nvPr/>
        </p:nvSpPr>
        <p:spPr>
          <a:xfrm>
            <a:off x="475488" y="2203704"/>
            <a:ext cx="502920" cy="502920"/>
          </a:xfrm>
          <a:prstGeom prst="ellipse">
            <a:avLst/>
          </a:prstGeom>
          <a:solidFill>
            <a:srgbClr val="C0392B">
              <a:alpha val="12000"/>
            </a:srgbClr>
          </a:solidFill>
          <a:ln w="19050">
            <a:solidFill>
              <a:srgbClr val="C0392B"/>
            </a:solidFill>
            <a:prstDash val="solid"/>
          </a:ln>
        </p:spPr>
        <p:txBody>
          <a:bodyPr/>
          <a:lstStyle/>
          <a:p>
            <a:endParaRPr lang="en-US"/>
          </a:p>
        </p:txBody>
      </p:sp>
      <p:sp>
        <p:nvSpPr>
          <p:cNvPr id="11" name="Text 9"/>
          <p:cNvSpPr/>
          <p:nvPr/>
        </p:nvSpPr>
        <p:spPr>
          <a:xfrm>
            <a:off x="475488" y="2203704"/>
            <a:ext cx="502920" cy="502920"/>
          </a:xfrm>
          <a:prstGeom prst="rect">
            <a:avLst/>
          </a:prstGeom>
          <a:noFill/>
          <a:ln/>
        </p:spPr>
        <p:txBody>
          <a:bodyPr wrap="square" lIns="0" tIns="0" rIns="0" bIns="0" rtlCol="0" anchor="ctr"/>
          <a:lstStyle/>
          <a:p>
            <a:pPr marL="0" indent="0" algn="ctr">
              <a:buNone/>
            </a:pPr>
            <a:r>
              <a:rPr lang="en-US" sz="1800" b="1" dirty="0">
                <a:solidFill>
                  <a:srgbClr val="C0392B"/>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1115568" y="2130552"/>
            <a:ext cx="7498080" cy="320040"/>
          </a:xfrm>
          <a:prstGeom prst="rect">
            <a:avLst/>
          </a:prstGeom>
          <a:noFill/>
          <a:ln/>
        </p:spPr>
        <p:txBody>
          <a:bodyPr wrap="square" rtlCol="0" anchor="ctr"/>
          <a:lstStyle/>
          <a:p>
            <a:pPr marL="0" indent="0">
              <a:buNone/>
            </a:pPr>
            <a:r>
              <a:rPr lang="en-US" sz="1400" b="1" dirty="0">
                <a:solidFill>
                  <a:srgbClr val="1F4E79"/>
                </a:solidFill>
                <a:latin typeface="Cambria" pitchFamily="34" charset="0"/>
                <a:ea typeface="Cambria" pitchFamily="34" charset="-122"/>
                <a:cs typeface="Cambria" pitchFamily="34" charset="-120"/>
              </a:rPr>
              <a:t>Verbal agreements that disappear</a:t>
            </a:r>
            <a:endParaRPr lang="en-US" sz="1400" dirty="0"/>
          </a:p>
        </p:txBody>
      </p:sp>
      <p:sp>
        <p:nvSpPr>
          <p:cNvPr id="13" name="Text 11"/>
          <p:cNvSpPr/>
          <p:nvPr/>
        </p:nvSpPr>
        <p:spPr>
          <a:xfrm>
            <a:off x="1115568" y="2468880"/>
            <a:ext cx="7498080" cy="402336"/>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If it isn’t in writing, it didn’t happen. We have seen projects collapse because a corporate leader agreed to “voluntary” in a kickoff meeting, then reversed course the next day. Written commitments, signed by all parties, before implementation begins.</a:t>
            </a:r>
            <a:endParaRPr lang="en-US" sz="1100" dirty="0"/>
          </a:p>
        </p:txBody>
      </p:sp>
      <p:sp>
        <p:nvSpPr>
          <p:cNvPr id="14" name="Shape 12"/>
          <p:cNvSpPr/>
          <p:nvPr/>
        </p:nvSpPr>
        <p:spPr>
          <a:xfrm>
            <a:off x="365760" y="3017520"/>
            <a:ext cx="8412480" cy="841248"/>
          </a:xfrm>
          <a:prstGeom prst="roundRect">
            <a:avLst>
              <a:gd name="adj" fmla="val 1087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US"/>
          </a:p>
        </p:txBody>
      </p:sp>
      <p:sp>
        <p:nvSpPr>
          <p:cNvPr id="15" name="Shape 13"/>
          <p:cNvSpPr/>
          <p:nvPr/>
        </p:nvSpPr>
        <p:spPr>
          <a:xfrm>
            <a:off x="475488" y="3163824"/>
            <a:ext cx="502920" cy="502920"/>
          </a:xfrm>
          <a:prstGeom prst="ellipse">
            <a:avLst/>
          </a:prstGeom>
          <a:solidFill>
            <a:srgbClr val="C0392B">
              <a:alpha val="12000"/>
            </a:srgbClr>
          </a:solidFill>
          <a:ln w="19050">
            <a:solidFill>
              <a:srgbClr val="C0392B"/>
            </a:solidFill>
            <a:prstDash val="solid"/>
          </a:ln>
        </p:spPr>
        <p:txBody>
          <a:bodyPr/>
          <a:lstStyle/>
          <a:p>
            <a:endParaRPr lang="en-US"/>
          </a:p>
        </p:txBody>
      </p:sp>
      <p:sp>
        <p:nvSpPr>
          <p:cNvPr id="16" name="Text 14"/>
          <p:cNvSpPr/>
          <p:nvPr/>
        </p:nvSpPr>
        <p:spPr>
          <a:xfrm>
            <a:off x="475488" y="3163824"/>
            <a:ext cx="502920" cy="502920"/>
          </a:xfrm>
          <a:prstGeom prst="rect">
            <a:avLst/>
          </a:prstGeom>
          <a:noFill/>
          <a:ln/>
        </p:spPr>
        <p:txBody>
          <a:bodyPr wrap="square" lIns="0" tIns="0" rIns="0" bIns="0" rtlCol="0" anchor="ctr"/>
          <a:lstStyle/>
          <a:p>
            <a:pPr marL="0" indent="0" algn="ctr">
              <a:buNone/>
            </a:pPr>
            <a:r>
              <a:rPr lang="en-US" sz="1800" b="1" dirty="0">
                <a:solidFill>
                  <a:srgbClr val="C0392B"/>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115568" y="3090672"/>
            <a:ext cx="7498080" cy="320040"/>
          </a:xfrm>
          <a:prstGeom prst="rect">
            <a:avLst/>
          </a:prstGeom>
          <a:noFill/>
          <a:ln/>
        </p:spPr>
        <p:txBody>
          <a:bodyPr wrap="square" rtlCol="0" anchor="ctr"/>
          <a:lstStyle/>
          <a:p>
            <a:pPr marL="0" indent="0">
              <a:buNone/>
            </a:pPr>
            <a:r>
              <a:rPr lang="en-US" sz="1400" b="1" dirty="0">
                <a:solidFill>
                  <a:srgbClr val="1F4E79"/>
                </a:solidFill>
                <a:latin typeface="Cambria" pitchFamily="34" charset="0"/>
                <a:ea typeface="Cambria" pitchFamily="34" charset="-122"/>
                <a:cs typeface="Cambria" pitchFamily="34" charset="-120"/>
              </a:rPr>
              <a:t>Ignoring ripple effects across departments</a:t>
            </a:r>
            <a:endParaRPr lang="en-US" sz="1400" dirty="0"/>
          </a:p>
        </p:txBody>
      </p:sp>
      <p:sp>
        <p:nvSpPr>
          <p:cNvPr id="18" name="Text 16"/>
          <p:cNvSpPr/>
          <p:nvPr/>
        </p:nvSpPr>
        <p:spPr>
          <a:xfrm>
            <a:off x="1115568" y="3429000"/>
            <a:ext cx="7498080" cy="402336"/>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A production schedule change immediately affects maintenance, quality, warehouse, and shipping. No schedule change happens in isolation. Every department that touches the changing area must be mapped and involved before Day 1.</a:t>
            </a:r>
            <a:endParaRPr lang="en-US" sz="1100" dirty="0"/>
          </a:p>
        </p:txBody>
      </p:sp>
      <p:sp>
        <p:nvSpPr>
          <p:cNvPr id="19" name="Shape 17"/>
          <p:cNvSpPr/>
          <p:nvPr/>
        </p:nvSpPr>
        <p:spPr>
          <a:xfrm>
            <a:off x="365760" y="3977640"/>
            <a:ext cx="8412480" cy="841248"/>
          </a:xfrm>
          <a:prstGeom prst="roundRect">
            <a:avLst>
              <a:gd name="adj" fmla="val 1087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US"/>
          </a:p>
        </p:txBody>
      </p:sp>
      <p:sp>
        <p:nvSpPr>
          <p:cNvPr id="20" name="Shape 18"/>
          <p:cNvSpPr/>
          <p:nvPr/>
        </p:nvSpPr>
        <p:spPr>
          <a:xfrm>
            <a:off x="475488" y="4123944"/>
            <a:ext cx="502920" cy="502920"/>
          </a:xfrm>
          <a:prstGeom prst="ellipse">
            <a:avLst/>
          </a:prstGeom>
          <a:solidFill>
            <a:srgbClr val="C0392B">
              <a:alpha val="12000"/>
            </a:srgbClr>
          </a:solidFill>
          <a:ln w="19050">
            <a:solidFill>
              <a:srgbClr val="C0392B"/>
            </a:solidFill>
            <a:prstDash val="solid"/>
          </a:ln>
        </p:spPr>
        <p:txBody>
          <a:bodyPr/>
          <a:lstStyle/>
          <a:p>
            <a:endParaRPr lang="en-US"/>
          </a:p>
        </p:txBody>
      </p:sp>
      <p:sp>
        <p:nvSpPr>
          <p:cNvPr id="21" name="Text 19"/>
          <p:cNvSpPr/>
          <p:nvPr/>
        </p:nvSpPr>
        <p:spPr>
          <a:xfrm>
            <a:off x="475488" y="4123944"/>
            <a:ext cx="502920" cy="502920"/>
          </a:xfrm>
          <a:prstGeom prst="rect">
            <a:avLst/>
          </a:prstGeom>
          <a:noFill/>
          <a:ln/>
        </p:spPr>
        <p:txBody>
          <a:bodyPr wrap="square" lIns="0" tIns="0" rIns="0" bIns="0" rtlCol="0" anchor="ctr"/>
          <a:lstStyle/>
          <a:p>
            <a:pPr marL="0" indent="0" algn="ctr">
              <a:buNone/>
            </a:pPr>
            <a:r>
              <a:rPr lang="en-US" sz="1800" b="1" dirty="0">
                <a:solidFill>
                  <a:srgbClr val="C0392B"/>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1115568" y="4050792"/>
            <a:ext cx="7498080" cy="320040"/>
          </a:xfrm>
          <a:prstGeom prst="rect">
            <a:avLst/>
          </a:prstGeom>
          <a:noFill/>
          <a:ln/>
        </p:spPr>
        <p:txBody>
          <a:bodyPr wrap="square" rtlCol="0" anchor="ctr"/>
          <a:lstStyle/>
          <a:p>
            <a:pPr marL="0" indent="0">
              <a:buNone/>
            </a:pPr>
            <a:r>
              <a:rPr lang="en-US" sz="1400" b="1" dirty="0">
                <a:solidFill>
                  <a:srgbClr val="1F4E79"/>
                </a:solidFill>
                <a:latin typeface="Cambria" pitchFamily="34" charset="0"/>
                <a:ea typeface="Cambria" pitchFamily="34" charset="-122"/>
                <a:cs typeface="Cambria" pitchFamily="34" charset="-120"/>
              </a:rPr>
              <a:t>Taking something away — real or perceived</a:t>
            </a:r>
            <a:endParaRPr lang="en-US" sz="1400" dirty="0"/>
          </a:p>
        </p:txBody>
      </p:sp>
      <p:sp>
        <p:nvSpPr>
          <p:cNvPr id="23" name="Text 21"/>
          <p:cNvSpPr/>
          <p:nvPr/>
        </p:nvSpPr>
        <p:spPr>
          <a:xfrm>
            <a:off x="1115568" y="4389120"/>
            <a:ext cx="7498080" cy="402336"/>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Employees scrutinize schedule changes for losses in money, choice, or time off. Real losses generate resistance. Perceived losses generate equal resistance. Address both directly and specifically — before the rumor mill does.</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What Good Change Management Looks Like</a:t>
            </a:r>
            <a:endParaRPr lang="en-US" sz="2600" dirty="0"/>
          </a:p>
        </p:txBody>
      </p:sp>
      <p:sp>
        <p:nvSpPr>
          <p:cNvPr id="3" name="Text 1"/>
          <p:cNvSpPr/>
          <p:nvPr/>
        </p:nvSpPr>
        <p:spPr>
          <a:xfrm>
            <a:off x="457200" y="795528"/>
            <a:ext cx="8229600" cy="274320"/>
          </a:xfrm>
          <a:prstGeom prst="rect">
            <a:avLst/>
          </a:prstGeom>
          <a:noFill/>
          <a:ln/>
        </p:spPr>
        <p:txBody>
          <a:bodyPr wrap="square" rtlCol="0" anchor="ctr"/>
          <a:lstStyle/>
          <a:p>
            <a:pPr marL="0" indent="0">
              <a:buNone/>
            </a:pPr>
            <a:r>
              <a:rPr lang="en-US" sz="1200" i="1" dirty="0">
                <a:solidFill>
                  <a:srgbClr val="64748B"/>
                </a:solidFill>
                <a:latin typeface="Arial" pitchFamily="34" charset="0"/>
                <a:ea typeface="Arial" pitchFamily="34" charset="-122"/>
                <a:cs typeface="Arial" pitchFamily="34" charset="-120"/>
              </a:rPr>
              <a:t>A schedule change is one of the most personal workplace changes an employee experiences.</a:t>
            </a:r>
            <a:endParaRPr lang="en-US" sz="1200" dirty="0"/>
          </a:p>
        </p:txBody>
      </p:sp>
      <p:sp>
        <p:nvSpPr>
          <p:cNvPr id="4" name="Shape 2"/>
          <p:cNvSpPr/>
          <p:nvPr/>
        </p:nvSpPr>
        <p:spPr>
          <a:xfrm>
            <a:off x="365760" y="1170432"/>
            <a:ext cx="3931920" cy="1188720"/>
          </a:xfrm>
          <a:prstGeom prst="roundRect">
            <a:avLst>
              <a:gd name="adj" fmla="val 769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502920" y="1307592"/>
            <a:ext cx="347472" cy="347472"/>
          </a:xfrm>
          <a:prstGeom prst="rect">
            <a:avLst/>
          </a:prstGeom>
        </p:spPr>
      </p:pic>
      <p:sp>
        <p:nvSpPr>
          <p:cNvPr id="6" name="Text 3"/>
          <p:cNvSpPr/>
          <p:nvPr/>
        </p:nvSpPr>
        <p:spPr>
          <a:xfrm>
            <a:off x="960120" y="1261872"/>
            <a:ext cx="3200400" cy="347472"/>
          </a:xfrm>
          <a:prstGeom prst="rect">
            <a:avLst/>
          </a:prstGeom>
          <a:noFill/>
          <a:ln/>
        </p:spPr>
        <p:txBody>
          <a:bodyPr wrap="square" rtlCol="0" anchor="ctr"/>
          <a:lstStyle/>
          <a:p>
            <a:pPr marL="0" indent="0">
              <a:buNone/>
            </a:pPr>
            <a:r>
              <a:rPr lang="en-US" sz="1200" b="1" dirty="0">
                <a:solidFill>
                  <a:srgbClr val="1F4E79"/>
                </a:solidFill>
                <a:latin typeface="Arial" pitchFamily="34" charset="0"/>
                <a:ea typeface="Arial" pitchFamily="34" charset="-122"/>
                <a:cs typeface="Arial" pitchFamily="34" charset="-120"/>
              </a:rPr>
              <a:t>Build the business case first</a:t>
            </a:r>
            <a:endParaRPr lang="en-US" sz="1200" dirty="0"/>
          </a:p>
        </p:txBody>
      </p:sp>
      <p:sp>
        <p:nvSpPr>
          <p:cNvPr id="7" name="Text 4"/>
          <p:cNvSpPr/>
          <p:nvPr/>
        </p:nvSpPr>
        <p:spPr>
          <a:xfrm>
            <a:off x="502920" y="1700784"/>
            <a:ext cx="3657600" cy="603504"/>
          </a:xfrm>
          <a:prstGeom prst="rect">
            <a:avLst/>
          </a:prstGeom>
          <a:noFill/>
          <a:ln/>
        </p:spPr>
        <p:txBody>
          <a:bodyPr wrap="square" rtlCol="0" anchor="ctr"/>
          <a:lstStyle/>
          <a:p>
            <a:pPr marL="0" indent="0">
              <a:buNone/>
            </a:pPr>
            <a:r>
              <a:rPr lang="en-US" sz="1050" dirty="0">
                <a:solidFill>
                  <a:srgbClr val="1A1A2E"/>
                </a:solidFill>
                <a:latin typeface="Arial" pitchFamily="34" charset="0"/>
                <a:ea typeface="Arial" pitchFamily="34" charset="-122"/>
                <a:cs typeface="Arial" pitchFamily="34" charset="-120"/>
              </a:rPr>
              <a:t>Without a clear rationale, employees perceive the change as arbitrary. The case doesn’t have to be complex, but it must be specific and honest.</a:t>
            </a:r>
            <a:endParaRPr lang="en-US" sz="1050" dirty="0"/>
          </a:p>
        </p:txBody>
      </p:sp>
      <p:sp>
        <p:nvSpPr>
          <p:cNvPr id="8" name="Shape 5"/>
          <p:cNvSpPr/>
          <p:nvPr/>
        </p:nvSpPr>
        <p:spPr>
          <a:xfrm>
            <a:off x="4663440" y="1170432"/>
            <a:ext cx="3931920" cy="1188720"/>
          </a:xfrm>
          <a:prstGeom prst="roundRect">
            <a:avLst>
              <a:gd name="adj" fmla="val 769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4800600" y="1307592"/>
            <a:ext cx="347472" cy="347472"/>
          </a:xfrm>
          <a:prstGeom prst="rect">
            <a:avLst/>
          </a:prstGeom>
        </p:spPr>
      </p:pic>
      <p:sp>
        <p:nvSpPr>
          <p:cNvPr id="10" name="Text 6"/>
          <p:cNvSpPr/>
          <p:nvPr/>
        </p:nvSpPr>
        <p:spPr>
          <a:xfrm>
            <a:off x="5257800" y="1261872"/>
            <a:ext cx="3200400" cy="347472"/>
          </a:xfrm>
          <a:prstGeom prst="rect">
            <a:avLst/>
          </a:prstGeom>
          <a:noFill/>
          <a:ln/>
        </p:spPr>
        <p:txBody>
          <a:bodyPr wrap="square" rtlCol="0" anchor="ctr"/>
          <a:lstStyle/>
          <a:p>
            <a:pPr marL="0" indent="0">
              <a:buNone/>
            </a:pPr>
            <a:r>
              <a:rPr lang="en-US" sz="1200" b="1" dirty="0">
                <a:solidFill>
                  <a:srgbClr val="1F4E79"/>
                </a:solidFill>
                <a:latin typeface="Arial" pitchFamily="34" charset="0"/>
                <a:ea typeface="Arial" pitchFamily="34" charset="-122"/>
                <a:cs typeface="Arial" pitchFamily="34" charset="-120"/>
              </a:rPr>
              <a:t>Survey the workforce before you design</a:t>
            </a:r>
            <a:endParaRPr lang="en-US" sz="1200" dirty="0"/>
          </a:p>
        </p:txBody>
      </p:sp>
      <p:sp>
        <p:nvSpPr>
          <p:cNvPr id="11" name="Text 7"/>
          <p:cNvSpPr/>
          <p:nvPr/>
        </p:nvSpPr>
        <p:spPr>
          <a:xfrm>
            <a:off x="4800600" y="1700784"/>
            <a:ext cx="3657600" cy="603504"/>
          </a:xfrm>
          <a:prstGeom prst="rect">
            <a:avLst/>
          </a:prstGeom>
          <a:noFill/>
          <a:ln/>
        </p:spPr>
        <p:txBody>
          <a:bodyPr wrap="square" rtlCol="0" anchor="ctr"/>
          <a:lstStyle/>
          <a:p>
            <a:pPr marL="0" indent="0">
              <a:buNone/>
            </a:pPr>
            <a:r>
              <a:rPr lang="en-US" sz="1050" dirty="0">
                <a:solidFill>
                  <a:srgbClr val="1A1A2E"/>
                </a:solidFill>
                <a:latin typeface="Arial" pitchFamily="34" charset="0"/>
                <a:ea typeface="Arial" pitchFamily="34" charset="-122"/>
                <a:cs typeface="Arial" pitchFamily="34" charset="-120"/>
              </a:rPr>
              <a:t>Employees who participate in designing a schedule are statistically more likely to support it. The survey also surfaces constraints — childcare, second jobs, medical schedules — that management rarely knows about.</a:t>
            </a:r>
            <a:endParaRPr lang="en-US" sz="1050" dirty="0"/>
          </a:p>
        </p:txBody>
      </p:sp>
      <p:sp>
        <p:nvSpPr>
          <p:cNvPr id="12" name="Shape 8"/>
          <p:cNvSpPr/>
          <p:nvPr/>
        </p:nvSpPr>
        <p:spPr>
          <a:xfrm>
            <a:off x="365760" y="2496312"/>
            <a:ext cx="3931920" cy="1188720"/>
          </a:xfrm>
          <a:prstGeom prst="roundRect">
            <a:avLst>
              <a:gd name="adj" fmla="val 769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502920" y="2633472"/>
            <a:ext cx="347472" cy="347472"/>
          </a:xfrm>
          <a:prstGeom prst="rect">
            <a:avLst/>
          </a:prstGeom>
        </p:spPr>
      </p:pic>
      <p:sp>
        <p:nvSpPr>
          <p:cNvPr id="14" name="Text 9"/>
          <p:cNvSpPr/>
          <p:nvPr/>
        </p:nvSpPr>
        <p:spPr>
          <a:xfrm>
            <a:off x="960120" y="2587752"/>
            <a:ext cx="3200400" cy="347472"/>
          </a:xfrm>
          <a:prstGeom prst="rect">
            <a:avLst/>
          </a:prstGeom>
          <a:noFill/>
          <a:ln/>
        </p:spPr>
        <p:txBody>
          <a:bodyPr wrap="square" rtlCol="0" anchor="ctr"/>
          <a:lstStyle/>
          <a:p>
            <a:pPr marL="0" indent="0">
              <a:buNone/>
            </a:pPr>
            <a:r>
              <a:rPr lang="en-US" sz="1200" b="1" dirty="0">
                <a:solidFill>
                  <a:srgbClr val="1F4E79"/>
                </a:solidFill>
                <a:latin typeface="Arial" pitchFamily="34" charset="0"/>
                <a:ea typeface="Arial" pitchFamily="34" charset="-122"/>
                <a:cs typeface="Arial" pitchFamily="34" charset="-120"/>
              </a:rPr>
              <a:t>Present two options — not one</a:t>
            </a:r>
            <a:endParaRPr lang="en-US" sz="1200" dirty="0"/>
          </a:p>
        </p:txBody>
      </p:sp>
      <p:sp>
        <p:nvSpPr>
          <p:cNvPr id="15" name="Text 10"/>
          <p:cNvSpPr/>
          <p:nvPr/>
        </p:nvSpPr>
        <p:spPr>
          <a:xfrm>
            <a:off x="502920" y="3026664"/>
            <a:ext cx="3657600" cy="603504"/>
          </a:xfrm>
          <a:prstGeom prst="rect">
            <a:avLst/>
          </a:prstGeom>
          <a:noFill/>
          <a:ln/>
        </p:spPr>
        <p:txBody>
          <a:bodyPr wrap="square" rtlCol="0" anchor="ctr"/>
          <a:lstStyle/>
          <a:p>
            <a:pPr marL="0" indent="0">
              <a:buNone/>
            </a:pPr>
            <a:r>
              <a:rPr lang="en-US" sz="1050" dirty="0">
                <a:solidFill>
                  <a:srgbClr val="1A1A2E"/>
                </a:solidFill>
                <a:latin typeface="Arial" pitchFamily="34" charset="0"/>
                <a:ea typeface="Arial" pitchFamily="34" charset="-122"/>
                <a:cs typeface="Arial" pitchFamily="34" charset="-120"/>
              </a:rPr>
              <a:t>Give management-approved options that all meet business requirements. The schedule employees select will always outperform one that’s imposed. Unanimous buy-in is not the goal — roughly 5% will remain dissatisfied with any option.</a:t>
            </a:r>
            <a:endParaRPr lang="en-US" sz="1050" dirty="0"/>
          </a:p>
        </p:txBody>
      </p:sp>
      <p:sp>
        <p:nvSpPr>
          <p:cNvPr id="16" name="Shape 11"/>
          <p:cNvSpPr/>
          <p:nvPr/>
        </p:nvSpPr>
        <p:spPr>
          <a:xfrm>
            <a:off x="4663440" y="2496312"/>
            <a:ext cx="3931920" cy="1188720"/>
          </a:xfrm>
          <a:prstGeom prst="roundRect">
            <a:avLst>
              <a:gd name="adj" fmla="val 769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US"/>
          </a:p>
        </p:txBody>
      </p:sp>
      <p:pic>
        <p:nvPicPr>
          <p:cNvPr id="17" name="Image 3" descr="preencoded.png"/>
          <p:cNvPicPr>
            <a:picLocks noChangeAspect="1"/>
          </p:cNvPicPr>
          <p:nvPr/>
        </p:nvPicPr>
        <p:blipFill>
          <a:blip r:embed="rId6"/>
          <a:stretch>
            <a:fillRect/>
          </a:stretch>
        </p:blipFill>
        <p:spPr>
          <a:xfrm>
            <a:off x="4800600" y="2633472"/>
            <a:ext cx="347472" cy="347472"/>
          </a:xfrm>
          <a:prstGeom prst="rect">
            <a:avLst/>
          </a:prstGeom>
        </p:spPr>
      </p:pic>
      <p:sp>
        <p:nvSpPr>
          <p:cNvPr id="18" name="Text 12"/>
          <p:cNvSpPr/>
          <p:nvPr/>
        </p:nvSpPr>
        <p:spPr>
          <a:xfrm>
            <a:off x="5257800" y="2587752"/>
            <a:ext cx="3200400" cy="347472"/>
          </a:xfrm>
          <a:prstGeom prst="rect">
            <a:avLst/>
          </a:prstGeom>
          <a:noFill/>
          <a:ln/>
        </p:spPr>
        <p:txBody>
          <a:bodyPr wrap="square" rtlCol="0" anchor="ctr"/>
          <a:lstStyle/>
          <a:p>
            <a:pPr marL="0" indent="0">
              <a:buNone/>
            </a:pPr>
            <a:r>
              <a:rPr lang="en-US" sz="1200" b="1" dirty="0">
                <a:solidFill>
                  <a:srgbClr val="1F4E79"/>
                </a:solidFill>
                <a:latin typeface="Arial" pitchFamily="34" charset="0"/>
                <a:ea typeface="Arial" pitchFamily="34" charset="-122"/>
                <a:cs typeface="Arial" pitchFamily="34" charset="-120"/>
              </a:rPr>
              <a:t>Get every agreement in writing</a:t>
            </a:r>
            <a:endParaRPr lang="en-US" sz="1200" dirty="0"/>
          </a:p>
        </p:txBody>
      </p:sp>
      <p:sp>
        <p:nvSpPr>
          <p:cNvPr id="19" name="Text 13"/>
          <p:cNvSpPr/>
          <p:nvPr/>
        </p:nvSpPr>
        <p:spPr>
          <a:xfrm>
            <a:off x="4800600" y="3026664"/>
            <a:ext cx="3657600" cy="603504"/>
          </a:xfrm>
          <a:prstGeom prst="rect">
            <a:avLst/>
          </a:prstGeom>
          <a:noFill/>
          <a:ln/>
        </p:spPr>
        <p:txBody>
          <a:bodyPr wrap="square" rtlCol="0" anchor="ctr"/>
          <a:lstStyle/>
          <a:p>
            <a:pPr marL="0" indent="0">
              <a:buNone/>
            </a:pPr>
            <a:r>
              <a:rPr lang="en-US" sz="1050" dirty="0">
                <a:solidFill>
                  <a:srgbClr val="1A1A2E"/>
                </a:solidFill>
                <a:latin typeface="Arial" pitchFamily="34" charset="0"/>
                <a:ea typeface="Arial" pitchFamily="34" charset="-122"/>
                <a:cs typeface="Arial" pitchFamily="34" charset="-120"/>
              </a:rPr>
              <a:t>Verbal commitments don’t survive shift changes, leadership turnover, or grievance arbitrations. Written agreements, signed before implementation, protect everyone including the workforce.</a:t>
            </a:r>
            <a:endParaRPr lang="en-US" sz="1050" dirty="0"/>
          </a:p>
        </p:txBody>
      </p:sp>
      <p:sp>
        <p:nvSpPr>
          <p:cNvPr id="20" name="Shape 14"/>
          <p:cNvSpPr/>
          <p:nvPr/>
        </p:nvSpPr>
        <p:spPr>
          <a:xfrm>
            <a:off x="365760" y="3822192"/>
            <a:ext cx="8412480" cy="1115568"/>
          </a:xfrm>
          <a:prstGeom prst="roundRect">
            <a:avLst>
              <a:gd name="adj" fmla="val 8197"/>
            </a:avLst>
          </a:prstGeom>
          <a:solidFill>
            <a:srgbClr val="1D6A72">
              <a:alpha val="8000"/>
            </a:srgbClr>
          </a:solidFill>
          <a:ln w="12700">
            <a:solidFill>
              <a:srgbClr val="1D6A72"/>
            </a:solidFill>
            <a:prstDash val="solid"/>
          </a:ln>
          <a:effectLst>
            <a:outerShdw blurRad="101600" dist="38100" dir="2700000" algn="bl" rotWithShape="0">
              <a:srgbClr val="000000">
                <a:alpha val="12000"/>
              </a:srgbClr>
            </a:outerShdw>
          </a:effectLst>
        </p:spPr>
        <p:txBody>
          <a:bodyPr/>
          <a:lstStyle/>
          <a:p>
            <a:endParaRPr lang="en-US"/>
          </a:p>
        </p:txBody>
      </p:sp>
      <p:pic>
        <p:nvPicPr>
          <p:cNvPr id="21" name="Image 4" descr="preencoded.png"/>
          <p:cNvPicPr>
            <a:picLocks noChangeAspect="1"/>
          </p:cNvPicPr>
          <p:nvPr/>
        </p:nvPicPr>
        <p:blipFill>
          <a:blip r:embed="rId7"/>
          <a:stretch>
            <a:fillRect/>
          </a:stretch>
        </p:blipFill>
        <p:spPr>
          <a:xfrm>
            <a:off x="548640" y="3959352"/>
            <a:ext cx="347472" cy="347472"/>
          </a:xfrm>
          <a:prstGeom prst="rect">
            <a:avLst/>
          </a:prstGeom>
        </p:spPr>
      </p:pic>
      <p:sp>
        <p:nvSpPr>
          <p:cNvPr id="22" name="Text 15"/>
          <p:cNvSpPr/>
          <p:nvPr/>
        </p:nvSpPr>
        <p:spPr>
          <a:xfrm>
            <a:off x="1024128" y="3913632"/>
            <a:ext cx="7589520" cy="347472"/>
          </a:xfrm>
          <a:prstGeom prst="rect">
            <a:avLst/>
          </a:prstGeom>
          <a:noFill/>
          <a:ln/>
        </p:spPr>
        <p:txBody>
          <a:bodyPr wrap="square" rtlCol="0" anchor="ctr"/>
          <a:lstStyle/>
          <a:p>
            <a:pPr marL="0" indent="0">
              <a:buNone/>
            </a:pPr>
            <a:r>
              <a:rPr lang="en-US" sz="1300" b="1" dirty="0">
                <a:solidFill>
                  <a:srgbClr val="1F4E79"/>
                </a:solidFill>
                <a:latin typeface="Arial" pitchFamily="34" charset="0"/>
                <a:ea typeface="Arial" pitchFamily="34" charset="-122"/>
                <a:cs typeface="Arial" pitchFamily="34" charset="-120"/>
              </a:rPr>
              <a:t>Give employees 6–8 weeks notice</a:t>
            </a:r>
            <a:endParaRPr lang="en-US" sz="1300" dirty="0"/>
          </a:p>
        </p:txBody>
      </p:sp>
      <p:sp>
        <p:nvSpPr>
          <p:cNvPr id="23" name="Text 16"/>
          <p:cNvSpPr/>
          <p:nvPr/>
        </p:nvSpPr>
        <p:spPr>
          <a:xfrm>
            <a:off x="548640" y="4370832"/>
            <a:ext cx="8046720" cy="502920"/>
          </a:xfrm>
          <a:prstGeom prst="rect">
            <a:avLst/>
          </a:prstGeom>
          <a:noFill/>
          <a:ln/>
        </p:spPr>
        <p:txBody>
          <a:bodyPr wrap="square" rtlCol="0" anchor="ctr"/>
          <a:lstStyle/>
          <a:p>
            <a:pPr marL="0" indent="0">
              <a:buNone/>
            </a:pPr>
            <a:r>
              <a:rPr lang="en-US" sz="1100" dirty="0">
                <a:solidFill>
                  <a:srgbClr val="1A1A2E"/>
                </a:solidFill>
                <a:latin typeface="Arial" pitchFamily="34" charset="0"/>
                <a:ea typeface="Arial" pitchFamily="34" charset="-122"/>
                <a:cs typeface="Arial" pitchFamily="34" charset="-120"/>
              </a:rPr>
              <a:t>Employees need time to rearrange childcare, transportation, and family commitments. Four weeks is the minimum. Six to eight weeks is preferred. Rushed implementations fail at a dramatically higher rate.</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5943600" y="-731520"/>
            <a:ext cx="4572000" cy="4572000"/>
          </a:xfrm>
          <a:prstGeom prst="ellipse">
            <a:avLst/>
          </a:prstGeom>
          <a:solidFill>
            <a:srgbClr val="1D6A72">
              <a:alpha val="15000"/>
            </a:srgbClr>
          </a:solidFill>
          <a:ln w="12700">
            <a:solidFill>
              <a:srgbClr val="1D6A72">
                <a:alpha val="0"/>
              </a:srgbClr>
            </a:solidFill>
            <a:prstDash val="solid"/>
          </a:ln>
        </p:spPr>
        <p:txBody>
          <a:bodyPr/>
          <a:lstStyle/>
          <a:p>
            <a:endParaRPr lang="en-US"/>
          </a:p>
        </p:txBody>
      </p:sp>
      <p:sp>
        <p:nvSpPr>
          <p:cNvPr id="3" name="Text 1"/>
          <p:cNvSpPr/>
          <p:nvPr/>
        </p:nvSpPr>
        <p:spPr>
          <a:xfrm>
            <a:off x="457200" y="274320"/>
            <a:ext cx="4572000" cy="274320"/>
          </a:xfrm>
          <a:prstGeom prst="rect">
            <a:avLst/>
          </a:prstGeom>
          <a:noFill/>
          <a:ln/>
        </p:spPr>
        <p:txBody>
          <a:bodyPr wrap="square" rtlCol="0" anchor="ctr"/>
          <a:lstStyle/>
          <a:p>
            <a:pPr marL="0" indent="0">
              <a:buNone/>
            </a:pPr>
            <a:r>
              <a:rPr lang="en-US" sz="1100" kern="0" spc="300" dirty="0">
                <a:solidFill>
                  <a:srgbClr val="E8610A"/>
                </a:solidFill>
                <a:latin typeface="Arial" pitchFamily="34" charset="0"/>
                <a:ea typeface="Arial" pitchFamily="34" charset="-122"/>
                <a:cs typeface="Arial" pitchFamily="34" charset="-120"/>
              </a:rPr>
              <a:t>L O O K I N G   A H E A D</a:t>
            </a:r>
            <a:endParaRPr lang="en-US" sz="1100" dirty="0"/>
          </a:p>
        </p:txBody>
      </p:sp>
      <p:sp>
        <p:nvSpPr>
          <p:cNvPr id="4" name="Text 2"/>
          <p:cNvSpPr/>
          <p:nvPr/>
        </p:nvSpPr>
        <p:spPr>
          <a:xfrm>
            <a:off x="457200" y="566928"/>
            <a:ext cx="5943600" cy="11887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Today: The Planner’s</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Impossible Job</a:t>
            </a:r>
            <a:endParaRPr lang="en-US" sz="3400" dirty="0"/>
          </a:p>
        </p:txBody>
      </p:sp>
      <p:sp>
        <p:nvSpPr>
          <p:cNvPr id="5" name="Text 3"/>
          <p:cNvSpPr/>
          <p:nvPr/>
        </p:nvSpPr>
        <p:spPr>
          <a:xfrm>
            <a:off x="457200" y="1783080"/>
            <a:ext cx="5943600" cy="365760"/>
          </a:xfrm>
          <a:prstGeom prst="rect">
            <a:avLst/>
          </a:prstGeom>
          <a:noFill/>
          <a:ln/>
        </p:spPr>
        <p:txBody>
          <a:bodyPr wrap="square" rtlCol="0" anchor="ctr"/>
          <a:lstStyle/>
          <a:p>
            <a:pPr marL="0" indent="0">
              <a:buNone/>
            </a:pPr>
            <a:r>
              <a:rPr lang="en-US" sz="1400" i="1" dirty="0">
                <a:solidFill>
                  <a:srgbClr val="94A3B8"/>
                </a:solidFill>
                <a:latin typeface="Arial" pitchFamily="34" charset="0"/>
                <a:ea typeface="Arial" pitchFamily="34" charset="-122"/>
                <a:cs typeface="Arial" pitchFamily="34" charset="-120"/>
              </a:rPr>
              <a:t>A human mind, a stack of spreadsheets, and a moving target.</a:t>
            </a:r>
            <a:endParaRPr lang="en-US" sz="1400" dirty="0"/>
          </a:p>
        </p:txBody>
      </p:sp>
      <p:sp>
        <p:nvSpPr>
          <p:cNvPr id="6" name="Shape 4"/>
          <p:cNvSpPr/>
          <p:nvPr/>
        </p:nvSpPr>
        <p:spPr>
          <a:xfrm>
            <a:off x="365760" y="2240280"/>
            <a:ext cx="4114800" cy="2560320"/>
          </a:xfrm>
          <a:prstGeom prst="roundRect">
            <a:avLst>
              <a:gd name="adj" fmla="val 3571"/>
            </a:avLst>
          </a:prstGeom>
          <a:solidFill>
            <a:srgbClr val="FFFFFF">
              <a:alpha val="5000"/>
            </a:srgbClr>
          </a:solidFill>
          <a:ln w="12700">
            <a:solidFill>
              <a:srgbClr val="FFFFFF">
                <a:alpha val="30000"/>
              </a:srgbClr>
            </a:solidFill>
            <a:prstDash val="solid"/>
          </a:ln>
        </p:spPr>
        <p:txBody>
          <a:bodyPr/>
          <a:lstStyle/>
          <a:p>
            <a:endParaRPr lang="en-US"/>
          </a:p>
        </p:txBody>
      </p:sp>
      <p:sp>
        <p:nvSpPr>
          <p:cNvPr id="7" name="Text 5"/>
          <p:cNvSpPr/>
          <p:nvPr/>
        </p:nvSpPr>
        <p:spPr>
          <a:xfrm>
            <a:off x="502920" y="2331720"/>
            <a:ext cx="3840480" cy="32004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The Planner’s Reality</a:t>
            </a:r>
            <a:endParaRPr lang="en-US" sz="1300" dirty="0"/>
          </a:p>
        </p:txBody>
      </p:sp>
      <p:sp>
        <p:nvSpPr>
          <p:cNvPr id="8" name="Text 6"/>
          <p:cNvSpPr/>
          <p:nvPr/>
        </p:nvSpPr>
        <p:spPr>
          <a:xfrm>
            <a:off x="502920" y="2743200"/>
            <a:ext cx="3749040" cy="228600"/>
          </a:xfrm>
          <a:prstGeom prst="rect">
            <a:avLst/>
          </a:prstGeom>
          <a:noFill/>
          <a:ln/>
        </p:spPr>
        <p:txBody>
          <a:bodyPr wrap="square" rtlCol="0" anchor="ctr"/>
          <a:lstStyle/>
          <a:p>
            <a:pPr marL="0" indent="0">
              <a:buNone/>
            </a:pPr>
            <a:r>
              <a:rPr lang="en-US" sz="1200" b="1" dirty="0">
                <a:solidFill>
                  <a:srgbClr val="E8610A"/>
                </a:solidFill>
                <a:latin typeface="Arial" pitchFamily="34" charset="0"/>
                <a:ea typeface="Arial" pitchFamily="34" charset="-122"/>
                <a:cs typeface="Arial" pitchFamily="34" charset="-120"/>
              </a:rPr>
              <a:t>Supply chain volatility</a:t>
            </a:r>
            <a:endParaRPr lang="en-US" sz="1200" dirty="0"/>
          </a:p>
        </p:txBody>
      </p:sp>
      <p:sp>
        <p:nvSpPr>
          <p:cNvPr id="9" name="Text 7"/>
          <p:cNvSpPr/>
          <p:nvPr/>
        </p:nvSpPr>
        <p:spPr>
          <a:xfrm>
            <a:off x="502920" y="2962656"/>
            <a:ext cx="3749040" cy="228600"/>
          </a:xfrm>
          <a:prstGeom prst="rect">
            <a:avLst/>
          </a:prstGeom>
          <a:noFill/>
          <a:ln/>
        </p:spPr>
        <p:txBody>
          <a:bodyPr wrap="square" rtlCol="0" anchor="ctr"/>
          <a:lstStyle/>
          <a:p>
            <a:pPr marL="0" indent="0">
              <a:buNone/>
            </a:pPr>
            <a:r>
              <a:rPr lang="en-US" sz="1100" dirty="0">
                <a:solidFill>
                  <a:srgbClr val="94A3B8"/>
                </a:solidFill>
                <a:latin typeface="Arial" pitchFamily="34" charset="0"/>
                <a:ea typeface="Arial" pitchFamily="34" charset="-122"/>
                <a:cs typeface="Arial" pitchFamily="34" charset="-120"/>
              </a:rPr>
              <a:t>Price changes, rail strikes, supplier delays</a:t>
            </a:r>
            <a:endParaRPr lang="en-US" sz="1100" dirty="0"/>
          </a:p>
        </p:txBody>
      </p:sp>
      <p:sp>
        <p:nvSpPr>
          <p:cNvPr id="10" name="Text 8"/>
          <p:cNvSpPr/>
          <p:nvPr/>
        </p:nvSpPr>
        <p:spPr>
          <a:xfrm>
            <a:off x="502920" y="3227832"/>
            <a:ext cx="3749040" cy="228600"/>
          </a:xfrm>
          <a:prstGeom prst="rect">
            <a:avLst/>
          </a:prstGeom>
          <a:noFill/>
          <a:ln/>
        </p:spPr>
        <p:txBody>
          <a:bodyPr wrap="square" rtlCol="0" anchor="ctr"/>
          <a:lstStyle/>
          <a:p>
            <a:pPr marL="0" indent="0">
              <a:buNone/>
            </a:pPr>
            <a:r>
              <a:rPr lang="en-US" sz="1200" b="1" dirty="0">
                <a:solidFill>
                  <a:srgbClr val="E8610A"/>
                </a:solidFill>
                <a:latin typeface="Arial" pitchFamily="34" charset="0"/>
                <a:ea typeface="Arial" pitchFamily="34" charset="-122"/>
                <a:cs typeface="Arial" pitchFamily="34" charset="-120"/>
              </a:rPr>
              <a:t>Equipment &amp; maintenance</a:t>
            </a:r>
            <a:endParaRPr lang="en-US" sz="1200" dirty="0"/>
          </a:p>
        </p:txBody>
      </p:sp>
      <p:sp>
        <p:nvSpPr>
          <p:cNvPr id="11" name="Text 9"/>
          <p:cNvSpPr/>
          <p:nvPr/>
        </p:nvSpPr>
        <p:spPr>
          <a:xfrm>
            <a:off x="502920" y="3447288"/>
            <a:ext cx="3749040" cy="228600"/>
          </a:xfrm>
          <a:prstGeom prst="rect">
            <a:avLst/>
          </a:prstGeom>
          <a:noFill/>
          <a:ln/>
        </p:spPr>
        <p:txBody>
          <a:bodyPr wrap="square" rtlCol="0" anchor="ctr"/>
          <a:lstStyle/>
          <a:p>
            <a:pPr marL="0" indent="0">
              <a:buNone/>
            </a:pPr>
            <a:r>
              <a:rPr lang="en-US" sz="1100" dirty="0">
                <a:solidFill>
                  <a:srgbClr val="94A3B8"/>
                </a:solidFill>
                <a:latin typeface="Arial" pitchFamily="34" charset="0"/>
                <a:ea typeface="Arial" pitchFamily="34" charset="-122"/>
                <a:cs typeface="Arial" pitchFamily="34" charset="-120"/>
              </a:rPr>
              <a:t>Unplanned breakdowns, changeover windows</a:t>
            </a:r>
            <a:endParaRPr lang="en-US" sz="1100" dirty="0"/>
          </a:p>
        </p:txBody>
      </p:sp>
      <p:sp>
        <p:nvSpPr>
          <p:cNvPr id="12" name="Text 10"/>
          <p:cNvSpPr/>
          <p:nvPr/>
        </p:nvSpPr>
        <p:spPr>
          <a:xfrm>
            <a:off x="502920" y="3712464"/>
            <a:ext cx="3749040" cy="228600"/>
          </a:xfrm>
          <a:prstGeom prst="rect">
            <a:avLst/>
          </a:prstGeom>
          <a:noFill/>
          <a:ln/>
        </p:spPr>
        <p:txBody>
          <a:bodyPr wrap="square" rtlCol="0" anchor="ctr"/>
          <a:lstStyle/>
          <a:p>
            <a:pPr marL="0" indent="0">
              <a:buNone/>
            </a:pPr>
            <a:r>
              <a:rPr lang="en-US" sz="1200" b="1" dirty="0">
                <a:solidFill>
                  <a:srgbClr val="E8610A"/>
                </a:solidFill>
                <a:latin typeface="Arial" pitchFamily="34" charset="0"/>
                <a:ea typeface="Arial" pitchFamily="34" charset="-122"/>
                <a:cs typeface="Arial" pitchFamily="34" charset="-120"/>
              </a:rPr>
              <a:t>Workforce uncertainty</a:t>
            </a:r>
            <a:endParaRPr lang="en-US" sz="1200" dirty="0"/>
          </a:p>
        </p:txBody>
      </p:sp>
      <p:sp>
        <p:nvSpPr>
          <p:cNvPr id="13" name="Text 11"/>
          <p:cNvSpPr/>
          <p:nvPr/>
        </p:nvSpPr>
        <p:spPr>
          <a:xfrm>
            <a:off x="502920" y="3931920"/>
            <a:ext cx="3749040" cy="228600"/>
          </a:xfrm>
          <a:prstGeom prst="rect">
            <a:avLst/>
          </a:prstGeom>
          <a:noFill/>
          <a:ln/>
        </p:spPr>
        <p:txBody>
          <a:bodyPr wrap="square" rtlCol="0" anchor="ctr"/>
          <a:lstStyle/>
          <a:p>
            <a:pPr marL="0" indent="0">
              <a:buNone/>
            </a:pPr>
            <a:r>
              <a:rPr lang="en-US" sz="1100" dirty="0">
                <a:solidFill>
                  <a:srgbClr val="94A3B8"/>
                </a:solidFill>
                <a:latin typeface="Arial" pitchFamily="34" charset="0"/>
                <a:ea typeface="Arial" pitchFamily="34" charset="-122"/>
                <a:cs typeface="Arial" pitchFamily="34" charset="-120"/>
              </a:rPr>
              <a:t>Absences, skill gaps, turnover, overtime</a:t>
            </a:r>
            <a:endParaRPr lang="en-US" sz="1100" dirty="0"/>
          </a:p>
        </p:txBody>
      </p:sp>
      <p:sp>
        <p:nvSpPr>
          <p:cNvPr id="14" name="Text 12"/>
          <p:cNvSpPr/>
          <p:nvPr/>
        </p:nvSpPr>
        <p:spPr>
          <a:xfrm>
            <a:off x="502920" y="4197096"/>
            <a:ext cx="3749040" cy="228600"/>
          </a:xfrm>
          <a:prstGeom prst="rect">
            <a:avLst/>
          </a:prstGeom>
          <a:noFill/>
          <a:ln/>
        </p:spPr>
        <p:txBody>
          <a:bodyPr wrap="square" rtlCol="0" anchor="ctr"/>
          <a:lstStyle/>
          <a:p>
            <a:pPr marL="0" indent="0">
              <a:buNone/>
            </a:pPr>
            <a:r>
              <a:rPr lang="en-US" sz="1200" b="1" dirty="0">
                <a:solidFill>
                  <a:srgbClr val="E8610A"/>
                </a:solidFill>
                <a:latin typeface="Arial" pitchFamily="34" charset="0"/>
                <a:ea typeface="Arial" pitchFamily="34" charset="-122"/>
                <a:cs typeface="Arial" pitchFamily="34" charset="-120"/>
              </a:rPr>
              <a:t>Demand swings</a:t>
            </a:r>
            <a:endParaRPr lang="en-US" sz="1200" dirty="0"/>
          </a:p>
        </p:txBody>
      </p:sp>
      <p:sp>
        <p:nvSpPr>
          <p:cNvPr id="15" name="Text 13"/>
          <p:cNvSpPr/>
          <p:nvPr/>
        </p:nvSpPr>
        <p:spPr>
          <a:xfrm>
            <a:off x="502920" y="4416552"/>
            <a:ext cx="3749040" cy="228600"/>
          </a:xfrm>
          <a:prstGeom prst="rect">
            <a:avLst/>
          </a:prstGeom>
          <a:noFill/>
          <a:ln/>
        </p:spPr>
        <p:txBody>
          <a:bodyPr wrap="square" rtlCol="0" anchor="ctr"/>
          <a:lstStyle/>
          <a:p>
            <a:pPr marL="0" indent="0">
              <a:buNone/>
            </a:pPr>
            <a:r>
              <a:rPr lang="en-US" sz="1100" dirty="0">
                <a:solidFill>
                  <a:srgbClr val="94A3B8"/>
                </a:solidFill>
                <a:latin typeface="Arial" pitchFamily="34" charset="0"/>
                <a:ea typeface="Arial" pitchFamily="34" charset="-122"/>
                <a:cs typeface="Arial" pitchFamily="34" charset="-120"/>
              </a:rPr>
              <a:t>Seasonality, promotional runs, big orders</a:t>
            </a:r>
            <a:endParaRPr lang="en-US" sz="1100" dirty="0"/>
          </a:p>
        </p:txBody>
      </p:sp>
      <p:sp>
        <p:nvSpPr>
          <p:cNvPr id="16" name="Shape 14"/>
          <p:cNvSpPr/>
          <p:nvPr/>
        </p:nvSpPr>
        <p:spPr>
          <a:xfrm>
            <a:off x="4754880" y="2240280"/>
            <a:ext cx="4023360" cy="2560320"/>
          </a:xfrm>
          <a:prstGeom prst="roundRect">
            <a:avLst>
              <a:gd name="adj" fmla="val 3571"/>
            </a:avLst>
          </a:prstGeom>
          <a:solidFill>
            <a:srgbClr val="1F4E79">
              <a:alpha val="70000"/>
            </a:srgbClr>
          </a:solidFill>
          <a:ln w="12700">
            <a:solidFill>
              <a:srgbClr val="1D6A72">
                <a:alpha val="40000"/>
              </a:srgbClr>
            </a:solidFill>
            <a:prstDash val="solid"/>
          </a:ln>
        </p:spPr>
        <p:txBody>
          <a:bodyPr/>
          <a:lstStyle/>
          <a:p>
            <a:endParaRPr lang="en-US"/>
          </a:p>
        </p:txBody>
      </p:sp>
      <p:sp>
        <p:nvSpPr>
          <p:cNvPr id="17" name="Text 15"/>
          <p:cNvSpPr/>
          <p:nvPr/>
        </p:nvSpPr>
        <p:spPr>
          <a:xfrm>
            <a:off x="4892040" y="2286000"/>
            <a:ext cx="731520" cy="731520"/>
          </a:xfrm>
          <a:prstGeom prst="rect">
            <a:avLst/>
          </a:prstGeom>
          <a:noFill/>
          <a:ln/>
        </p:spPr>
        <p:txBody>
          <a:bodyPr wrap="square" rtlCol="0" anchor="ctr"/>
          <a:lstStyle/>
          <a:p>
            <a:pPr marL="0" indent="0">
              <a:buNone/>
            </a:pPr>
            <a:r>
              <a:rPr lang="en-US" sz="6000" dirty="0">
                <a:solidFill>
                  <a:srgbClr val="E8610A"/>
                </a:solidFill>
                <a:latin typeface="Cambria" pitchFamily="34" charset="0"/>
                <a:ea typeface="Cambria" pitchFamily="34" charset="-122"/>
                <a:cs typeface="Cambria" pitchFamily="34" charset="-120"/>
              </a:rPr>
              <a:t>“</a:t>
            </a:r>
            <a:endParaRPr lang="en-US" sz="6000" dirty="0"/>
          </a:p>
        </p:txBody>
      </p:sp>
      <p:sp>
        <p:nvSpPr>
          <p:cNvPr id="18" name="Text 16"/>
          <p:cNvSpPr/>
          <p:nvPr/>
        </p:nvSpPr>
        <p:spPr>
          <a:xfrm>
            <a:off x="4892040" y="2834640"/>
            <a:ext cx="3749040" cy="1280160"/>
          </a:xfrm>
          <a:prstGeom prst="rect">
            <a:avLst/>
          </a:prstGeom>
          <a:noFill/>
          <a:ln/>
        </p:spPr>
        <p:txBody>
          <a:bodyPr wrap="square" rtlCol="0" anchor="ctr"/>
          <a:lstStyle/>
          <a:p>
            <a:pPr marL="0" indent="0" algn="ctr">
              <a:buNone/>
            </a:pPr>
            <a:r>
              <a:rPr lang="en-US" sz="1500" i="1" dirty="0">
                <a:solidFill>
                  <a:srgbClr val="FFFFFF"/>
                </a:solidFill>
                <a:latin typeface="Cambria" pitchFamily="34" charset="0"/>
                <a:ea typeface="Cambria" pitchFamily="34" charset="-122"/>
                <a:cs typeface="Cambria" pitchFamily="34" charset="-120"/>
              </a:rPr>
              <a:t>Every plan is a best guess held together by experience, intuition, and caffeine.</a:t>
            </a:r>
            <a:endParaRPr lang="en-US" sz="1500" dirty="0"/>
          </a:p>
        </p:txBody>
      </p:sp>
      <p:sp>
        <p:nvSpPr>
          <p:cNvPr id="19" name="Shape 17"/>
          <p:cNvSpPr/>
          <p:nvPr/>
        </p:nvSpPr>
        <p:spPr>
          <a:xfrm>
            <a:off x="5212080" y="4206240"/>
            <a:ext cx="3108960" cy="0"/>
          </a:xfrm>
          <a:prstGeom prst="line">
            <a:avLst/>
          </a:prstGeom>
          <a:noFill/>
          <a:ln w="12700">
            <a:solidFill>
              <a:srgbClr val="E8610A"/>
            </a:solidFill>
            <a:prstDash val="solid"/>
          </a:ln>
        </p:spPr>
        <p:txBody>
          <a:bodyPr/>
          <a:lstStyle/>
          <a:p>
            <a:endParaRPr lang="en-US"/>
          </a:p>
        </p:txBody>
      </p:sp>
      <p:sp>
        <p:nvSpPr>
          <p:cNvPr id="20" name="Text 18"/>
          <p:cNvSpPr/>
          <p:nvPr/>
        </p:nvSpPr>
        <p:spPr>
          <a:xfrm>
            <a:off x="4892040" y="4297680"/>
            <a:ext cx="3749040" cy="320040"/>
          </a:xfrm>
          <a:prstGeom prst="rect">
            <a:avLst/>
          </a:prstGeom>
          <a:noFill/>
          <a:ln/>
        </p:spPr>
        <p:txBody>
          <a:bodyPr wrap="square" rtlCol="0" anchor="ctr"/>
          <a:lstStyle/>
          <a:p>
            <a:pPr marL="0" indent="0" algn="ctr">
              <a:buNone/>
            </a:pPr>
            <a:r>
              <a:rPr lang="en-US" sz="1200" b="1" dirty="0">
                <a:solidFill>
                  <a:srgbClr val="E8610A"/>
                </a:solidFill>
                <a:latin typeface="Arial" pitchFamily="34" charset="0"/>
                <a:ea typeface="Arial" pitchFamily="34" charset="-122"/>
                <a:cs typeface="Arial" pitchFamily="34" charset="-120"/>
              </a:rPr>
              <a:t>The system is reactive by design.</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914400" y="1828800"/>
            <a:ext cx="3657600" cy="3657600"/>
          </a:xfrm>
          <a:prstGeom prst="ellipse">
            <a:avLst/>
          </a:prstGeom>
          <a:solidFill>
            <a:srgbClr val="1D6A72">
              <a:alpha val="15000"/>
            </a:srgbClr>
          </a:solidFill>
          <a:ln w="12700">
            <a:solidFill>
              <a:srgbClr val="1D6A72">
                <a:alpha val="0"/>
              </a:srgbClr>
            </a:solidFill>
            <a:prstDash val="solid"/>
          </a:ln>
        </p:spPr>
        <p:txBody>
          <a:bodyPr/>
          <a:lstStyle/>
          <a:p>
            <a:endParaRPr lang="en-US"/>
          </a:p>
        </p:txBody>
      </p:sp>
      <p:sp>
        <p:nvSpPr>
          <p:cNvPr id="3" name="Text 1"/>
          <p:cNvSpPr/>
          <p:nvPr/>
        </p:nvSpPr>
        <p:spPr>
          <a:xfrm>
            <a:off x="457200" y="256032"/>
            <a:ext cx="5486400" cy="274320"/>
          </a:xfrm>
          <a:prstGeom prst="rect">
            <a:avLst/>
          </a:prstGeom>
          <a:noFill/>
          <a:ln/>
        </p:spPr>
        <p:txBody>
          <a:bodyPr wrap="square" rtlCol="0" anchor="ctr"/>
          <a:lstStyle/>
          <a:p>
            <a:pPr marL="0" indent="0">
              <a:buNone/>
            </a:pPr>
            <a:r>
              <a:rPr lang="en-US" sz="1100" kern="0" spc="300" dirty="0">
                <a:solidFill>
                  <a:srgbClr val="E8610A"/>
                </a:solidFill>
                <a:latin typeface="Arial" pitchFamily="34" charset="0"/>
                <a:ea typeface="Arial" pitchFamily="34" charset="-122"/>
                <a:cs typeface="Arial" pitchFamily="34" charset="-120"/>
              </a:rPr>
              <a:t>W H A T   A I   D E L I V E R S</a:t>
            </a:r>
            <a:endParaRPr lang="en-US" sz="1100" dirty="0"/>
          </a:p>
        </p:txBody>
      </p:sp>
      <p:sp>
        <p:nvSpPr>
          <p:cNvPr id="4" name="Text 2"/>
          <p:cNvSpPr/>
          <p:nvPr/>
        </p:nvSpPr>
        <p:spPr>
          <a:xfrm>
            <a:off x="457200" y="548640"/>
            <a:ext cx="8229600" cy="10972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From Reactive Scheduling</a:t>
            </a:r>
            <a:endParaRPr lang="en-US" sz="3000" dirty="0"/>
          </a:p>
          <a:p>
            <a:pPr marL="0" indent="0">
              <a:buNone/>
            </a:pPr>
            <a:r>
              <a:rPr lang="en-US" sz="3000" b="1" dirty="0">
                <a:solidFill>
                  <a:srgbClr val="FFFFFF"/>
                </a:solidFill>
                <a:latin typeface="Cambria" pitchFamily="34" charset="0"/>
                <a:ea typeface="Cambria" pitchFamily="34" charset="-122"/>
                <a:cs typeface="Cambria" pitchFamily="34" charset="-120"/>
              </a:rPr>
              <a:t>to Proactive Orchestration</a:t>
            </a:r>
            <a:endParaRPr lang="en-US" sz="3000" dirty="0"/>
          </a:p>
        </p:txBody>
      </p:sp>
      <p:sp>
        <p:nvSpPr>
          <p:cNvPr id="5" name="Text 3"/>
          <p:cNvSpPr/>
          <p:nvPr/>
        </p:nvSpPr>
        <p:spPr>
          <a:xfrm>
            <a:off x="457200" y="1664208"/>
            <a:ext cx="8229600" cy="320040"/>
          </a:xfrm>
          <a:prstGeom prst="rect">
            <a:avLst/>
          </a:prstGeom>
          <a:noFill/>
          <a:ln/>
        </p:spPr>
        <p:txBody>
          <a:bodyPr wrap="square" rtlCol="0" anchor="ctr"/>
          <a:lstStyle/>
          <a:p>
            <a:pPr marL="0" indent="0">
              <a:buNone/>
            </a:pPr>
            <a:r>
              <a:rPr lang="en-US" sz="1400" i="1" dirty="0">
                <a:solidFill>
                  <a:srgbClr val="94A3B8"/>
                </a:solidFill>
                <a:latin typeface="Arial" pitchFamily="34" charset="0"/>
                <a:ea typeface="Arial" pitchFamily="34" charset="-122"/>
                <a:cs typeface="Arial" pitchFamily="34" charset="-120"/>
              </a:rPr>
              <a:t>The operation runs ahead of its problems — not behind them.</a:t>
            </a:r>
            <a:endParaRPr lang="en-US" sz="1400" dirty="0"/>
          </a:p>
        </p:txBody>
      </p:sp>
      <p:sp>
        <p:nvSpPr>
          <p:cNvPr id="6" name="Shape 4"/>
          <p:cNvSpPr/>
          <p:nvPr/>
        </p:nvSpPr>
        <p:spPr>
          <a:xfrm>
            <a:off x="365760" y="2084832"/>
            <a:ext cx="3931920" cy="1161288"/>
          </a:xfrm>
          <a:prstGeom prst="roundRect">
            <a:avLst>
              <a:gd name="adj" fmla="val 7874"/>
            </a:avLst>
          </a:prstGeom>
          <a:solidFill>
            <a:srgbClr val="FFFFFF">
              <a:alpha val="6000"/>
            </a:srgbClr>
          </a:solidFill>
          <a:ln w="12700">
            <a:solidFill>
              <a:srgbClr val="FFFFFF">
                <a:alpha val="25000"/>
              </a:srgbClr>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502920" y="2221992"/>
            <a:ext cx="365760" cy="365760"/>
          </a:xfrm>
          <a:prstGeom prst="rect">
            <a:avLst/>
          </a:prstGeom>
        </p:spPr>
      </p:pic>
      <p:sp>
        <p:nvSpPr>
          <p:cNvPr id="8" name="Text 5"/>
          <p:cNvSpPr/>
          <p:nvPr/>
        </p:nvSpPr>
        <p:spPr>
          <a:xfrm>
            <a:off x="987552" y="2176272"/>
            <a:ext cx="3200400" cy="36576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Instantaneous Staffing</a:t>
            </a:r>
            <a:endParaRPr lang="en-US" sz="1300" dirty="0"/>
          </a:p>
        </p:txBody>
      </p:sp>
      <p:sp>
        <p:nvSpPr>
          <p:cNvPr id="9" name="Text 6"/>
          <p:cNvSpPr/>
          <p:nvPr/>
        </p:nvSpPr>
        <p:spPr>
          <a:xfrm>
            <a:off x="502920" y="2606040"/>
            <a:ext cx="3657600" cy="594360"/>
          </a:xfrm>
          <a:prstGeom prst="rect">
            <a:avLst/>
          </a:prstGeom>
          <a:noFill/>
          <a:ln/>
        </p:spPr>
        <p:txBody>
          <a:bodyPr wrap="square" rtlCol="0" anchor="ctr"/>
          <a:lstStyle/>
          <a:p>
            <a:pPr marL="0" indent="0">
              <a:buNone/>
            </a:pPr>
            <a:r>
              <a:rPr lang="en-US" sz="1100" dirty="0">
                <a:solidFill>
                  <a:srgbClr val="94A3B8"/>
                </a:solidFill>
                <a:latin typeface="Arial" pitchFamily="34" charset="0"/>
                <a:ea typeface="Arial" pitchFamily="34" charset="-122"/>
                <a:cs typeface="Arial" pitchFamily="34" charset="-120"/>
              </a:rPr>
              <a:t>AI foresees absences before the shift starts and fills positions through every available channel — text, app, voice — in minutes, not hours.</a:t>
            </a:r>
            <a:endParaRPr lang="en-US" sz="1100" dirty="0"/>
          </a:p>
        </p:txBody>
      </p:sp>
      <p:sp>
        <p:nvSpPr>
          <p:cNvPr id="10" name="Shape 7"/>
          <p:cNvSpPr/>
          <p:nvPr/>
        </p:nvSpPr>
        <p:spPr>
          <a:xfrm>
            <a:off x="4663440" y="2084832"/>
            <a:ext cx="3931920" cy="1161288"/>
          </a:xfrm>
          <a:prstGeom prst="roundRect">
            <a:avLst>
              <a:gd name="adj" fmla="val 7874"/>
            </a:avLst>
          </a:prstGeom>
          <a:solidFill>
            <a:srgbClr val="FFFFFF">
              <a:alpha val="6000"/>
            </a:srgbClr>
          </a:solidFill>
          <a:ln w="12700">
            <a:solidFill>
              <a:srgbClr val="FFFFFF">
                <a:alpha val="25000"/>
              </a:srgbClr>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800600" y="2221992"/>
            <a:ext cx="365760" cy="365760"/>
          </a:xfrm>
          <a:prstGeom prst="rect">
            <a:avLst/>
          </a:prstGeom>
        </p:spPr>
      </p:pic>
      <p:sp>
        <p:nvSpPr>
          <p:cNvPr id="12" name="Text 8"/>
          <p:cNvSpPr/>
          <p:nvPr/>
        </p:nvSpPr>
        <p:spPr>
          <a:xfrm>
            <a:off x="5285232" y="2176272"/>
            <a:ext cx="3200400" cy="36576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Clever Coverage</a:t>
            </a:r>
            <a:endParaRPr lang="en-US" sz="1300" dirty="0"/>
          </a:p>
        </p:txBody>
      </p:sp>
      <p:sp>
        <p:nvSpPr>
          <p:cNvPr id="13" name="Text 9"/>
          <p:cNvSpPr/>
          <p:nvPr/>
        </p:nvSpPr>
        <p:spPr>
          <a:xfrm>
            <a:off x="4800600" y="2606040"/>
            <a:ext cx="3657600" cy="594360"/>
          </a:xfrm>
          <a:prstGeom prst="rect">
            <a:avLst/>
          </a:prstGeom>
          <a:noFill/>
          <a:ln/>
        </p:spPr>
        <p:txBody>
          <a:bodyPr wrap="square" rtlCol="0" anchor="ctr"/>
          <a:lstStyle/>
          <a:p>
            <a:pPr marL="0" indent="0">
              <a:buNone/>
            </a:pPr>
            <a:r>
              <a:rPr lang="en-US" sz="1100" dirty="0">
                <a:solidFill>
                  <a:srgbClr val="94A3B8"/>
                </a:solidFill>
                <a:latin typeface="Arial" pitchFamily="34" charset="0"/>
                <a:ea typeface="Arial" pitchFamily="34" charset="-122"/>
                <a:cs typeface="Arial" pitchFamily="34" charset="-120"/>
              </a:rPr>
              <a:t>When Bob doesn’t show, AI knows who can step up and who can backfill. One absence, multiple moves, fully orchestrated.</a:t>
            </a:r>
            <a:endParaRPr lang="en-US" sz="1100" dirty="0"/>
          </a:p>
        </p:txBody>
      </p:sp>
      <p:sp>
        <p:nvSpPr>
          <p:cNvPr id="14" name="Shape 10"/>
          <p:cNvSpPr/>
          <p:nvPr/>
        </p:nvSpPr>
        <p:spPr>
          <a:xfrm>
            <a:off x="365760" y="3383280"/>
            <a:ext cx="3931920" cy="1161288"/>
          </a:xfrm>
          <a:prstGeom prst="roundRect">
            <a:avLst>
              <a:gd name="adj" fmla="val 7874"/>
            </a:avLst>
          </a:prstGeom>
          <a:solidFill>
            <a:srgbClr val="FFFFFF">
              <a:alpha val="6000"/>
            </a:srgbClr>
          </a:solidFill>
          <a:ln w="12700">
            <a:solidFill>
              <a:srgbClr val="FFFFFF">
                <a:alpha val="25000"/>
              </a:srgbClr>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502920" y="3520440"/>
            <a:ext cx="365760" cy="365760"/>
          </a:xfrm>
          <a:prstGeom prst="rect">
            <a:avLst/>
          </a:prstGeom>
        </p:spPr>
      </p:pic>
      <p:sp>
        <p:nvSpPr>
          <p:cNvPr id="16" name="Text 11"/>
          <p:cNvSpPr/>
          <p:nvPr/>
        </p:nvSpPr>
        <p:spPr>
          <a:xfrm>
            <a:off x="987552" y="3474720"/>
            <a:ext cx="3200400" cy="36576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Known Consequences</a:t>
            </a:r>
            <a:endParaRPr lang="en-US" sz="1300" dirty="0"/>
          </a:p>
        </p:txBody>
      </p:sp>
      <p:sp>
        <p:nvSpPr>
          <p:cNvPr id="17" name="Text 12"/>
          <p:cNvSpPr/>
          <p:nvPr/>
        </p:nvSpPr>
        <p:spPr>
          <a:xfrm>
            <a:off x="502920" y="3904488"/>
            <a:ext cx="3657600" cy="594360"/>
          </a:xfrm>
          <a:prstGeom prst="rect">
            <a:avLst/>
          </a:prstGeom>
          <a:noFill/>
          <a:ln/>
        </p:spPr>
        <p:txBody>
          <a:bodyPr wrap="square" rtlCol="0" anchor="ctr"/>
          <a:lstStyle/>
          <a:p>
            <a:pPr marL="0" indent="0">
              <a:buNone/>
            </a:pPr>
            <a:r>
              <a:rPr lang="en-US" sz="1100" dirty="0">
                <a:solidFill>
                  <a:srgbClr val="94A3B8"/>
                </a:solidFill>
                <a:latin typeface="Arial" pitchFamily="34" charset="0"/>
                <a:ea typeface="Arial" pitchFamily="34" charset="-122"/>
                <a:cs typeface="Arial" pitchFamily="34" charset="-120"/>
              </a:rPr>
              <a:t>If you choose not to fill a position, AI tells you exactly what it costs — in throughput, quality risk, and downstream delays.</a:t>
            </a:r>
            <a:endParaRPr lang="en-US" sz="1100" dirty="0"/>
          </a:p>
        </p:txBody>
      </p:sp>
      <p:sp>
        <p:nvSpPr>
          <p:cNvPr id="18" name="Shape 13"/>
          <p:cNvSpPr/>
          <p:nvPr/>
        </p:nvSpPr>
        <p:spPr>
          <a:xfrm>
            <a:off x="4663440" y="3383280"/>
            <a:ext cx="3931920" cy="1161288"/>
          </a:xfrm>
          <a:prstGeom prst="roundRect">
            <a:avLst>
              <a:gd name="adj" fmla="val 7874"/>
            </a:avLst>
          </a:prstGeom>
          <a:solidFill>
            <a:srgbClr val="FFFFFF">
              <a:alpha val="6000"/>
            </a:srgbClr>
          </a:solidFill>
          <a:ln w="12700">
            <a:solidFill>
              <a:srgbClr val="FFFFFF">
                <a:alpha val="25000"/>
              </a:srgbClr>
            </a:solidFill>
            <a:prstDash val="solid"/>
          </a:ln>
        </p:spPr>
        <p:txBody>
          <a:bodyPr/>
          <a:lstStyle/>
          <a:p>
            <a:endParaRPr lang="en-US"/>
          </a:p>
        </p:txBody>
      </p:sp>
      <p:pic>
        <p:nvPicPr>
          <p:cNvPr id="19" name="Image 3" descr="preencoded.png"/>
          <p:cNvPicPr>
            <a:picLocks noChangeAspect="1"/>
          </p:cNvPicPr>
          <p:nvPr/>
        </p:nvPicPr>
        <p:blipFill>
          <a:blip r:embed="rId6"/>
          <a:stretch>
            <a:fillRect/>
          </a:stretch>
        </p:blipFill>
        <p:spPr>
          <a:xfrm>
            <a:off x="4800600" y="3520440"/>
            <a:ext cx="365760" cy="365760"/>
          </a:xfrm>
          <a:prstGeom prst="rect">
            <a:avLst/>
          </a:prstGeom>
        </p:spPr>
      </p:pic>
      <p:sp>
        <p:nvSpPr>
          <p:cNvPr id="20" name="Text 14"/>
          <p:cNvSpPr/>
          <p:nvPr/>
        </p:nvSpPr>
        <p:spPr>
          <a:xfrm>
            <a:off x="5285232" y="3474720"/>
            <a:ext cx="3200400" cy="36576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Predictability for People</a:t>
            </a:r>
            <a:endParaRPr lang="en-US" sz="1300" dirty="0"/>
          </a:p>
        </p:txBody>
      </p:sp>
      <p:sp>
        <p:nvSpPr>
          <p:cNvPr id="21" name="Text 15"/>
          <p:cNvSpPr/>
          <p:nvPr/>
        </p:nvSpPr>
        <p:spPr>
          <a:xfrm>
            <a:off x="4800600" y="3904488"/>
            <a:ext cx="3657600" cy="594360"/>
          </a:xfrm>
          <a:prstGeom prst="rect">
            <a:avLst/>
          </a:prstGeom>
          <a:noFill/>
          <a:ln/>
        </p:spPr>
        <p:txBody>
          <a:bodyPr wrap="square" rtlCol="0" anchor="ctr"/>
          <a:lstStyle/>
          <a:p>
            <a:pPr marL="0" indent="0">
              <a:buNone/>
            </a:pPr>
            <a:r>
              <a:rPr lang="en-US" sz="1100" dirty="0">
                <a:solidFill>
                  <a:srgbClr val="94A3B8"/>
                </a:solidFill>
                <a:latin typeface="Arial" pitchFamily="34" charset="0"/>
                <a:ea typeface="Arial" pitchFamily="34" charset="-122"/>
                <a:cs typeface="Arial" pitchFamily="34" charset="-120"/>
              </a:rPr>
              <a:t>Employees get advance notice, consistent schedules, and fewer last-minute surprises. Predictability is retention.</a:t>
            </a:r>
            <a:endParaRPr lang="en-US" sz="1100" dirty="0"/>
          </a:p>
        </p:txBody>
      </p:sp>
      <p:sp>
        <p:nvSpPr>
          <p:cNvPr id="22" name="Text 16"/>
          <p:cNvSpPr/>
          <p:nvPr/>
        </p:nvSpPr>
        <p:spPr>
          <a:xfrm>
            <a:off x="365760" y="4736592"/>
            <a:ext cx="8412480" cy="274320"/>
          </a:xfrm>
          <a:prstGeom prst="rect">
            <a:avLst/>
          </a:prstGeom>
          <a:noFill/>
          <a:ln/>
        </p:spPr>
        <p:txBody>
          <a:bodyPr wrap="square" rtlCol="0" anchor="ctr"/>
          <a:lstStyle/>
          <a:p>
            <a:pPr marL="0" indent="0" algn="ctr">
              <a:buNone/>
            </a:pPr>
            <a:r>
              <a:rPr lang="en-US" sz="1100" b="1" i="1" dirty="0">
                <a:solidFill>
                  <a:srgbClr val="E8610A"/>
                </a:solidFill>
                <a:latin typeface="Arial" pitchFamily="34" charset="0"/>
                <a:ea typeface="Arial" pitchFamily="34" charset="-122"/>
                <a:cs typeface="Arial" pitchFamily="34" charset="-120"/>
              </a:rPr>
              <a:t>This is how AI turns a reactive scheduling nightmare into a proactive workforce development engine.</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F4E79"/>
        </a:solidFill>
        <a:effectLst/>
      </p:bgPr>
    </p:bg>
    <p:spTree>
      <p:nvGrpSpPr>
        <p:cNvPr id="1" name=""/>
        <p:cNvGrpSpPr/>
        <p:nvPr/>
      </p:nvGrpSpPr>
      <p:grpSpPr>
        <a:xfrm>
          <a:off x="0" y="0"/>
          <a:ext cx="0" cy="0"/>
          <a:chOff x="0" y="0"/>
          <a:chExt cx="0" cy="0"/>
        </a:xfrm>
      </p:grpSpPr>
      <p:sp>
        <p:nvSpPr>
          <p:cNvPr id="2" name="Shape 0"/>
          <p:cNvSpPr/>
          <p:nvPr/>
        </p:nvSpPr>
        <p:spPr>
          <a:xfrm>
            <a:off x="5486400" y="-914400"/>
            <a:ext cx="5486400" cy="5486400"/>
          </a:xfrm>
          <a:prstGeom prst="ellipse">
            <a:avLst/>
          </a:prstGeom>
          <a:solidFill>
            <a:srgbClr val="1D6A72">
              <a:alpha val="18000"/>
            </a:srgbClr>
          </a:solidFill>
          <a:ln w="12700">
            <a:solidFill>
              <a:srgbClr val="1D6A72">
                <a:alpha val="0"/>
              </a:srgbClr>
            </a:solidFill>
            <a:prstDash val="solid"/>
          </a:ln>
        </p:spPr>
        <p:txBody>
          <a:bodyPr/>
          <a:lstStyle/>
          <a:p>
            <a:endParaRPr lang="en-US"/>
          </a:p>
        </p:txBody>
      </p:sp>
      <p:sp>
        <p:nvSpPr>
          <p:cNvPr id="3" name="Shape 1"/>
          <p:cNvSpPr/>
          <p:nvPr/>
        </p:nvSpPr>
        <p:spPr>
          <a:xfrm>
            <a:off x="-914400" y="2743200"/>
            <a:ext cx="3657600" cy="3657600"/>
          </a:xfrm>
          <a:prstGeom prst="ellipse">
            <a:avLst/>
          </a:prstGeom>
          <a:solidFill>
            <a:srgbClr val="E8610A">
              <a:alpha val="12000"/>
            </a:srgbClr>
          </a:solidFill>
          <a:ln w="12700">
            <a:solidFill>
              <a:srgbClr val="E8610A">
                <a:alpha val="0"/>
              </a:srgbClr>
            </a:solidFill>
            <a:prstDash val="solid"/>
          </a:ln>
        </p:spPr>
        <p:txBody>
          <a:bodyPr/>
          <a:lstStyle/>
          <a:p>
            <a:endParaRPr lang="en-US"/>
          </a:p>
        </p:txBody>
      </p:sp>
      <p:sp>
        <p:nvSpPr>
          <p:cNvPr id="4" name="Text 2"/>
          <p:cNvSpPr/>
          <p:nvPr/>
        </p:nvSpPr>
        <p:spPr>
          <a:xfrm>
            <a:off x="457200" y="457200"/>
            <a:ext cx="7772400" cy="54864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Want to keep the conversation going?</a:t>
            </a:r>
            <a:endParaRPr lang="en-US" sz="2800" dirty="0"/>
          </a:p>
        </p:txBody>
      </p:sp>
      <p:sp>
        <p:nvSpPr>
          <p:cNvPr id="5" name="Shape 3"/>
          <p:cNvSpPr/>
          <p:nvPr/>
        </p:nvSpPr>
        <p:spPr>
          <a:xfrm>
            <a:off x="365760" y="1143000"/>
            <a:ext cx="8412480" cy="1188720"/>
          </a:xfrm>
          <a:prstGeom prst="roundRect">
            <a:avLst>
              <a:gd name="adj" fmla="val 9231"/>
            </a:avLst>
          </a:prstGeom>
          <a:solidFill>
            <a:srgbClr val="FFFFFF">
              <a:alpha val="8000"/>
            </a:srgbClr>
          </a:solidFill>
          <a:ln w="12700">
            <a:solidFill>
              <a:srgbClr val="FFFFFF">
                <a:alpha val="30000"/>
              </a:srgbClr>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548640" y="1280160"/>
            <a:ext cx="502920" cy="502920"/>
          </a:xfrm>
          <a:prstGeom prst="rect">
            <a:avLst/>
          </a:prstGeom>
        </p:spPr>
      </p:pic>
      <p:sp>
        <p:nvSpPr>
          <p:cNvPr id="7" name="Text 4"/>
          <p:cNvSpPr/>
          <p:nvPr/>
        </p:nvSpPr>
        <p:spPr>
          <a:xfrm>
            <a:off x="1188720" y="1207008"/>
            <a:ext cx="7315200" cy="347472"/>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Talk to Thomas — our AI advisor</a:t>
            </a:r>
            <a:endParaRPr lang="en-US" sz="1500" dirty="0"/>
          </a:p>
        </p:txBody>
      </p:sp>
      <p:sp>
        <p:nvSpPr>
          <p:cNvPr id="8" name="Text 5"/>
          <p:cNvSpPr/>
          <p:nvPr/>
        </p:nvSpPr>
        <p:spPr>
          <a:xfrm>
            <a:off x="1188720" y="1572768"/>
            <a:ext cx="7315200" cy="640080"/>
          </a:xfrm>
          <a:prstGeom prst="rect">
            <a:avLst/>
          </a:prstGeom>
          <a:noFill/>
          <a:ln/>
        </p:spPr>
        <p:txBody>
          <a:bodyPr wrap="square" rtlCol="0" anchor="ctr"/>
          <a:lstStyle/>
          <a:p>
            <a:pPr marL="0" indent="0">
              <a:buNone/>
            </a:pPr>
            <a:r>
              <a:rPr lang="en-US" sz="1200" dirty="0">
                <a:solidFill>
                  <a:srgbClr val="E2E8F0"/>
                </a:solidFill>
                <a:latin typeface="Arial" pitchFamily="34" charset="0"/>
                <a:ea typeface="Arial" pitchFamily="34" charset="-122"/>
                <a:cs typeface="Arial" pitchFamily="34" charset="-120"/>
              </a:rPr>
              <a:t>Ask Thomas about your operation — schedules, overtime, retention, or anything from today’s talk. Visit shift-work.com from your phone right now.</a:t>
            </a:r>
            <a:endParaRPr lang="en-US" sz="1200" dirty="0"/>
          </a:p>
        </p:txBody>
      </p:sp>
      <p:sp>
        <p:nvSpPr>
          <p:cNvPr id="9" name="Shape 6"/>
          <p:cNvSpPr/>
          <p:nvPr/>
        </p:nvSpPr>
        <p:spPr>
          <a:xfrm>
            <a:off x="365760" y="2450592"/>
            <a:ext cx="8412480" cy="914400"/>
          </a:xfrm>
          <a:prstGeom prst="roundRect">
            <a:avLst>
              <a:gd name="adj" fmla="val 12000"/>
            </a:avLst>
          </a:prstGeom>
          <a:solidFill>
            <a:srgbClr val="FFFFFF">
              <a:alpha val="8000"/>
            </a:srgbClr>
          </a:solidFill>
          <a:ln w="12700">
            <a:solidFill>
              <a:srgbClr val="FFFFFF">
                <a:alpha val="30000"/>
              </a:srgbClr>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548640" y="2587752"/>
            <a:ext cx="411480" cy="411480"/>
          </a:xfrm>
          <a:prstGeom prst="rect">
            <a:avLst/>
          </a:prstGeom>
        </p:spPr>
      </p:pic>
      <p:sp>
        <p:nvSpPr>
          <p:cNvPr id="11" name="Text 7"/>
          <p:cNvSpPr/>
          <p:nvPr/>
        </p:nvSpPr>
        <p:spPr>
          <a:xfrm>
            <a:off x="1097280" y="2523744"/>
            <a:ext cx="7315200" cy="32004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We built a page for PCA attendees</a:t>
            </a:r>
            <a:endParaRPr lang="en-US" sz="1400" dirty="0"/>
          </a:p>
        </p:txBody>
      </p:sp>
      <p:sp>
        <p:nvSpPr>
          <p:cNvPr id="12" name="Text 8"/>
          <p:cNvSpPr/>
          <p:nvPr/>
        </p:nvSpPr>
        <p:spPr>
          <a:xfrm>
            <a:off x="1097280" y="2871216"/>
            <a:ext cx="7315200" cy="347472"/>
          </a:xfrm>
          <a:prstGeom prst="rect">
            <a:avLst/>
          </a:prstGeom>
          <a:noFill/>
          <a:ln/>
        </p:spPr>
        <p:txBody>
          <a:bodyPr wrap="square" rtlCol="0" anchor="ctr"/>
          <a:lstStyle/>
          <a:p>
            <a:pPr marL="0" indent="0">
              <a:buNone/>
            </a:pPr>
            <a:r>
              <a:rPr lang="en-US" sz="1400" b="1" dirty="0">
                <a:solidFill>
                  <a:srgbClr val="E8610A"/>
                </a:solidFill>
                <a:latin typeface="Arial" pitchFamily="34" charset="0"/>
                <a:ea typeface="Arial" pitchFamily="34" charset="-122"/>
                <a:cs typeface="Arial" pitchFamily="34" charset="-120"/>
              </a:rPr>
              <a:t>www.shift-work.com/pca</a:t>
            </a:r>
            <a:endParaRPr lang="en-US" sz="1400" dirty="0"/>
          </a:p>
        </p:txBody>
      </p:sp>
      <p:sp>
        <p:nvSpPr>
          <p:cNvPr id="13" name="Shape 9"/>
          <p:cNvSpPr/>
          <p:nvPr/>
        </p:nvSpPr>
        <p:spPr>
          <a:xfrm>
            <a:off x="365760" y="3493008"/>
            <a:ext cx="8412480" cy="1188720"/>
          </a:xfrm>
          <a:prstGeom prst="roundRect">
            <a:avLst>
              <a:gd name="adj" fmla="val 9231"/>
            </a:avLst>
          </a:prstGeom>
          <a:solidFill>
            <a:srgbClr val="FFFFFF">
              <a:alpha val="8000"/>
            </a:srgbClr>
          </a:solidFill>
          <a:ln w="12700">
            <a:solidFill>
              <a:srgbClr val="FFFFFF">
                <a:alpha val="30000"/>
              </a:srgbClr>
            </a:solidFill>
            <a:prstDash val="solid"/>
          </a:ln>
        </p:spPr>
        <p:txBody>
          <a:bodyPr/>
          <a:lstStyle/>
          <a:p>
            <a:endParaRPr lang="en-US"/>
          </a:p>
        </p:txBody>
      </p:sp>
      <p:sp>
        <p:nvSpPr>
          <p:cNvPr id="14" name="Text 10"/>
          <p:cNvSpPr/>
          <p:nvPr/>
        </p:nvSpPr>
        <p:spPr>
          <a:xfrm>
            <a:off x="548640" y="3566160"/>
            <a:ext cx="7863840" cy="32004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Jim Dillingham  |  Shiftwork Solutions LLC</a:t>
            </a:r>
            <a:endParaRPr lang="en-US" sz="1400" dirty="0"/>
          </a:p>
        </p:txBody>
      </p:sp>
      <p:sp>
        <p:nvSpPr>
          <p:cNvPr id="15" name="Text 11"/>
          <p:cNvSpPr/>
          <p:nvPr/>
        </p:nvSpPr>
        <p:spPr>
          <a:xfrm>
            <a:off x="548640" y="3913632"/>
            <a:ext cx="7863840" cy="320040"/>
          </a:xfrm>
          <a:prstGeom prst="rect">
            <a:avLst/>
          </a:prstGeom>
          <a:noFill/>
          <a:ln/>
        </p:spPr>
        <p:txBody>
          <a:bodyPr wrap="square" rtlCol="0" anchor="ctr"/>
          <a:lstStyle/>
          <a:p>
            <a:pPr marL="0" indent="0">
              <a:buNone/>
            </a:pPr>
            <a:r>
              <a:rPr lang="en-US" sz="1300" dirty="0">
                <a:solidFill>
                  <a:srgbClr val="E2E8F0"/>
                </a:solidFill>
                <a:latin typeface="Arial" pitchFamily="34" charset="0"/>
                <a:ea typeface="Arial" pitchFamily="34" charset="-122"/>
                <a:cs typeface="Arial" pitchFamily="34" charset="-120"/>
              </a:rPr>
              <a:t>(415) 265-1621  |  Contact@shift-work.com</a:t>
            </a:r>
            <a:endParaRPr lang="en-US" sz="1300" dirty="0"/>
          </a:p>
        </p:txBody>
      </p:sp>
      <p:sp>
        <p:nvSpPr>
          <p:cNvPr id="16" name="Text 12"/>
          <p:cNvSpPr/>
          <p:nvPr/>
        </p:nvSpPr>
        <p:spPr>
          <a:xfrm>
            <a:off x="548640" y="4279392"/>
            <a:ext cx="7863840" cy="256032"/>
          </a:xfrm>
          <a:prstGeom prst="rect">
            <a:avLst/>
          </a:prstGeom>
          <a:noFill/>
          <a:ln/>
        </p:spPr>
        <p:txBody>
          <a:bodyPr wrap="square" rtlCol="0" anchor="ctr"/>
          <a:lstStyle/>
          <a:p>
            <a:pPr marL="0" indent="0">
              <a:buNone/>
            </a:pPr>
            <a:r>
              <a:rPr lang="en-US" sz="1000" dirty="0">
                <a:solidFill>
                  <a:srgbClr val="94A3B8"/>
                </a:solidFill>
                <a:latin typeface="Arial" pitchFamily="34" charset="0"/>
                <a:ea typeface="Arial" pitchFamily="34" charset="-122"/>
                <a:cs typeface="Arial" pitchFamily="34" charset="-120"/>
              </a:rPr>
              <a:t>Book a consultation: outlook.office365.com/book/ShiftworkSolutionsLLC2@shift-work.com</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2743200" y="457200"/>
            <a:ext cx="6400800" cy="6400800"/>
          </a:xfrm>
          <a:prstGeom prst="ellipse">
            <a:avLst/>
          </a:prstGeom>
          <a:solidFill>
            <a:srgbClr val="1F4E79">
              <a:alpha val="40000"/>
            </a:srgbClr>
          </a:solidFill>
          <a:ln w="12700">
            <a:solidFill>
              <a:srgbClr val="1F4E79">
                <a:alpha val="0"/>
              </a:srgbClr>
            </a:solidFill>
            <a:prstDash val="solid"/>
          </a:ln>
        </p:spPr>
        <p:txBody>
          <a:bodyPr/>
          <a:lstStyle/>
          <a:p>
            <a:endParaRPr lang="en-US"/>
          </a:p>
        </p:txBody>
      </p:sp>
      <p:sp>
        <p:nvSpPr>
          <p:cNvPr id="3" name="Text 1"/>
          <p:cNvSpPr/>
          <p:nvPr/>
        </p:nvSpPr>
        <p:spPr>
          <a:xfrm>
            <a:off x="457200" y="1097280"/>
            <a:ext cx="8229600" cy="1280160"/>
          </a:xfrm>
          <a:prstGeom prst="rect">
            <a:avLst/>
          </a:prstGeom>
          <a:noFill/>
          <a:ln/>
        </p:spPr>
        <p:txBody>
          <a:bodyPr wrap="square" rtlCol="0" anchor="ctr"/>
          <a:lstStyle/>
          <a:p>
            <a:pPr marL="0" indent="0" algn="ctr">
              <a:buNone/>
            </a:pPr>
            <a:r>
              <a:rPr lang="en-US" sz="6400" b="1" dirty="0">
                <a:solidFill>
                  <a:srgbClr val="FFFFFF"/>
                </a:solidFill>
                <a:latin typeface="Cambria" pitchFamily="34" charset="0"/>
                <a:ea typeface="Cambria" pitchFamily="34" charset="-122"/>
                <a:cs typeface="Cambria" pitchFamily="34" charset="-120"/>
              </a:rPr>
              <a:t>Questions?</a:t>
            </a:r>
            <a:endParaRPr lang="en-US" sz="6400" dirty="0"/>
          </a:p>
        </p:txBody>
      </p:sp>
      <p:sp>
        <p:nvSpPr>
          <p:cNvPr id="4" name="Text 2"/>
          <p:cNvSpPr/>
          <p:nvPr/>
        </p:nvSpPr>
        <p:spPr>
          <a:xfrm>
            <a:off x="457200" y="2468880"/>
            <a:ext cx="8229600" cy="457200"/>
          </a:xfrm>
          <a:prstGeom prst="rect">
            <a:avLst/>
          </a:prstGeom>
          <a:noFill/>
          <a:ln/>
        </p:spPr>
        <p:txBody>
          <a:bodyPr wrap="square" rtlCol="0" anchor="ctr"/>
          <a:lstStyle/>
          <a:p>
            <a:pPr marL="0" indent="0" algn="ctr">
              <a:buNone/>
            </a:pPr>
            <a:r>
              <a:rPr lang="en-US" sz="2000" i="1" dirty="0">
                <a:solidFill>
                  <a:srgbClr val="94A3B8"/>
                </a:solidFill>
                <a:latin typeface="Arial" pitchFamily="34" charset="0"/>
                <a:ea typeface="Arial" pitchFamily="34" charset="-122"/>
                <a:cs typeface="Arial" pitchFamily="34" charset="-120"/>
              </a:rPr>
              <a:t>Let’s talk about your operation.</a:t>
            </a:r>
            <a:endParaRPr lang="en-US" sz="2000" dirty="0"/>
          </a:p>
        </p:txBody>
      </p:sp>
      <p:sp>
        <p:nvSpPr>
          <p:cNvPr id="5" name="Shape 3"/>
          <p:cNvSpPr/>
          <p:nvPr/>
        </p:nvSpPr>
        <p:spPr>
          <a:xfrm>
            <a:off x="3200400" y="3063240"/>
            <a:ext cx="2743200" cy="0"/>
          </a:xfrm>
          <a:prstGeom prst="line">
            <a:avLst/>
          </a:prstGeom>
          <a:noFill/>
          <a:ln w="19050">
            <a:solidFill>
              <a:srgbClr val="E8610A"/>
            </a:solidFill>
            <a:prstDash val="solid"/>
          </a:ln>
        </p:spPr>
        <p:txBody>
          <a:bodyPr/>
          <a:lstStyle/>
          <a:p>
            <a:endParaRPr lang="en-US"/>
          </a:p>
        </p:txBody>
      </p:sp>
      <p:sp>
        <p:nvSpPr>
          <p:cNvPr id="6" name="Text 4"/>
          <p:cNvSpPr/>
          <p:nvPr/>
        </p:nvSpPr>
        <p:spPr>
          <a:xfrm>
            <a:off x="457200" y="3246120"/>
            <a:ext cx="8229600" cy="36576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Jim Dillingham  |  Shiftwork Solutions LLC</a:t>
            </a:r>
            <a:endParaRPr lang="en-US" sz="1600" dirty="0"/>
          </a:p>
        </p:txBody>
      </p:sp>
      <p:sp>
        <p:nvSpPr>
          <p:cNvPr id="7" name="Text 5"/>
          <p:cNvSpPr/>
          <p:nvPr/>
        </p:nvSpPr>
        <p:spPr>
          <a:xfrm>
            <a:off x="457200" y="3657600"/>
            <a:ext cx="8229600" cy="365760"/>
          </a:xfrm>
          <a:prstGeom prst="rect">
            <a:avLst/>
          </a:prstGeom>
          <a:noFill/>
          <a:ln/>
        </p:spPr>
        <p:txBody>
          <a:bodyPr wrap="square" rtlCol="0" anchor="ctr"/>
          <a:lstStyle/>
          <a:p>
            <a:pPr marL="0" indent="0" algn="ctr">
              <a:buNone/>
            </a:pPr>
            <a:r>
              <a:rPr lang="en-US" sz="1400" dirty="0">
                <a:solidFill>
                  <a:srgbClr val="94A3B8"/>
                </a:solidFill>
                <a:latin typeface="Arial" pitchFamily="34" charset="0"/>
                <a:ea typeface="Arial" pitchFamily="34" charset="-122"/>
                <a:cs typeface="Arial" pitchFamily="34" charset="-120"/>
              </a:rPr>
              <a:t>(415) 265-1621  |  Contact@shift-work.com  |  www.shift-work.com</a:t>
            </a:r>
            <a:endParaRPr lang="en-US" sz="1400" dirty="0"/>
          </a:p>
        </p:txBody>
      </p:sp>
      <p:sp>
        <p:nvSpPr>
          <p:cNvPr id="8" name="Text 6"/>
          <p:cNvSpPr/>
          <p:nvPr/>
        </p:nvSpPr>
        <p:spPr>
          <a:xfrm>
            <a:off x="457200" y="4160520"/>
            <a:ext cx="8229600" cy="365760"/>
          </a:xfrm>
          <a:prstGeom prst="rect">
            <a:avLst/>
          </a:prstGeom>
          <a:noFill/>
          <a:ln/>
        </p:spPr>
        <p:txBody>
          <a:bodyPr wrap="square" rtlCol="0" anchor="ctr"/>
          <a:lstStyle/>
          <a:p>
            <a:pPr marL="0" indent="0" algn="ctr">
              <a:buNone/>
            </a:pPr>
            <a:r>
              <a:rPr lang="en-US" sz="1400" b="1" dirty="0">
                <a:solidFill>
                  <a:srgbClr val="E8610A"/>
                </a:solidFill>
                <a:latin typeface="Arial" pitchFamily="34" charset="0"/>
                <a:ea typeface="Arial" pitchFamily="34" charset="-122"/>
                <a:cs typeface="Arial" pitchFamily="34" charset="-120"/>
              </a:rPr>
              <a:t>www.shift-work.com/pca</a:t>
            </a:r>
            <a:endParaRPr lang="en-US" sz="1400" dirty="0"/>
          </a:p>
        </p:txBody>
      </p:sp>
      <p:sp>
        <p:nvSpPr>
          <p:cNvPr id="9" name="Text 7"/>
          <p:cNvSpPr/>
          <p:nvPr/>
        </p:nvSpPr>
        <p:spPr>
          <a:xfrm>
            <a:off x="457200" y="4617720"/>
            <a:ext cx="8229600" cy="274320"/>
          </a:xfrm>
          <a:prstGeom prst="rect">
            <a:avLst/>
          </a:prstGeom>
          <a:noFill/>
          <a:ln/>
        </p:spPr>
        <p:txBody>
          <a:bodyPr wrap="square" rtlCol="0" anchor="ctr"/>
          <a:lstStyle/>
          <a:p>
            <a:pPr marL="0" indent="0" algn="ctr">
              <a:buNone/>
            </a:pPr>
            <a:r>
              <a:rPr lang="en-US" sz="1000" dirty="0">
                <a:solidFill>
                  <a:srgbClr val="444466"/>
                </a:solidFill>
                <a:latin typeface="Arial" pitchFamily="34" charset="0"/>
                <a:ea typeface="Arial" pitchFamily="34" charset="-122"/>
                <a:cs typeface="Arial" pitchFamily="34" charset="-120"/>
              </a:rPr>
              <a:t>Book a consultation: outlook.office365.com/book/ShiftworkSolutionsLLC2@shift-work.com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330</TotalTime>
  <Words>5846</Words>
  <Application>Microsoft Office PowerPoint</Application>
  <PresentationFormat>On-screen Show (16:9)</PresentationFormat>
  <Paragraphs>1302</Paragraphs>
  <Slides>41</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24-Hour Operations Challenge — PCA Leadership Conference 2026</dc:title>
  <dc:subject>PptxGenJS Presentation</dc:subject>
  <dc:creator>Jim Dillingham</dc:creator>
  <cp:lastModifiedBy>Jim Dillingham</cp:lastModifiedBy>
  <cp:revision>5</cp:revision>
  <dcterms:created xsi:type="dcterms:W3CDTF">2026-06-16T19:18:52Z</dcterms:created>
  <dcterms:modified xsi:type="dcterms:W3CDTF">2026-06-19T23:03:22Z</dcterms:modified>
</cp:coreProperties>
</file>