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679" r:id="rId2"/>
    <p:sldId id="1077" r:id="rId3"/>
    <p:sldId id="1083" r:id="rId4"/>
    <p:sldId id="859" r:id="rId5"/>
    <p:sldId id="1076" r:id="rId6"/>
    <p:sldId id="681" r:id="rId7"/>
    <p:sldId id="1009" r:id="rId8"/>
    <p:sldId id="705" r:id="rId9"/>
    <p:sldId id="1078" r:id="rId10"/>
    <p:sldId id="1079" r:id="rId11"/>
    <p:sldId id="1080" r:id="rId12"/>
    <p:sldId id="687" r:id="rId13"/>
    <p:sldId id="690" r:id="rId14"/>
    <p:sldId id="1082" r:id="rId15"/>
    <p:sldId id="682" r:id="rId16"/>
    <p:sldId id="1010" r:id="rId17"/>
    <p:sldId id="683" r:id="rId18"/>
    <p:sldId id="1007" r:id="rId19"/>
    <p:sldId id="684" r:id="rId20"/>
    <p:sldId id="257" r:id="rId21"/>
    <p:sldId id="258" r:id="rId22"/>
    <p:sldId id="259" r:id="rId23"/>
    <p:sldId id="695" r:id="rId24"/>
    <p:sldId id="696" r:id="rId25"/>
    <p:sldId id="697" r:id="rId26"/>
    <p:sldId id="698" r:id="rId27"/>
    <p:sldId id="699" r:id="rId28"/>
    <p:sldId id="701" r:id="rId29"/>
    <p:sldId id="702" r:id="rId30"/>
  </p:sldIdLst>
  <p:sldSz cx="9601200" cy="7315200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>
          <p15:clr>
            <a:srgbClr val="A4A3A4"/>
          </p15:clr>
        </p15:guide>
        <p15:guide id="2" pos="302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16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CC00"/>
    <a:srgbClr val="008000"/>
    <a:srgbClr val="DDDDDD"/>
    <a:srgbClr val="CCECFF"/>
    <a:srgbClr val="99CCFF"/>
    <a:srgbClr val="FFFFCC"/>
    <a:srgbClr val="FFCC99"/>
    <a:srgbClr val="33CC33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711" autoAdjust="0"/>
  </p:normalViewPr>
  <p:slideViewPr>
    <p:cSldViewPr snapToGrid="0">
      <p:cViewPr varScale="1">
        <p:scale>
          <a:sx n="104" d="100"/>
          <a:sy n="104" d="100"/>
        </p:scale>
        <p:origin x="1596" y="102"/>
      </p:cViewPr>
      <p:guideLst>
        <p:guide orient="horz" pos="2304"/>
        <p:guide pos="30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-2886" y="-102"/>
      </p:cViewPr>
      <p:guideLst>
        <p:guide orient="horz" pos="2928"/>
        <p:guide pos="216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000220556492778"/>
          <c:y val="4.9539138123443224E-2"/>
          <c:w val="0.87564969703923312"/>
          <c:h val="0.7203046013203270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Fixed shifts</c:v>
                </c:pt>
                <c:pt idx="1">
                  <c:v>Rotating shifts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 formatCode="0.00">
                  <c:v>85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9D-4384-9494-B6A0E330E8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926144"/>
        <c:axId val="245936128"/>
      </c:barChart>
      <c:catAx>
        <c:axId val="2459261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45936128"/>
        <c:crosses val="autoZero"/>
        <c:auto val="1"/>
        <c:lblAlgn val="ctr"/>
        <c:lblOffset val="100"/>
        <c:noMultiLvlLbl val="0"/>
      </c:catAx>
      <c:valAx>
        <c:axId val="245936128"/>
        <c:scaling>
          <c:orientation val="minMax"/>
          <c:max val="100"/>
        </c:scaling>
        <c:delete val="0"/>
        <c:axPos val="l"/>
        <c:majorGridlines>
          <c:spPr>
            <a:ln w="3175">
              <a:solidFill>
                <a:schemeClr val="bg1">
                  <a:lumMod val="75000"/>
                </a:schemeClr>
              </a:solidFill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1400"/>
                </a:pPr>
                <a:r>
                  <a:rPr lang="en-US" sz="1400" dirty="0"/>
                  <a:t>Percent</a:t>
                </a:r>
              </a:p>
            </c:rich>
          </c:tx>
          <c:layout>
            <c:manualLayout>
              <c:xMode val="edge"/>
              <c:yMode val="edge"/>
              <c:x val="8.9553848630770858E-3"/>
              <c:y val="4.7817271837260956E-2"/>
            </c:manualLayout>
          </c:layout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45926144"/>
        <c:crosses val="autoZero"/>
        <c:crossBetween val="between"/>
      </c:valAx>
      <c:spPr>
        <a:ln>
          <a:solidFill>
            <a:schemeClr val="bg1">
              <a:lumMod val="75000"/>
            </a:schemeClr>
          </a:solidFill>
        </a:ln>
      </c:spPr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29514022676716"/>
          <c:y val="3.3736842105263155E-2"/>
          <c:w val="0.87741749251216294"/>
          <c:h val="0.602245309771143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Working fewer hours each day that I work even though I will get fewer days off each week.</c:v>
                </c:pt>
                <c:pt idx="1">
                  <c:v>Working more hours each day
 that I work so that I can have
 more days off each week.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 formatCode="0.00">
                  <c:v>25.37</c:v>
                </c:pt>
                <c:pt idx="1">
                  <c:v>74.47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DC-4390-842A-A401025066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5856128"/>
        <c:axId val="245857664"/>
      </c:barChart>
      <c:catAx>
        <c:axId val="2458561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45857664"/>
        <c:crosses val="autoZero"/>
        <c:auto val="1"/>
        <c:lblAlgn val="ctr"/>
        <c:lblOffset val="100"/>
        <c:noMultiLvlLbl val="0"/>
      </c:catAx>
      <c:valAx>
        <c:axId val="245857664"/>
        <c:scaling>
          <c:orientation val="minMax"/>
          <c:max val="90"/>
        </c:scaling>
        <c:delete val="0"/>
        <c:axPos val="l"/>
        <c:majorGridlines>
          <c:spPr>
            <a:ln w="3175">
              <a:solidFill>
                <a:schemeClr val="bg1">
                  <a:lumMod val="75000"/>
                </a:schemeClr>
              </a:solidFill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1400"/>
                </a:pPr>
                <a:r>
                  <a:rPr lang="en-US" sz="1400" dirty="0"/>
                  <a:t>Percent</a:t>
                </a:r>
              </a:p>
            </c:rich>
          </c:tx>
          <c:layout>
            <c:manualLayout>
              <c:xMode val="edge"/>
              <c:yMode val="edge"/>
              <c:x val="0"/>
              <c:y val="9.8827104363540096E-3"/>
            </c:manualLayout>
          </c:layout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45856128"/>
        <c:crosses val="autoZero"/>
        <c:crossBetween val="between"/>
      </c:valAx>
      <c:spPr>
        <a:solidFill>
          <a:schemeClr val="bg1"/>
        </a:solidFill>
        <a:ln>
          <a:solidFill>
            <a:schemeClr val="bg1">
              <a:lumMod val="75000"/>
            </a:schemeClr>
          </a:solidFill>
        </a:ln>
      </c:spPr>
    </c:plotArea>
    <c:legend>
      <c:legendPos val="b"/>
      <c:layout>
        <c:manualLayout>
          <c:xMode val="edge"/>
          <c:yMode val="edge"/>
          <c:x val="0.13262442016839479"/>
          <c:y val="0.84433088432743231"/>
          <c:w val="0.73784509725578862"/>
          <c:h val="6.2136553386452832E-2"/>
        </c:manualLayout>
      </c:layout>
      <c:overlay val="0"/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641614509724746"/>
          <c:y val="3.7947096626743358E-2"/>
          <c:w val="0.87469378827646549"/>
          <c:h val="0.7045494556041413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Shiftworker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Never</c:v>
                </c:pt>
                <c:pt idx="1">
                  <c:v>Sometimes</c:v>
                </c:pt>
                <c:pt idx="2">
                  <c:v>Frequently</c:v>
                </c:pt>
                <c:pt idx="3">
                  <c:v>Every week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28.52</c:v>
                </c:pt>
                <c:pt idx="1">
                  <c:v>40.82</c:v>
                </c:pt>
                <c:pt idx="2">
                  <c:v>17.170000000000002</c:v>
                </c:pt>
                <c:pt idx="3">
                  <c:v>13.47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3D-4205-8AEB-0A19895987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7050240"/>
        <c:axId val="247051776"/>
      </c:barChart>
      <c:catAx>
        <c:axId val="24705024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47051776"/>
        <c:crosses val="autoZero"/>
        <c:auto val="1"/>
        <c:lblAlgn val="ctr"/>
        <c:lblOffset val="100"/>
        <c:noMultiLvlLbl val="0"/>
      </c:catAx>
      <c:valAx>
        <c:axId val="247051776"/>
        <c:scaling>
          <c:orientation val="minMax"/>
        </c:scaling>
        <c:delete val="0"/>
        <c:axPos val="l"/>
        <c:majorGridlines>
          <c:spPr>
            <a:ln w="3175">
              <a:solidFill>
                <a:schemeClr val="bg1">
                  <a:lumMod val="75000"/>
                </a:schemeClr>
              </a:solidFill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1400"/>
                </a:pPr>
                <a:r>
                  <a:rPr lang="en-US" sz="1400" dirty="0"/>
                  <a:t>Percent</a:t>
                </a:r>
              </a:p>
            </c:rich>
          </c:tx>
          <c:layout>
            <c:manualLayout>
              <c:xMode val="edge"/>
              <c:yMode val="edge"/>
              <c:x val="5.9811472383030579E-3"/>
              <c:y val="2.1161289329156285E-2"/>
            </c:manualLayout>
          </c:layout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47050240"/>
        <c:crosses val="autoZero"/>
        <c:crossBetween val="between"/>
        <c:majorUnit val="10"/>
      </c:valAx>
      <c:spPr>
        <a:solidFill>
          <a:schemeClr val="bg1"/>
        </a:solidFill>
        <a:ln>
          <a:solidFill>
            <a:schemeClr val="tx1">
              <a:lumMod val="50000"/>
              <a:lumOff val="50000"/>
            </a:schemeClr>
          </a:solidFill>
        </a:ln>
      </c:spPr>
    </c:plotArea>
    <c:legend>
      <c:legendPos val="b"/>
      <c:overlay val="0"/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82529" cy="463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586" tIns="46294" rIns="92586" bIns="46294" numCol="1" anchor="t" anchorCtr="0" compatLnSpc="1">
            <a:prstTxWarp prst="textNoShape">
              <a:avLst/>
            </a:prstTxWarp>
          </a:bodyPr>
          <a:lstStyle>
            <a:lvl1pPr defTabSz="926135">
              <a:defRPr>
                <a:latin typeface="Exotc350 DmBd BT" pitchFamily="82" charset="0"/>
              </a:defRPr>
            </a:lvl1pPr>
          </a:lstStyle>
          <a:p>
            <a:endParaRPr lang="en-US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9285" y="1"/>
            <a:ext cx="2982528" cy="463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586" tIns="46294" rIns="92586" bIns="46294" numCol="1" anchor="t" anchorCtr="0" compatLnSpc="1">
            <a:prstTxWarp prst="textNoShape">
              <a:avLst/>
            </a:prstTxWarp>
          </a:bodyPr>
          <a:lstStyle>
            <a:lvl1pPr algn="r" defTabSz="926135">
              <a:defRPr>
                <a:latin typeface="Exotc350 DmBd BT" pitchFamily="82" charset="0"/>
              </a:defRPr>
            </a:lvl1pPr>
          </a:lstStyle>
          <a:p>
            <a:endParaRPr lang="en-US"/>
          </a:p>
        </p:txBody>
      </p:sp>
      <p:sp>
        <p:nvSpPr>
          <p:cNvPr id="1259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29538"/>
            <a:ext cx="2982529" cy="463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586" tIns="46294" rIns="92586" bIns="46294" numCol="1" anchor="b" anchorCtr="0" compatLnSpc="1">
            <a:prstTxWarp prst="textNoShape">
              <a:avLst/>
            </a:prstTxWarp>
          </a:bodyPr>
          <a:lstStyle>
            <a:lvl1pPr defTabSz="926135">
              <a:defRPr>
                <a:latin typeface="Exotc350 DmBd BT" pitchFamily="82" charset="0"/>
              </a:defRPr>
            </a:lvl1pPr>
          </a:lstStyle>
          <a:p>
            <a:endParaRPr lang="en-US"/>
          </a:p>
        </p:txBody>
      </p:sp>
      <p:sp>
        <p:nvSpPr>
          <p:cNvPr id="1259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9285" y="8829538"/>
            <a:ext cx="2982528" cy="463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586" tIns="46294" rIns="92586" bIns="46294" numCol="1" anchor="b" anchorCtr="0" compatLnSpc="1">
            <a:prstTxWarp prst="textNoShape">
              <a:avLst/>
            </a:prstTxWarp>
          </a:bodyPr>
          <a:lstStyle>
            <a:lvl1pPr algn="r" defTabSz="926135">
              <a:defRPr>
                <a:latin typeface="Exotc350 DmBd BT" pitchFamily="82" charset="0"/>
              </a:defRPr>
            </a:lvl1pPr>
          </a:lstStyle>
          <a:p>
            <a:fld id="{545DA615-AC5D-4EBF-93D2-5F5DCE51C05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423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82529" cy="463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586" tIns="46294" rIns="92586" bIns="46294" numCol="1" anchor="t" anchorCtr="0" compatLnSpc="1">
            <a:prstTxWarp prst="textNoShape">
              <a:avLst/>
            </a:prstTxWarp>
          </a:bodyPr>
          <a:lstStyle>
            <a:lvl1pPr defTabSz="926135">
              <a:defRPr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285" y="1"/>
            <a:ext cx="2982528" cy="463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586" tIns="46294" rIns="92586" bIns="46294" numCol="1" anchor="t" anchorCtr="0" compatLnSpc="1">
            <a:prstTxWarp prst="textNoShape">
              <a:avLst/>
            </a:prstTxWarp>
          </a:bodyPr>
          <a:lstStyle>
            <a:lvl1pPr algn="r" defTabSz="926135">
              <a:defRPr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5700" y="696913"/>
            <a:ext cx="4570413" cy="34829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8293" y="4413983"/>
            <a:ext cx="5045228" cy="4182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586" tIns="46294" rIns="92586" bIns="4629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29538"/>
            <a:ext cx="2982529" cy="463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586" tIns="46294" rIns="92586" bIns="46294" numCol="1" anchor="b" anchorCtr="0" compatLnSpc="1">
            <a:prstTxWarp prst="textNoShape">
              <a:avLst/>
            </a:prstTxWarp>
          </a:bodyPr>
          <a:lstStyle>
            <a:lvl1pPr defTabSz="926135">
              <a:defRPr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285" y="8829538"/>
            <a:ext cx="2982528" cy="463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586" tIns="46294" rIns="92586" bIns="46294" numCol="1" anchor="b" anchorCtr="0" compatLnSpc="1">
            <a:prstTxWarp prst="textNoShape">
              <a:avLst/>
            </a:prstTxWarp>
          </a:bodyPr>
          <a:lstStyle>
            <a:lvl1pPr algn="r" defTabSz="926135">
              <a:defRPr>
                <a:latin typeface="Times New Roman" pitchFamily="18" charset="0"/>
              </a:defRPr>
            </a:lvl1pPr>
          </a:lstStyle>
          <a:p>
            <a:fld id="{8FE8F330-D506-40D2-A18A-C77ABE7C78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7938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BA1D26-3FA3-4A93-B2FE-F39CABFD708E}" type="slidenum">
              <a:rPr lang="en-US"/>
              <a:pPr/>
              <a:t>1</a:t>
            </a:fld>
            <a:endParaRPr lang="en-US"/>
          </a:p>
        </p:txBody>
      </p:sp>
      <p:sp>
        <p:nvSpPr>
          <p:cNvPr id="319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9200" y="696913"/>
            <a:ext cx="4572000" cy="3482975"/>
          </a:xfrm>
          <a:ln/>
        </p:spPr>
      </p:sp>
      <p:sp>
        <p:nvSpPr>
          <p:cNvPr id="319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209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537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96988" y="719138"/>
            <a:ext cx="4721225" cy="3597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AFA093-A5BA-4EDA-81C1-84E251D952F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606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2794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96988" y="719138"/>
            <a:ext cx="4721225" cy="3597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843F6-7005-4359-B343-9D2052D037D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549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725" y="2271713"/>
            <a:ext cx="8159750" cy="1568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9863" y="4144963"/>
            <a:ext cx="6721475" cy="18700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15C55F-3BA7-4570-8106-A1D0F72C44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466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FFF7D8-64A6-4E19-9408-C7EE3787A34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001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825" y="4700588"/>
            <a:ext cx="8161338" cy="14525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825" y="3100388"/>
            <a:ext cx="8161338" cy="16002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B9908E-C9A4-468E-BEE7-9110918CC58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864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8663" y="2005013"/>
            <a:ext cx="4117975" cy="44973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9038" y="2005013"/>
            <a:ext cx="4117975" cy="44973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B29BBA-FF7D-4B34-ABCB-8CDDB111460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594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425" y="293688"/>
            <a:ext cx="8642350" cy="1219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9425" y="1636713"/>
            <a:ext cx="4243388" cy="6826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425" y="2319338"/>
            <a:ext cx="4243388" cy="42148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6800" y="1636713"/>
            <a:ext cx="4244975" cy="6826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6800" y="2319338"/>
            <a:ext cx="4244975" cy="42148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911F81-11EF-4121-8C8E-20568E8A608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36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4C72EB-6A65-4157-99B3-DC9F6C726C4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361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FBEDC3-8DDD-4731-A3A1-47159B8A804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5212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425" y="290513"/>
            <a:ext cx="3159125" cy="12398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4438" y="290513"/>
            <a:ext cx="5367337" cy="62436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9425" y="1530350"/>
            <a:ext cx="3159125" cy="50038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A2EAC0-4E85-429A-A18A-49DEF6E7FDD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50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1188" y="5121275"/>
            <a:ext cx="5761037" cy="6032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81188" y="654050"/>
            <a:ext cx="5761037" cy="4389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1188" y="5724525"/>
            <a:ext cx="5761037" cy="85883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DF1781-DFA9-4F96-A6F0-9BCC5957025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186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F43856-60D0-40EB-961E-E3D64D35C62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438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3738" y="103188"/>
            <a:ext cx="2105025" cy="63992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8663" y="103188"/>
            <a:ext cx="6162675" cy="63992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4F7A7C-A868-49C2-B32C-A1E633AF3DE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369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728663" y="103188"/>
            <a:ext cx="8420100" cy="6399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44550" y="6651625"/>
            <a:ext cx="2054225" cy="5016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384550" y="6651625"/>
            <a:ext cx="3124200" cy="5016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005638" y="6651625"/>
            <a:ext cx="2054225" cy="501650"/>
          </a:xfrm>
        </p:spPr>
        <p:txBody>
          <a:bodyPr/>
          <a:lstStyle>
            <a:lvl1pPr>
              <a:defRPr/>
            </a:lvl1pPr>
          </a:lstStyle>
          <a:p>
            <a:fld id="{F4CD6C46-25A9-41E0-BC15-2C25BBDD28A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8814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03188"/>
            <a:ext cx="8386763" cy="1250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728663" y="2005013"/>
            <a:ext cx="8388350" cy="4497387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44550" y="6651625"/>
            <a:ext cx="2054225" cy="5016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4550" y="6651625"/>
            <a:ext cx="3124200" cy="5016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05638" y="6651625"/>
            <a:ext cx="2054225" cy="501650"/>
          </a:xfrm>
        </p:spPr>
        <p:txBody>
          <a:bodyPr/>
          <a:lstStyle>
            <a:lvl1pPr>
              <a:defRPr/>
            </a:lvl1pPr>
          </a:lstStyle>
          <a:p>
            <a:fld id="{545866C8-2BF2-4F4E-93DC-6AA0E366CE1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509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gi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103188"/>
            <a:ext cx="8386763" cy="125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4" tIns="48322" rIns="96644" bIns="4832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728663" y="2005013"/>
            <a:ext cx="8388350" cy="4497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44550" y="6651625"/>
            <a:ext cx="205422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>
            <a:lvl1pPr defTabSz="966788">
              <a:defRPr sz="15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1041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651625"/>
            <a:ext cx="3124200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>
            <a:lvl1pPr algn="ctr" defTabSz="966788">
              <a:defRPr sz="15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1042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05638" y="6651625"/>
            <a:ext cx="205422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>
            <a:lvl1pPr algn="r" defTabSz="966788">
              <a:defRPr sz="1500">
                <a:latin typeface="Times New Roman" pitchFamily="18" charset="0"/>
              </a:defRPr>
            </a:lvl1pPr>
          </a:lstStyle>
          <a:p>
            <a:fld id="{9377A380-1545-4454-96B8-213C1CF4B1A7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205"/>
            <a:ext cx="9601200" cy="72009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66788" rtl="0" eaLnBrk="0" fontAlgn="base" hangingPunct="0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66788" rtl="0" eaLnBrk="0" fontAlgn="base" hangingPunct="0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Exotc350 DmBd BT" pitchFamily="82" charset="0"/>
        </a:defRPr>
      </a:lvl2pPr>
      <a:lvl3pPr algn="ctr" defTabSz="966788" rtl="0" eaLnBrk="0" fontAlgn="base" hangingPunct="0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Exotc350 DmBd BT" pitchFamily="82" charset="0"/>
        </a:defRPr>
      </a:lvl3pPr>
      <a:lvl4pPr algn="ctr" defTabSz="966788" rtl="0" eaLnBrk="0" fontAlgn="base" hangingPunct="0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Exotc350 DmBd BT" pitchFamily="82" charset="0"/>
        </a:defRPr>
      </a:lvl4pPr>
      <a:lvl5pPr algn="ctr" defTabSz="966788" rtl="0" eaLnBrk="0" fontAlgn="base" hangingPunct="0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Exotc350 DmBd BT" pitchFamily="82" charset="0"/>
        </a:defRPr>
      </a:lvl5pPr>
      <a:lvl6pPr marL="457200" algn="ctr" defTabSz="966788" rtl="0" eaLnBrk="0" fontAlgn="base" hangingPunct="0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Exotc350 DmBd BT" pitchFamily="82" charset="0"/>
        </a:defRPr>
      </a:lvl6pPr>
      <a:lvl7pPr marL="914400" algn="ctr" defTabSz="966788" rtl="0" eaLnBrk="0" fontAlgn="base" hangingPunct="0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Exotc350 DmBd BT" pitchFamily="82" charset="0"/>
        </a:defRPr>
      </a:lvl7pPr>
      <a:lvl8pPr marL="1371600" algn="ctr" defTabSz="966788" rtl="0" eaLnBrk="0" fontAlgn="base" hangingPunct="0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Exotc350 DmBd BT" pitchFamily="82" charset="0"/>
        </a:defRPr>
      </a:lvl8pPr>
      <a:lvl9pPr marL="1828800" algn="ctr" defTabSz="966788" rtl="0" eaLnBrk="0" fontAlgn="base" hangingPunct="0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Exotc350 DmBd BT" pitchFamily="82" charset="0"/>
        </a:defRPr>
      </a:lvl9pPr>
    </p:titleStyle>
    <p:bodyStyle>
      <a:lvl1pPr marL="361950" indent="-361950" algn="l" defTabSz="966788" rtl="0" eaLnBrk="0" fontAlgn="base" hangingPunct="0">
        <a:spcBef>
          <a:spcPct val="2000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</a:defRPr>
      </a:lvl1pPr>
      <a:lvl2pPr marL="785813" indent="-303213" algn="l" defTabSz="966788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2pPr>
      <a:lvl3pPr marL="1208088" indent="-241300" algn="l" defTabSz="966788" rtl="0" eaLnBrk="0" fontAlgn="base" hangingPunct="0">
        <a:spcBef>
          <a:spcPct val="20000"/>
        </a:spcBef>
        <a:spcAft>
          <a:spcPct val="0"/>
        </a:spcAft>
        <a:buChar char="•"/>
        <a:defRPr sz="2500">
          <a:solidFill>
            <a:schemeClr val="tx1"/>
          </a:solidFill>
          <a:latin typeface="+mn-lt"/>
        </a:defRPr>
      </a:lvl3pPr>
      <a:lvl4pPr marL="1692275" indent="-242888" algn="l" defTabSz="966788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</a:defRPr>
      </a:lvl4pPr>
      <a:lvl5pPr marL="2174875" indent="-241300" algn="l" defTabSz="966788" rtl="0" eaLnBrk="0" fontAlgn="base" hangingPunct="0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5pPr>
      <a:lvl6pPr marL="2632075" indent="-241300" algn="l" defTabSz="966788" rtl="0" eaLnBrk="0" fontAlgn="base" hangingPunct="0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6pPr>
      <a:lvl7pPr marL="3089275" indent="-241300" algn="l" defTabSz="966788" rtl="0" eaLnBrk="0" fontAlgn="base" hangingPunct="0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7pPr>
      <a:lvl8pPr marL="3546475" indent="-241300" algn="l" defTabSz="966788" rtl="0" eaLnBrk="0" fontAlgn="base" hangingPunct="0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8pPr>
      <a:lvl9pPr marL="4003675" indent="-241300" algn="l" defTabSz="966788" rtl="0" eaLnBrk="0" fontAlgn="base" hangingPunct="0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package" Target="../embeddings/Microsoft_Excel_Worksheet2.xlsx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package" Target="../embeddings/Microsoft_Excel_Worksheet3.xlsx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package" Target="../embeddings/Microsoft_Excel_Worksheet4.xlsx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package" Target="../embeddings/Microsoft_Excel_Worksheet5.xlsx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Excel_Worksheet6.xlsx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package" Target="../embeddings/Microsoft_Excel_Worksheet7.xlsx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package" Target="../embeddings/Microsoft_Excel_Worksheet4.xlsx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Excel_Worksheet8.xlsx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package" Target="../embeddings/Microsoft_Excel_Worksheet9.xlsx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Excel_Worksheet10.xls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package" Target="../embeddings/Microsoft_Excel_Worksheet11.xlsx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Excel_Worksheet9.xls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package" Target="../embeddings/Microsoft_Excel_Worksheet13.xlsx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Excel_Worksheet14.xls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package" Target="../embeddings/Microsoft_Excel_Worksheet15.xlsx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emf"/><Relationship Id="rId4" Type="http://schemas.openxmlformats.org/officeDocument/2006/relationships/package" Target="../embeddings/Microsoft_Excel_Worksheet16.xlsx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package" Target="../embeddings/Microsoft_Excel_Worksheet17.xlsx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package" Target="../embeddings/Microsoft_Excel_Worksheet18.xlsx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Excel_Worksheet19.xlsx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package" Target="../embeddings/Microsoft_Excel_Worksheet19.xlsx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Excel_Worksheet20.xlsx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package" Target="../embeddings/Microsoft_Excel_Worksheet21.xlsx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emf"/><Relationship Id="rId4" Type="http://schemas.openxmlformats.org/officeDocument/2006/relationships/package" Target="../embeddings/Microsoft_Excel_Worksheet22.xlsx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package" Target="../embeddings/Microsoft_Excel_Worksheet23.xlsx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emf"/><Relationship Id="rId4" Type="http://schemas.openxmlformats.org/officeDocument/2006/relationships/package" Target="../embeddings/Microsoft_Excel_Worksheet24.xlsx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package" Target="../embeddings/Microsoft_Excel_Worksheet25.xlsx"/><Relationship Id="rId1" Type="http://schemas.openxmlformats.org/officeDocument/2006/relationships/slideLayout" Target="../slideLayouts/slideLayout7.xml"/><Relationship Id="rId6" Type="http://schemas.openxmlformats.org/officeDocument/2006/relationships/slide" Target="slide19.xml"/><Relationship Id="rId5" Type="http://schemas.openxmlformats.org/officeDocument/2006/relationships/image" Target="../media/image33.emf"/><Relationship Id="rId4" Type="http://schemas.openxmlformats.org/officeDocument/2006/relationships/package" Target="../embeddings/Microsoft_Excel_Worksheet26.xlsx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818" name="Picture 2" descr="index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820" y="1903705"/>
            <a:ext cx="3122349" cy="1911756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825" name="Picture 9" descr="s002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8481" y="4064020"/>
            <a:ext cx="1842245" cy="1379491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827" name="Picture 11" descr="wi1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0786" y="3360129"/>
            <a:ext cx="1153013" cy="778474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0831" name="Text Box 15"/>
          <p:cNvSpPr txBox="1">
            <a:spLocks noChangeArrowheads="1"/>
          </p:cNvSpPr>
          <p:nvPr/>
        </p:nvSpPr>
        <p:spPr bwMode="auto">
          <a:xfrm>
            <a:off x="5768568" y="1145532"/>
            <a:ext cx="3077600" cy="296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/>
            <a:r>
              <a:rPr lang="en-US" sz="1329" dirty="0"/>
              <a:t>(415) 265-1621  </a:t>
            </a:r>
            <a:r>
              <a:rPr lang="en-US" sz="1034" dirty="0">
                <a:latin typeface="Calibri" panose="020F0502020204030204" pitchFamily="34" charset="0"/>
                <a:cs typeface="Calibri" panose="020F0502020204030204" pitchFamily="34" charset="0"/>
              </a:rPr>
              <a:t>|</a:t>
            </a:r>
            <a:r>
              <a:rPr lang="en-US" sz="1034" dirty="0"/>
              <a:t> </a:t>
            </a:r>
            <a:r>
              <a:rPr lang="en-US" sz="1329" dirty="0"/>
              <a:t>www.shift-work.com</a:t>
            </a:r>
          </a:p>
        </p:txBody>
      </p:sp>
      <p:pic>
        <p:nvPicPr>
          <p:cNvPr id="42701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371" y="4517114"/>
            <a:ext cx="1311825" cy="128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0820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246" y="2119225"/>
            <a:ext cx="1766020" cy="1626254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404847" y="874699"/>
            <a:ext cx="3441321" cy="342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25" b="1" dirty="0">
                <a:solidFill>
                  <a:srgbClr val="C00000"/>
                </a:solidFill>
                <a:latin typeface="Arial Black" panose="020B0A04020102020204" pitchFamily="34" charset="0"/>
              </a:rPr>
              <a:t>SHIFTWORK SOLUTIONS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F6B5365-CBDB-40FC-92BB-E31FFCBA83C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361" y="2619588"/>
            <a:ext cx="2483846" cy="13971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90826" name="Picture 10" descr="wi1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6192" y="2042378"/>
            <a:ext cx="779156" cy="11544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829" name="Picture 13" descr="Stauber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4640" y="3579025"/>
            <a:ext cx="2929218" cy="1911756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6461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750">
        <p14:vortex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44DAC9-AAFD-4B3B-9483-11EE5A27523C}"/>
              </a:ext>
            </a:extLst>
          </p:cNvPr>
          <p:cNvSpPr txBox="1"/>
          <p:nvPr/>
        </p:nvSpPr>
        <p:spPr>
          <a:xfrm>
            <a:off x="1215459" y="4354912"/>
            <a:ext cx="7731189" cy="1427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Time permitting strategies and solutions to address the increasing complexity of operational scheduling in a labor environment where flexibility and adaptation are becoming the new normal. Time-permitting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020891-F6C6-4511-10AC-33E6F0380F82}"/>
              </a:ext>
            </a:extLst>
          </p:cNvPr>
          <p:cNvSpPr txBox="1"/>
          <p:nvPr/>
        </p:nvSpPr>
        <p:spPr>
          <a:xfrm>
            <a:off x="876381" y="1691040"/>
            <a:ext cx="763793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Trends in Shiftwork Scheduling</a:t>
            </a:r>
          </a:p>
          <a:p>
            <a:pPr algn="ctr"/>
            <a:endParaRPr lang="en-US" sz="3200" b="1" dirty="0">
              <a:solidFill>
                <a:srgbClr val="FF0000"/>
              </a:solidFill>
            </a:endParaRPr>
          </a:p>
          <a:p>
            <a:pPr algn="ctr"/>
            <a:r>
              <a:rPr lang="en-US" sz="3200" b="1" dirty="0">
                <a:solidFill>
                  <a:srgbClr val="FF0000"/>
                </a:solidFill>
              </a:rPr>
              <a:t>Where did we come from and where are we going?</a:t>
            </a:r>
          </a:p>
        </p:txBody>
      </p:sp>
    </p:spTree>
    <p:extLst>
      <p:ext uri="{BB962C8B-B14F-4D97-AF65-F5344CB8AC3E}">
        <p14:creationId xmlns:p14="http://schemas.microsoft.com/office/powerpoint/2010/main" val="4234526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020891-F6C6-4511-10AC-33E6F0380F82}"/>
              </a:ext>
            </a:extLst>
          </p:cNvPr>
          <p:cNvSpPr txBox="1"/>
          <p:nvPr/>
        </p:nvSpPr>
        <p:spPr>
          <a:xfrm>
            <a:off x="743600" y="2152795"/>
            <a:ext cx="7637930" cy="1909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First…</a:t>
            </a:r>
          </a:p>
          <a:p>
            <a:pPr algn="ctr">
              <a:lnSpc>
                <a:spcPct val="20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Let’s set the stage</a:t>
            </a:r>
          </a:p>
        </p:txBody>
      </p:sp>
    </p:spTree>
    <p:extLst>
      <p:ext uri="{BB962C8B-B14F-4D97-AF65-F5344CB8AC3E}">
        <p14:creationId xmlns:p14="http://schemas.microsoft.com/office/powerpoint/2010/main" val="2688626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60219" y="626164"/>
            <a:ext cx="6080760" cy="591851"/>
          </a:xfrm>
        </p:spPr>
        <p:txBody>
          <a:bodyPr>
            <a:normAutofit/>
          </a:bodyPr>
          <a:lstStyle/>
          <a:p>
            <a:pPr algn="ctr"/>
            <a:r>
              <a:rPr lang="en-US" sz="2600" b="1" dirty="0">
                <a:solidFill>
                  <a:srgbClr val="FF0000"/>
                </a:solidFill>
              </a:rPr>
              <a:t>Which do you prefer?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0446934"/>
              </p:ext>
            </p:extLst>
          </p:nvPr>
        </p:nvGraphicFramePr>
        <p:xfrm>
          <a:off x="817493" y="1788546"/>
          <a:ext cx="7621113" cy="43339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73536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Chart bld="series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29492" y="609600"/>
            <a:ext cx="8298872" cy="837057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Assuming you get the same amount of pay, Which is more important to you?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1505502"/>
              </p:ext>
            </p:extLst>
          </p:nvPr>
        </p:nvGraphicFramePr>
        <p:xfrm>
          <a:off x="1502545" y="1633973"/>
          <a:ext cx="6228768" cy="48360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10473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000"/>
    </mc:Choice>
    <mc:Fallback xmlns="">
      <p:transition spd="slow" advClick="0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Chart bld="series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B830D2-0F42-50ED-DD42-B301E7AA7F3A}"/>
              </a:ext>
            </a:extLst>
          </p:cNvPr>
          <p:cNvSpPr txBox="1"/>
          <p:nvPr/>
        </p:nvSpPr>
        <p:spPr>
          <a:xfrm>
            <a:off x="981634" y="927847"/>
            <a:ext cx="76379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Labor Environment?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C1DD3-2F70-5670-439F-F907D5107F7D}"/>
              </a:ext>
            </a:extLst>
          </p:cNvPr>
          <p:cNvSpPr txBox="1"/>
          <p:nvPr/>
        </p:nvSpPr>
        <p:spPr>
          <a:xfrm>
            <a:off x="877419" y="1694329"/>
            <a:ext cx="7846360" cy="4992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dirty="0"/>
              <a:t>When unemployment drops below 6%, we notice.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When unemployment drops below 5%, labor becomes the “Price Maker”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When unemployment drops below 3%, everyone that wants a job has a job.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During the last 5 years Shiftwork Solutions is hearing: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	We can’t fill our current position, much less new positions.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	We can’t staff non-day shifts.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	We have high absenteeism, especially on weekends.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	Today’s kids don’t stick around.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138378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B87E9F-CD20-B47D-695E-DBED21DE4906}"/>
              </a:ext>
            </a:extLst>
          </p:cNvPr>
          <p:cNvSpPr txBox="1"/>
          <p:nvPr/>
        </p:nvSpPr>
        <p:spPr>
          <a:xfrm>
            <a:off x="1008529" y="2380327"/>
            <a:ext cx="787997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dirty="0"/>
              <a:t>“The schedule tells me when people will be at work.  I can see if I have the coverage I need when I need it”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517081-B533-5093-B7ED-3CAD9AE2962F}"/>
              </a:ext>
            </a:extLst>
          </p:cNvPr>
          <p:cNvSpPr txBox="1"/>
          <p:nvPr/>
        </p:nvSpPr>
        <p:spPr>
          <a:xfrm>
            <a:off x="571500" y="884758"/>
            <a:ext cx="845819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Management’s Perspective with regard to a work schedule</a:t>
            </a:r>
          </a:p>
        </p:txBody>
      </p:sp>
    </p:spTree>
    <p:extLst>
      <p:ext uri="{BB962C8B-B14F-4D97-AF65-F5344CB8AC3E}">
        <p14:creationId xmlns:p14="http://schemas.microsoft.com/office/powerpoint/2010/main" val="1220657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B87E9F-CD20-B47D-695E-DBED21DE4906}"/>
              </a:ext>
            </a:extLst>
          </p:cNvPr>
          <p:cNvSpPr txBox="1"/>
          <p:nvPr/>
        </p:nvSpPr>
        <p:spPr>
          <a:xfrm>
            <a:off x="1008529" y="2380327"/>
            <a:ext cx="787997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dirty="0"/>
              <a:t>“The schedule tells me when I don’t have to come to work.  It tells me when I can plan the rest of my life.”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79A49B-86AD-0A90-71D7-3CBA963D4C09}"/>
              </a:ext>
            </a:extLst>
          </p:cNvPr>
          <p:cNvSpPr txBox="1"/>
          <p:nvPr/>
        </p:nvSpPr>
        <p:spPr>
          <a:xfrm>
            <a:off x="558053" y="891494"/>
            <a:ext cx="805479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An Employee’s Perspective with regards to a work schedule</a:t>
            </a:r>
          </a:p>
        </p:txBody>
      </p:sp>
    </p:spTree>
    <p:extLst>
      <p:ext uri="{BB962C8B-B14F-4D97-AF65-F5344CB8AC3E}">
        <p14:creationId xmlns:p14="http://schemas.microsoft.com/office/powerpoint/2010/main" val="890578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020891-F6C6-4511-10AC-33E6F0380F82}"/>
              </a:ext>
            </a:extLst>
          </p:cNvPr>
          <p:cNvSpPr txBox="1"/>
          <p:nvPr/>
        </p:nvSpPr>
        <p:spPr>
          <a:xfrm>
            <a:off x="981635" y="572247"/>
            <a:ext cx="763793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Where we came from</a:t>
            </a:r>
          </a:p>
          <a:p>
            <a:pPr algn="ctr"/>
            <a:r>
              <a:rPr lang="en-US" sz="1800" dirty="0">
                <a:solidFill>
                  <a:srgbClr val="FF0000"/>
                </a:solidFill>
              </a:rPr>
              <a:t>And where some of us still are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582FBB0-73FB-D398-8DE7-09EF5CA511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2584646"/>
              </p:ext>
            </p:extLst>
          </p:nvPr>
        </p:nvGraphicFramePr>
        <p:xfrm>
          <a:off x="1072721" y="1860550"/>
          <a:ext cx="7623604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530820" imgH="939918" progId="Excel.Sheet.12">
                  <p:embed/>
                </p:oleObj>
              </mc:Choice>
              <mc:Fallback>
                <p:oleObj name="Worksheet" r:id="rId2" imgW="5530820" imgH="93991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72721" y="1860550"/>
                        <a:ext cx="7623604" cy="1295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2CEB4E1-6774-1733-BAAF-4D558DD68822}"/>
              </a:ext>
            </a:extLst>
          </p:cNvPr>
          <p:cNvSpPr/>
          <p:nvPr/>
        </p:nvSpPr>
        <p:spPr bwMode="auto">
          <a:xfrm>
            <a:off x="1072721" y="1860550"/>
            <a:ext cx="7623604" cy="12954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B9C04B-37F0-BB19-BBDF-B871344994BD}"/>
              </a:ext>
            </a:extLst>
          </p:cNvPr>
          <p:cNvSpPr txBox="1"/>
          <p:nvPr/>
        </p:nvSpPr>
        <p:spPr>
          <a:xfrm>
            <a:off x="981635" y="1452949"/>
            <a:ext cx="421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The Southern Swing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73EFC1-D7C5-5371-8BC5-817079A639AE}"/>
              </a:ext>
            </a:extLst>
          </p:cNvPr>
          <p:cNvSpPr txBox="1"/>
          <p:nvPr/>
        </p:nvSpPr>
        <p:spPr>
          <a:xfrm>
            <a:off x="876300" y="3343643"/>
            <a:ext cx="817245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Created in the 1930’s to comply with Federal overtime rules (&gt;8 hours and &gt;40 hours)</a:t>
            </a:r>
          </a:p>
          <a:p>
            <a:pPr algn="ctr"/>
            <a:r>
              <a:rPr lang="en-US" dirty="0"/>
              <a:t>4 Crews</a:t>
            </a:r>
          </a:p>
          <a:p>
            <a:pPr algn="ctr"/>
            <a:r>
              <a:rPr lang="en-US" dirty="0"/>
              <a:t>42-hour average work week</a:t>
            </a:r>
          </a:p>
          <a:p>
            <a:pPr algn="ctr"/>
            <a:r>
              <a:rPr lang="en-US" dirty="0"/>
              <a:t>1 weekend off a month</a:t>
            </a:r>
          </a:p>
          <a:p>
            <a:pPr algn="ctr"/>
            <a:r>
              <a:rPr lang="en-US" dirty="0"/>
              <a:t>273 annual days of work</a:t>
            </a:r>
          </a:p>
          <a:p>
            <a:pPr algn="ctr"/>
            <a:r>
              <a:rPr lang="en-US" dirty="0"/>
              <a:t>8-hour rotating shifts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DFF904-30D3-034F-512E-5A40BC508913}"/>
              </a:ext>
            </a:extLst>
          </p:cNvPr>
          <p:cNvSpPr txBox="1"/>
          <p:nvPr/>
        </p:nvSpPr>
        <p:spPr>
          <a:xfrm>
            <a:off x="981635" y="4403340"/>
            <a:ext cx="559435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(-)</a:t>
            </a:r>
            <a:r>
              <a:rPr lang="en-US" dirty="0"/>
              <a:t> Too many days of work</a:t>
            </a:r>
          </a:p>
          <a:p>
            <a:r>
              <a:rPr lang="en-US" sz="1600" dirty="0"/>
              <a:t>(-)</a:t>
            </a:r>
            <a:r>
              <a:rPr lang="en-US" dirty="0"/>
              <a:t> Not enough weekends off</a:t>
            </a:r>
          </a:p>
          <a:p>
            <a:r>
              <a:rPr lang="en-US" sz="1600" dirty="0"/>
              <a:t>(-)</a:t>
            </a:r>
            <a:r>
              <a:rPr lang="en-US" dirty="0"/>
              <a:t> Seven days of work in a row</a:t>
            </a:r>
          </a:p>
          <a:p>
            <a:r>
              <a:rPr lang="en-US" sz="1600" dirty="0"/>
              <a:t>(-) </a:t>
            </a:r>
            <a:r>
              <a:rPr lang="en-US" dirty="0"/>
              <a:t>Rotating</a:t>
            </a:r>
          </a:p>
          <a:p>
            <a:r>
              <a:rPr lang="en-US" sz="1600" dirty="0"/>
              <a:t>(+) </a:t>
            </a:r>
            <a:r>
              <a:rPr lang="en-US" dirty="0"/>
              <a:t>Absentee coverage is relatively easy</a:t>
            </a:r>
          </a:p>
          <a:p>
            <a:r>
              <a:rPr lang="en-US" sz="1600" dirty="0"/>
              <a:t>(+)</a:t>
            </a:r>
            <a:r>
              <a:rPr lang="en-US" dirty="0"/>
              <a:t> All crews are equal </a:t>
            </a:r>
          </a:p>
          <a:p>
            <a:r>
              <a:rPr lang="en-US" sz="1600" dirty="0"/>
              <a:t>(+) </a:t>
            </a:r>
            <a:r>
              <a:rPr lang="en-US" dirty="0"/>
              <a:t>Management sees all crews</a:t>
            </a:r>
          </a:p>
          <a:p>
            <a:r>
              <a:rPr lang="en-US" sz="1600" dirty="0"/>
              <a:t>(-)</a:t>
            </a:r>
            <a:r>
              <a:rPr lang="en-US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Very difficult to recruit into</a:t>
            </a:r>
          </a:p>
        </p:txBody>
      </p:sp>
    </p:spTree>
    <p:extLst>
      <p:ext uri="{BB962C8B-B14F-4D97-AF65-F5344CB8AC3E}">
        <p14:creationId xmlns:p14="http://schemas.microsoft.com/office/powerpoint/2010/main" val="2090218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E267A1F4-3198-633A-DC5F-0BA77F5F69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2793313"/>
              </p:ext>
            </p:extLst>
          </p:nvPr>
        </p:nvGraphicFramePr>
        <p:xfrm>
          <a:off x="1072721" y="1853059"/>
          <a:ext cx="7623604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530820" imgH="939918" progId="Excel.Sheet.12">
                  <p:embed/>
                </p:oleObj>
              </mc:Choice>
              <mc:Fallback>
                <p:oleObj name="Worksheet" r:id="rId2" imgW="5530820" imgH="93991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72721" y="1853059"/>
                        <a:ext cx="7623604" cy="1295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1020891-F6C6-4511-10AC-33E6F0380F82}"/>
              </a:ext>
            </a:extLst>
          </p:cNvPr>
          <p:cNvSpPr txBox="1"/>
          <p:nvPr/>
        </p:nvSpPr>
        <p:spPr>
          <a:xfrm>
            <a:off x="981635" y="572247"/>
            <a:ext cx="76379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Where were we recently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CEB4E1-6774-1733-BAAF-4D558DD68822}"/>
              </a:ext>
            </a:extLst>
          </p:cNvPr>
          <p:cNvSpPr/>
          <p:nvPr/>
        </p:nvSpPr>
        <p:spPr bwMode="auto">
          <a:xfrm>
            <a:off x="1072721" y="1860550"/>
            <a:ext cx="7623604" cy="12954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B9C04B-37F0-BB19-BBDF-B871344994BD}"/>
              </a:ext>
            </a:extLst>
          </p:cNvPr>
          <p:cNvSpPr txBox="1"/>
          <p:nvPr/>
        </p:nvSpPr>
        <p:spPr>
          <a:xfrm>
            <a:off x="981634" y="1452949"/>
            <a:ext cx="4498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Dupont rotating 12-hour schedule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73EFC1-D7C5-5371-8BC5-817079A639AE}"/>
              </a:ext>
            </a:extLst>
          </p:cNvPr>
          <p:cNvSpPr txBox="1"/>
          <p:nvPr/>
        </p:nvSpPr>
        <p:spPr>
          <a:xfrm>
            <a:off x="1072721" y="3343643"/>
            <a:ext cx="817245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Created in the late 1980’s when Federal law no longer mandated overtime after 8-hours</a:t>
            </a:r>
          </a:p>
          <a:p>
            <a:pPr algn="ctr"/>
            <a:r>
              <a:rPr lang="en-US" dirty="0"/>
              <a:t>4 Crews</a:t>
            </a:r>
          </a:p>
          <a:p>
            <a:pPr algn="ctr"/>
            <a:r>
              <a:rPr lang="en-US" dirty="0"/>
              <a:t>42-hour average work week</a:t>
            </a:r>
          </a:p>
          <a:p>
            <a:pPr algn="ctr"/>
            <a:r>
              <a:rPr lang="en-US" dirty="0"/>
              <a:t>2 weekends off a month (+13)</a:t>
            </a:r>
          </a:p>
          <a:p>
            <a:pPr algn="ctr"/>
            <a:r>
              <a:rPr lang="en-US" dirty="0"/>
              <a:t>182 annual days of work (-91)</a:t>
            </a:r>
          </a:p>
          <a:p>
            <a:pPr algn="ctr"/>
            <a:r>
              <a:rPr lang="en-US" dirty="0"/>
              <a:t>12-hour rotating shifts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DFF904-30D3-034F-512E-5A40BC508913}"/>
              </a:ext>
            </a:extLst>
          </p:cNvPr>
          <p:cNvSpPr txBox="1"/>
          <p:nvPr/>
        </p:nvSpPr>
        <p:spPr>
          <a:xfrm>
            <a:off x="848285" y="4680850"/>
            <a:ext cx="55943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(-) </a:t>
            </a:r>
            <a:r>
              <a:rPr lang="en-US" dirty="0"/>
              <a:t>Rotating</a:t>
            </a:r>
          </a:p>
          <a:p>
            <a:r>
              <a:rPr lang="en-US" sz="1600" dirty="0"/>
              <a:t>(+)</a:t>
            </a:r>
            <a:r>
              <a:rPr lang="en-US" dirty="0"/>
              <a:t> 7-day break every month</a:t>
            </a:r>
          </a:p>
          <a:p>
            <a:r>
              <a:rPr lang="en-US" sz="1600" dirty="0"/>
              <a:t>(+)</a:t>
            </a:r>
            <a:r>
              <a:rPr lang="en-US" dirty="0"/>
              <a:t> All crews are equal </a:t>
            </a:r>
          </a:p>
          <a:p>
            <a:r>
              <a:rPr lang="en-US" sz="1600" dirty="0"/>
              <a:t>(+) </a:t>
            </a:r>
            <a:r>
              <a:rPr lang="en-US" dirty="0"/>
              <a:t>Management sees all crews</a:t>
            </a:r>
          </a:p>
          <a:p>
            <a:r>
              <a:rPr lang="en-US" sz="1600" dirty="0"/>
              <a:t>(-)</a:t>
            </a:r>
            <a:r>
              <a:rPr lang="en-US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Fixed shifts can be easier to recruit into</a:t>
            </a:r>
          </a:p>
        </p:txBody>
      </p:sp>
    </p:spTree>
    <p:extLst>
      <p:ext uri="{BB962C8B-B14F-4D97-AF65-F5344CB8AC3E}">
        <p14:creationId xmlns:p14="http://schemas.microsoft.com/office/powerpoint/2010/main" val="1345935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786528E6-009E-69BC-0C1D-9BE6FF326A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2067400"/>
              </p:ext>
            </p:extLst>
          </p:nvPr>
        </p:nvGraphicFramePr>
        <p:xfrm>
          <a:off x="1086794" y="1875136"/>
          <a:ext cx="7609531" cy="1362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530820" imgH="990482" progId="Excel.Sheet.12">
                  <p:embed/>
                </p:oleObj>
              </mc:Choice>
              <mc:Fallback>
                <p:oleObj name="Worksheet" r:id="rId2" imgW="5530820" imgH="99048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86794" y="1875136"/>
                        <a:ext cx="7609531" cy="13629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1020891-F6C6-4511-10AC-33E6F0380F82}"/>
              </a:ext>
            </a:extLst>
          </p:cNvPr>
          <p:cNvSpPr txBox="1"/>
          <p:nvPr/>
        </p:nvSpPr>
        <p:spPr>
          <a:xfrm>
            <a:off x="981635" y="572247"/>
            <a:ext cx="76379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Where are we now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CEB4E1-6774-1733-BAAF-4D558DD68822}"/>
              </a:ext>
            </a:extLst>
          </p:cNvPr>
          <p:cNvSpPr/>
          <p:nvPr/>
        </p:nvSpPr>
        <p:spPr bwMode="auto">
          <a:xfrm>
            <a:off x="1072721" y="1866900"/>
            <a:ext cx="7623604" cy="137113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B9C04B-37F0-BB19-BBDF-B871344994BD}"/>
              </a:ext>
            </a:extLst>
          </p:cNvPr>
          <p:cNvSpPr txBox="1"/>
          <p:nvPr/>
        </p:nvSpPr>
        <p:spPr>
          <a:xfrm>
            <a:off x="981634" y="1452949"/>
            <a:ext cx="4498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2-2-3 12-hour schedule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73EFC1-D7C5-5371-8BC5-817079A639AE}"/>
              </a:ext>
            </a:extLst>
          </p:cNvPr>
          <p:cNvSpPr txBox="1"/>
          <p:nvPr/>
        </p:nvSpPr>
        <p:spPr>
          <a:xfrm>
            <a:off x="1047320" y="3657600"/>
            <a:ext cx="817245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Most popular pattern in the county (counting the variations)</a:t>
            </a:r>
          </a:p>
          <a:p>
            <a:pPr algn="ctr"/>
            <a:r>
              <a:rPr lang="en-US" dirty="0"/>
              <a:t>4 Crews</a:t>
            </a:r>
          </a:p>
          <a:p>
            <a:pPr algn="ctr"/>
            <a:r>
              <a:rPr lang="en-US" dirty="0"/>
              <a:t>42-hour average work week</a:t>
            </a:r>
          </a:p>
          <a:p>
            <a:pPr algn="ctr"/>
            <a:r>
              <a:rPr lang="en-US" dirty="0"/>
              <a:t>2 alternating 3-day weekends off a month </a:t>
            </a:r>
          </a:p>
          <a:p>
            <a:pPr algn="ctr"/>
            <a:r>
              <a:rPr lang="en-US" dirty="0"/>
              <a:t>182 annual days of work </a:t>
            </a:r>
          </a:p>
          <a:p>
            <a:pPr algn="ctr"/>
            <a:r>
              <a:rPr lang="en-US" dirty="0"/>
              <a:t>12-hour fixed shifts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DFF904-30D3-034F-512E-5A40BC508913}"/>
              </a:ext>
            </a:extLst>
          </p:cNvPr>
          <p:cNvSpPr txBox="1"/>
          <p:nvPr/>
        </p:nvSpPr>
        <p:spPr>
          <a:xfrm>
            <a:off x="810185" y="5201550"/>
            <a:ext cx="55943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(+)</a:t>
            </a:r>
            <a:r>
              <a:rPr lang="en-US" dirty="0"/>
              <a:t> Alternating 3-day weekends</a:t>
            </a:r>
          </a:p>
          <a:p>
            <a:r>
              <a:rPr lang="en-US" sz="1600" dirty="0"/>
              <a:t>(-)</a:t>
            </a:r>
            <a:r>
              <a:rPr lang="en-US" dirty="0"/>
              <a:t> Day shifts are preferred to night shifts</a:t>
            </a:r>
          </a:p>
          <a:p>
            <a:r>
              <a:rPr lang="en-US" sz="1600" dirty="0"/>
              <a:t>(-)</a:t>
            </a:r>
            <a:r>
              <a:rPr lang="en-US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Nights can be very difficult to adjust to</a:t>
            </a:r>
          </a:p>
        </p:txBody>
      </p:sp>
    </p:spTree>
    <p:extLst>
      <p:ext uri="{BB962C8B-B14F-4D97-AF65-F5344CB8AC3E}">
        <p14:creationId xmlns:p14="http://schemas.microsoft.com/office/powerpoint/2010/main" val="3093426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B830D2-0F42-50ED-DD42-B301E7AA7F3A}"/>
              </a:ext>
            </a:extLst>
          </p:cNvPr>
          <p:cNvSpPr txBox="1"/>
          <p:nvPr/>
        </p:nvSpPr>
        <p:spPr>
          <a:xfrm>
            <a:off x="773205" y="411056"/>
            <a:ext cx="80547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Offering Nights something different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EF4C9C98-FFD6-F0A2-9A64-A4274ABB2B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5815861"/>
              </p:ext>
            </p:extLst>
          </p:nvPr>
        </p:nvGraphicFramePr>
        <p:xfrm>
          <a:off x="992468" y="1063091"/>
          <a:ext cx="7633820" cy="2494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168841" imgH="1688923" progId="Excel.Sheet.12">
                  <p:embed/>
                </p:oleObj>
              </mc:Choice>
              <mc:Fallback>
                <p:oleObj name="Worksheet" r:id="rId2" imgW="5168841" imgH="1688923" progId="Excel.Sheet.12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EF4C9C98-FFD6-F0A2-9A64-A4274ABB2B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92468" y="1063091"/>
                        <a:ext cx="7633820" cy="24945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AD6E91B7-CDA1-FE95-3AA1-D830EC856E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5922249"/>
              </p:ext>
            </p:extLst>
          </p:nvPr>
        </p:nvGraphicFramePr>
        <p:xfrm>
          <a:off x="992468" y="3657600"/>
          <a:ext cx="7633820" cy="248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5168841" imgH="1682780" progId="Excel.Sheet.12">
                  <p:embed/>
                </p:oleObj>
              </mc:Choice>
              <mc:Fallback>
                <p:oleObj name="Worksheet" r:id="rId4" imgW="5168841" imgH="1682780" progId="Excel.Sheet.1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AD6E91B7-CDA1-FE95-3AA1-D830EC856E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92468" y="3657600"/>
                        <a:ext cx="7633820" cy="2485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Oval 7">
            <a:extLst>
              <a:ext uri="{FF2B5EF4-FFF2-40B4-BE49-F238E27FC236}">
                <a16:creationId xmlns:a16="http://schemas.microsoft.com/office/drawing/2014/main" id="{51939673-A9B7-8748-E0CF-93455C5A4E81}"/>
              </a:ext>
            </a:extLst>
          </p:cNvPr>
          <p:cNvSpPr/>
          <p:nvPr/>
        </p:nvSpPr>
        <p:spPr bwMode="auto">
          <a:xfrm>
            <a:off x="6884894" y="1775012"/>
            <a:ext cx="773206" cy="484094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B63B72B-D5CC-D29C-2EC2-BC558C8055E5}"/>
              </a:ext>
            </a:extLst>
          </p:cNvPr>
          <p:cNvCxnSpPr/>
          <p:nvPr/>
        </p:nvCxnSpPr>
        <p:spPr bwMode="auto">
          <a:xfrm>
            <a:off x="7295029" y="2252402"/>
            <a:ext cx="0" cy="86731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05FC68DC-AA87-E6EC-7219-B15EC202F75C}"/>
              </a:ext>
            </a:extLst>
          </p:cNvPr>
          <p:cNvSpPr/>
          <p:nvPr/>
        </p:nvSpPr>
        <p:spPr bwMode="auto">
          <a:xfrm>
            <a:off x="531160" y="995364"/>
            <a:ext cx="8296835" cy="2609663"/>
          </a:xfrm>
          <a:prstGeom prst="rect">
            <a:avLst/>
          </a:prstGeom>
          <a:solidFill>
            <a:schemeClr val="bg1">
              <a:alpha val="59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1191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B830D2-0F42-50ED-DD42-B301E7AA7F3A}"/>
              </a:ext>
            </a:extLst>
          </p:cNvPr>
          <p:cNvSpPr txBox="1"/>
          <p:nvPr/>
        </p:nvSpPr>
        <p:spPr>
          <a:xfrm>
            <a:off x="1132914" y="539732"/>
            <a:ext cx="733537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Match 24/7 schedule to the preference of the Crews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EAFF065-288A-52A3-E5C6-D3F0386A21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7038442"/>
              </p:ext>
            </p:extLst>
          </p:nvPr>
        </p:nvGraphicFramePr>
        <p:xfrm>
          <a:off x="2003612" y="1779033"/>
          <a:ext cx="7100694" cy="3169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149939" imgH="2298523" progId="Excel.Sheet.12">
                  <p:embed/>
                </p:oleObj>
              </mc:Choice>
              <mc:Fallback>
                <p:oleObj name="Worksheet" r:id="rId2" imgW="5149939" imgH="2298523" progId="Excel.Sheet.12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8EAFF065-288A-52A3-E5C6-D3F0386A21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03612" y="1779033"/>
                        <a:ext cx="7100694" cy="31694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69B88C7-C2A6-8FCD-ADDA-B9F06DBC72BB}"/>
              </a:ext>
            </a:extLst>
          </p:cNvPr>
          <p:cNvSpPr txBox="1"/>
          <p:nvPr/>
        </p:nvSpPr>
        <p:spPr>
          <a:xfrm>
            <a:off x="558054" y="2017059"/>
            <a:ext cx="1432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Crew A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8EBB03-9F8C-28FF-4B5F-D4CA0526A879}"/>
              </a:ext>
            </a:extLst>
          </p:cNvPr>
          <p:cNvSpPr txBox="1"/>
          <p:nvPr/>
        </p:nvSpPr>
        <p:spPr>
          <a:xfrm>
            <a:off x="558054" y="2294058"/>
            <a:ext cx="1432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Crew B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E25AE7-BE32-0AD5-24B9-CF3474C20B1A}"/>
              </a:ext>
            </a:extLst>
          </p:cNvPr>
          <p:cNvSpPr txBox="1"/>
          <p:nvPr/>
        </p:nvSpPr>
        <p:spPr>
          <a:xfrm>
            <a:off x="564776" y="2913048"/>
            <a:ext cx="1432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Crew C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52E405-2749-FAB6-581A-2E447CA166AB}"/>
              </a:ext>
            </a:extLst>
          </p:cNvPr>
          <p:cNvSpPr txBox="1"/>
          <p:nvPr/>
        </p:nvSpPr>
        <p:spPr>
          <a:xfrm>
            <a:off x="564776" y="3879477"/>
            <a:ext cx="1432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Crew D 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3801319-D0FA-72C2-F49B-1D3F8247495B}"/>
              </a:ext>
            </a:extLst>
          </p:cNvPr>
          <p:cNvCxnSpPr/>
          <p:nvPr/>
        </p:nvCxnSpPr>
        <p:spPr bwMode="auto">
          <a:xfrm>
            <a:off x="1280832" y="2155558"/>
            <a:ext cx="72278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2D50609-9743-4F1F-E76A-96A96A30EFD7}"/>
              </a:ext>
            </a:extLst>
          </p:cNvPr>
          <p:cNvCxnSpPr/>
          <p:nvPr/>
        </p:nvCxnSpPr>
        <p:spPr bwMode="auto">
          <a:xfrm>
            <a:off x="1291478" y="2420895"/>
            <a:ext cx="72278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C5BDD85-7C17-E20C-C9C0-FB723101C162}"/>
              </a:ext>
            </a:extLst>
          </p:cNvPr>
          <p:cNvCxnSpPr/>
          <p:nvPr/>
        </p:nvCxnSpPr>
        <p:spPr bwMode="auto">
          <a:xfrm>
            <a:off x="1291478" y="3051547"/>
            <a:ext cx="72278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E6DDAB7-FE51-CAA1-9B08-9C3BB71C05C4}"/>
              </a:ext>
            </a:extLst>
          </p:cNvPr>
          <p:cNvCxnSpPr/>
          <p:nvPr/>
        </p:nvCxnSpPr>
        <p:spPr bwMode="auto">
          <a:xfrm>
            <a:off x="1280832" y="4008558"/>
            <a:ext cx="72278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559158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  <p:bldP spid="16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786528E6-009E-69BC-0C1D-9BE6FF326A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5834" y="1579209"/>
          <a:ext cx="7609531" cy="1362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530820" imgH="990482" progId="Excel.Sheet.12">
                  <p:embed/>
                </p:oleObj>
              </mc:Choice>
              <mc:Fallback>
                <p:oleObj name="Worksheet" r:id="rId2" imgW="5530820" imgH="990482" progId="Excel.Sheet.12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786528E6-009E-69BC-0C1D-9BE6FF326A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95834" y="1579209"/>
                        <a:ext cx="7609531" cy="13629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1020891-F6C6-4511-10AC-33E6F0380F82}"/>
              </a:ext>
            </a:extLst>
          </p:cNvPr>
          <p:cNvSpPr txBox="1"/>
          <p:nvPr/>
        </p:nvSpPr>
        <p:spPr>
          <a:xfrm>
            <a:off x="981635" y="572247"/>
            <a:ext cx="76379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Fixing the night shift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CEB4E1-6774-1733-BAAF-4D558DD68822}"/>
              </a:ext>
            </a:extLst>
          </p:cNvPr>
          <p:cNvSpPr/>
          <p:nvPr/>
        </p:nvSpPr>
        <p:spPr bwMode="auto">
          <a:xfrm>
            <a:off x="981761" y="1570973"/>
            <a:ext cx="7623604" cy="137113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B9C04B-37F0-BB19-BBDF-B871344994BD}"/>
              </a:ext>
            </a:extLst>
          </p:cNvPr>
          <p:cNvSpPr txBox="1"/>
          <p:nvPr/>
        </p:nvSpPr>
        <p:spPr>
          <a:xfrm>
            <a:off x="890674" y="1157022"/>
            <a:ext cx="4498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2-2-3 12-hour schedule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92650A-D338-257E-DC38-E63E04A6BD1E}"/>
              </a:ext>
            </a:extLst>
          </p:cNvPr>
          <p:cNvSpPr txBox="1"/>
          <p:nvPr/>
        </p:nvSpPr>
        <p:spPr>
          <a:xfrm>
            <a:off x="890674" y="3416199"/>
            <a:ext cx="4498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5&amp;2 12-hour schedule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5573D9-F9A8-6396-0AB1-9E8C7606ECBB}"/>
              </a:ext>
            </a:extLst>
          </p:cNvPr>
          <p:cNvSpPr/>
          <p:nvPr/>
        </p:nvSpPr>
        <p:spPr bwMode="auto">
          <a:xfrm>
            <a:off x="983261" y="3854450"/>
            <a:ext cx="7623604" cy="13479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BE296291-07FD-98A6-64E5-D1687A5A1D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9403681"/>
              </p:ext>
            </p:extLst>
          </p:nvPr>
        </p:nvGraphicFramePr>
        <p:xfrm>
          <a:off x="994335" y="3854450"/>
          <a:ext cx="7611030" cy="1371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5530820" imgH="997098" progId="Excel.Sheet.12">
                  <p:embed/>
                </p:oleObj>
              </mc:Choice>
              <mc:Fallback>
                <p:oleObj name="Worksheet" r:id="rId4" imgW="5530820" imgH="99709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94335" y="3854450"/>
                        <a:ext cx="7611030" cy="13719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6B629A54-C3D8-0CED-86A3-CCFA6D5CB44E}"/>
              </a:ext>
            </a:extLst>
          </p:cNvPr>
          <p:cNvSpPr/>
          <p:nvPr/>
        </p:nvSpPr>
        <p:spPr bwMode="auto">
          <a:xfrm>
            <a:off x="704850" y="5480050"/>
            <a:ext cx="8051800" cy="965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552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B830D2-0F42-50ED-DD42-B301E7AA7F3A}"/>
              </a:ext>
            </a:extLst>
          </p:cNvPr>
          <p:cNvSpPr txBox="1"/>
          <p:nvPr/>
        </p:nvSpPr>
        <p:spPr>
          <a:xfrm>
            <a:off x="675713" y="477371"/>
            <a:ext cx="805479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To be the “best choice” you need to know what labor wants.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C1DD3-2F70-5670-439F-F907D5107F7D}"/>
              </a:ext>
            </a:extLst>
          </p:cNvPr>
          <p:cNvSpPr txBox="1"/>
          <p:nvPr/>
        </p:nvSpPr>
        <p:spPr>
          <a:xfrm>
            <a:off x="1428748" y="1371600"/>
            <a:ext cx="7846360" cy="6100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dirty="0"/>
              <a:t>Wages are important.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Non-wage benefits are relatively unimportant to younger employees.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Having a lot of days off from work is important.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Predictability &amp; flexibility are important.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Fixed shifts are easier to hire in to.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Overtime: Some love it. Some hate it.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75% want to work only day shift.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Weekends off.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Talk to me.  Impress me.  I want to feel important.</a:t>
            </a:r>
          </a:p>
          <a:p>
            <a:pPr>
              <a:lnSpc>
                <a:spcPct val="200000"/>
              </a:lnSpc>
            </a:pPr>
            <a:endParaRPr lang="en-US" sz="1800" dirty="0"/>
          </a:p>
          <a:p>
            <a:pPr>
              <a:lnSpc>
                <a:spcPct val="200000"/>
              </a:lnSpc>
            </a:pPr>
            <a:r>
              <a:rPr lang="en-US" sz="18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550978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B830D2-0F42-50ED-DD42-B301E7AA7F3A}"/>
              </a:ext>
            </a:extLst>
          </p:cNvPr>
          <p:cNvSpPr txBox="1"/>
          <p:nvPr/>
        </p:nvSpPr>
        <p:spPr>
          <a:xfrm>
            <a:off x="606795" y="474031"/>
            <a:ext cx="85624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Framing is Important: Get them in the door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410B408F-0F41-6BE3-524C-330872094F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7335763"/>
              </p:ext>
            </p:extLst>
          </p:nvPr>
        </p:nvGraphicFramePr>
        <p:xfrm>
          <a:off x="1188428" y="3957788"/>
          <a:ext cx="7573963" cy="1428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016677" imgH="946061" progId="Excel.Sheet.12">
                  <p:embed/>
                </p:oleObj>
              </mc:Choice>
              <mc:Fallback>
                <p:oleObj name="Worksheet" r:id="rId2" imgW="5016677" imgH="946061" progId="Excel.Sheet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410B408F-0F41-6BE3-524C-330872094F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88428" y="3957788"/>
                        <a:ext cx="7573963" cy="14285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69FBF60-A2CB-BAC1-F6CF-973CFEFB755B}"/>
              </a:ext>
            </a:extLst>
          </p:cNvPr>
          <p:cNvSpPr txBox="1"/>
          <p:nvPr/>
        </p:nvSpPr>
        <p:spPr>
          <a:xfrm>
            <a:off x="3603810" y="2575610"/>
            <a:ext cx="43366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4-crew, 42-hour schedule</a:t>
            </a:r>
          </a:p>
          <a:p>
            <a:r>
              <a:rPr lang="en-US" sz="1800" dirty="0"/>
              <a:t>273 days on and 91 days off</a:t>
            </a:r>
          </a:p>
          <a:p>
            <a:r>
              <a:rPr lang="en-US" sz="1800" dirty="0"/>
              <a:t>1 weekend off a month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0524EA75-65B8-6C3C-C6B1-382B581226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7493931"/>
              </p:ext>
            </p:extLst>
          </p:nvPr>
        </p:nvGraphicFramePr>
        <p:xfrm>
          <a:off x="1101023" y="1194981"/>
          <a:ext cx="7573963" cy="1382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5149939" imgH="939918" progId="Excel.Sheet.12">
                  <p:embed/>
                </p:oleObj>
              </mc:Choice>
              <mc:Fallback>
                <p:oleObj name="Worksheet" r:id="rId4" imgW="5149939" imgH="939918" progId="Excel.Sheet.12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0524EA75-65B8-6C3C-C6B1-382B581226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01023" y="1194981"/>
                        <a:ext cx="7573963" cy="13821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E75B392-FA59-73F1-F190-D4A9EF8555B9}"/>
              </a:ext>
            </a:extLst>
          </p:cNvPr>
          <p:cNvSpPr txBox="1"/>
          <p:nvPr/>
        </p:nvSpPr>
        <p:spPr>
          <a:xfrm>
            <a:off x="3547781" y="5410698"/>
            <a:ext cx="43366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4-crew, 42-hour schedule</a:t>
            </a:r>
          </a:p>
          <a:p>
            <a:r>
              <a:rPr lang="en-US" sz="1800" dirty="0"/>
              <a:t>182 days on and 182 days off</a:t>
            </a:r>
          </a:p>
          <a:p>
            <a:r>
              <a:rPr lang="en-US" sz="1800" dirty="0"/>
              <a:t>2 weekends off a month</a:t>
            </a:r>
          </a:p>
        </p:txBody>
      </p:sp>
    </p:spTree>
    <p:extLst>
      <p:ext uri="{BB962C8B-B14F-4D97-AF65-F5344CB8AC3E}">
        <p14:creationId xmlns:p14="http://schemas.microsoft.com/office/powerpoint/2010/main" val="1062681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B830D2-0F42-50ED-DD42-B301E7AA7F3A}"/>
              </a:ext>
            </a:extLst>
          </p:cNvPr>
          <p:cNvSpPr txBox="1"/>
          <p:nvPr/>
        </p:nvSpPr>
        <p:spPr>
          <a:xfrm>
            <a:off x="606795" y="474031"/>
            <a:ext cx="85624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Framing is Important: Get them in the door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835177B-C12D-E947-D730-0F72B07264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0186721"/>
              </p:ext>
            </p:extLst>
          </p:nvPr>
        </p:nvGraphicFramePr>
        <p:xfrm>
          <a:off x="1013618" y="1177646"/>
          <a:ext cx="7573963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016677" imgH="387498" progId="Excel.Sheet.12">
                  <p:embed/>
                </p:oleObj>
              </mc:Choice>
              <mc:Fallback>
                <p:oleObj name="Worksheet" r:id="rId2" imgW="5016677" imgH="387498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F835177B-C12D-E947-D730-0F72B07264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13618" y="1177646"/>
                        <a:ext cx="7573963" cy="585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410B408F-0F41-6BE3-524C-330872094F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7717638"/>
              </p:ext>
            </p:extLst>
          </p:nvPr>
        </p:nvGraphicFramePr>
        <p:xfrm>
          <a:off x="1101023" y="3348167"/>
          <a:ext cx="7573963" cy="1428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5016677" imgH="946061" progId="Excel.Sheet.12">
                  <p:embed/>
                </p:oleObj>
              </mc:Choice>
              <mc:Fallback>
                <p:oleObj name="Worksheet" r:id="rId4" imgW="5016677" imgH="946061" progId="Excel.Sheet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410B408F-0F41-6BE3-524C-330872094F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01023" y="3348167"/>
                        <a:ext cx="7573963" cy="14285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69FBF60-A2CB-BAC1-F6CF-973CFEFB755B}"/>
              </a:ext>
            </a:extLst>
          </p:cNvPr>
          <p:cNvSpPr txBox="1"/>
          <p:nvPr/>
        </p:nvSpPr>
        <p:spPr>
          <a:xfrm>
            <a:off x="1862417" y="1844332"/>
            <a:ext cx="43366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All day shifts.</a:t>
            </a:r>
          </a:p>
          <a:p>
            <a:r>
              <a:rPr lang="en-US" sz="1800" dirty="0"/>
              <a:t>All weekends off.</a:t>
            </a:r>
          </a:p>
          <a:p>
            <a:r>
              <a:rPr lang="en-US" sz="1800" dirty="0"/>
              <a:t>8-hour shifts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3061E1-CDEB-61E5-B4D9-074CB579AFA5}"/>
              </a:ext>
            </a:extLst>
          </p:cNvPr>
          <p:cNvSpPr txBox="1"/>
          <p:nvPr/>
        </p:nvSpPr>
        <p:spPr>
          <a:xfrm>
            <a:off x="2001371" y="4895514"/>
            <a:ext cx="43366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Rotating shifts.</a:t>
            </a:r>
          </a:p>
          <a:p>
            <a:r>
              <a:rPr lang="en-US" sz="1800" dirty="0"/>
              <a:t>Work half of the weekends</a:t>
            </a:r>
          </a:p>
          <a:p>
            <a:r>
              <a:rPr lang="en-US" sz="1800" dirty="0"/>
              <a:t>12-hour shifts.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030AC7-EDF5-D637-37A6-003413F03709}"/>
              </a:ext>
            </a:extLst>
          </p:cNvPr>
          <p:cNvSpPr txBox="1"/>
          <p:nvPr/>
        </p:nvSpPr>
        <p:spPr>
          <a:xfrm>
            <a:off x="5032561" y="1785689"/>
            <a:ext cx="36979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40-hour paycheck</a:t>
            </a:r>
          </a:p>
          <a:p>
            <a:r>
              <a:rPr lang="en-US" sz="1800" dirty="0">
                <a:solidFill>
                  <a:srgbClr val="FF0000"/>
                </a:solidFill>
              </a:rPr>
              <a:t>2-day breaks.</a:t>
            </a:r>
          </a:p>
          <a:p>
            <a:r>
              <a:rPr lang="en-US" sz="1800" dirty="0">
                <a:solidFill>
                  <a:srgbClr val="FF0000"/>
                </a:solidFill>
              </a:rPr>
              <a:t>260 days of work per year</a:t>
            </a:r>
          </a:p>
          <a:p>
            <a:r>
              <a:rPr lang="en-US" sz="1800" dirty="0">
                <a:solidFill>
                  <a:srgbClr val="FF0000"/>
                </a:solidFill>
              </a:rPr>
              <a:t>5 workdays in a row</a:t>
            </a:r>
          </a:p>
          <a:p>
            <a:r>
              <a:rPr lang="en-US" sz="1800" dirty="0">
                <a:solidFill>
                  <a:srgbClr val="FF0000"/>
                </a:solidFill>
              </a:rPr>
              <a:t>40 hours of vacation = 1 week off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6786B9-48DC-1B76-5715-2E2C084ADD00}"/>
              </a:ext>
            </a:extLst>
          </p:cNvPr>
          <p:cNvSpPr txBox="1"/>
          <p:nvPr/>
        </p:nvSpPr>
        <p:spPr>
          <a:xfrm>
            <a:off x="5084108" y="4757014"/>
            <a:ext cx="36979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44-hour paycheck</a:t>
            </a:r>
          </a:p>
          <a:p>
            <a:r>
              <a:rPr lang="en-US" sz="1800" dirty="0">
                <a:solidFill>
                  <a:srgbClr val="FF0000"/>
                </a:solidFill>
              </a:rPr>
              <a:t>8-day break every month</a:t>
            </a:r>
          </a:p>
          <a:p>
            <a:r>
              <a:rPr lang="en-US" sz="1800" dirty="0">
                <a:solidFill>
                  <a:srgbClr val="FF0000"/>
                </a:solidFill>
              </a:rPr>
              <a:t>182 days of work per year</a:t>
            </a:r>
          </a:p>
          <a:p>
            <a:r>
              <a:rPr lang="en-US" sz="1800" dirty="0">
                <a:solidFill>
                  <a:srgbClr val="FF0000"/>
                </a:solidFill>
              </a:rPr>
              <a:t>48 hours of vacation = 2 week off</a:t>
            </a:r>
          </a:p>
        </p:txBody>
      </p:sp>
    </p:spTree>
    <p:extLst>
      <p:ext uri="{BB962C8B-B14F-4D97-AF65-F5344CB8AC3E}">
        <p14:creationId xmlns:p14="http://schemas.microsoft.com/office/powerpoint/2010/main" val="2740209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3354" y="595745"/>
            <a:ext cx="8960210" cy="1149927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I depend on overtime worked outside of my schedule  </a:t>
            </a:r>
            <a:br>
              <a:rPr lang="en-US" sz="2400" b="1" dirty="0">
                <a:solidFill>
                  <a:srgbClr val="FF0000"/>
                </a:solidFill>
              </a:rPr>
            </a:br>
            <a:r>
              <a:rPr lang="en-US" sz="2400" b="1" dirty="0">
                <a:solidFill>
                  <a:srgbClr val="FF0000"/>
                </a:solidFill>
              </a:rPr>
              <a:t>to help me make ends meet: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7684911"/>
              </p:ext>
            </p:extLst>
          </p:nvPr>
        </p:nvGraphicFramePr>
        <p:xfrm>
          <a:off x="1565564" y="1925782"/>
          <a:ext cx="6206836" cy="41563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20117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000"/>
    </mc:Choice>
    <mc:Fallback xmlns="">
      <p:transition spd="slow" advClick="0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Chart bld="series"/>
        </p:bldSub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B830D2-0F42-50ED-DD42-B301E7AA7F3A}"/>
              </a:ext>
            </a:extLst>
          </p:cNvPr>
          <p:cNvSpPr txBox="1"/>
          <p:nvPr/>
        </p:nvSpPr>
        <p:spPr>
          <a:xfrm>
            <a:off x="773205" y="544605"/>
            <a:ext cx="80547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A few notes about overtime.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C1DD3-2F70-5670-439F-F907D5107F7D}"/>
              </a:ext>
            </a:extLst>
          </p:cNvPr>
          <p:cNvSpPr txBox="1"/>
          <p:nvPr/>
        </p:nvSpPr>
        <p:spPr>
          <a:xfrm>
            <a:off x="578224" y="1062146"/>
            <a:ext cx="8444752" cy="554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Overtime is a function of staffing and workload.  The schedule itself does not play a role in the AMOUNT, but can tell you WHERE it occurs.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Overtime probably costs about the same as straight time.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Overtime allows employees to earn more even if their wages are lower than they would like.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20% want all the overtime they can get.  20% avoid all overtime.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“Heads Up” is important to minimize overtime dissatisfaction.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Beware of the impact of fatigue from too much overtime.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MANDATORY OVERTIME is the opposite of a satisfactory Work-Life Balance.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Employees are forgiving if there is light at the end of the tunnel.	</a:t>
            </a:r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D40F9A67-773E-C679-FE87-28EF280A8EF5}"/>
              </a:ext>
            </a:extLst>
          </p:cNvPr>
          <p:cNvSpPr/>
          <p:nvPr/>
        </p:nvSpPr>
        <p:spPr bwMode="auto">
          <a:xfrm>
            <a:off x="578224" y="2144806"/>
            <a:ext cx="6804211" cy="779929"/>
          </a:xfrm>
          <a:prstGeom prst="rect">
            <a:avLst/>
          </a:prstGeom>
          <a:solidFill>
            <a:schemeClr val="accent1">
              <a:alpha val="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226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03357495-6A37-22DE-C21C-D7DB8071CA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68503" y="1882411"/>
          <a:ext cx="6987039" cy="1270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959836" imgH="1130359" progId="Excel.Sheet.12">
                  <p:embed/>
                </p:oleObj>
              </mc:Choice>
              <mc:Fallback>
                <p:oleObj name="Worksheet" r:id="rId2" imgW="6959836" imgH="1130359" progId="Excel.Sheet.12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03357495-6A37-22DE-C21C-D7DB8071CA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68503" y="1882411"/>
                        <a:ext cx="6987039" cy="12700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E6AF687-03CF-14CC-9982-885165D813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287" y="4361752"/>
          <a:ext cx="6953658" cy="1202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6959836" imgH="1149261" progId="Excel.Sheet.12">
                  <p:embed/>
                </p:oleObj>
              </mc:Choice>
              <mc:Fallback>
                <p:oleObj name="Worksheet" r:id="rId4" imgW="6959836" imgH="1149261" progId="Excel.Sheet.12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FE6AF687-03CF-14CC-9982-885165D813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31287" y="4361752"/>
                        <a:ext cx="6953658" cy="12023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422D718-03A6-AF7F-16B4-9A9176AE04BD}"/>
              </a:ext>
            </a:extLst>
          </p:cNvPr>
          <p:cNvSpPr/>
          <p:nvPr/>
        </p:nvSpPr>
        <p:spPr>
          <a:xfrm>
            <a:off x="1268503" y="1882412"/>
            <a:ext cx="6953658" cy="104436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45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3BACA9-93CA-F0B2-F619-05845D2C0795}"/>
              </a:ext>
            </a:extLst>
          </p:cNvPr>
          <p:cNvSpPr/>
          <p:nvPr/>
        </p:nvSpPr>
        <p:spPr>
          <a:xfrm>
            <a:off x="1331285" y="4361752"/>
            <a:ext cx="6953658" cy="9923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4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1C37C2-CFFF-012E-D981-0F8C0405438D}"/>
              </a:ext>
            </a:extLst>
          </p:cNvPr>
          <p:cNvSpPr txBox="1"/>
          <p:nvPr/>
        </p:nvSpPr>
        <p:spPr>
          <a:xfrm>
            <a:off x="1987793" y="5601896"/>
            <a:ext cx="6325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4 crews times 47 pay-hours = 188 pay hours per week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A91945-26E3-C0E5-E7DB-A0D0452995D4}"/>
              </a:ext>
            </a:extLst>
          </p:cNvPr>
          <p:cNvSpPr txBox="1"/>
          <p:nvPr/>
        </p:nvSpPr>
        <p:spPr>
          <a:xfrm>
            <a:off x="1987793" y="3152412"/>
            <a:ext cx="5748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4 crews times 44 pay-hours = 176 pay hours per week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EC6681-3F21-FDAB-94D3-EE8B02B1A74A}"/>
              </a:ext>
            </a:extLst>
          </p:cNvPr>
          <p:cNvSpPr txBox="1"/>
          <p:nvPr/>
        </p:nvSpPr>
        <p:spPr>
          <a:xfrm>
            <a:off x="2308103" y="1372152"/>
            <a:ext cx="5269533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u="sng" dirty="0">
                <a:solidFill>
                  <a:srgbClr val="FF0000"/>
                </a:solidFill>
              </a:rPr>
              <a:t>4-crew, 12-hour, Overtime after 40 hours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9B349E-DEBA-556D-9678-92B04485AED8}"/>
              </a:ext>
            </a:extLst>
          </p:cNvPr>
          <p:cNvSpPr txBox="1"/>
          <p:nvPr/>
        </p:nvSpPr>
        <p:spPr>
          <a:xfrm>
            <a:off x="2413812" y="3892308"/>
            <a:ext cx="5269533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u="sng" dirty="0">
                <a:solidFill>
                  <a:srgbClr val="FF0000"/>
                </a:solidFill>
              </a:rPr>
              <a:t>4-crew, 12-hour, Overtime after 32 hours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8A0879-CF65-5765-0160-5EA8C5086628}"/>
              </a:ext>
            </a:extLst>
          </p:cNvPr>
          <p:cNvSpPr txBox="1"/>
          <p:nvPr/>
        </p:nvSpPr>
        <p:spPr>
          <a:xfrm>
            <a:off x="981635" y="572247"/>
            <a:ext cx="76379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Where are we going?</a:t>
            </a:r>
          </a:p>
        </p:txBody>
      </p:sp>
    </p:spTree>
    <p:extLst>
      <p:ext uri="{BB962C8B-B14F-4D97-AF65-F5344CB8AC3E}">
        <p14:creationId xmlns:p14="http://schemas.microsoft.com/office/powerpoint/2010/main" val="3432324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36AAAEF5-5C25-AFD1-6883-D045E126CC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68503" y="4025473"/>
          <a:ext cx="6953658" cy="1366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959836" imgH="1314657" progId="Excel.Sheet.12">
                  <p:embed/>
                </p:oleObj>
              </mc:Choice>
              <mc:Fallback>
                <p:oleObj name="Worksheet" r:id="rId2" imgW="6959836" imgH="1314657" progId="Excel.Sheet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36AAAEF5-5C25-AFD1-6883-D045E126CC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68503" y="4025473"/>
                        <a:ext cx="6953658" cy="13667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DD51FB0F-E86A-4B43-266E-4FE6934486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5315049"/>
              </p:ext>
            </p:extLst>
          </p:nvPr>
        </p:nvGraphicFramePr>
        <p:xfrm>
          <a:off x="1268503" y="1437914"/>
          <a:ext cx="6953658" cy="12786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6959836" imgH="1149261" progId="Excel.Sheet.12">
                  <p:embed/>
                </p:oleObj>
              </mc:Choice>
              <mc:Fallback>
                <p:oleObj name="Worksheet" r:id="rId4" imgW="6959836" imgH="1149261" progId="Excel.Sheet.12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DD51FB0F-E86A-4B43-266E-4FE6934486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68503" y="1437914"/>
                        <a:ext cx="6953658" cy="12786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0773AF4-1408-CC68-5420-0BBDEDE97B86}"/>
              </a:ext>
            </a:extLst>
          </p:cNvPr>
          <p:cNvSpPr txBox="1"/>
          <p:nvPr/>
        </p:nvSpPr>
        <p:spPr>
          <a:xfrm>
            <a:off x="1866900" y="2766944"/>
            <a:ext cx="6054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4 crews times 47 pay-hours = 188 pay hours per week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0F512E-9C5A-6E4D-C1E2-B2800D09F500}"/>
              </a:ext>
            </a:extLst>
          </p:cNvPr>
          <p:cNvSpPr txBox="1"/>
          <p:nvPr/>
        </p:nvSpPr>
        <p:spPr>
          <a:xfrm>
            <a:off x="1685361" y="5453313"/>
            <a:ext cx="6578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5 crews times 37.6 pay-hours = 188 pay hours per week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0AF9AB-4D61-9527-A33C-7332271EBDA2}"/>
              </a:ext>
            </a:extLst>
          </p:cNvPr>
          <p:cNvSpPr/>
          <p:nvPr/>
        </p:nvSpPr>
        <p:spPr>
          <a:xfrm>
            <a:off x="1268503" y="1431562"/>
            <a:ext cx="6953658" cy="104436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45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E42420-2553-156F-76AD-AE648CE6232B}"/>
              </a:ext>
            </a:extLst>
          </p:cNvPr>
          <p:cNvSpPr/>
          <p:nvPr/>
        </p:nvSpPr>
        <p:spPr>
          <a:xfrm>
            <a:off x="1268503" y="4025473"/>
            <a:ext cx="6953658" cy="11617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45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F6EB33-0D8A-D6E5-961A-162BB1BCA546}"/>
              </a:ext>
            </a:extLst>
          </p:cNvPr>
          <p:cNvSpPr txBox="1"/>
          <p:nvPr/>
        </p:nvSpPr>
        <p:spPr>
          <a:xfrm>
            <a:off x="1752600" y="5873017"/>
            <a:ext cx="7054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5 crews times 40 pay-hours = 200 pay hours per week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99BC2F-500B-FC97-519C-D465A10B0ECC}"/>
              </a:ext>
            </a:extLst>
          </p:cNvPr>
          <p:cNvSpPr txBox="1"/>
          <p:nvPr/>
        </p:nvSpPr>
        <p:spPr>
          <a:xfrm>
            <a:off x="2308103" y="921302"/>
            <a:ext cx="5269533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u="sng" dirty="0">
                <a:solidFill>
                  <a:srgbClr val="FF0000"/>
                </a:solidFill>
              </a:rPr>
              <a:t>4-crew, 12-hour, Overtime after 32 hours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27F05D-F622-518C-B98A-D9509C5DBCD4}"/>
              </a:ext>
            </a:extLst>
          </p:cNvPr>
          <p:cNvSpPr txBox="1"/>
          <p:nvPr/>
        </p:nvSpPr>
        <p:spPr>
          <a:xfrm>
            <a:off x="2339895" y="3543444"/>
            <a:ext cx="5269533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5" u="sng" dirty="0">
                <a:solidFill>
                  <a:srgbClr val="FF0000"/>
                </a:solidFill>
              </a:rPr>
              <a:t>5-crew, 12-hour, Overtime after 32 hours</a:t>
            </a:r>
          </a:p>
        </p:txBody>
      </p:sp>
    </p:spTree>
    <p:extLst>
      <p:ext uri="{BB962C8B-B14F-4D97-AF65-F5344CB8AC3E}">
        <p14:creationId xmlns:p14="http://schemas.microsoft.com/office/powerpoint/2010/main" val="4122672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9BF8FDCE-40F0-4528-1218-82813DFC4E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6101" y="2106546"/>
          <a:ext cx="8608999" cy="1953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8255118" imgH="1873220" progId="Excel.Sheet.12">
                  <p:embed/>
                </p:oleObj>
              </mc:Choice>
              <mc:Fallback>
                <p:oleObj name="Worksheet" r:id="rId2" imgW="8255118" imgH="1873220" progId="Excel.Sheet.12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9BF8FDCE-40F0-4528-1218-82813DFC4E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96101" y="2106546"/>
                        <a:ext cx="8608999" cy="19535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7735F69-412E-43FC-4E4E-5C4A1C09048A}"/>
              </a:ext>
            </a:extLst>
          </p:cNvPr>
          <p:cNvSpPr txBox="1"/>
          <p:nvPr/>
        </p:nvSpPr>
        <p:spPr>
          <a:xfrm>
            <a:off x="1917061" y="1333999"/>
            <a:ext cx="5393521" cy="67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80" b="1" dirty="0">
                <a:solidFill>
                  <a:srgbClr val="FF0000"/>
                </a:solidFill>
              </a:rPr>
              <a:t>Summary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804022-F28C-B294-A994-C86127C95AE1}"/>
              </a:ext>
            </a:extLst>
          </p:cNvPr>
          <p:cNvSpPr/>
          <p:nvPr/>
        </p:nvSpPr>
        <p:spPr>
          <a:xfrm>
            <a:off x="496101" y="2068394"/>
            <a:ext cx="8608999" cy="19869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45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C743D7-0D10-237D-FE7E-EB6CFFA01435}"/>
              </a:ext>
            </a:extLst>
          </p:cNvPr>
          <p:cNvSpPr txBox="1"/>
          <p:nvPr/>
        </p:nvSpPr>
        <p:spPr>
          <a:xfrm>
            <a:off x="727109" y="4224149"/>
            <a:ext cx="81978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Employees will love the time off but may resist a schedule with a 40-hour paycheck if their current schedule gives them 44 hours.</a:t>
            </a:r>
          </a:p>
          <a:p>
            <a:endParaRPr lang="en-US" sz="1600" dirty="0"/>
          </a:p>
          <a:p>
            <a:r>
              <a:rPr lang="en-US" sz="1600" dirty="0"/>
              <a:t>Companies will find the schedule easier to recruit into compared to a traditional, 4-crew schedule.  Pay hours go up 13.6% compared to current overtime over 40 rules.  A fifth crew has some additional non-payroll costs such as healthcare which can be significant (estimated to be an additional 10%).</a:t>
            </a:r>
          </a:p>
        </p:txBody>
      </p:sp>
    </p:spTree>
    <p:extLst>
      <p:ext uri="{BB962C8B-B14F-4D97-AF65-F5344CB8AC3E}">
        <p14:creationId xmlns:p14="http://schemas.microsoft.com/office/powerpoint/2010/main" val="1178500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9C66F7-B01A-6F4B-0BD5-C62E3ED4DC9A}"/>
              </a:ext>
            </a:extLst>
          </p:cNvPr>
          <p:cNvSpPr txBox="1"/>
          <p:nvPr/>
        </p:nvSpPr>
        <p:spPr>
          <a:xfrm>
            <a:off x="1465730" y="1499348"/>
            <a:ext cx="652182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4000" u="sng" dirty="0"/>
              <a:t>Time Permitting</a:t>
            </a:r>
          </a:p>
          <a:p>
            <a:pPr algn="ctr"/>
            <a:r>
              <a:rPr lang="en-US" sz="4000" dirty="0"/>
              <a:t>The weekend Warrior Trap</a:t>
            </a:r>
          </a:p>
          <a:p>
            <a:pPr algn="ctr"/>
            <a:r>
              <a:rPr lang="en-US" sz="4000" dirty="0"/>
              <a:t>Flexing from 5 to 6 days</a:t>
            </a:r>
          </a:p>
          <a:p>
            <a:pPr algn="ctr"/>
            <a:r>
              <a:rPr lang="en-US" sz="4000" dirty="0"/>
              <a:t>Flexing from 5 to 7 days</a:t>
            </a:r>
          </a:p>
          <a:p>
            <a:pPr algn="ctr"/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5974035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B830D2-0F42-50ED-DD42-B301E7AA7F3A}"/>
              </a:ext>
            </a:extLst>
          </p:cNvPr>
          <p:cNvSpPr txBox="1"/>
          <p:nvPr/>
        </p:nvSpPr>
        <p:spPr>
          <a:xfrm>
            <a:off x="1132914" y="539732"/>
            <a:ext cx="73353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The Weekend Warrior Trap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7C3C1386-78F6-39B2-5EBA-6CA1FBB85A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0335007"/>
              </p:ext>
            </p:extLst>
          </p:nvPr>
        </p:nvGraphicFramePr>
        <p:xfrm>
          <a:off x="1049057" y="1296707"/>
          <a:ext cx="7486938" cy="1117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149939" imgH="768380" progId="Excel.Sheet.12">
                  <p:embed/>
                </p:oleObj>
              </mc:Choice>
              <mc:Fallback>
                <p:oleObj name="Worksheet" r:id="rId2" imgW="5149939" imgH="768380" progId="Excel.Sheet.1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7C3C1386-78F6-39B2-5EBA-6CA1FBB85A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49057" y="1296707"/>
                        <a:ext cx="7486938" cy="11170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892F4FA-D0FC-1945-B487-63811C863213}"/>
              </a:ext>
            </a:extLst>
          </p:cNvPr>
          <p:cNvSpPr txBox="1"/>
          <p:nvPr/>
        </p:nvSpPr>
        <p:spPr>
          <a:xfrm>
            <a:off x="1132915" y="2830606"/>
            <a:ext cx="7987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Workforce</a:t>
            </a:r>
            <a:r>
              <a:rPr lang="en-US" sz="1600" dirty="0"/>
              <a:t>:  “We are tired of working so much overtime on the weekends.”</a:t>
            </a:r>
          </a:p>
          <a:p>
            <a:r>
              <a:rPr lang="en-US" sz="1600" b="1" dirty="0"/>
              <a:t>Management</a:t>
            </a:r>
            <a:r>
              <a:rPr lang="en-US" sz="1600" dirty="0"/>
              <a:t>: “I have an idea.  Let’s hire some people to work the weekends for you”</a:t>
            </a:r>
          </a:p>
          <a:p>
            <a:r>
              <a:rPr lang="en-US" sz="1600" b="1" dirty="0"/>
              <a:t>Workforce</a:t>
            </a:r>
            <a:r>
              <a:rPr lang="en-US" sz="1600" dirty="0"/>
              <a:t>: “Hurray!!”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F3D59BA1-ECC8-9457-1BB5-013B0AC253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4726340"/>
              </p:ext>
            </p:extLst>
          </p:nvPr>
        </p:nvGraphicFramePr>
        <p:xfrm>
          <a:off x="1050007" y="3946712"/>
          <a:ext cx="7501184" cy="1748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5149939" imgH="1200298" progId="Excel.Sheet.12">
                  <p:embed/>
                </p:oleObj>
              </mc:Choice>
              <mc:Fallback>
                <p:oleObj name="Worksheet" r:id="rId4" imgW="5149939" imgH="1200298" progId="Excel.Sheet.12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F3D59BA1-ECC8-9457-1BB5-013B0AC253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50007" y="3946712"/>
                        <a:ext cx="7501184" cy="17481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571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B830D2-0F42-50ED-DD42-B301E7AA7F3A}"/>
              </a:ext>
            </a:extLst>
          </p:cNvPr>
          <p:cNvSpPr txBox="1"/>
          <p:nvPr/>
        </p:nvSpPr>
        <p:spPr>
          <a:xfrm>
            <a:off x="1132914" y="539732"/>
            <a:ext cx="73353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The Weekend Warrior Trap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F3D59BA1-ECC8-9457-1BB5-013B0AC253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6270478"/>
              </p:ext>
            </p:extLst>
          </p:nvPr>
        </p:nvGraphicFramePr>
        <p:xfrm>
          <a:off x="1132914" y="1371601"/>
          <a:ext cx="7501184" cy="1748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149939" imgH="1200298" progId="Excel.Sheet.12">
                  <p:embed/>
                </p:oleObj>
              </mc:Choice>
              <mc:Fallback>
                <p:oleObj name="Worksheet" r:id="rId2" imgW="5149939" imgH="1200298" progId="Excel.Sheet.12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F3D59BA1-ECC8-9457-1BB5-013B0AC253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32914" y="1371601"/>
                        <a:ext cx="7501184" cy="17481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B0F04BB-A364-EAAA-B032-90291A2DC28F}"/>
              </a:ext>
            </a:extLst>
          </p:cNvPr>
          <p:cNvSpPr txBox="1"/>
          <p:nvPr/>
        </p:nvSpPr>
        <p:spPr>
          <a:xfrm>
            <a:off x="1080805" y="3260912"/>
            <a:ext cx="793544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weekend crew </a:t>
            </a:r>
            <a:r>
              <a:rPr lang="en-US" sz="1400" u="sng" dirty="0"/>
              <a:t>Will Operate Differently </a:t>
            </a:r>
            <a:r>
              <a:rPr lang="en-US" sz="1400" dirty="0"/>
              <a:t>from the weekday crew.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Pay too little and the weekend crew will be poorly staffed and low-skilled with high turnover.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Pay too much and the cost of the schedule becomes prohibitive.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Having weekend crew show up at other times to get 40 hours offers little value to the company.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After 3 to 5 years of trying to make this work, companies will get rid of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workforce will not take kindly to losing this schedule.</a:t>
            </a:r>
          </a:p>
          <a:p>
            <a:endParaRPr lang="en-US" sz="1400" dirty="0"/>
          </a:p>
          <a:p>
            <a:r>
              <a:rPr lang="en-US" sz="1400" dirty="0"/>
              <a:t>Note:  There are instances where variations of this can work.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20261A5-F988-7144-044E-B6DDB15EE4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845750"/>
              </p:ext>
            </p:extLst>
          </p:nvPr>
        </p:nvGraphicFramePr>
        <p:xfrm>
          <a:off x="1132914" y="5076794"/>
          <a:ext cx="6756960" cy="1574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5149939" imgH="1200298" progId="Excel.Sheet.12">
                  <p:embed/>
                </p:oleObj>
              </mc:Choice>
              <mc:Fallback>
                <p:oleObj name="Worksheet" r:id="rId4" imgW="5149939" imgH="1200298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C20261A5-F988-7144-044E-B6DDB15EE4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32914" y="5076794"/>
                        <a:ext cx="6756960" cy="1574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72373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B830D2-0F42-50ED-DD42-B301E7AA7F3A}"/>
              </a:ext>
            </a:extLst>
          </p:cNvPr>
          <p:cNvSpPr txBox="1"/>
          <p:nvPr/>
        </p:nvSpPr>
        <p:spPr>
          <a:xfrm>
            <a:off x="1132914" y="539732"/>
            <a:ext cx="73353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Flexing from 5-day to 6 day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7D53531-522C-BE07-ADAF-72FDAA5D17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3166469"/>
              </p:ext>
            </p:extLst>
          </p:nvPr>
        </p:nvGraphicFramePr>
        <p:xfrm>
          <a:off x="786514" y="1424080"/>
          <a:ext cx="8119350" cy="1191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149939" imgH="755620" progId="Excel.Sheet.12">
                  <p:embed/>
                </p:oleObj>
              </mc:Choice>
              <mc:Fallback>
                <p:oleObj name="Worksheet" r:id="rId2" imgW="5149939" imgH="755620" progId="Excel.Sheet.12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E7D53531-522C-BE07-ADAF-72FDAA5D17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86514" y="1424080"/>
                        <a:ext cx="8119350" cy="11913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DFFFBE5-9BA3-25A0-4EB4-7D7A143C4D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7634786"/>
              </p:ext>
            </p:extLst>
          </p:nvPr>
        </p:nvGraphicFramePr>
        <p:xfrm>
          <a:off x="800282" y="3380628"/>
          <a:ext cx="8119350" cy="1191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5149939" imgH="755620" progId="Excel.Sheet.12">
                  <p:embed/>
                </p:oleObj>
              </mc:Choice>
              <mc:Fallback>
                <p:oleObj name="Worksheet" r:id="rId4" imgW="5149939" imgH="755620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1DFFFBE5-9BA3-25A0-4EB4-7D7A143C4D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00282" y="3380628"/>
                        <a:ext cx="8119350" cy="11913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BA6B37D-1C58-0CB8-78BF-0AA962A903A5}"/>
              </a:ext>
            </a:extLst>
          </p:cNvPr>
          <p:cNvSpPr txBox="1"/>
          <p:nvPr/>
        </p:nvSpPr>
        <p:spPr>
          <a:xfrm>
            <a:off x="1481062" y="4807324"/>
            <a:ext cx="67302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Both schedules use 3 crews.</a:t>
            </a:r>
          </a:p>
          <a:p>
            <a:r>
              <a:rPr lang="en-US" sz="2400" dirty="0"/>
              <a:t>Both schedules average 48 hours per week.</a:t>
            </a:r>
          </a:p>
          <a:p>
            <a:r>
              <a:rPr lang="en-US" sz="2400" dirty="0"/>
              <a:t>The 8-hour schedule has 52 annual days off.</a:t>
            </a:r>
          </a:p>
          <a:p>
            <a:r>
              <a:rPr lang="en-US" sz="2400" dirty="0"/>
              <a:t>The 12-hour schedule has 106 annual days off.</a:t>
            </a:r>
          </a:p>
        </p:txBody>
      </p:sp>
    </p:spTree>
    <p:extLst>
      <p:ext uri="{BB962C8B-B14F-4D97-AF65-F5344CB8AC3E}">
        <p14:creationId xmlns:p14="http://schemas.microsoft.com/office/powerpoint/2010/main" val="2998287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B830D2-0F42-50ED-DD42-B301E7AA7F3A}"/>
              </a:ext>
            </a:extLst>
          </p:cNvPr>
          <p:cNvSpPr txBox="1"/>
          <p:nvPr/>
        </p:nvSpPr>
        <p:spPr>
          <a:xfrm>
            <a:off x="1132914" y="539732"/>
            <a:ext cx="73353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Flexing from 5-day to 7 day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A6B37D-1C58-0CB8-78BF-0AA962A903A5}"/>
              </a:ext>
            </a:extLst>
          </p:cNvPr>
          <p:cNvSpPr txBox="1"/>
          <p:nvPr/>
        </p:nvSpPr>
        <p:spPr>
          <a:xfrm>
            <a:off x="2494609" y="5698250"/>
            <a:ext cx="67302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Both schedules use 3 crews.</a:t>
            </a:r>
          </a:p>
          <a:p>
            <a:r>
              <a:rPr lang="en-US" sz="1600" dirty="0"/>
              <a:t>Both schedules average 56 hours per week.</a:t>
            </a:r>
          </a:p>
          <a:p>
            <a:r>
              <a:rPr lang="en-US" sz="1600" dirty="0"/>
              <a:t>The 8-hour schedule has 0 annual days off.</a:t>
            </a:r>
          </a:p>
          <a:p>
            <a:r>
              <a:rPr lang="en-US" sz="1600" dirty="0"/>
              <a:t>The 12-hour schedule has 122 annual days off.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C31AF73-C780-56CA-4120-18BA62FECA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719923"/>
              </p:ext>
            </p:extLst>
          </p:nvPr>
        </p:nvGraphicFramePr>
        <p:xfrm>
          <a:off x="1210595" y="1188757"/>
          <a:ext cx="6992291" cy="10259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149939" imgH="755620" progId="Excel.Sheet.12">
                  <p:embed/>
                </p:oleObj>
              </mc:Choice>
              <mc:Fallback>
                <p:oleObj name="Worksheet" r:id="rId2" imgW="5149939" imgH="755620" progId="Excel.Sheet.12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0C31AF73-C780-56CA-4120-18BA62FECA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10595" y="1188757"/>
                        <a:ext cx="6992291" cy="10259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5EBC7C5E-E488-129F-BE1F-25135AE156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9667305"/>
              </p:ext>
            </p:extLst>
          </p:nvPr>
        </p:nvGraphicFramePr>
        <p:xfrm>
          <a:off x="1210595" y="2336766"/>
          <a:ext cx="6992290" cy="3276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5149939" imgH="2412882" progId="Excel.Sheet.12">
                  <p:embed/>
                </p:oleObj>
              </mc:Choice>
              <mc:Fallback>
                <p:oleObj name="Worksheet" r:id="rId4" imgW="5149939" imgH="2412882" progId="Excel.Sheet.1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5EBC7C5E-E488-129F-BE1F-25135AE15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10595" y="2336766"/>
                        <a:ext cx="6992290" cy="32762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991148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8F2E72-173E-C77C-9E25-8C112CD00342}"/>
              </a:ext>
            </a:extLst>
          </p:cNvPr>
          <p:cNvSpPr txBox="1"/>
          <p:nvPr/>
        </p:nvSpPr>
        <p:spPr>
          <a:xfrm>
            <a:off x="1132914" y="539732"/>
            <a:ext cx="73353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The Cost of Time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299FDDE-B3A6-BECD-F274-5EB6612E70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190613"/>
              </p:ext>
            </p:extLst>
          </p:nvPr>
        </p:nvGraphicFramePr>
        <p:xfrm>
          <a:off x="4938620" y="1061007"/>
          <a:ext cx="3270324" cy="56232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006820" imgH="6889898" progId="Excel.Sheet.12">
                  <p:embed/>
                </p:oleObj>
              </mc:Choice>
              <mc:Fallback>
                <p:oleObj name="Worksheet" r:id="rId2" imgW="4006820" imgH="6889898" progId="Excel.Sheet.12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E299FDDE-B3A6-BECD-F274-5EB6612E70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938620" y="1061007"/>
                        <a:ext cx="3270324" cy="56232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EB94DB3-D53A-7E33-D609-E0E6859E62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1633564"/>
              </p:ext>
            </p:extLst>
          </p:nvPr>
        </p:nvGraphicFramePr>
        <p:xfrm>
          <a:off x="514349" y="2025464"/>
          <a:ext cx="4286250" cy="177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286102" imgH="1771620" progId="Excel.Sheet.12">
                  <p:embed/>
                </p:oleObj>
              </mc:Choice>
              <mc:Fallback>
                <p:oleObj name="Worksheet" r:id="rId4" imgW="4286102" imgH="1771620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7EB94DB3-D53A-7E33-D609-E0E6859E62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4349" y="2025464"/>
                        <a:ext cx="4286250" cy="1771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hlinkClick r:id="rId6" action="ppaction://hlinksldjump"/>
            <a:extLst>
              <a:ext uri="{FF2B5EF4-FFF2-40B4-BE49-F238E27FC236}">
                <a16:creationId xmlns:a16="http://schemas.microsoft.com/office/drawing/2014/main" id="{93463792-18E0-8B54-8CAC-2D50739E1184}"/>
              </a:ext>
            </a:extLst>
          </p:cNvPr>
          <p:cNvSpPr/>
          <p:nvPr/>
        </p:nvSpPr>
        <p:spPr bwMode="auto">
          <a:xfrm>
            <a:off x="87406" y="80682"/>
            <a:ext cx="1694329" cy="1613647"/>
          </a:xfrm>
          <a:prstGeom prst="rect">
            <a:avLst/>
          </a:prstGeom>
          <a:solidFill>
            <a:schemeClr val="accent1">
              <a:alpha val="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6DEE18-D96B-523D-CE66-79C58D817423}"/>
              </a:ext>
            </a:extLst>
          </p:cNvPr>
          <p:cNvSpPr/>
          <p:nvPr/>
        </p:nvSpPr>
        <p:spPr bwMode="auto">
          <a:xfrm>
            <a:off x="4932270" y="1061007"/>
            <a:ext cx="3270324" cy="5623299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1010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4B3FAA-B9DB-0E4B-FFDF-57BC098583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1970" y="1573306"/>
            <a:ext cx="3745007" cy="3745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50908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Exotc350 DmBd BT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4358</TotalTime>
  <Words>1268</Words>
  <Application>Microsoft Office PowerPoint</Application>
  <PresentationFormat>Custom</PresentationFormat>
  <Paragraphs>165</Paragraphs>
  <Slides>29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Arial Black</vt:lpstr>
      <vt:lpstr>Calibri</vt:lpstr>
      <vt:lpstr>Exotc350 DmBd BT</vt:lpstr>
      <vt:lpstr>Times New Roman</vt:lpstr>
      <vt:lpstr>Default Design</vt:lpstr>
      <vt:lpstr>Worksheet</vt:lpstr>
      <vt:lpstr>PowerPoint Presentation</vt:lpstr>
      <vt:lpstr>PowerPoint Presentation</vt:lpstr>
      <vt:lpstr>PowerPoint Presentation</vt:lpstr>
      <vt:lpstr>Which do you prefer?</vt:lpstr>
      <vt:lpstr>Assuming you get the same amount of pay, Which is more important to you?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 depend on overtime worked outside of my schedule   to help me make ends meet: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</dc:title>
  <dc:creator>Dan Capshaw</dc:creator>
  <cp:lastModifiedBy>Jim Dillingham</cp:lastModifiedBy>
  <cp:revision>164</cp:revision>
  <dcterms:created xsi:type="dcterms:W3CDTF">2020-09-08T14:00:03Z</dcterms:created>
  <dcterms:modified xsi:type="dcterms:W3CDTF">2026-04-12T19:09:06Z</dcterms:modified>
</cp:coreProperties>
</file>