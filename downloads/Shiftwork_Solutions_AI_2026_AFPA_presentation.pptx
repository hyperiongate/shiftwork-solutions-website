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93" r:id="rId2"/>
    <p:sldId id="257" r:id="rId3"/>
    <p:sldId id="295" r:id="rId4"/>
    <p:sldId id="296" r:id="rId5"/>
    <p:sldId id="291" r:id="rId6"/>
    <p:sldId id="290" r:id="rId7"/>
    <p:sldId id="306" r:id="rId8"/>
    <p:sldId id="307" r:id="rId9"/>
    <p:sldId id="297" r:id="rId10"/>
    <p:sldId id="298" r:id="rId11"/>
    <p:sldId id="299" r:id="rId12"/>
    <p:sldId id="308" r:id="rId13"/>
    <p:sldId id="309" r:id="rId14"/>
    <p:sldId id="300" r:id="rId15"/>
    <p:sldId id="301" r:id="rId16"/>
    <p:sldId id="271" r:id="rId17"/>
    <p:sldId id="272" r:id="rId18"/>
    <p:sldId id="273" r:id="rId19"/>
    <p:sldId id="274" r:id="rId20"/>
    <p:sldId id="302" r:id="rId21"/>
    <p:sldId id="276" r:id="rId22"/>
    <p:sldId id="312" r:id="rId23"/>
    <p:sldId id="303" r:id="rId24"/>
    <p:sldId id="279" r:id="rId25"/>
    <p:sldId id="310" r:id="rId26"/>
    <p:sldId id="280" r:id="rId27"/>
    <p:sldId id="313" r:id="rId28"/>
    <p:sldId id="314" r:id="rId29"/>
    <p:sldId id="317" r:id="rId30"/>
    <p:sldId id="316" r:id="rId31"/>
    <p:sldId id="318" r:id="rId32"/>
    <p:sldId id="286" r:id="rId33"/>
    <p:sldId id="287" r:id="rId34"/>
    <p:sldId id="288" r:id="rId35"/>
    <p:sldId id="289" r:id="rId3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snapToObjects="1">
      <p:cViewPr varScale="1">
        <p:scale>
          <a:sx n="101" d="100"/>
          <a:sy n="101" d="100"/>
        </p:scale>
        <p:origin x="95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2F0EF2A-1CFF-44D4-8E36-D66513D6A568}" type="doc">
      <dgm:prSet loTypeId="urn:microsoft.com/office/officeart/2005/8/layout/vList2" loCatId="list" qsTypeId="urn:microsoft.com/office/officeart/2005/8/quickstyle/simple1#1" qsCatId="simple" csTypeId="urn:microsoft.com/office/officeart/2005/8/colors/accent1_2#1" csCatId="accent1" phldr="1"/>
      <dgm:spPr/>
      <dgm:t>
        <a:bodyPr/>
        <a:lstStyle/>
        <a:p>
          <a:endParaRPr lang="en-US"/>
        </a:p>
      </dgm:t>
    </dgm:pt>
    <dgm:pt modelId="{8F2B1E8A-8730-4BBB-811D-0119D71B14B0}">
      <dgm:prSet phldrT="[Text]" phldr="0" custT="1"/>
      <dgm:spPr>
        <a:solidFill>
          <a:schemeClr val="accent1">
            <a:lumMod val="75000"/>
          </a:schemeClr>
        </a:solidFill>
      </dgm:spPr>
      <dgm:t>
        <a:bodyPr/>
        <a:lstStyle/>
        <a:p>
          <a:r>
            <a:rPr lang="en-US" sz="2800" dirty="0"/>
            <a:t>Decision one</a:t>
          </a:r>
        </a:p>
      </dgm:t>
    </dgm:pt>
    <dgm:pt modelId="{83D28AF2-6201-47BF-BD80-8B959052B85A}" type="parTrans" cxnId="{BC9F406D-348E-490C-B713-B7A84B7370D3}">
      <dgm:prSet/>
      <dgm:spPr/>
      <dgm:t>
        <a:bodyPr/>
        <a:lstStyle/>
        <a:p>
          <a:endParaRPr lang="en-US"/>
        </a:p>
      </dgm:t>
    </dgm:pt>
    <dgm:pt modelId="{32A62DF3-6580-417B-8B15-EC932C9129B0}" type="sibTrans" cxnId="{BC9F406D-348E-490C-B713-B7A84B7370D3}">
      <dgm:prSet/>
      <dgm:spPr/>
      <dgm:t>
        <a:bodyPr/>
        <a:lstStyle/>
        <a:p>
          <a:endParaRPr lang="en-US"/>
        </a:p>
      </dgm:t>
    </dgm:pt>
    <dgm:pt modelId="{BBE96D13-66F2-4152-9021-A0A271E4C51E}">
      <dgm:prSet phldrT="[Text]" custT="1"/>
      <dgm:spPr/>
      <dgm:t>
        <a:bodyPr/>
        <a:lstStyle/>
        <a:p>
          <a:pPr>
            <a:buClrTx/>
            <a:buSzPct val="100000"/>
            <a:buFontTx/>
            <a:buChar char="•"/>
          </a:pPr>
          <a:r>
            <a:rPr kumimoji="0" lang="en-US" sz="1600" b="0" i="0" u="none" strike="noStrike" cap="none" spc="0" normalizeH="0" baseline="0" noProof="0" dirty="0">
              <a:ln>
                <a:noFill/>
              </a:ln>
              <a:solidFill>
                <a:srgbClr val="222222"/>
              </a:solidFill>
              <a:effectLst/>
              <a:uLnTx/>
              <a:uFillTx/>
              <a:latin typeface="Arial" pitchFamily="34" charset="0"/>
              <a:ea typeface="Arial" pitchFamily="34" charset="-122"/>
              <a:cs typeface="Arial" pitchFamily="34" charset="-120"/>
            </a:rPr>
            <a:t>What problem are we solving? (e.g., a maintenance plan)</a:t>
          </a:r>
          <a:endParaRPr lang="en-US" sz="800" dirty="0"/>
        </a:p>
      </dgm:t>
    </dgm:pt>
    <dgm:pt modelId="{7FBD70AC-DF4C-4267-B0B2-04CB023086EC}" type="parTrans" cxnId="{2F44E98B-7ED0-498C-8144-FA9C605D57B2}">
      <dgm:prSet/>
      <dgm:spPr/>
      <dgm:t>
        <a:bodyPr/>
        <a:lstStyle/>
        <a:p>
          <a:endParaRPr lang="en-US"/>
        </a:p>
      </dgm:t>
    </dgm:pt>
    <dgm:pt modelId="{0D358183-5685-47BB-917B-465AA8A4C14E}" type="sibTrans" cxnId="{2F44E98B-7ED0-498C-8144-FA9C605D57B2}">
      <dgm:prSet/>
      <dgm:spPr/>
      <dgm:t>
        <a:bodyPr/>
        <a:lstStyle/>
        <a:p>
          <a:endParaRPr lang="en-US"/>
        </a:p>
      </dgm:t>
    </dgm:pt>
    <dgm:pt modelId="{7AF8FE65-00CB-4D09-A604-37D62F691A22}">
      <dgm:prSet phldrT="[Text]" phldr="0" custT="1"/>
      <dgm:spPr>
        <a:solidFill>
          <a:schemeClr val="accent1">
            <a:lumMod val="75000"/>
          </a:schemeClr>
        </a:solidFill>
      </dgm:spPr>
      <dgm:t>
        <a:bodyPr/>
        <a:lstStyle/>
        <a:p>
          <a:r>
            <a:rPr lang="en-US" sz="2800" dirty="0"/>
            <a:t>Decision two </a:t>
          </a:r>
        </a:p>
      </dgm:t>
    </dgm:pt>
    <dgm:pt modelId="{B9079C8B-F038-4F19-B505-44ADD394F8B0}" type="parTrans" cxnId="{36FBC22D-2D91-4171-841D-2BF319B4B187}">
      <dgm:prSet/>
      <dgm:spPr/>
      <dgm:t>
        <a:bodyPr/>
        <a:lstStyle/>
        <a:p>
          <a:endParaRPr lang="en-US"/>
        </a:p>
      </dgm:t>
    </dgm:pt>
    <dgm:pt modelId="{480D3614-5C2B-423C-BB26-FA1353F6CE36}" type="sibTrans" cxnId="{36FBC22D-2D91-4171-841D-2BF319B4B187}">
      <dgm:prSet/>
      <dgm:spPr/>
      <dgm:t>
        <a:bodyPr/>
        <a:lstStyle/>
        <a:p>
          <a:endParaRPr lang="en-US"/>
        </a:p>
      </dgm:t>
    </dgm:pt>
    <dgm:pt modelId="{39B10C3D-8E52-4ECD-9192-DAF93626D758}">
      <dgm:prSet phldrT="[Text]" custT="1"/>
      <dgm:spPr/>
      <dgm:t>
        <a:bodyPr/>
        <a:lstStyle/>
        <a:p>
          <a:r>
            <a:rPr kumimoji="0" lang="en-US" sz="1600" b="0" i="0" u="none" strike="noStrike" cap="none" spc="0" normalizeH="0" baseline="0" noProof="0" dirty="0">
              <a:ln>
                <a:noFill/>
              </a:ln>
              <a:solidFill>
                <a:srgbClr val="222222"/>
              </a:solidFill>
              <a:effectLst/>
              <a:uLnTx/>
              <a:uFillTx/>
              <a:latin typeface="Arial Nova" panose="020B0504020202020204" pitchFamily="34" charset="0"/>
              <a:ea typeface="Arial" pitchFamily="34" charset="-122"/>
              <a:cs typeface="Arial" pitchFamily="34" charset="-120"/>
            </a:rPr>
            <a:t>Which AI? The big providers are close to each other, so pick one and learn its lineup. </a:t>
          </a:r>
          <a:endParaRPr lang="en-US" sz="1600" dirty="0"/>
        </a:p>
      </dgm:t>
    </dgm:pt>
    <dgm:pt modelId="{BE1D7972-FFE4-4714-8BE6-4DB8612AB041}" type="parTrans" cxnId="{7D75BC9D-3F56-43BB-A304-A4828BD25D79}">
      <dgm:prSet/>
      <dgm:spPr/>
      <dgm:t>
        <a:bodyPr/>
        <a:lstStyle/>
        <a:p>
          <a:endParaRPr lang="en-US"/>
        </a:p>
      </dgm:t>
    </dgm:pt>
    <dgm:pt modelId="{20FD9D4E-4C53-4518-8519-0E07BDBB2D84}" type="sibTrans" cxnId="{7D75BC9D-3F56-43BB-A304-A4828BD25D79}">
      <dgm:prSet/>
      <dgm:spPr/>
      <dgm:t>
        <a:bodyPr/>
        <a:lstStyle/>
        <a:p>
          <a:endParaRPr lang="en-US"/>
        </a:p>
      </dgm:t>
    </dgm:pt>
    <dgm:pt modelId="{AF9CA3DD-DD1E-4295-A353-13EE5A42DD77}" type="pres">
      <dgm:prSet presAssocID="{42F0EF2A-1CFF-44D4-8E36-D66513D6A568}" presName="linear" presStyleCnt="0">
        <dgm:presLayoutVars>
          <dgm:animLvl val="lvl"/>
          <dgm:resizeHandles val="exact"/>
        </dgm:presLayoutVars>
      </dgm:prSet>
      <dgm:spPr/>
    </dgm:pt>
    <dgm:pt modelId="{AAAEAF00-5C7D-401D-926C-5E64F23934AA}" type="pres">
      <dgm:prSet presAssocID="{8F2B1E8A-8730-4BBB-811D-0119D71B14B0}" presName="parentText" presStyleLbl="node1" presStyleIdx="0" presStyleCnt="2" custLinFactNeighborY="-644">
        <dgm:presLayoutVars>
          <dgm:chMax val="0"/>
          <dgm:bulletEnabled val="1"/>
        </dgm:presLayoutVars>
      </dgm:prSet>
      <dgm:spPr/>
    </dgm:pt>
    <dgm:pt modelId="{7E654FEE-2104-4B35-96F8-F92C0405DDC7}" type="pres">
      <dgm:prSet presAssocID="{8F2B1E8A-8730-4BBB-811D-0119D71B14B0}" presName="childText" presStyleLbl="revTx" presStyleIdx="0" presStyleCnt="2" custScaleY="101996" custLinFactNeighborX="0" custLinFactNeighborY="7563">
        <dgm:presLayoutVars>
          <dgm:bulletEnabled val="1"/>
        </dgm:presLayoutVars>
      </dgm:prSet>
      <dgm:spPr/>
    </dgm:pt>
    <dgm:pt modelId="{EAC72AED-BBAA-46A8-AB74-FD63380BAA1A}" type="pres">
      <dgm:prSet presAssocID="{7AF8FE65-00CB-4D09-A604-37D62F691A22}" presName="parentText" presStyleLbl="node1" presStyleIdx="1" presStyleCnt="2" custScaleY="85050" custLinFactNeighborX="0" custLinFactNeighborY="-15669">
        <dgm:presLayoutVars>
          <dgm:chMax val="0"/>
          <dgm:bulletEnabled val="1"/>
        </dgm:presLayoutVars>
      </dgm:prSet>
      <dgm:spPr/>
    </dgm:pt>
    <dgm:pt modelId="{41C3ECE8-10A8-4037-9D6B-3E0467D50828}" type="pres">
      <dgm:prSet presAssocID="{7AF8FE65-00CB-4D09-A604-37D62F691A22}" presName="childText" presStyleLbl="revTx" presStyleIdx="1" presStyleCnt="2" custLinFactNeighborY="-7078">
        <dgm:presLayoutVars>
          <dgm:bulletEnabled val="1"/>
        </dgm:presLayoutVars>
      </dgm:prSet>
      <dgm:spPr/>
    </dgm:pt>
  </dgm:ptLst>
  <dgm:cxnLst>
    <dgm:cxn modelId="{15CD8A26-356B-48A3-85FF-8C601984F631}" type="presOf" srcId="{8F2B1E8A-8730-4BBB-811D-0119D71B14B0}" destId="{AAAEAF00-5C7D-401D-926C-5E64F23934AA}" srcOrd="0" destOrd="0" presId="urn:microsoft.com/office/officeart/2005/8/layout/vList2"/>
    <dgm:cxn modelId="{36FBC22D-2D91-4171-841D-2BF319B4B187}" srcId="{42F0EF2A-1CFF-44D4-8E36-D66513D6A568}" destId="{7AF8FE65-00CB-4D09-A604-37D62F691A22}" srcOrd="1" destOrd="0" parTransId="{B9079C8B-F038-4F19-B505-44ADD394F8B0}" sibTransId="{480D3614-5C2B-423C-BB26-FA1353F6CE36}"/>
    <dgm:cxn modelId="{64485F40-787B-49B2-9B14-556DC1E8216E}" type="presOf" srcId="{39B10C3D-8E52-4ECD-9192-DAF93626D758}" destId="{41C3ECE8-10A8-4037-9D6B-3E0467D50828}" srcOrd="0" destOrd="0" presId="urn:microsoft.com/office/officeart/2005/8/layout/vList2"/>
    <dgm:cxn modelId="{BC9F406D-348E-490C-B713-B7A84B7370D3}" srcId="{42F0EF2A-1CFF-44D4-8E36-D66513D6A568}" destId="{8F2B1E8A-8730-4BBB-811D-0119D71B14B0}" srcOrd="0" destOrd="0" parTransId="{83D28AF2-6201-47BF-BD80-8B959052B85A}" sibTransId="{32A62DF3-6580-417B-8B15-EC932C9129B0}"/>
    <dgm:cxn modelId="{B99E9C70-461E-4084-8FB7-71354E0E49C1}" type="presOf" srcId="{BBE96D13-66F2-4152-9021-A0A271E4C51E}" destId="{7E654FEE-2104-4B35-96F8-F92C0405DDC7}" srcOrd="0" destOrd="0" presId="urn:microsoft.com/office/officeart/2005/8/layout/vList2"/>
    <dgm:cxn modelId="{2F44E98B-7ED0-498C-8144-FA9C605D57B2}" srcId="{8F2B1E8A-8730-4BBB-811D-0119D71B14B0}" destId="{BBE96D13-66F2-4152-9021-A0A271E4C51E}" srcOrd="0" destOrd="0" parTransId="{7FBD70AC-DF4C-4267-B0B2-04CB023086EC}" sibTransId="{0D358183-5685-47BB-917B-465AA8A4C14E}"/>
    <dgm:cxn modelId="{7D75BC9D-3F56-43BB-A304-A4828BD25D79}" srcId="{7AF8FE65-00CB-4D09-A604-37D62F691A22}" destId="{39B10C3D-8E52-4ECD-9192-DAF93626D758}" srcOrd="0" destOrd="0" parTransId="{BE1D7972-FFE4-4714-8BE6-4DB8612AB041}" sibTransId="{20FD9D4E-4C53-4518-8519-0E07BDBB2D84}"/>
    <dgm:cxn modelId="{4ECCC7D2-5CF3-4DDD-88DD-1266126D0FAA}" type="presOf" srcId="{42F0EF2A-1CFF-44D4-8E36-D66513D6A568}" destId="{AF9CA3DD-DD1E-4295-A353-13EE5A42DD77}" srcOrd="0" destOrd="0" presId="urn:microsoft.com/office/officeart/2005/8/layout/vList2"/>
    <dgm:cxn modelId="{E92CBAEE-5782-4AD6-876D-97E5831045A7}" type="presOf" srcId="{7AF8FE65-00CB-4D09-A604-37D62F691A22}" destId="{EAC72AED-BBAA-46A8-AB74-FD63380BAA1A}" srcOrd="0" destOrd="0" presId="urn:microsoft.com/office/officeart/2005/8/layout/vList2"/>
    <dgm:cxn modelId="{0DD05031-14FE-413F-8F16-E74CDCBD8998}" type="presParOf" srcId="{AF9CA3DD-DD1E-4295-A353-13EE5A42DD77}" destId="{AAAEAF00-5C7D-401D-926C-5E64F23934AA}" srcOrd="0" destOrd="0" presId="urn:microsoft.com/office/officeart/2005/8/layout/vList2"/>
    <dgm:cxn modelId="{33CCE893-0ED4-400D-AC94-5946838E738C}" type="presParOf" srcId="{AF9CA3DD-DD1E-4295-A353-13EE5A42DD77}" destId="{7E654FEE-2104-4B35-96F8-F92C0405DDC7}" srcOrd="1" destOrd="0" presId="urn:microsoft.com/office/officeart/2005/8/layout/vList2"/>
    <dgm:cxn modelId="{9BD30CAB-BF89-4E86-8608-5F485EA5260B}" type="presParOf" srcId="{AF9CA3DD-DD1E-4295-A353-13EE5A42DD77}" destId="{EAC72AED-BBAA-46A8-AB74-FD63380BAA1A}" srcOrd="2" destOrd="0" presId="urn:microsoft.com/office/officeart/2005/8/layout/vList2"/>
    <dgm:cxn modelId="{5CB5D663-6BBF-4B28-9A9E-224897005404}" type="presParOf" srcId="{AF9CA3DD-DD1E-4295-A353-13EE5A42DD77}" destId="{41C3ECE8-10A8-4037-9D6B-3E0467D50828}"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AEAF00-5C7D-401D-926C-5E64F23934AA}">
      <dsp:nvSpPr>
        <dsp:cNvPr id="0" name=""/>
        <dsp:cNvSpPr/>
      </dsp:nvSpPr>
      <dsp:spPr>
        <a:xfrm>
          <a:off x="0" y="5039"/>
          <a:ext cx="4967411" cy="973440"/>
        </a:xfrm>
        <a:prstGeom prst="roundRect">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Decision one</a:t>
          </a:r>
        </a:p>
      </dsp:txBody>
      <dsp:txXfrm>
        <a:off x="47519" y="52558"/>
        <a:ext cx="4872373" cy="878402"/>
      </dsp:txXfrm>
    </dsp:sp>
    <dsp:sp modelId="{7E654FEE-2104-4B35-96F8-F92C0405DDC7}">
      <dsp:nvSpPr>
        <dsp:cNvPr id="0" name=""/>
        <dsp:cNvSpPr/>
      </dsp:nvSpPr>
      <dsp:spPr>
        <a:xfrm>
          <a:off x="0" y="1057646"/>
          <a:ext cx="4967411" cy="8783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7715" tIns="20320" rIns="113792" bIns="20320" numCol="1" spcCol="1270" anchor="t" anchorCtr="0">
          <a:noAutofit/>
        </a:bodyPr>
        <a:lstStyle/>
        <a:p>
          <a:pPr marL="171450" lvl="1" indent="-171450" algn="l" defTabSz="711200">
            <a:lnSpc>
              <a:spcPct val="90000"/>
            </a:lnSpc>
            <a:spcBef>
              <a:spcPct val="0"/>
            </a:spcBef>
            <a:spcAft>
              <a:spcPct val="20000"/>
            </a:spcAft>
            <a:buClrTx/>
            <a:buSzPct val="100000"/>
            <a:buFontTx/>
            <a:buChar char="•"/>
          </a:pPr>
          <a:r>
            <a:rPr kumimoji="0" lang="en-US" sz="16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What problem are we solving? (e.g., a maintenance plan)</a:t>
          </a:r>
          <a:endParaRPr lang="en-US" sz="800" kern="1200" dirty="0"/>
        </a:p>
      </dsp:txBody>
      <dsp:txXfrm>
        <a:off x="0" y="1057646"/>
        <a:ext cx="4967411" cy="878307"/>
      </dsp:txXfrm>
    </dsp:sp>
    <dsp:sp modelId="{EAC72AED-BBAA-46A8-AB74-FD63380BAA1A}">
      <dsp:nvSpPr>
        <dsp:cNvPr id="0" name=""/>
        <dsp:cNvSpPr/>
      </dsp:nvSpPr>
      <dsp:spPr>
        <a:xfrm>
          <a:off x="0" y="1727404"/>
          <a:ext cx="4967411" cy="827910"/>
        </a:xfrm>
        <a:prstGeom prst="roundRect">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Decision two </a:t>
          </a:r>
        </a:p>
      </dsp:txBody>
      <dsp:txXfrm>
        <a:off x="40415" y="1767819"/>
        <a:ext cx="4886581" cy="747080"/>
      </dsp:txXfrm>
    </dsp:sp>
    <dsp:sp modelId="{41C3ECE8-10A8-4037-9D6B-3E0467D50828}">
      <dsp:nvSpPr>
        <dsp:cNvPr id="0" name=""/>
        <dsp:cNvSpPr/>
      </dsp:nvSpPr>
      <dsp:spPr>
        <a:xfrm>
          <a:off x="0" y="2621343"/>
          <a:ext cx="4967411" cy="861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7715" tIns="20320" rIns="113792" bIns="20320" numCol="1" spcCol="1270" anchor="t" anchorCtr="0">
          <a:noAutofit/>
        </a:bodyPr>
        <a:lstStyle/>
        <a:p>
          <a:pPr marL="171450" lvl="1" indent="-171450" algn="l" defTabSz="711200">
            <a:lnSpc>
              <a:spcPct val="90000"/>
            </a:lnSpc>
            <a:spcBef>
              <a:spcPct val="0"/>
            </a:spcBef>
            <a:spcAft>
              <a:spcPct val="20000"/>
            </a:spcAft>
            <a:buChar char="•"/>
          </a:pPr>
          <a:r>
            <a:rPr kumimoji="0" lang="en-US" sz="1600" b="0" i="0" u="none" strike="noStrike" kern="1200" cap="none" spc="0" normalizeH="0" baseline="0" noProof="0" dirty="0">
              <a:ln>
                <a:noFill/>
              </a:ln>
              <a:solidFill>
                <a:srgbClr val="222222"/>
              </a:solidFill>
              <a:effectLst/>
              <a:uLnTx/>
              <a:uFillTx/>
              <a:latin typeface="Arial Nova" panose="020B0504020202020204" pitchFamily="34" charset="0"/>
              <a:ea typeface="Arial" pitchFamily="34" charset="-122"/>
              <a:cs typeface="Arial" pitchFamily="34" charset="-120"/>
            </a:rPr>
            <a:t>Which AI? The big providers are close to each other, so pick one and learn its lineup. </a:t>
          </a:r>
          <a:endParaRPr lang="en-US" sz="1600" kern="1200" dirty="0"/>
        </a:p>
      </dsp:txBody>
      <dsp:txXfrm>
        <a:off x="0" y="2621343"/>
        <a:ext cx="4967411" cy="86112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67314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FD892-92ED-9BF9-F700-2E1825F0B9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4ABFA6-A5B1-2AF4-BC52-B92949ABA2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E69BF3-0DA4-5A17-B5DC-C1E2067450FF}"/>
              </a:ext>
            </a:extLst>
          </p:cNvPr>
          <p:cNvSpPr>
            <a:spLocks noGrp="1"/>
          </p:cNvSpPr>
          <p:nvPr>
            <p:ph type="body" idx="1"/>
          </p:nvPr>
        </p:nvSpPr>
        <p:spPr/>
        <p:txBody>
          <a:bodyPr/>
          <a:lstStyle/>
          <a:p>
            <a:r>
              <a:rPr lang="en-US" dirty="0"/>
              <a:t>OPEN HERE — no cold-open slide.
THE HAND COUNT, spoken from the front of the room: "Raise your hand if you've used ChatGPT, Copilot, Claude, or Gemini. Keep it up if you've used it for work in the last week." Read the room, say something true about what you see, and move on.
THEN: "The last two times I stood up here I talked about schedules. This year they asked me to talk about AI. I want to do that as a scheduling guy — which means before this hour is out, we're going to put real numbers on the screen."</a:t>
            </a:r>
          </a:p>
        </p:txBody>
      </p:sp>
      <p:sp>
        <p:nvSpPr>
          <p:cNvPr id="4" name="Slide Number Placeholder 3">
            <a:extLst>
              <a:ext uri="{FF2B5EF4-FFF2-40B4-BE49-F238E27FC236}">
                <a16:creationId xmlns:a16="http://schemas.microsoft.com/office/drawing/2014/main" id="{8A53590C-4E49-DC95-4938-AFFE34B90B6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352005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Linear progression — say it that way: first what the technology actually is, then how I track it, then robots, then the five places it hits a manufacturing operation, then what you could build with it today, then the people question, then the money, then the future.
"If you leave knowing what an AI model is, what an agent is, what's coming, and what your crews actually cost — I've done my job."</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AAFC0-4B50-836B-6C83-8BFAD0FD2F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8EC862-9AEF-520C-A1B6-E5B53C8D08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5440E0-1F93-0EB1-6C82-57226FCC18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41CE4D-A19F-4AE8-1B85-AD64911F5A52}"/>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733069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26A86-7694-91BF-A772-2EFC06FCEA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B0DD57-5690-B3D1-27AD-481A6DD0DB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419BBA-EDF7-9C06-048E-EC2E39319C3F}"/>
              </a:ext>
            </a:extLst>
          </p:cNvPr>
          <p:cNvSpPr>
            <a:spLocks noGrp="1"/>
          </p:cNvSpPr>
          <p:nvPr>
            <p:ph type="body" idx="1"/>
          </p:nvPr>
        </p:nvSpPr>
        <p:spPr/>
        <p:txBody>
          <a:bodyPr/>
          <a:lstStyle/>
          <a:p>
            <a:r>
              <a:rPr lang="en-US" dirty="0"/>
              <a:t>Most of the room has heard four or five of these names and doesn't know they're the same category of thing. Say it plainly: ChatGPT is a large language model made by a company called OpenAI. Claude is Anthropic's. Gemini is Google's.
Two separate tables side by side, on purpose — it's Model/Company, Model/Company, not one continuous four-column row. Read down each pair, not straight across.
The second layer answers Jim's own framing question — what's the difference between Perplexity and Gamma? They're not models; they're tools built ON models, each aimed at one job.
Never put version numbers on this slide — they date instantly.</a:t>
            </a:r>
          </a:p>
        </p:txBody>
      </p:sp>
      <p:sp>
        <p:nvSpPr>
          <p:cNvPr id="4" name="Slide Number Placeholder 3">
            <a:extLst>
              <a:ext uri="{FF2B5EF4-FFF2-40B4-BE49-F238E27FC236}">
                <a16:creationId xmlns:a16="http://schemas.microsoft.com/office/drawing/2014/main" id="{36A93537-13C3-D661-F932-4272C49118AB}"/>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313392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0B2DF-9BC0-1CC6-BDAC-D5734DDAE8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CD6C9D-AA62-9476-6387-692A888985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3ED560-4D63-7C7D-54D7-5D69835D69BF}"/>
              </a:ext>
            </a:extLst>
          </p:cNvPr>
          <p:cNvSpPr>
            <a:spLocks noGrp="1"/>
          </p:cNvSpPr>
          <p:nvPr>
            <p:ph type="body" idx="1"/>
          </p:nvPr>
        </p:nvSpPr>
        <p:spPr/>
        <p:txBody>
          <a:bodyPr/>
          <a:lstStyle/>
          <a:p>
            <a:r>
              <a:rPr lang="en-US" dirty="0"/>
              <a:t>Deliver fast — a few seconds per term. The room doesn't need a lecture, just a shared vocabulary before you use these words for the rest of the hour.
Agentic AI vs AI Agent is the distinction worth landing slowly: one's a description of a style, the other's a specific thing built that way. Recursive AI is worth a beat too — it's part of the honest answer for why nobody can keep up by reading headlines twice a year.</a:t>
            </a:r>
          </a:p>
        </p:txBody>
      </p:sp>
      <p:sp>
        <p:nvSpPr>
          <p:cNvPr id="4" name="Slide Number Placeholder 3">
            <a:extLst>
              <a:ext uri="{FF2B5EF4-FFF2-40B4-BE49-F238E27FC236}">
                <a16:creationId xmlns:a16="http://schemas.microsoft.com/office/drawing/2014/main" id="{D14A4094-8145-102F-DA28-5EF659D8D44C}"/>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6483031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755BA-5EB1-5BF9-EF19-4130510002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55D166-E29D-7A6B-EF13-8A8DEBDCD0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D90535-81C2-AE71-A72E-452E1C21596F}"/>
              </a:ext>
            </a:extLst>
          </p:cNvPr>
          <p:cNvSpPr>
            <a:spLocks noGrp="1"/>
          </p:cNvSpPr>
          <p:nvPr>
            <p:ph type="body" idx="1"/>
          </p:nvPr>
        </p:nvSpPr>
        <p:spPr/>
        <p:txBody>
          <a:bodyPr/>
          <a:lstStyle/>
          <a:p>
            <a:r>
              <a:rPr lang="en-US" dirty="0"/>
              <a:t>Six beats, delivered quickly. ChatGPT is not quite four years old — hold that against how long your schedules have been running.
The enterprise-lag point matters to this room: corporate may have AI, but it rarely reaches the plant floor unless somebody pushes it down. The people who close that gap first get the advantage.
If running long: narrate 2022 and 2026 only.</a:t>
            </a:r>
          </a:p>
        </p:txBody>
      </p:sp>
      <p:sp>
        <p:nvSpPr>
          <p:cNvPr id="4" name="Slide Number Placeholder 3">
            <a:extLst>
              <a:ext uri="{FF2B5EF4-FFF2-40B4-BE49-F238E27FC236}">
                <a16:creationId xmlns:a16="http://schemas.microsoft.com/office/drawing/2014/main" id="{5A3DEF7B-FF6C-D642-21C1-5161D59212BE}"/>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7669032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B615B-7771-029F-3576-73AADF3473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50E63D-6C6E-AEA3-ACFF-609B3AFA9D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8CE873-4995-82C8-2E9D-8EA3A11ACC07}"/>
              </a:ext>
            </a:extLst>
          </p:cNvPr>
          <p:cNvSpPr>
            <a:spLocks noGrp="1"/>
          </p:cNvSpPr>
          <p:nvPr>
            <p:ph type="body" idx="1"/>
          </p:nvPr>
        </p:nvSpPr>
        <p:spPr/>
        <p:txBody>
          <a:bodyPr/>
          <a:lstStyle/>
          <a:p>
            <a:r>
              <a:rPr lang="en-US" dirty="0"/>
              <a:t>This is what it looks like right now. The crowd at the bottom is still doing chatbot stuff. A few people partway up are actually implementing things. The one or two at the top work for the large language model companies.
The point is the slope, not the speaker: where we want to be is on that steep middle section — implementing, learning as we go. Don't pitch yourself as the guide; let the picture make the point.</a:t>
            </a:r>
          </a:p>
        </p:txBody>
      </p:sp>
      <p:sp>
        <p:nvSpPr>
          <p:cNvPr id="4" name="Slide Number Placeholder 3">
            <a:extLst>
              <a:ext uri="{FF2B5EF4-FFF2-40B4-BE49-F238E27FC236}">
                <a16:creationId xmlns:a16="http://schemas.microsoft.com/office/drawing/2014/main" id="{2143A12B-E7D6-01A7-7C12-3E9C9096017B}"/>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570157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65E1D-32FC-233E-28B6-8CA76D4983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F4818B-0D16-7CD5-CA56-AE8B2A598B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3F1191-A6BF-CEFA-64AE-A44B9EAE7F8F}"/>
              </a:ext>
            </a:extLst>
          </p:cNvPr>
          <p:cNvSpPr>
            <a:spLocks noGrp="1"/>
          </p:cNvSpPr>
          <p:nvPr>
            <p:ph type="body" idx="1"/>
          </p:nvPr>
        </p:nvSpPr>
        <p:spPr/>
        <p:txBody>
          <a:bodyPr/>
          <a:lstStyle/>
          <a:p>
            <a:r>
              <a:rPr lang="en-US" dirty="0"/>
              <a:t>Sentinel is YOURS — "a tracking model I run." Ran it daily for a few months, then weekly, now monthly. Never say "the data shows."
Pricing row, verified Sept 2026: OpenAI cut its cheapest tier 80% and mid-tier 20% in late July; DeepSeek's 75% cut was made permanent in May; the token-price index is at roughly half its summer peak. "Up to 80% this summer" is the stage-safe phrasing — do not say 3–20×.
The scale is deliberately three levels, not percentages — a judgment call; decimals would be false precision.</a:t>
            </a:r>
          </a:p>
        </p:txBody>
      </p:sp>
      <p:sp>
        <p:nvSpPr>
          <p:cNvPr id="4" name="Slide Number Placeholder 3">
            <a:extLst>
              <a:ext uri="{FF2B5EF4-FFF2-40B4-BE49-F238E27FC236}">
                <a16:creationId xmlns:a16="http://schemas.microsoft.com/office/drawing/2014/main" id="{0568699B-686C-EB35-09CC-0CB101F9DFA6}"/>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933923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9ED2A-40B0-1768-8FE4-E0BEF0BC4B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7F7FB8-82CD-7CD8-5137-537FF0F8FD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9E054C-598E-855A-B11A-9404B27259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EF89D1-0930-B5C2-3D1A-85DD484200D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225079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E0DD0-E06A-8FB1-BEA8-27F0D46B9A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6ABAF1-827B-E426-CB22-6FB5C32926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BA5820-CA0C-1463-F1FC-43B0F77D6BDE}"/>
              </a:ext>
            </a:extLst>
          </p:cNvPr>
          <p:cNvSpPr>
            <a:spLocks noGrp="1"/>
          </p:cNvSpPr>
          <p:nvPr>
            <p:ph type="body" idx="1"/>
          </p:nvPr>
        </p:nvSpPr>
        <p:spPr/>
        <p:txBody>
          <a:bodyPr/>
          <a:lstStyle/>
          <a:p>
            <a:r>
              <a:rPr lang="en-US" dirty="0"/>
              <a:t>Walk the equation left to right: the intelligence, plus something that can move, equals a machine that can act on your floor.
If the Terminator thought is in the room, name it, get the laugh, answer it straight: could robots eventually do everybody's job? Over a long enough horizon, maybe. But that is not the decision in front of you this year — the next few minutes are about the decision that is.</a:t>
            </a:r>
          </a:p>
        </p:txBody>
      </p:sp>
      <p:sp>
        <p:nvSpPr>
          <p:cNvPr id="4" name="Slide Number Placeholder 3">
            <a:extLst>
              <a:ext uri="{FF2B5EF4-FFF2-40B4-BE49-F238E27FC236}">
                <a16:creationId xmlns:a16="http://schemas.microsoft.com/office/drawing/2014/main" id="{EB06E89D-3A9E-C9D6-98FC-EFABE67A20E8}"/>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9662127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A74FF-7AE1-A1A8-7150-DBB5AF052C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3D9B33-1F6B-6235-50D4-0436DAF0BC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DC4B6B-09A5-5A7F-B3D5-C3EC43079C60}"/>
              </a:ext>
            </a:extLst>
          </p:cNvPr>
          <p:cNvSpPr>
            <a:spLocks noGrp="1"/>
          </p:cNvSpPr>
          <p:nvPr>
            <p:ph type="body" idx="1"/>
          </p:nvPr>
        </p:nvSpPr>
        <p:spPr/>
        <p:txBody>
          <a:bodyPr/>
          <a:lstStyle/>
          <a:p>
            <a:r>
              <a:rPr lang="en-US" dirty="0"/>
              <a:t>Three beats. Traditionally: single-purpose, not humanoid, not reprogrammable. Now: a handful of simple, similar tasks across lines. Coming: assign a goal and it decides the sequence itself.
Stretch the room on the third column — 'use your imagination a little.' A robot crossing job boundaries the way a person does over a shift.</a:t>
            </a:r>
          </a:p>
        </p:txBody>
      </p:sp>
      <p:sp>
        <p:nvSpPr>
          <p:cNvPr id="4" name="Slide Number Placeholder 3">
            <a:extLst>
              <a:ext uri="{FF2B5EF4-FFF2-40B4-BE49-F238E27FC236}">
                <a16:creationId xmlns:a16="http://schemas.microsoft.com/office/drawing/2014/main" id="{FF9CC19B-7A3E-96FB-1624-51E7713BA616}"/>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060835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3865F-603B-F0C8-AF4D-3CA141FAE1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15C6AA-B6C7-6D14-9840-D9C8752740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301439-22FD-F4F3-A66A-AD9F7BD4932D}"/>
              </a:ext>
            </a:extLst>
          </p:cNvPr>
          <p:cNvSpPr>
            <a:spLocks noGrp="1"/>
          </p:cNvSpPr>
          <p:nvPr>
            <p:ph type="body" idx="1"/>
          </p:nvPr>
        </p:nvSpPr>
        <p:spPr/>
        <p:txBody>
          <a:bodyPr/>
          <a:lstStyle/>
          <a:p>
            <a:r>
              <a:rPr lang="en-US" dirty="0"/>
              <a:t>Same day, same tool, wildly different outcomes — let the mismatch sit.
Connects forward to the crew math: if it can't solve a simple schedule, the scheduling judgment in this room has real, durable value.</a:t>
            </a:r>
          </a:p>
        </p:txBody>
      </p:sp>
      <p:sp>
        <p:nvSpPr>
          <p:cNvPr id="4" name="Slide Number Placeholder 3">
            <a:extLst>
              <a:ext uri="{FF2B5EF4-FFF2-40B4-BE49-F238E27FC236}">
                <a16:creationId xmlns:a16="http://schemas.microsoft.com/office/drawing/2014/main" id="{28CC90D4-2A03-91A3-8BAA-52F7A2EEDC43}"/>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38799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C00E3-07B4-292E-B862-475761FAB9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20BDA3-E67B-7638-D557-E2FF842F16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E0C7C9-0075-9E52-A611-4C80D31A0CD4}"/>
              </a:ext>
            </a:extLst>
          </p:cNvPr>
          <p:cNvSpPr>
            <a:spLocks noGrp="1"/>
          </p:cNvSpPr>
          <p:nvPr>
            <p:ph type="body" idx="1"/>
          </p:nvPr>
        </p:nvSpPr>
        <p:spPr/>
        <p:txBody>
          <a:bodyPr/>
          <a:lstStyle/>
          <a:p>
            <a:r>
              <a:rPr lang="en-US" dirty="0"/>
              <a:t>One-liner setup slide — name the five, don't explain them yet. We come back to each in more detail as the talk moves through robotics, the worked examples, and the crew math.
The five, in the order that matters to this room: maintenance is the most mature; workforce is the one that touches everyone and where this talk lives.</a:t>
            </a:r>
          </a:p>
        </p:txBody>
      </p:sp>
      <p:sp>
        <p:nvSpPr>
          <p:cNvPr id="4" name="Slide Number Placeholder 3">
            <a:extLst>
              <a:ext uri="{FF2B5EF4-FFF2-40B4-BE49-F238E27FC236}">
                <a16:creationId xmlns:a16="http://schemas.microsoft.com/office/drawing/2014/main" id="{CC040850-6F18-7711-1BCB-28BBBBB7E70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584759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D919C-0924-0A08-669C-36634CF7C6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0D897F-44C4-F31E-923D-1644EABDE9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BFE809-A971-0504-ED86-B56D6934617B}"/>
              </a:ext>
            </a:extLst>
          </p:cNvPr>
          <p:cNvSpPr>
            <a:spLocks noGrp="1"/>
          </p:cNvSpPr>
          <p:nvPr>
            <p:ph type="body" idx="1"/>
          </p:nvPr>
        </p:nvSpPr>
        <p:spPr/>
        <p:txBody>
          <a:bodyPr/>
          <a:lstStyle/>
          <a:p>
            <a:r>
              <a:rPr lang="en-US" dirty="0"/>
              <a:t>The architect analogy, in full: Sonnet is the contractor who builds what you specify. Opus is the architect who designs the building and tells the contractor what to build. Fable is for the city — a system of systems, held in one head.
Every provider has a similar ladder; the names differ, the idea doesn't. Model names will change — teach the LADDER, not the names.</a:t>
            </a:r>
          </a:p>
        </p:txBody>
      </p:sp>
      <p:sp>
        <p:nvSpPr>
          <p:cNvPr id="4" name="Slide Number Placeholder 3">
            <a:extLst>
              <a:ext uri="{FF2B5EF4-FFF2-40B4-BE49-F238E27FC236}">
                <a16:creationId xmlns:a16="http://schemas.microsoft.com/office/drawing/2014/main" id="{EDF0A19D-7BAF-1628-7520-18E23AD29382}"/>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505362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442E9-579A-56FC-12E2-E77A5ED27D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8E8FEB-6D67-7BDD-1D5D-4958893E64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5DAF95-6A4A-94E2-F0CC-70072E4854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C366027-EB26-1E45-C5B9-5D2C64E3118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898181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Mocked dashboard — it's illustrative, and every number on it is invented. Say so if asked. The point is "everything I need is one click away," not any single panel.
Maintenance is the most mature of the five. Point at 'Predicted unscheduled failures' — that's the row nobody has today.
Don't read it aloud. Point at two things, land the one-liner, move on. Four of these only work if each one is fast.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Mocked dashboard — it's illustrative, and every number on it is invented. Say so if asked. The point is "everything I need is one click away," not any single panel.
The butterfly-effect idea as a screen. The 'Upstream watch' strip is the part a human can't do alone — it's reading the world, not the ERP.
Don't read it aloud. Point at two things, land the one-liner, move on. Four of these only work if each one is fast.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Mocked dashboard — it's illustrative, and every number on it is invented. Say so if asked. The point is "everything I need is one click away," not any single panel.
Vision-based inspection is one of the oldest AI uses in manufacturing — not speculative. The 'Trend flags' panel is the new part: correlating across shift, crew, grade and lot automatically.
Don't read it aloud. Point at two things, land the one-liner, move on. Four of these only work if each one is fast.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Mocked dashboard — it's illustrative, and every number on it is invented. Say so if asked. The point is "everything I need is one click away," not any single panel.
This one merges the scheduling screen and the workforce screen — it's the same person's job in most mills. Two places to point: the robot sitting in the ranked fill list (the closet idea, foreshadowed), and the maintenance-tech row — four people about to walk out, zero interviews. That's the 'interview your retirees' point as a live number.
Don't read it aloud. Point at two things, land the one-liner, move on. Four of these only work if each one is fast.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5F559-8635-3499-CAA9-9CEC0FCD1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04BCB2-FEB4-C4FE-BC31-B74D34580A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F6C681-7054-9A20-B542-EB64F4C785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33329B-6530-2F73-E29C-2B472AF99A8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788232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Lead-in for the whole people section — it lowers the temperature before the sensitive part. Point at the four cards: every one of them was resisted, every one of them is now furniture.
Delivery note: many of them are lifelong paper people from small communities. They know the families. Everything in this section is gentle and honest — no knowing tone, no dodges.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3E32A-8F25-3997-1315-03FC2ADFAB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6B5708-3308-7768-6E91-1284426635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92785C-770F-6F33-53D8-5E29D877E716}"/>
              </a:ext>
            </a:extLst>
          </p:cNvPr>
          <p:cNvSpPr>
            <a:spLocks noGrp="1"/>
          </p:cNvSpPr>
          <p:nvPr>
            <p:ph type="body" idx="1"/>
          </p:nvPr>
        </p:nvSpPr>
        <p:spPr/>
        <p:txBody>
          <a:bodyPr/>
          <a:lstStyle/>
          <a:p>
            <a:r>
              <a:rPr lang="en-US" dirty="0"/>
              <a:t>White collar first is the honest read, and it surprises this room — their jobs are further from the front line than a lawyer's.
On China: say COURTS HAVE RULED, not 'China passed a law.' Spring 2026, appeals courts in Hangzhou and Beijing; the reasoning is that AI adoption is a strategic choice, so it doesn't qualify as the kind of unavoidable circumstance that justifies layoffs.</a:t>
            </a:r>
          </a:p>
        </p:txBody>
      </p:sp>
      <p:sp>
        <p:nvSpPr>
          <p:cNvPr id="4" name="Slide Number Placeholder 3">
            <a:extLst>
              <a:ext uri="{FF2B5EF4-FFF2-40B4-BE49-F238E27FC236}">
                <a16:creationId xmlns:a16="http://schemas.microsoft.com/office/drawing/2014/main" id="{149991A9-01CC-3EA8-CE3D-B27ACDD3DAA2}"/>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240665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07184-6180-0B0B-1561-2C8850E6A9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B01807-9807-5B93-2348-69515D3D5A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DCE92C-3C90-0843-1E5D-4E912AF9CB1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C5288E-5918-2D92-4802-1CB2870B180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968981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first. Let them guess. They will guess low. Do not advance until somebody answers.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somebody says "we pay them thirty an hour," they're describing well under half of what that person actually costs — the loaded number is what every comparison in this section runs on.
If challenged on the load: name the components (payroll taxes, healthcare, PPE, training, admin) and invite them to run their own number — the point survives any reasonable input.
400 × $120,000 = $48,000,000.</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8C1A0-C088-7F72-C63C-954850CBC2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B5D0C9-F368-9DE9-A294-1B644A412E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087647-F7AD-0DE7-15D7-6A5435C256D0}"/>
              </a:ext>
            </a:extLst>
          </p:cNvPr>
          <p:cNvSpPr>
            <a:spLocks noGrp="1"/>
          </p:cNvSpPr>
          <p:nvPr>
            <p:ph type="body" idx="1"/>
          </p:nvPr>
        </p:nvSpPr>
        <p:spPr/>
        <p:txBody>
          <a:bodyPr/>
          <a:lstStyle/>
          <a:p>
            <a:r>
              <a:rPr lang="en-US" dirty="0"/>
              <a:t>YOUR ORIGINAL CONTRIBUTION — land it slowly. Everyone in the room understands crewing; almost nobody has connected it to the fact that machines are bought by the position.
That four-to-one difference is the hinge of every number that follows.</a:t>
            </a:r>
          </a:p>
        </p:txBody>
      </p:sp>
      <p:sp>
        <p:nvSpPr>
          <p:cNvPr id="4" name="Slide Number Placeholder 3">
            <a:extLst>
              <a:ext uri="{FF2B5EF4-FFF2-40B4-BE49-F238E27FC236}">
                <a16:creationId xmlns:a16="http://schemas.microsoft.com/office/drawing/2014/main" id="{7E020767-674E-DF5C-E248-7B9B5F799A97}"/>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745072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0D6E1-3F32-F82A-F770-16AB43F6A9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AC9E87-FFEE-D03B-DBB2-E4B3AF0FA3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E63067-5D91-04E7-582F-968B8C5A9485}"/>
              </a:ext>
            </a:extLst>
          </p:cNvPr>
          <p:cNvSpPr>
            <a:spLocks noGrp="1"/>
          </p:cNvSpPr>
          <p:nvPr>
            <p:ph type="body" idx="1"/>
          </p:nvPr>
        </p:nvSpPr>
        <p:spPr/>
        <p:txBody>
          <a:bodyPr/>
          <a:lstStyle/>
          <a:p>
            <a:r>
              <a:rPr lang="en-US" dirty="0"/>
              <a:t>Walk the arithmetic slowly: buy price about equal to one loaded employee-year; annualized cost about $18K (purchase spread over five years, plus ~$10K/yr maintenance).
Pre-empt the capability objection explicitly — the room is thinking it, and the bump-up slide answers it. Naming it here buys you the patience to get there.</a:t>
            </a:r>
            <a:endParaRPr lang="hu-HU" dirty="0"/>
          </a:p>
          <a:p>
            <a:pPr marL="0" marR="0" lvl="0" indent="0" algn="l" defTabSz="914400" rtl="0" eaLnBrk="1" fontAlgn="auto" latinLnBrk="0" hangingPunct="1">
              <a:lnSpc>
                <a:spcPct val="100000"/>
              </a:lnSpc>
              <a:spcBef>
                <a:spcPts val="0"/>
              </a:spcBef>
              <a:spcAft>
                <a:spcPts val="0"/>
              </a:spcAft>
              <a:buClrTx/>
              <a:buSzTx/>
              <a:buFontTx/>
              <a:buNone/>
              <a:tabLst/>
              <a:defRPr/>
            </a:pPr>
            <a:r>
              <a:rPr lang="hu-HU" dirty="0"/>
              <a:t>Cut outÉ </a:t>
            </a:r>
            <a:r>
              <a:rPr kumimoji="0" lang="en-US" sz="12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Before you object — no, a robot can't do most positions today. Hold on. The next two slides are about the one place it doesn't have to.</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US" dirty="0"/>
          </a:p>
        </p:txBody>
      </p:sp>
      <p:sp>
        <p:nvSpPr>
          <p:cNvPr id="4" name="Slide Number Placeholder 3">
            <a:extLst>
              <a:ext uri="{FF2B5EF4-FFF2-40B4-BE49-F238E27FC236}">
                <a16:creationId xmlns:a16="http://schemas.microsoft.com/office/drawing/2014/main" id="{694434CF-D340-1E50-CAC0-B3455CB16574}"/>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7361909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A900A-7A0E-FFA9-C219-55E0D56B00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C10111-0C39-56F6-C416-880286C4E9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BB2AFA-6115-BCAB-F1B0-B5607BAA835F}"/>
              </a:ext>
            </a:extLst>
          </p:cNvPr>
          <p:cNvSpPr>
            <a:spLocks noGrp="1"/>
          </p:cNvSpPr>
          <p:nvPr>
            <p:ph type="body" idx="1"/>
          </p:nvPr>
        </p:nvSpPr>
        <p:spPr/>
        <p:txBody>
          <a:bodyPr/>
          <a:lstStyle/>
          <a:p>
            <a:r>
              <a:rPr lang="en-US" dirty="0"/>
              <a:t>This is the payoff of the whole section — the four-to-one crewing insight, priced out across a real operation.
Arithmetic behind every column: 400 people ÷ 4 crews = 100 positions. Each position with people = 4 × $120,000 = $480,000/yr. Each position with a robot ≈ $18,000/yr. So every position converted saves about $462,000 a year.
  • 5 positions × $462K = $2.3M
  • 25 × $462K = $11.6M
  • 50 × $462K = $23.1M
  • 100 × $462K = $46.2M
Don't walk every cell. Point at the 5% column, then the gold row, then stop. The room does the extrapolation on its own — let them.
Say the caveat out loud before anyone else does: today a robot can't hold most of these positions. That's the bump-up slide's job, and it's next. This slide is about the force, not the schedule — the economics are this lopsided, so the pressure is coming whether or not the technology is ready this year.
If challenged on $18,000: $30–40K purchase over a five-year life plus about $10K/yr maintenance. Invite them to double it — at $36,000 a year it's still thirteen times cheaper, and the argument survives.</a:t>
            </a:r>
          </a:p>
          <a:p>
            <a:pPr marL="342900" marR="0" lvl="0" indent="-342900" algn="l" defTabSz="914400" rtl="0" eaLnBrk="1" fontAlgn="auto" latinLnBrk="0" hangingPunct="1">
              <a:lnSpc>
                <a:spcPct val="100000"/>
              </a:lnSpc>
              <a:spcBef>
                <a:spcPts val="0"/>
              </a:spcBef>
              <a:spcAft>
                <a:spcPts val="800"/>
              </a:spcAft>
              <a:buClrTx/>
              <a:buSzPct val="100000"/>
              <a:buFontTx/>
              <a:buChar char="•"/>
              <a:tabLst/>
              <a:defRPr/>
            </a:pPr>
            <a:r>
              <a:rPr lang="en-US" dirty="0"/>
              <a:t>Cut from slide: </a:t>
            </a:r>
            <a:r>
              <a:rPr kumimoji="0" lang="en-US" sz="12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Five percent — five positions, twenty people — is $2.3 million a year. That is not a pilot budget. That is a number your CFO will move 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800"/>
              </a:spcAft>
              <a:buClrTx/>
              <a:buSzPct val="100000"/>
              <a:buFontTx/>
              <a:buChar char="•"/>
              <a:tabLst/>
              <a:defRPr/>
            </a:pPr>
            <a:r>
              <a:rPr kumimoji="0" lang="en-US" sz="1200" b="1"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The far column is arithmetic, not a plan. No mill goes to a hundred percent, and the next slides are about why you shouldn't try.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US" dirty="0"/>
          </a:p>
        </p:txBody>
      </p:sp>
      <p:sp>
        <p:nvSpPr>
          <p:cNvPr id="4" name="Slide Number Placeholder 3">
            <a:extLst>
              <a:ext uri="{FF2B5EF4-FFF2-40B4-BE49-F238E27FC236}">
                <a16:creationId xmlns:a16="http://schemas.microsoft.com/office/drawing/2014/main" id="{F4638EC1-A369-2547-37DE-1824BD73827B}"/>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799679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F794F-4ABC-56F4-B0CB-F5D52AA543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7CF1A6-B2FF-A044-27C7-73D7C2A7F1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DD7178-8479-330B-5B53-A141449538C8}"/>
              </a:ext>
            </a:extLst>
          </p:cNvPr>
          <p:cNvSpPr>
            <a:spLocks noGrp="1"/>
          </p:cNvSpPr>
          <p:nvPr>
            <p:ph type="body" idx="1"/>
          </p:nvPr>
        </p:nvSpPr>
        <p:spPr/>
        <p:txBody>
          <a:bodyPr/>
          <a:lstStyle/>
          <a:p>
            <a:r>
              <a:rPr lang="en-US" dirty="0"/>
              <a:t>This is the strongest idea in the talk. It changes the question from 'can a machine do this job?' to 'which rung do we put it on?' — and you always choose the easiest one.
Say it plainly: you are not asking a machine to replace your best operator. You're asking it to hold the bottom rung while everybody steps up — the same move your crews make today when somebody's out.
Extend if useful: an extra relief person on each crew would be 4 × $120,000 a year. The closet robot does that relief job for about $18,000.</a:t>
            </a:r>
          </a:p>
        </p:txBody>
      </p:sp>
      <p:sp>
        <p:nvSpPr>
          <p:cNvPr id="4" name="Slide Number Placeholder 3">
            <a:extLst>
              <a:ext uri="{FF2B5EF4-FFF2-40B4-BE49-F238E27FC236}">
                <a16:creationId xmlns:a16="http://schemas.microsoft.com/office/drawing/2014/main" id="{76FEF66D-D55D-B185-4F38-CF8BD9A8632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795863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C32B2-552A-9097-8506-13F30B5227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487650-69D2-AEC5-C4A9-2D5430071D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155751-61C9-C3E9-3D59-3776340781C2}"/>
              </a:ext>
            </a:extLst>
          </p:cNvPr>
          <p:cNvSpPr>
            <a:spLocks noGrp="1"/>
          </p:cNvSpPr>
          <p:nvPr>
            <p:ph type="body" idx="1"/>
          </p:nvPr>
        </p:nvSpPr>
        <p:spPr/>
        <p:txBody>
          <a:bodyPr/>
          <a:lstStyle/>
          <a:p>
            <a:r>
              <a:rPr lang="en-US" dirty="0"/>
              <a:t>The strongest idea in the talk. Walk the two rows left to right, slowly. The lead goes on vacation; the robot enters at the bottom; everybody steps up one — exactly what crews already do when somebody is out.
You are not asking a machine to replace your best operator. You're asking it to hold the bottom rung.</a:t>
            </a:r>
          </a:p>
        </p:txBody>
      </p:sp>
      <p:sp>
        <p:nvSpPr>
          <p:cNvPr id="4" name="Slide Number Placeholder 3">
            <a:extLst>
              <a:ext uri="{FF2B5EF4-FFF2-40B4-BE49-F238E27FC236}">
                <a16:creationId xmlns:a16="http://schemas.microsoft.com/office/drawing/2014/main" id="{B9096B8D-BA6F-61AA-9EAC-8B3D96EBE6F4}"/>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081757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caution is yours and it's the credibility moment of the section: the scheduling guy telling them NOT to take the biggest saving on the table.
It also answers the room's real fear honestly — the plan you're describing doesn't remove anyone.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as a picture, not a prediction — 'here's what it plausibly looks like.' Every human in the picture is still there; the jobs moved up a level.
Maintenance is deliberately the slowest of the four to change — say so, it's an honest caveat and it protects your credibility on the other three.
The work-life-balance card is the emotional payoff of the whole talk: if people keep their jobs, work gets MORE flexible, not less — supervising instead of doing, overtime by choice, robot as the backstop instead of a phone tree.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close. Slow down. Three beats — the fear is real and partly justified, the data-center concern is real and partly justified, and neither is the reason this happens: market forces are. You're not telling anyone their worries are wrong, and you're not predicting nobody will push back. You're saying the economics decide it.
Then the turn: not "get on board or else" — the softer, truer version is that you'd rather have a hand on it than inherit whatever somebody else built.
Last line is the motivator; say it and stop. Attendee page and slides are on shift-work.com — mention once, verbally, no second pitch.</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jpeg"/><Relationship Id="rId10" Type="http://schemas.openxmlformats.org/officeDocument/2006/relationships/image" Target="../media/image9.jpeg"/><Relationship Id="rId4" Type="http://schemas.openxmlformats.org/officeDocument/2006/relationships/image" Target="../media/image3.jpeg"/><Relationship Id="rId9" Type="http://schemas.openxmlformats.org/officeDocument/2006/relationships/image" Target="../media/image8.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hyperlink" Target="https://pixabay.com/fr/ampoule-id%C3%A9e-lumineux-lampe-3118633/" TargetMode="External"/><Relationship Id="rId5" Type="http://schemas.openxmlformats.org/officeDocument/2006/relationships/image" Target="../media/image13.png"/><Relationship Id="rId4" Type="http://schemas.openxmlformats.org/officeDocument/2006/relationships/hyperlink" Target="https://commons.wikimedia.org/wiki/File:Lol_question_mark.png"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hyperlink" Target="https://en.wikipedia.org/wiki/Chinese_nationalism" TargetMode="External"/><Relationship Id="rId5" Type="http://schemas.openxmlformats.org/officeDocument/2006/relationships/image" Target="../media/image15.png"/><Relationship Id="rId4" Type="http://schemas.openxmlformats.org/officeDocument/2006/relationships/hyperlink" Target="https://es.wikipedia.org/wiki/Archivo:Flag_of_the_United_States.svg"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8.sv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0.sv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6283F"/>
        </a:solidFill>
        <a:effectLst/>
      </p:bgPr>
    </p:bg>
    <p:spTree>
      <p:nvGrpSpPr>
        <p:cNvPr id="1" name="">
          <a:extLst>
            <a:ext uri="{FF2B5EF4-FFF2-40B4-BE49-F238E27FC236}">
              <a16:creationId xmlns:a16="http://schemas.microsoft.com/office/drawing/2014/main" id="{6387211B-83F2-E787-1E0E-A3F663AEE74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0DF3C69-4CD8-29FC-4309-A9031696C3E7}"/>
              </a:ext>
            </a:extLst>
          </p:cNvPr>
          <p:cNvSpPr txBox="1"/>
          <p:nvPr/>
        </p:nvSpPr>
        <p:spPr>
          <a:xfrm>
            <a:off x="548640" y="6473952"/>
            <a:ext cx="11091672"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FA1B8"/>
                </a:solidFill>
                <a:effectLst/>
                <a:uLnTx/>
                <a:uFillTx/>
                <a:latin typeface="Arial" pitchFamily="34" charset="0"/>
                <a:ea typeface="Arial" pitchFamily="34" charset="-122"/>
                <a:cs typeface="Arial" pitchFamily="34" charset="-120"/>
              </a:rPr>
              <a:t>Shiftwork Solutions LLC  |  (415) 265-1621  |  www.shift-work.com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E3D0975B-029C-F92F-0D2D-04C6CA849333}"/>
              </a:ext>
            </a:extLst>
          </p:cNvPr>
          <p:cNvSpPr txBox="1"/>
          <p:nvPr/>
        </p:nvSpPr>
        <p:spPr>
          <a:xfrm>
            <a:off x="822960" y="1373561"/>
            <a:ext cx="10515600" cy="1737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FFFFFF"/>
                </a:solidFill>
                <a:effectLst/>
                <a:uLnTx/>
                <a:uFillTx/>
                <a:latin typeface="Arial Nova" panose="020B0504020202020204" pitchFamily="34" charset="0"/>
                <a:ea typeface="Georgia" pitchFamily="34" charset="-122"/>
                <a:cs typeface="Arial" panose="020B0604020202020204" pitchFamily="34" charset="0"/>
              </a:rPr>
              <a:t>AI and the Future of</a:t>
            </a:r>
            <a:endParaRPr kumimoji="0" lang="en-US" sz="4400" b="0" i="0" u="none" strike="noStrike" kern="1200" cap="none" spc="0" normalizeH="0" baseline="0" noProof="0" dirty="0">
              <a:ln>
                <a:noFill/>
              </a:ln>
              <a:solidFill>
                <a:prstClr val="black"/>
              </a:solidFill>
              <a:effectLst/>
              <a:uLnTx/>
              <a:uFillTx/>
              <a:latin typeface="Arial Nova" panose="020B05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FFFFFF"/>
                </a:solidFill>
                <a:effectLst/>
                <a:uLnTx/>
                <a:uFillTx/>
                <a:latin typeface="Arial Nova" panose="020B0504020202020204" pitchFamily="34" charset="0"/>
                <a:ea typeface="Georgia" pitchFamily="34" charset="-122"/>
                <a:cs typeface="Arial" panose="020B0604020202020204" pitchFamily="34" charset="0"/>
              </a:rPr>
              <a:t>Shift Work Operations</a:t>
            </a:r>
            <a:endParaRPr kumimoji="0" lang="en-US" sz="4400" b="0" i="0" u="none" strike="noStrike" kern="1200" cap="none" spc="0" normalizeH="0" baseline="0" noProof="0" dirty="0">
              <a:ln>
                <a:noFill/>
              </a:ln>
              <a:solidFill>
                <a:prstClr val="black"/>
              </a:solidFill>
              <a:effectLst/>
              <a:uLnTx/>
              <a:uFillTx/>
              <a:latin typeface="Arial Nova" panose="020B0504020202020204" pitchFamily="34" charset="0"/>
              <a:cs typeface="Arial" panose="020B0604020202020204" pitchFamily="34" charset="0"/>
            </a:endParaRPr>
          </a:p>
        </p:txBody>
      </p:sp>
      <p:sp>
        <p:nvSpPr>
          <p:cNvPr id="4" name="Text 2">
            <a:extLst>
              <a:ext uri="{FF2B5EF4-FFF2-40B4-BE49-F238E27FC236}">
                <a16:creationId xmlns:a16="http://schemas.microsoft.com/office/drawing/2014/main" id="{1DAFA856-5E69-E55D-C17B-237FE867F6CF}"/>
              </a:ext>
            </a:extLst>
          </p:cNvPr>
          <p:cNvSpPr txBox="1"/>
          <p:nvPr/>
        </p:nvSpPr>
        <p:spPr>
          <a:xfrm>
            <a:off x="822960" y="3016324"/>
            <a:ext cx="100584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accent4">
                    <a:lumMod val="75000"/>
                  </a:schemeClr>
                </a:solidFill>
                <a:effectLst/>
                <a:uLnTx/>
                <a:uFillTx/>
                <a:latin typeface="Arial Nova" panose="020B0504020202020204" pitchFamily="34" charset="0"/>
                <a:ea typeface="Arial" pitchFamily="34" charset="-122"/>
                <a:cs typeface="Arial" pitchFamily="34" charset="-120"/>
              </a:rPr>
              <a:t>What it is, what it can do for you, and what it costs</a:t>
            </a:r>
            <a:endParaRPr kumimoji="0" lang="en-US" sz="1800" b="0" i="0" u="none" strike="noStrike" kern="1200" cap="none" spc="0" normalizeH="0" baseline="0" noProof="0" dirty="0">
              <a:ln>
                <a:noFill/>
              </a:ln>
              <a:solidFill>
                <a:schemeClr val="accent4">
                  <a:lumMod val="75000"/>
                </a:schemeClr>
              </a:solidFill>
              <a:effectLst/>
              <a:uLnTx/>
              <a:uFillTx/>
              <a:latin typeface="Arial Nova" panose="020B0504020202020204" pitchFamily="34" charset="0"/>
            </a:endParaRPr>
          </a:p>
        </p:txBody>
      </p:sp>
      <p:sp>
        <p:nvSpPr>
          <p:cNvPr id="5" name="Text 3">
            <a:extLst>
              <a:ext uri="{FF2B5EF4-FFF2-40B4-BE49-F238E27FC236}">
                <a16:creationId xmlns:a16="http://schemas.microsoft.com/office/drawing/2014/main" id="{28550401-8B5A-44D9-4328-0BFA141B88E1}"/>
              </a:ext>
            </a:extLst>
          </p:cNvPr>
          <p:cNvSpPr txBox="1"/>
          <p:nvPr/>
        </p:nvSpPr>
        <p:spPr>
          <a:xfrm>
            <a:off x="887186" y="4283312"/>
            <a:ext cx="3193869"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400" b="0" i="0" u="none" strike="noStrike" kern="1200" cap="none" spc="0" normalizeH="0" baseline="0" noProof="0" dirty="0">
                <a:ln>
                  <a:noFill/>
                </a:ln>
                <a:solidFill>
                  <a:srgbClr val="C9D2DF"/>
                </a:solidFill>
                <a:effectLst/>
                <a:uLnTx/>
                <a:uFillTx/>
                <a:latin typeface="Arial" pitchFamily="34" charset="0"/>
                <a:ea typeface="Arial" pitchFamily="34" charset="-122"/>
                <a:cs typeface="Arial" pitchFamily="34" charset="-120"/>
              </a:rPr>
              <a:t>American Forest &amp; Paper Association</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400" b="0" i="0" u="none" strike="noStrike" kern="1200" cap="none" spc="0" normalizeH="0" baseline="0" noProof="0" dirty="0">
                <a:ln>
                  <a:noFill/>
                </a:ln>
                <a:solidFill>
                  <a:srgbClr val="C9D2DF"/>
                </a:solidFill>
                <a:effectLst/>
                <a:uLnTx/>
                <a:uFillTx/>
                <a:latin typeface="Arial" pitchFamily="34" charset="0"/>
                <a:ea typeface="Arial" pitchFamily="34" charset="-122"/>
                <a:cs typeface="Arial" pitchFamily="34" charset="-120"/>
              </a:rPr>
              <a:t>September 26, 2026</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a:extLst>
              <a:ext uri="{FF2B5EF4-FFF2-40B4-BE49-F238E27FC236}">
                <a16:creationId xmlns:a16="http://schemas.microsoft.com/office/drawing/2014/main" id="{4D69ECB9-FF3C-2CE0-DEB1-32036C7FF979}"/>
              </a:ext>
            </a:extLst>
          </p:cNvPr>
          <p:cNvSpPr txBox="1"/>
          <p:nvPr/>
        </p:nvSpPr>
        <p:spPr>
          <a:xfrm>
            <a:off x="1876153" y="5344886"/>
            <a:ext cx="3895997"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James Dillingham  |  Shiftwork Solutions LLC</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(415) 265-1621  |  www.shift-work.com</a:t>
            </a:r>
          </a:p>
          <a:p>
            <a:pPr marL="0" marR="0" lvl="0" indent="0" algn="l" defTabSz="914400" rtl="0" eaLnBrk="1" fontAlgn="auto" latinLnBrk="0" hangingPunct="1">
              <a:lnSpc>
                <a:spcPct val="100000"/>
              </a:lnSpc>
              <a:spcBef>
                <a:spcPts val="0"/>
              </a:spcBef>
              <a:spcAft>
                <a:spcPts val="200"/>
              </a:spcAft>
              <a:buClrTx/>
              <a:buSzTx/>
              <a:buFontTx/>
              <a:buNone/>
              <a:tabLst/>
              <a:defRPr/>
            </a:pPr>
            <a:r>
              <a:rPr lang="en-US" sz="1400" dirty="0">
                <a:solidFill>
                  <a:srgbClr val="FFFFFF"/>
                </a:solidFill>
                <a:latin typeface="Arial" pitchFamily="34" charset="0"/>
                <a:cs typeface="Arial" pitchFamily="34" charset="-120"/>
              </a:rPr>
              <a:t>https://shift-work.com/afpa/    for your copy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D45F8ED7-A143-0E81-6F2B-51F774B9AE02}"/>
              </a:ext>
            </a:extLst>
          </p:cNvPr>
          <p:cNvPicPr>
            <a:picLocks noChangeAspect="1"/>
          </p:cNvPicPr>
          <p:nvPr/>
        </p:nvPicPr>
        <p:blipFill>
          <a:blip r:embed="rId3"/>
          <a:stretch>
            <a:fillRect/>
          </a:stretch>
        </p:blipFill>
        <p:spPr>
          <a:xfrm>
            <a:off x="887186" y="5092338"/>
            <a:ext cx="892628" cy="892628"/>
          </a:xfrm>
          <a:prstGeom prst="rect">
            <a:avLst/>
          </a:prstGeom>
        </p:spPr>
      </p:pic>
    </p:spTree>
    <p:extLst>
      <p:ext uri="{BB962C8B-B14F-4D97-AF65-F5344CB8AC3E}">
        <p14:creationId xmlns:p14="http://schemas.microsoft.com/office/powerpoint/2010/main" val="4026139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marL="0" indent="0" algn="l">
              <a:buNone/>
            </a:pPr>
            <a:r>
              <a:rPr lang="en-US" sz="2800" b="1" dirty="0">
                <a:solidFill>
                  <a:schemeClr val="accent1">
                    <a:lumMod val="75000"/>
                  </a:schemeClr>
                </a:solidFill>
                <a:latin typeface="Arial Nova" panose="020B0504020202020204" pitchFamily="34" charset="0"/>
                <a:ea typeface="Georgia" pitchFamily="34" charset="-122"/>
                <a:cs typeface="Arial" panose="020B0604020202020204" pitchFamily="34" charset="0"/>
              </a:rPr>
              <a:t>What we will cover today</a:t>
            </a:r>
            <a:endParaRPr lang="en-US" sz="2800" dirty="0">
              <a:solidFill>
                <a:schemeClr val="accent1">
                  <a:lumMod val="75000"/>
                </a:schemeClr>
              </a:solidFill>
              <a:latin typeface="Arial Nova" panose="020B0504020202020204" pitchFamily="34" charset="0"/>
              <a:cs typeface="Arial" panose="020B0604020202020204" pitchFamily="34" charset="0"/>
            </a:endParaRPr>
          </a:p>
        </p:txBody>
      </p:sp>
      <p:sp>
        <p:nvSpPr>
          <p:cNvPr id="3" name="Text 1"/>
          <p:cNvSpPr txBox="1"/>
          <p:nvPr/>
        </p:nvSpPr>
        <p:spPr>
          <a:xfrm>
            <a:off x="649965" y="6473952"/>
            <a:ext cx="5128804" cy="274320"/>
          </a:xfrm>
          <a:prstGeom prst="rect">
            <a:avLst/>
          </a:prstGeom>
          <a:noFill/>
          <a:ln/>
        </p:spPr>
        <p:txBody>
          <a:bodyPr wrap="square" lIns="0" tIns="0" rIns="0" bIns="0" rtlCol="0" anchor="ctr"/>
          <a:lstStyle/>
          <a:p>
            <a:pPr marL="0" indent="0" algn="l">
              <a:buNone/>
            </a:pPr>
            <a:r>
              <a:rPr lang="en-US" sz="900" dirty="0">
                <a:solidFill>
                  <a:srgbClr val="667085"/>
                </a:solidFill>
                <a:latin typeface="Arial" pitchFamily="34" charset="0"/>
                <a:ea typeface="Arial" pitchFamily="34" charset="-122"/>
                <a:cs typeface="Arial" pitchFamily="34" charset="-120"/>
              </a:rPr>
              <a:t>Shiftwork Solutions LLC  |  (415) 265-1621  |  www.shift-work.com</a:t>
            </a:r>
            <a:endParaRPr lang="en-US" sz="900" dirty="0"/>
          </a:p>
        </p:txBody>
      </p:sp>
      <p:sp>
        <p:nvSpPr>
          <p:cNvPr id="4" name="Shape 2"/>
          <p:cNvSpPr/>
          <p:nvPr/>
        </p:nvSpPr>
        <p:spPr>
          <a:xfrm>
            <a:off x="548640" y="1188720"/>
            <a:ext cx="11091672" cy="530352"/>
          </a:xfrm>
          <a:prstGeom prst="roundRect">
            <a:avLst>
              <a:gd name="adj" fmla="val 10345"/>
            </a:avLst>
          </a:prstGeom>
          <a:solidFill>
            <a:srgbClr val="F2F5F8"/>
          </a:solidFill>
          <a:ln/>
        </p:spPr>
        <p:txBody>
          <a:bodyPr/>
          <a:lstStyle/>
          <a:p>
            <a:endParaRPr lang="en-US"/>
          </a:p>
        </p:txBody>
      </p:sp>
      <p:sp>
        <p:nvSpPr>
          <p:cNvPr id="5" name="Text 3"/>
          <p:cNvSpPr txBox="1"/>
          <p:nvPr/>
        </p:nvSpPr>
        <p:spPr>
          <a:xfrm>
            <a:off x="777240" y="1188720"/>
            <a:ext cx="731520" cy="530352"/>
          </a:xfrm>
          <a:prstGeom prst="rect">
            <a:avLst/>
          </a:prstGeom>
          <a:noFill/>
          <a:ln/>
        </p:spPr>
        <p:txBody>
          <a:bodyPr wrap="square" lIns="0" tIns="0" rIns="0" bIns="0" rtlCol="0" anchor="ctr"/>
          <a:lstStyle/>
          <a:p>
            <a:pPr marL="0" indent="0">
              <a:buNone/>
            </a:pPr>
            <a:r>
              <a:rPr lang="en-US" sz="1900" b="1" dirty="0">
                <a:solidFill>
                  <a:srgbClr val="C9A227"/>
                </a:solidFill>
                <a:latin typeface="Georgia" panose="02040502050405020303" pitchFamily="18" charset="0"/>
                <a:cs typeface="Arial" panose="020B0604020202020204" pitchFamily="34" charset="0"/>
              </a:rPr>
              <a:t>1</a:t>
            </a:r>
          </a:p>
        </p:txBody>
      </p:sp>
      <p:sp>
        <p:nvSpPr>
          <p:cNvPr id="6" name="Text 4"/>
          <p:cNvSpPr txBox="1"/>
          <p:nvPr/>
        </p:nvSpPr>
        <p:spPr>
          <a:xfrm>
            <a:off x="1600200" y="1188720"/>
            <a:ext cx="9875520" cy="530352"/>
          </a:xfrm>
          <a:prstGeom prst="rect">
            <a:avLst/>
          </a:prstGeom>
          <a:noFill/>
          <a:ln/>
        </p:spPr>
        <p:txBody>
          <a:bodyPr wrap="square" lIns="0" tIns="0" rIns="0" bIns="0" rtlCol="0" anchor="ctr"/>
          <a:lstStyle/>
          <a:p>
            <a:pPr marL="0" indent="0">
              <a:buNone/>
            </a:pPr>
            <a:r>
              <a:rPr lang="en-US" b="1" dirty="0">
                <a:solidFill>
                  <a:srgbClr val="16283F"/>
                </a:solidFill>
                <a:latin typeface="Arial Nova" panose="020B0504020202020204" pitchFamily="34" charset="0"/>
                <a:ea typeface="Georgia" pitchFamily="34" charset="-122"/>
                <a:cs typeface="Arial" panose="020B0604020202020204" pitchFamily="34" charset="0"/>
              </a:rPr>
              <a:t>What AI actually is</a:t>
            </a:r>
            <a:r>
              <a:rPr lang="en-US" dirty="0">
                <a:solidFill>
                  <a:srgbClr val="667085"/>
                </a:solidFill>
                <a:latin typeface="Arial Nova" panose="020B0504020202020204" pitchFamily="34" charset="0"/>
                <a:ea typeface="Arial" pitchFamily="34" charset="-122"/>
                <a:cs typeface="Arial" panose="020B0604020202020204" pitchFamily="34" charset="0"/>
              </a:rPr>
              <a:t>  </a:t>
            </a:r>
            <a:r>
              <a:rPr lang="en-US" dirty="0">
                <a:solidFill>
                  <a:srgbClr val="667085"/>
                </a:solidFill>
                <a:latin typeface="Calibri" panose="020F0502020204030204" pitchFamily="34" charset="0"/>
                <a:ea typeface="Calibri" panose="020F0502020204030204" pitchFamily="34" charset="0"/>
                <a:cs typeface="Calibri" panose="020F0502020204030204" pitchFamily="34" charset="0"/>
              </a:rPr>
              <a:t>– </a:t>
            </a:r>
            <a:r>
              <a:rPr lang="en-US" sz="1400" dirty="0">
                <a:solidFill>
                  <a:srgbClr val="667085"/>
                </a:solidFill>
                <a:latin typeface="Arial Nova" panose="020B0504020202020204" pitchFamily="34" charset="0"/>
                <a:ea typeface="Arial" pitchFamily="34" charset="-122"/>
                <a:cs typeface="Arial" panose="020B0604020202020204" pitchFamily="34" charset="0"/>
              </a:rPr>
              <a:t>models, agents, and who makes what</a:t>
            </a:r>
            <a:endParaRPr lang="en-US" sz="1400" dirty="0">
              <a:latin typeface="Arial Nova" panose="020B0504020202020204" pitchFamily="34" charset="0"/>
              <a:cs typeface="Arial" panose="020B0604020202020204" pitchFamily="34" charset="0"/>
            </a:endParaRPr>
          </a:p>
        </p:txBody>
      </p:sp>
      <p:sp>
        <p:nvSpPr>
          <p:cNvPr id="7" name="Shape 5"/>
          <p:cNvSpPr/>
          <p:nvPr/>
        </p:nvSpPr>
        <p:spPr>
          <a:xfrm>
            <a:off x="548640" y="1796796"/>
            <a:ext cx="11091672" cy="530352"/>
          </a:xfrm>
          <a:prstGeom prst="roundRect">
            <a:avLst>
              <a:gd name="adj" fmla="val 10345"/>
            </a:avLst>
          </a:prstGeom>
          <a:solidFill>
            <a:srgbClr val="FFFFFF"/>
          </a:solidFill>
          <a:ln/>
        </p:spPr>
        <p:txBody>
          <a:bodyPr/>
          <a:lstStyle/>
          <a:p>
            <a:endParaRPr lang="en-US"/>
          </a:p>
        </p:txBody>
      </p:sp>
      <p:sp>
        <p:nvSpPr>
          <p:cNvPr id="8" name="Text 6"/>
          <p:cNvSpPr txBox="1"/>
          <p:nvPr/>
        </p:nvSpPr>
        <p:spPr>
          <a:xfrm>
            <a:off x="777240" y="1796796"/>
            <a:ext cx="731520" cy="530352"/>
          </a:xfrm>
          <a:prstGeom prst="rect">
            <a:avLst/>
          </a:prstGeom>
          <a:noFill/>
          <a:ln/>
        </p:spPr>
        <p:txBody>
          <a:bodyPr wrap="square" lIns="0" tIns="0" rIns="0" bIns="0" rtlCol="0" anchor="ctr"/>
          <a:lstStyle/>
          <a:p>
            <a:pPr marL="0" indent="0">
              <a:buNone/>
            </a:pPr>
            <a:r>
              <a:rPr lang="en-US" sz="1900" b="1" dirty="0">
                <a:solidFill>
                  <a:srgbClr val="C9A227"/>
                </a:solidFill>
                <a:latin typeface="Georgia" panose="02040502050405020303" pitchFamily="18" charset="0"/>
                <a:cs typeface="Arial" panose="020B0604020202020204" pitchFamily="34" charset="0"/>
              </a:rPr>
              <a:t>2</a:t>
            </a:r>
          </a:p>
        </p:txBody>
      </p:sp>
      <p:sp>
        <p:nvSpPr>
          <p:cNvPr id="9" name="Text 7"/>
          <p:cNvSpPr txBox="1"/>
          <p:nvPr/>
        </p:nvSpPr>
        <p:spPr>
          <a:xfrm>
            <a:off x="1600200" y="1796796"/>
            <a:ext cx="9875520" cy="530352"/>
          </a:xfrm>
          <a:prstGeom prst="rect">
            <a:avLst/>
          </a:prstGeom>
          <a:noFill/>
          <a:ln/>
        </p:spPr>
        <p:txBody>
          <a:bodyPr wrap="square" lIns="0" tIns="0" rIns="0" bIns="0" rtlCol="0" anchor="ctr"/>
          <a:lstStyle/>
          <a:p>
            <a:r>
              <a:rPr lang="en-US" b="1" dirty="0">
                <a:solidFill>
                  <a:srgbClr val="16283F"/>
                </a:solidFill>
                <a:latin typeface="Arial Nova" panose="020B0504020202020204" pitchFamily="34" charset="0"/>
                <a:ea typeface="Georgia" pitchFamily="34" charset="-122"/>
                <a:cs typeface="Arial" panose="020B0604020202020204" pitchFamily="34" charset="0"/>
              </a:rPr>
              <a:t>Keeping up with it </a:t>
            </a:r>
            <a:r>
              <a:rPr lang="en-US" dirty="0">
                <a:solidFill>
                  <a:srgbClr val="667085"/>
                </a:solidFill>
                <a:latin typeface="Arial Nova" panose="020B0504020202020204" pitchFamily="34" charset="0"/>
                <a:ea typeface="Arial" pitchFamily="34" charset="-122"/>
                <a:cs typeface="Arial" panose="020B0604020202020204" pitchFamily="34" charset="0"/>
              </a:rPr>
              <a:t> </a:t>
            </a:r>
            <a:r>
              <a:rPr lang="en-US" dirty="0">
                <a:solidFill>
                  <a:srgbClr val="667085"/>
                </a:solidFill>
                <a:latin typeface="Calibri" panose="020F0502020204030204" pitchFamily="34" charset="0"/>
                <a:ea typeface="Calibri" panose="020F0502020204030204" pitchFamily="34" charset="0"/>
                <a:cs typeface="Calibri" panose="020F0502020204030204" pitchFamily="34" charset="0"/>
              </a:rPr>
              <a:t>– </a:t>
            </a:r>
            <a:r>
              <a:rPr lang="en-US" sz="1400" dirty="0">
                <a:solidFill>
                  <a:srgbClr val="667085"/>
                </a:solidFill>
                <a:latin typeface="Arial Nova" panose="020B0504020202020204" pitchFamily="34" charset="0"/>
                <a:ea typeface="Arial" pitchFamily="34" charset="-122"/>
                <a:cs typeface="Arial" pitchFamily="34" charset="-120"/>
              </a:rPr>
              <a:t>how I track a technology that changes monthly</a:t>
            </a:r>
            <a:endParaRPr lang="en-US" sz="1400" dirty="0">
              <a:latin typeface="Arial Nova" panose="020B0504020202020204" pitchFamily="34" charset="0"/>
            </a:endParaRPr>
          </a:p>
        </p:txBody>
      </p:sp>
      <p:sp>
        <p:nvSpPr>
          <p:cNvPr id="10" name="Shape 8"/>
          <p:cNvSpPr/>
          <p:nvPr/>
        </p:nvSpPr>
        <p:spPr>
          <a:xfrm>
            <a:off x="548640" y="2404872"/>
            <a:ext cx="11091672" cy="530352"/>
          </a:xfrm>
          <a:prstGeom prst="roundRect">
            <a:avLst>
              <a:gd name="adj" fmla="val 10345"/>
            </a:avLst>
          </a:prstGeom>
          <a:solidFill>
            <a:srgbClr val="F2F5F8"/>
          </a:solidFill>
          <a:ln/>
        </p:spPr>
        <p:txBody>
          <a:bodyPr/>
          <a:lstStyle/>
          <a:p>
            <a:endParaRPr lang="en-US" dirty="0">
              <a:latin typeface="Arial" panose="020B0604020202020204" pitchFamily="34" charset="0"/>
              <a:cs typeface="Arial" panose="020B0604020202020204" pitchFamily="34" charset="0"/>
            </a:endParaRPr>
          </a:p>
        </p:txBody>
      </p:sp>
      <p:sp>
        <p:nvSpPr>
          <p:cNvPr id="11" name="Text 9"/>
          <p:cNvSpPr txBox="1"/>
          <p:nvPr/>
        </p:nvSpPr>
        <p:spPr>
          <a:xfrm>
            <a:off x="777240" y="2404872"/>
            <a:ext cx="731520" cy="530352"/>
          </a:xfrm>
          <a:prstGeom prst="rect">
            <a:avLst/>
          </a:prstGeom>
          <a:noFill/>
          <a:ln/>
        </p:spPr>
        <p:txBody>
          <a:bodyPr wrap="square" lIns="0" tIns="0" rIns="0" bIns="0" rtlCol="0" anchor="ctr"/>
          <a:lstStyle/>
          <a:p>
            <a:pPr marL="0" indent="0">
              <a:buNone/>
            </a:pPr>
            <a:r>
              <a:rPr lang="en-US" sz="1900" b="1" dirty="0">
                <a:solidFill>
                  <a:srgbClr val="C9A227"/>
                </a:solidFill>
                <a:latin typeface="Georgia" panose="02040502050405020303" pitchFamily="18" charset="0"/>
                <a:cs typeface="Arial" panose="020B0604020202020204" pitchFamily="34" charset="0"/>
              </a:rPr>
              <a:t>3</a:t>
            </a:r>
          </a:p>
        </p:txBody>
      </p:sp>
      <p:sp>
        <p:nvSpPr>
          <p:cNvPr id="12" name="Text 10"/>
          <p:cNvSpPr txBox="1"/>
          <p:nvPr/>
        </p:nvSpPr>
        <p:spPr>
          <a:xfrm>
            <a:off x="1600200" y="2404872"/>
            <a:ext cx="9875520" cy="530352"/>
          </a:xfrm>
          <a:prstGeom prst="rect">
            <a:avLst/>
          </a:prstGeom>
          <a:noFill/>
          <a:ln/>
        </p:spPr>
        <p:txBody>
          <a:bodyPr wrap="square" lIns="0" tIns="0" rIns="0" bIns="0" rtlCol="0" anchor="ctr"/>
          <a:lstStyle/>
          <a:p>
            <a:r>
              <a:rPr lang="en-US" b="1" dirty="0">
                <a:solidFill>
                  <a:srgbClr val="16283F"/>
                </a:solidFill>
                <a:latin typeface="Arial Nova" panose="020B0504020202020204" pitchFamily="34" charset="0"/>
                <a:ea typeface="Georgia" pitchFamily="34" charset="-122"/>
                <a:cs typeface="Arial" panose="020B0604020202020204" pitchFamily="34" charset="0"/>
              </a:rPr>
              <a:t>What's new in robotics</a:t>
            </a:r>
            <a:r>
              <a:rPr lang="en-US" dirty="0">
                <a:solidFill>
                  <a:srgbClr val="667085"/>
                </a:solidFill>
                <a:latin typeface="Arial Nova" panose="020B0504020202020204" pitchFamily="34" charset="0"/>
                <a:ea typeface="Arial" pitchFamily="34" charset="-122"/>
                <a:cs typeface="Arial" panose="020B0604020202020204" pitchFamily="34" charset="0"/>
              </a:rPr>
              <a:t> </a:t>
            </a:r>
            <a:r>
              <a:rPr lang="en-US" dirty="0">
                <a:solidFill>
                  <a:srgbClr val="667085"/>
                </a:solidFill>
                <a:latin typeface="Calibri" panose="020F0502020204030204" pitchFamily="34" charset="0"/>
                <a:ea typeface="Calibri" panose="020F0502020204030204" pitchFamily="34" charset="0"/>
                <a:cs typeface="Calibri" panose="020F0502020204030204" pitchFamily="34" charset="0"/>
              </a:rPr>
              <a:t>– </a:t>
            </a:r>
            <a:r>
              <a:rPr lang="en-US" sz="1400" dirty="0">
                <a:solidFill>
                  <a:srgbClr val="667085"/>
                </a:solidFill>
                <a:latin typeface="Arial Nova" panose="020B0504020202020204" pitchFamily="34" charset="0"/>
                <a:ea typeface="Arial" pitchFamily="34" charset="-122"/>
                <a:cs typeface="Arial" panose="020B0604020202020204" pitchFamily="34" charset="0"/>
              </a:rPr>
              <a:t>from one-trick machines to general-purpose</a:t>
            </a:r>
            <a:endParaRPr lang="en-US" sz="1400" dirty="0">
              <a:latin typeface="Arial Nova" panose="020B0504020202020204" pitchFamily="34" charset="0"/>
              <a:cs typeface="Arial" panose="020B0604020202020204" pitchFamily="34" charset="0"/>
            </a:endParaRPr>
          </a:p>
        </p:txBody>
      </p:sp>
      <p:sp>
        <p:nvSpPr>
          <p:cNvPr id="13" name="Shape 11"/>
          <p:cNvSpPr/>
          <p:nvPr/>
        </p:nvSpPr>
        <p:spPr>
          <a:xfrm>
            <a:off x="548640" y="3012948"/>
            <a:ext cx="11091672" cy="530352"/>
          </a:xfrm>
          <a:prstGeom prst="roundRect">
            <a:avLst>
              <a:gd name="adj" fmla="val 10345"/>
            </a:avLst>
          </a:prstGeom>
          <a:solidFill>
            <a:srgbClr val="FFFFFF"/>
          </a:solidFill>
          <a:ln/>
        </p:spPr>
        <p:txBody>
          <a:bodyPr/>
          <a:lstStyle/>
          <a:p>
            <a:endParaRPr lang="en-US"/>
          </a:p>
        </p:txBody>
      </p:sp>
      <p:sp>
        <p:nvSpPr>
          <p:cNvPr id="14" name="Text 12"/>
          <p:cNvSpPr txBox="1"/>
          <p:nvPr/>
        </p:nvSpPr>
        <p:spPr>
          <a:xfrm>
            <a:off x="777240" y="3012948"/>
            <a:ext cx="731520" cy="530352"/>
          </a:xfrm>
          <a:prstGeom prst="rect">
            <a:avLst/>
          </a:prstGeom>
          <a:noFill/>
          <a:ln/>
        </p:spPr>
        <p:txBody>
          <a:bodyPr wrap="square" lIns="0" tIns="0" rIns="0" bIns="0" rtlCol="0" anchor="ctr"/>
          <a:lstStyle>
            <a:lvl1pPr indent="0">
              <a:buNone/>
              <a:defRPr sz="1900" b="1">
                <a:solidFill>
                  <a:srgbClr val="C9A227"/>
                </a:solidFill>
                <a:latin typeface="Georgia" panose="02040502050405020303" pitchFamily="18" charset="0"/>
                <a:ea typeface="Georgia" pitchFamily="34" charset="-122"/>
                <a:cs typeface="Arial" panose="020B0604020202020204" pitchFamily="34" charset="0"/>
              </a:defRPr>
            </a:lvl1pPr>
          </a:lstStyle>
          <a:p>
            <a:r>
              <a:rPr lang="en-US" dirty="0"/>
              <a:t>4</a:t>
            </a:r>
          </a:p>
        </p:txBody>
      </p:sp>
      <p:sp>
        <p:nvSpPr>
          <p:cNvPr id="15" name="Text 13"/>
          <p:cNvSpPr txBox="1"/>
          <p:nvPr/>
        </p:nvSpPr>
        <p:spPr>
          <a:xfrm>
            <a:off x="1600200" y="3012948"/>
            <a:ext cx="9875520" cy="530352"/>
          </a:xfrm>
          <a:prstGeom prst="rect">
            <a:avLst/>
          </a:prstGeom>
          <a:noFill/>
          <a:ln/>
        </p:spPr>
        <p:txBody>
          <a:bodyPr wrap="square" lIns="0" tIns="0" rIns="0" bIns="0" rtlCol="0" anchor="ctr"/>
          <a:lstStyle/>
          <a:p>
            <a:r>
              <a:rPr lang="en-US" b="1" dirty="0">
                <a:solidFill>
                  <a:srgbClr val="16283F"/>
                </a:solidFill>
                <a:latin typeface="Arial Nova" panose="020B0504020202020204" pitchFamily="34" charset="0"/>
                <a:ea typeface="Georgia" pitchFamily="34" charset="-122"/>
                <a:cs typeface="Arial" panose="020B0604020202020204" pitchFamily="34" charset="0"/>
              </a:rPr>
              <a:t>What will be impacted in manufacturing by AI</a:t>
            </a:r>
            <a:r>
              <a:rPr lang="en-US" dirty="0">
                <a:solidFill>
                  <a:srgbClr val="667085"/>
                </a:solidFill>
                <a:latin typeface="Arial Nova" panose="020B0504020202020204" pitchFamily="34" charset="0"/>
                <a:ea typeface="Arial" pitchFamily="34" charset="-122"/>
                <a:cs typeface="Arial" panose="020B0604020202020204" pitchFamily="34" charset="0"/>
              </a:rPr>
              <a:t> </a:t>
            </a:r>
            <a:r>
              <a:rPr lang="en-US" dirty="0">
                <a:solidFill>
                  <a:srgbClr val="667085"/>
                </a:solidFill>
                <a:latin typeface="Calibri" panose="020F0502020204030204" pitchFamily="34" charset="0"/>
                <a:ea typeface="Calibri" panose="020F0502020204030204" pitchFamily="34" charset="0"/>
                <a:cs typeface="Calibri" panose="020F0502020204030204" pitchFamily="34" charset="0"/>
              </a:rPr>
              <a:t>– </a:t>
            </a:r>
            <a:r>
              <a:rPr lang="en-US" sz="1400" dirty="0">
                <a:solidFill>
                  <a:srgbClr val="667085"/>
                </a:solidFill>
                <a:latin typeface="Arial Nova" panose="020B0504020202020204" pitchFamily="34" charset="0"/>
                <a:ea typeface="Arial" pitchFamily="34" charset="-122"/>
                <a:cs typeface="Arial" panose="020B0604020202020204" pitchFamily="34" charset="0"/>
              </a:rPr>
              <a:t>the five places it changes how a mill runs</a:t>
            </a:r>
            <a:endParaRPr lang="en-US" sz="1400" dirty="0">
              <a:latin typeface="Arial Nova" panose="020B0504020202020204" pitchFamily="34" charset="0"/>
              <a:cs typeface="Arial" panose="020B0604020202020204" pitchFamily="34" charset="0"/>
            </a:endParaRPr>
          </a:p>
        </p:txBody>
      </p:sp>
      <p:sp>
        <p:nvSpPr>
          <p:cNvPr id="16" name="Shape 14"/>
          <p:cNvSpPr/>
          <p:nvPr/>
        </p:nvSpPr>
        <p:spPr>
          <a:xfrm>
            <a:off x="548640" y="3621024"/>
            <a:ext cx="11091672" cy="530352"/>
          </a:xfrm>
          <a:prstGeom prst="roundRect">
            <a:avLst>
              <a:gd name="adj" fmla="val 10345"/>
            </a:avLst>
          </a:prstGeom>
          <a:solidFill>
            <a:srgbClr val="F2F5F8"/>
          </a:solidFill>
          <a:ln/>
        </p:spPr>
        <p:txBody>
          <a:bodyPr/>
          <a:lstStyle/>
          <a:p>
            <a:endParaRPr lang="en-US"/>
          </a:p>
        </p:txBody>
      </p:sp>
      <p:sp>
        <p:nvSpPr>
          <p:cNvPr id="17" name="Text 15"/>
          <p:cNvSpPr txBox="1"/>
          <p:nvPr/>
        </p:nvSpPr>
        <p:spPr>
          <a:xfrm>
            <a:off x="777240" y="3621024"/>
            <a:ext cx="731520" cy="530352"/>
          </a:xfrm>
          <a:prstGeom prst="rect">
            <a:avLst/>
          </a:prstGeom>
          <a:noFill/>
          <a:ln/>
        </p:spPr>
        <p:txBody>
          <a:bodyPr wrap="square" lIns="0" tIns="0" rIns="0" bIns="0" rtlCol="0" anchor="ctr"/>
          <a:lstStyle>
            <a:lvl1pPr indent="0">
              <a:buNone/>
              <a:defRPr sz="1900" b="1">
                <a:solidFill>
                  <a:srgbClr val="C9A227"/>
                </a:solidFill>
                <a:latin typeface="Georgia" panose="02040502050405020303" pitchFamily="18" charset="0"/>
                <a:cs typeface="Arial" panose="020B0604020202020204" pitchFamily="34" charset="0"/>
              </a:defRPr>
            </a:lvl1pPr>
          </a:lstStyle>
          <a:p>
            <a:r>
              <a:rPr lang="en-US" dirty="0"/>
              <a:t>5</a:t>
            </a:r>
          </a:p>
        </p:txBody>
      </p:sp>
      <p:sp>
        <p:nvSpPr>
          <p:cNvPr id="18" name="Text 16"/>
          <p:cNvSpPr txBox="1"/>
          <p:nvPr/>
        </p:nvSpPr>
        <p:spPr>
          <a:xfrm>
            <a:off x="1600200" y="3621024"/>
            <a:ext cx="9875520" cy="530352"/>
          </a:xfrm>
          <a:prstGeom prst="rect">
            <a:avLst/>
          </a:prstGeom>
          <a:noFill/>
          <a:ln/>
        </p:spPr>
        <p:txBody>
          <a:bodyPr wrap="square" lIns="0" tIns="0" rIns="0" bIns="0" rtlCol="0" anchor="ctr"/>
          <a:lstStyle/>
          <a:p>
            <a:r>
              <a:rPr lang="en-US" b="1" dirty="0">
                <a:solidFill>
                  <a:srgbClr val="16283F"/>
                </a:solidFill>
                <a:latin typeface="Arial Nova" panose="020B0504020202020204" pitchFamily="34" charset="0"/>
                <a:ea typeface="Georgia" pitchFamily="34" charset="-122"/>
                <a:cs typeface="Arial" panose="020B0604020202020204" pitchFamily="34" charset="0"/>
              </a:rPr>
              <a:t>What you could build today</a:t>
            </a:r>
            <a:r>
              <a:rPr lang="en-US" dirty="0">
                <a:solidFill>
                  <a:srgbClr val="667085"/>
                </a:solidFill>
                <a:latin typeface="Arial Nova" panose="020B0504020202020204" pitchFamily="34" charset="0"/>
                <a:ea typeface="Arial" pitchFamily="34" charset="-122"/>
                <a:cs typeface="Arial" panose="020B0604020202020204" pitchFamily="34" charset="0"/>
              </a:rPr>
              <a:t> </a:t>
            </a:r>
            <a:r>
              <a:rPr lang="en-US" sz="1400" dirty="0">
                <a:solidFill>
                  <a:srgbClr val="667085"/>
                </a:solidFill>
                <a:latin typeface="Calibri" panose="020F0502020204030204" pitchFamily="34" charset="0"/>
                <a:ea typeface="Calibri" panose="020F0502020204030204" pitchFamily="34" charset="0"/>
                <a:cs typeface="Calibri" panose="020F0502020204030204" pitchFamily="34" charset="0"/>
              </a:rPr>
              <a:t>– </a:t>
            </a:r>
            <a:r>
              <a:rPr lang="en-US" sz="1400" dirty="0">
                <a:solidFill>
                  <a:srgbClr val="667085"/>
                </a:solidFill>
                <a:latin typeface="Arial Nova" panose="020B0504020202020204" pitchFamily="34" charset="0"/>
                <a:ea typeface="Arial" pitchFamily="34" charset="-122"/>
                <a:cs typeface="Arial" panose="020B0604020202020204" pitchFamily="34" charset="0"/>
              </a:rPr>
              <a:t>four dashboards: maintenance, supply chain, quality, HR</a:t>
            </a:r>
            <a:endParaRPr lang="en-US" sz="1400" dirty="0">
              <a:latin typeface="Arial Nova" panose="020B0504020202020204" pitchFamily="34" charset="0"/>
              <a:cs typeface="Arial" panose="020B0604020202020204" pitchFamily="34" charset="0"/>
            </a:endParaRPr>
          </a:p>
        </p:txBody>
      </p:sp>
      <p:sp>
        <p:nvSpPr>
          <p:cNvPr id="19" name="Shape 17"/>
          <p:cNvSpPr/>
          <p:nvPr/>
        </p:nvSpPr>
        <p:spPr>
          <a:xfrm>
            <a:off x="548640" y="4229100"/>
            <a:ext cx="11091672" cy="530352"/>
          </a:xfrm>
          <a:prstGeom prst="roundRect">
            <a:avLst>
              <a:gd name="adj" fmla="val 10345"/>
            </a:avLst>
          </a:prstGeom>
          <a:solidFill>
            <a:srgbClr val="FFFFFF"/>
          </a:solidFill>
          <a:ln/>
        </p:spPr>
        <p:txBody>
          <a:bodyPr/>
          <a:lstStyle/>
          <a:p>
            <a:endParaRPr lang="en-US"/>
          </a:p>
        </p:txBody>
      </p:sp>
      <p:sp>
        <p:nvSpPr>
          <p:cNvPr id="20" name="Text 18"/>
          <p:cNvSpPr txBox="1"/>
          <p:nvPr/>
        </p:nvSpPr>
        <p:spPr>
          <a:xfrm>
            <a:off x="777240" y="4229100"/>
            <a:ext cx="731520" cy="530352"/>
          </a:xfrm>
          <a:prstGeom prst="rect">
            <a:avLst/>
          </a:prstGeom>
          <a:noFill/>
          <a:ln/>
        </p:spPr>
        <p:txBody>
          <a:bodyPr wrap="square" lIns="0" tIns="0" rIns="0" bIns="0" rtlCol="0" anchor="ctr"/>
          <a:lstStyle/>
          <a:p>
            <a:pPr marL="0" indent="0">
              <a:buNone/>
            </a:pPr>
            <a:r>
              <a:rPr lang="en-US" sz="1900" b="1" dirty="0">
                <a:solidFill>
                  <a:srgbClr val="C9A227"/>
                </a:solidFill>
                <a:latin typeface="Georgia" panose="02040502050405020303" pitchFamily="18" charset="0"/>
                <a:cs typeface="Arial" panose="020B0604020202020204" pitchFamily="34" charset="0"/>
              </a:rPr>
              <a:t>6</a:t>
            </a:r>
          </a:p>
        </p:txBody>
      </p:sp>
      <p:sp>
        <p:nvSpPr>
          <p:cNvPr id="21" name="Text 19"/>
          <p:cNvSpPr txBox="1"/>
          <p:nvPr/>
        </p:nvSpPr>
        <p:spPr>
          <a:xfrm>
            <a:off x="1600200" y="4229100"/>
            <a:ext cx="9875520" cy="530352"/>
          </a:xfrm>
          <a:prstGeom prst="rect">
            <a:avLst/>
          </a:prstGeom>
          <a:noFill/>
          <a:ln/>
        </p:spPr>
        <p:txBody>
          <a:bodyPr wrap="square" lIns="0" tIns="0" rIns="0" bIns="0" rtlCol="0" anchor="ctr"/>
          <a:lstStyle/>
          <a:p>
            <a:r>
              <a:rPr lang="en-US" b="1" dirty="0">
                <a:solidFill>
                  <a:srgbClr val="16283F"/>
                </a:solidFill>
                <a:latin typeface="Arial Nova" panose="020B0504020202020204" pitchFamily="34" charset="0"/>
                <a:ea typeface="Georgia" pitchFamily="34" charset="-122"/>
                <a:cs typeface="Arial" panose="020B0604020202020204" pitchFamily="34" charset="0"/>
              </a:rPr>
              <a:t>People and AI</a:t>
            </a:r>
            <a:r>
              <a:rPr lang="en-US" dirty="0">
                <a:solidFill>
                  <a:srgbClr val="667085"/>
                </a:solidFill>
                <a:latin typeface="Arial Nova" panose="020B0504020202020204" pitchFamily="34" charset="0"/>
                <a:ea typeface="Arial" pitchFamily="34" charset="-122"/>
                <a:cs typeface="Arial" panose="020B0604020202020204" pitchFamily="34" charset="0"/>
              </a:rPr>
              <a:t> </a:t>
            </a:r>
            <a:r>
              <a:rPr lang="en-US" sz="1400" dirty="0">
                <a:solidFill>
                  <a:srgbClr val="667085"/>
                </a:solidFill>
                <a:latin typeface="Calibri" panose="020F0502020204030204" pitchFamily="34" charset="0"/>
                <a:ea typeface="Calibri" panose="020F0502020204030204" pitchFamily="34" charset="0"/>
                <a:cs typeface="Calibri" panose="020F0502020204030204" pitchFamily="34" charset="0"/>
              </a:rPr>
              <a:t>– </a:t>
            </a:r>
            <a:r>
              <a:rPr lang="en-US" sz="1400" dirty="0">
                <a:solidFill>
                  <a:srgbClr val="667085"/>
                </a:solidFill>
                <a:latin typeface="Arial Nova" panose="020B0504020202020204" pitchFamily="34" charset="0"/>
                <a:ea typeface="Arial" pitchFamily="34" charset="-122"/>
                <a:cs typeface="Arial" pitchFamily="34" charset="-120"/>
              </a:rPr>
              <a:t>the honest conversation about jobs</a:t>
            </a:r>
            <a:endParaRPr lang="en-US" sz="1400" dirty="0">
              <a:latin typeface="Arial Nova" panose="020B0504020202020204" pitchFamily="34" charset="0"/>
            </a:endParaRPr>
          </a:p>
        </p:txBody>
      </p:sp>
      <p:sp>
        <p:nvSpPr>
          <p:cNvPr id="22" name="Shape 20"/>
          <p:cNvSpPr/>
          <p:nvPr/>
        </p:nvSpPr>
        <p:spPr>
          <a:xfrm>
            <a:off x="548640" y="4837176"/>
            <a:ext cx="11091672" cy="530352"/>
          </a:xfrm>
          <a:prstGeom prst="roundRect">
            <a:avLst>
              <a:gd name="adj" fmla="val 10345"/>
            </a:avLst>
          </a:prstGeom>
          <a:solidFill>
            <a:srgbClr val="F2F5F8"/>
          </a:solidFill>
          <a:ln/>
        </p:spPr>
        <p:txBody>
          <a:bodyPr/>
          <a:lstStyle/>
          <a:p>
            <a:endParaRPr lang="en-US"/>
          </a:p>
        </p:txBody>
      </p:sp>
      <p:sp>
        <p:nvSpPr>
          <p:cNvPr id="23" name="Text 21"/>
          <p:cNvSpPr txBox="1"/>
          <p:nvPr/>
        </p:nvSpPr>
        <p:spPr>
          <a:xfrm>
            <a:off x="777240" y="4837176"/>
            <a:ext cx="731520" cy="530352"/>
          </a:xfrm>
          <a:prstGeom prst="rect">
            <a:avLst/>
          </a:prstGeom>
          <a:noFill/>
          <a:ln/>
        </p:spPr>
        <p:txBody>
          <a:bodyPr wrap="square" lIns="0" tIns="0" rIns="0" bIns="0" rtlCol="0" anchor="ctr"/>
          <a:lstStyle/>
          <a:p>
            <a:pPr marL="0" indent="0">
              <a:buNone/>
            </a:pPr>
            <a:r>
              <a:rPr lang="en-US" sz="1900" b="1" dirty="0">
                <a:solidFill>
                  <a:srgbClr val="C9A227"/>
                </a:solidFill>
                <a:latin typeface="Georgia" pitchFamily="34" charset="0"/>
                <a:ea typeface="Georgia" pitchFamily="34" charset="-122"/>
                <a:cs typeface="Georgia" pitchFamily="34" charset="-120"/>
              </a:rPr>
              <a:t>7</a:t>
            </a:r>
            <a:endParaRPr lang="en-US" sz="1900" dirty="0"/>
          </a:p>
        </p:txBody>
      </p:sp>
      <p:sp>
        <p:nvSpPr>
          <p:cNvPr id="24" name="Text 22"/>
          <p:cNvSpPr txBox="1"/>
          <p:nvPr/>
        </p:nvSpPr>
        <p:spPr>
          <a:xfrm>
            <a:off x="1600200" y="4837176"/>
            <a:ext cx="9875520" cy="530352"/>
          </a:xfrm>
          <a:prstGeom prst="rect">
            <a:avLst/>
          </a:prstGeom>
          <a:noFill/>
          <a:ln/>
        </p:spPr>
        <p:txBody>
          <a:bodyPr wrap="square" lIns="0" tIns="0" rIns="0" bIns="0" rtlCol="0" anchor="ctr"/>
          <a:lstStyle/>
          <a:p>
            <a:r>
              <a:rPr lang="en-US" b="1" dirty="0">
                <a:solidFill>
                  <a:srgbClr val="16283F"/>
                </a:solidFill>
                <a:latin typeface="Arial Nova" panose="020B0504020202020204" pitchFamily="34" charset="0"/>
                <a:ea typeface="Georgia" pitchFamily="34" charset="-122"/>
                <a:cs typeface="Arial" panose="020B0604020202020204" pitchFamily="34" charset="0"/>
              </a:rPr>
              <a:t>The math surrounding your workforce</a:t>
            </a:r>
            <a:r>
              <a:rPr lang="en-US" dirty="0">
                <a:solidFill>
                  <a:srgbClr val="667085"/>
                </a:solidFill>
                <a:latin typeface="Arial Nova" panose="020B0504020202020204" pitchFamily="34" charset="0"/>
                <a:ea typeface="Arial" pitchFamily="34" charset="-122"/>
                <a:cs typeface="Arial" panose="020B0604020202020204" pitchFamily="34" charset="0"/>
              </a:rPr>
              <a:t> </a:t>
            </a:r>
            <a:r>
              <a:rPr lang="en-US" sz="1400" dirty="0">
                <a:solidFill>
                  <a:srgbClr val="667085"/>
                </a:solidFill>
                <a:latin typeface="Calibri" panose="020F0502020204030204" pitchFamily="34" charset="0"/>
                <a:ea typeface="Calibri" panose="020F0502020204030204" pitchFamily="34" charset="0"/>
                <a:cs typeface="Calibri" panose="020F0502020204030204" pitchFamily="34" charset="0"/>
              </a:rPr>
              <a:t>– </a:t>
            </a:r>
            <a:r>
              <a:rPr lang="en-US" sz="1400" dirty="0">
                <a:solidFill>
                  <a:srgbClr val="667085"/>
                </a:solidFill>
                <a:latin typeface="Arial Nova" panose="020B0504020202020204" pitchFamily="34" charset="0"/>
                <a:ea typeface="Arial" pitchFamily="34" charset="-122"/>
                <a:cs typeface="Arial" panose="020B0604020202020204" pitchFamily="34" charset="0"/>
              </a:rPr>
              <a:t>you hire people by the crew; you buy robots by the position</a:t>
            </a:r>
            <a:endParaRPr lang="en-US" sz="1400" dirty="0">
              <a:latin typeface="Arial Nova" panose="020B0504020202020204" pitchFamily="34" charset="0"/>
              <a:cs typeface="Arial" panose="020B0604020202020204" pitchFamily="34" charset="0"/>
            </a:endParaRPr>
          </a:p>
        </p:txBody>
      </p:sp>
      <p:sp>
        <p:nvSpPr>
          <p:cNvPr id="25" name="Shape 23"/>
          <p:cNvSpPr/>
          <p:nvPr/>
        </p:nvSpPr>
        <p:spPr>
          <a:xfrm>
            <a:off x="548640" y="5445252"/>
            <a:ext cx="11091672" cy="530352"/>
          </a:xfrm>
          <a:prstGeom prst="roundRect">
            <a:avLst>
              <a:gd name="adj" fmla="val 10345"/>
            </a:avLst>
          </a:prstGeom>
          <a:solidFill>
            <a:srgbClr val="FFFFFF"/>
          </a:solidFill>
          <a:ln/>
        </p:spPr>
        <p:txBody>
          <a:bodyPr/>
          <a:lstStyle/>
          <a:p>
            <a:endParaRPr lang="en-US"/>
          </a:p>
        </p:txBody>
      </p:sp>
      <p:sp>
        <p:nvSpPr>
          <p:cNvPr id="26" name="Text 24"/>
          <p:cNvSpPr txBox="1"/>
          <p:nvPr/>
        </p:nvSpPr>
        <p:spPr>
          <a:xfrm>
            <a:off x="777240" y="5445252"/>
            <a:ext cx="731520" cy="530352"/>
          </a:xfrm>
          <a:prstGeom prst="rect">
            <a:avLst/>
          </a:prstGeom>
          <a:noFill/>
          <a:ln/>
        </p:spPr>
        <p:txBody>
          <a:bodyPr wrap="square" lIns="0" tIns="0" rIns="0" bIns="0" rtlCol="0" anchor="ctr"/>
          <a:lstStyle/>
          <a:p>
            <a:pPr marL="0" indent="0">
              <a:buNone/>
            </a:pPr>
            <a:r>
              <a:rPr lang="en-US" sz="1900" b="1" dirty="0">
                <a:solidFill>
                  <a:srgbClr val="C9A227"/>
                </a:solidFill>
                <a:latin typeface="Georgia" pitchFamily="34" charset="0"/>
                <a:ea typeface="Georgia" pitchFamily="34" charset="-122"/>
                <a:cs typeface="Georgia" pitchFamily="34" charset="-120"/>
              </a:rPr>
              <a:t>8</a:t>
            </a:r>
            <a:endParaRPr lang="en-US" sz="1900" dirty="0"/>
          </a:p>
        </p:txBody>
      </p:sp>
      <p:sp>
        <p:nvSpPr>
          <p:cNvPr id="27" name="Text 25"/>
          <p:cNvSpPr txBox="1"/>
          <p:nvPr/>
        </p:nvSpPr>
        <p:spPr>
          <a:xfrm>
            <a:off x="1600200" y="5445252"/>
            <a:ext cx="9875520" cy="530352"/>
          </a:xfrm>
          <a:prstGeom prst="rect">
            <a:avLst/>
          </a:prstGeom>
          <a:noFill/>
          <a:ln/>
        </p:spPr>
        <p:txBody>
          <a:bodyPr wrap="square" lIns="0" tIns="0" rIns="0" bIns="0" rtlCol="0" anchor="ctr"/>
          <a:lstStyle/>
          <a:p>
            <a:r>
              <a:rPr lang="en-US" b="1" dirty="0">
                <a:solidFill>
                  <a:srgbClr val="16283F"/>
                </a:solidFill>
                <a:latin typeface="Arial Nova" panose="020B0504020202020204" pitchFamily="34" charset="0"/>
                <a:ea typeface="Georgia" pitchFamily="34" charset="-122"/>
                <a:cs typeface="Arial" panose="020B0604020202020204" pitchFamily="34" charset="0"/>
              </a:rPr>
              <a:t>My prediction</a:t>
            </a:r>
            <a:r>
              <a:rPr lang="en-US" dirty="0">
                <a:solidFill>
                  <a:srgbClr val="667085"/>
                </a:solidFill>
                <a:latin typeface="Arial Nova" panose="020B0504020202020204" pitchFamily="34" charset="0"/>
                <a:ea typeface="Arial" pitchFamily="34" charset="-122"/>
                <a:cs typeface="Arial" panose="020B0604020202020204" pitchFamily="34" charset="0"/>
              </a:rPr>
              <a:t> </a:t>
            </a:r>
            <a:r>
              <a:rPr lang="en-US" sz="1400" dirty="0">
                <a:solidFill>
                  <a:srgbClr val="667085"/>
                </a:solidFill>
                <a:latin typeface="Calibri" panose="020F0502020204030204" pitchFamily="34" charset="0"/>
                <a:ea typeface="Calibri" panose="020F0502020204030204" pitchFamily="34" charset="0"/>
                <a:cs typeface="Calibri" panose="020F0502020204030204" pitchFamily="34" charset="0"/>
              </a:rPr>
              <a:t>– </a:t>
            </a:r>
            <a:r>
              <a:rPr lang="en-US" sz="1400" dirty="0">
                <a:solidFill>
                  <a:srgbClr val="667085"/>
                </a:solidFill>
                <a:latin typeface="Arial Nova" panose="020B0504020202020204" pitchFamily="34" charset="0"/>
                <a:ea typeface="Arial" pitchFamily="34" charset="-122"/>
                <a:cs typeface="Arial" panose="020B0604020202020204" pitchFamily="34" charset="0"/>
              </a:rPr>
              <a:t>the plant ten years out, and why to get moving now</a:t>
            </a:r>
            <a:endParaRPr lang="en-US" sz="1400" dirty="0">
              <a:latin typeface="Arial Nova" panose="020B05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6283F"/>
        </a:solidFill>
        <a:effectLst/>
      </p:bgPr>
    </p:bg>
    <p:spTree>
      <p:nvGrpSpPr>
        <p:cNvPr id="1" name="">
          <a:extLst>
            <a:ext uri="{FF2B5EF4-FFF2-40B4-BE49-F238E27FC236}">
              <a16:creationId xmlns:a16="http://schemas.microsoft.com/office/drawing/2014/main" id="{76768722-29AB-1C0F-3362-D0571209E37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4C56A2A-2DF2-972F-B784-A2E842C66C69}"/>
              </a:ext>
            </a:extLst>
          </p:cNvPr>
          <p:cNvSpPr txBox="1"/>
          <p:nvPr/>
        </p:nvSpPr>
        <p:spPr>
          <a:xfrm>
            <a:off x="1550774" y="6479389"/>
            <a:ext cx="4171641"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FA1B8"/>
                </a:solidFill>
                <a:effectLst/>
                <a:uLnTx/>
                <a:uFillTx/>
                <a:latin typeface="Arial" pitchFamily="34" charset="0"/>
                <a:ea typeface="Arial" pitchFamily="34" charset="-122"/>
                <a:cs typeface="Arial" pitchFamily="34" charset="-120"/>
              </a:rPr>
              <a:t>Shiftwork Solutions LLC  |  (415) 265-1621  |  www.shift-work.com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EAD300A8-CB39-F1DC-81B9-E8116D5FF9E3}"/>
              </a:ext>
            </a:extLst>
          </p:cNvPr>
          <p:cNvSpPr txBox="1"/>
          <p:nvPr/>
        </p:nvSpPr>
        <p:spPr>
          <a:xfrm>
            <a:off x="822960" y="2331720"/>
            <a:ext cx="10515600" cy="10972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Arial Nova" panose="020B0504020202020204" pitchFamily="34" charset="0"/>
                <a:ea typeface="Georgia" pitchFamily="34" charset="-122"/>
                <a:cs typeface="Georgia" pitchFamily="34" charset="-120"/>
              </a:rPr>
              <a:t>What is AI?</a:t>
            </a:r>
            <a:endParaRPr kumimoji="0" lang="en-US" sz="4000" b="0" i="0" u="none" strike="noStrike" kern="1200" cap="none" spc="0" normalizeH="0" baseline="0" noProof="0" dirty="0">
              <a:ln>
                <a:noFill/>
              </a:ln>
              <a:solidFill>
                <a:prstClr val="black"/>
              </a:solidFill>
              <a:effectLst/>
              <a:uLnTx/>
              <a:uFillTx/>
              <a:latin typeface="Arial Nova" panose="020B0504020202020204" pitchFamily="34" charset="0"/>
            </a:endParaRPr>
          </a:p>
        </p:txBody>
      </p:sp>
      <p:sp>
        <p:nvSpPr>
          <p:cNvPr id="4" name="Text 2">
            <a:extLst>
              <a:ext uri="{FF2B5EF4-FFF2-40B4-BE49-F238E27FC236}">
                <a16:creationId xmlns:a16="http://schemas.microsoft.com/office/drawing/2014/main" id="{6CBEF89C-F332-AFBB-DFAF-A3738D3FB6B0}"/>
              </a:ext>
            </a:extLst>
          </p:cNvPr>
          <p:cNvSpPr txBox="1"/>
          <p:nvPr/>
        </p:nvSpPr>
        <p:spPr>
          <a:xfrm>
            <a:off x="822960" y="3246120"/>
            <a:ext cx="100584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u="none" strike="noStrike" kern="1200" cap="none" spc="0" normalizeH="0" baseline="0" noProof="0" dirty="0">
                <a:ln>
                  <a:noFill/>
                </a:ln>
                <a:solidFill>
                  <a:schemeClr val="accent4">
                    <a:lumMod val="75000"/>
                  </a:schemeClr>
                </a:solidFill>
                <a:effectLst/>
                <a:uLnTx/>
                <a:uFillTx/>
                <a:latin typeface="Arial Nova" panose="020B0504020202020204" pitchFamily="34" charset="0"/>
                <a:ea typeface="Arial" pitchFamily="34" charset="-122"/>
                <a:cs typeface="Arial" pitchFamily="34" charset="-120"/>
              </a:rPr>
              <a:t>The models, the players, and the terms you'll hear all day</a:t>
            </a:r>
            <a:endParaRPr kumimoji="0" lang="en-US" sz="1600" b="0" u="none" strike="noStrike" kern="1200" cap="none" spc="0" normalizeH="0" baseline="0" noProof="0" dirty="0">
              <a:ln>
                <a:noFill/>
              </a:ln>
              <a:solidFill>
                <a:schemeClr val="accent4">
                  <a:lumMod val="75000"/>
                </a:schemeClr>
              </a:solidFill>
              <a:effectLst/>
              <a:uLnTx/>
              <a:uFillTx/>
              <a:latin typeface="Arial Nova" panose="020B0504020202020204" pitchFamily="34" charset="0"/>
            </a:endParaRPr>
          </a:p>
        </p:txBody>
      </p:sp>
      <p:pic>
        <p:nvPicPr>
          <p:cNvPr id="5" name="Picture 4">
            <a:extLst>
              <a:ext uri="{FF2B5EF4-FFF2-40B4-BE49-F238E27FC236}">
                <a16:creationId xmlns:a16="http://schemas.microsoft.com/office/drawing/2014/main" id="{813EF840-EB1F-BAB5-6D4B-C8BD2F01D263}"/>
              </a:ext>
            </a:extLst>
          </p:cNvPr>
          <p:cNvPicPr>
            <a:picLocks noChangeAspect="1"/>
          </p:cNvPicPr>
          <p:nvPr/>
        </p:nvPicPr>
        <p:blipFill>
          <a:blip r:embed="rId3"/>
          <a:stretch>
            <a:fillRect/>
          </a:stretch>
        </p:blipFill>
        <p:spPr>
          <a:xfrm>
            <a:off x="822960" y="6048384"/>
            <a:ext cx="672208" cy="672208"/>
          </a:xfrm>
          <a:prstGeom prst="rect">
            <a:avLst/>
          </a:prstGeom>
        </p:spPr>
      </p:pic>
    </p:spTree>
    <p:extLst>
      <p:ext uri="{BB962C8B-B14F-4D97-AF65-F5344CB8AC3E}">
        <p14:creationId xmlns:p14="http://schemas.microsoft.com/office/powerpoint/2010/main" val="16283638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90EA82B-98A9-8936-3131-4E56D4918B8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7C2621C-8EF7-08C4-22E9-76C39F273B9D}"/>
              </a:ext>
            </a:extLst>
          </p:cNvPr>
          <p:cNvSpPr txBox="1"/>
          <p:nvPr/>
        </p:nvSpPr>
        <p:spPr>
          <a:xfrm>
            <a:off x="550164" y="365760"/>
            <a:ext cx="11091672"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chemeClr val="accent1">
                    <a:lumMod val="75000"/>
                  </a:schemeClr>
                </a:solidFill>
                <a:effectLst/>
                <a:uLnTx/>
                <a:uFillTx/>
                <a:latin typeface="Arial Nova" panose="020B0504020202020204" pitchFamily="34" charset="0"/>
                <a:ea typeface="Georgia" pitchFamily="34" charset="-122"/>
                <a:cs typeface="Georgia" pitchFamily="34" charset="-120"/>
              </a:rPr>
              <a:t>Who Makes What</a:t>
            </a:r>
            <a:endParaRPr kumimoji="0" lang="en-US" sz="2800" b="0" i="0" u="none" strike="noStrike" kern="1200" cap="none" spc="0" normalizeH="0" baseline="0" noProof="0" dirty="0">
              <a:ln>
                <a:noFill/>
              </a:ln>
              <a:solidFill>
                <a:schemeClr val="accent1">
                  <a:lumMod val="75000"/>
                </a:schemeClr>
              </a:solidFill>
              <a:effectLst/>
              <a:uLnTx/>
              <a:uFillTx/>
              <a:latin typeface="Arial Nova" panose="020B0504020202020204" pitchFamily="34" charset="0"/>
            </a:endParaRPr>
          </a:p>
        </p:txBody>
      </p:sp>
      <p:sp>
        <p:nvSpPr>
          <p:cNvPr id="3" name="Text 1">
            <a:extLst>
              <a:ext uri="{FF2B5EF4-FFF2-40B4-BE49-F238E27FC236}">
                <a16:creationId xmlns:a16="http://schemas.microsoft.com/office/drawing/2014/main" id="{136CE12C-ED5C-8AFF-CBCF-08A7EE6C3BA9}"/>
              </a:ext>
            </a:extLst>
          </p:cNvPr>
          <p:cNvSpPr txBox="1"/>
          <p:nvPr/>
        </p:nvSpPr>
        <p:spPr>
          <a:xfrm>
            <a:off x="548640" y="6473952"/>
            <a:ext cx="11091672"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67085"/>
                </a:solidFill>
                <a:effectLst/>
                <a:uLnTx/>
                <a:uFillTx/>
                <a:latin typeface="Arial" pitchFamily="34" charset="0"/>
                <a:ea typeface="Arial" pitchFamily="34" charset="-122"/>
                <a:cs typeface="Arial" pitchFamily="34" charset="-120"/>
              </a:rPr>
              <a:t>Shiftwork Solutions LLC  |  (415) 265-1621  |  www.shift-work.com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a:extLst>
              <a:ext uri="{FF2B5EF4-FFF2-40B4-BE49-F238E27FC236}">
                <a16:creationId xmlns:a16="http://schemas.microsoft.com/office/drawing/2014/main" id="{69F64A3D-1A56-7FA8-08A2-4C9B442FAFCB}"/>
              </a:ext>
            </a:extLst>
          </p:cNvPr>
          <p:cNvSpPr txBox="1"/>
          <p:nvPr/>
        </p:nvSpPr>
        <p:spPr>
          <a:xfrm>
            <a:off x="548640" y="1234440"/>
            <a:ext cx="1106424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6283F"/>
                </a:solidFill>
                <a:effectLst/>
                <a:uLnTx/>
                <a:uFillTx/>
                <a:latin typeface="Arial Nova" panose="020B0504020202020204" pitchFamily="34" charset="0"/>
                <a:ea typeface="Arial" pitchFamily="34" charset="-122"/>
                <a:cs typeface="Arial" pitchFamily="34" charset="-120"/>
              </a:rPr>
              <a:t>The big language models — different names, same kind of thing:</a:t>
            </a:r>
            <a:endParaRPr kumimoji="0" lang="en-US" sz="1600" b="0" i="0" u="none" strike="noStrike" kern="1200" cap="none" spc="0" normalizeH="0" baseline="0" noProof="0" dirty="0">
              <a:ln>
                <a:noFill/>
              </a:ln>
              <a:solidFill>
                <a:prstClr val="black"/>
              </a:solidFill>
              <a:effectLst/>
              <a:uLnTx/>
              <a:uFillTx/>
              <a:latin typeface="Arial Nova" panose="020B0504020202020204" pitchFamily="34" charset="0"/>
            </a:endParaRPr>
          </a:p>
        </p:txBody>
      </p:sp>
      <p:graphicFrame>
        <p:nvGraphicFramePr>
          <p:cNvPr id="5" name="Table 0">
            <a:extLst>
              <a:ext uri="{FF2B5EF4-FFF2-40B4-BE49-F238E27FC236}">
                <a16:creationId xmlns:a16="http://schemas.microsoft.com/office/drawing/2014/main" id="{70FA9D24-5282-A28B-6FE4-26D5EDFE1CFE}"/>
              </a:ext>
            </a:extLst>
          </p:cNvPr>
          <p:cNvGraphicFramePr>
            <a:graphicFrameLocks noGrp="1"/>
          </p:cNvGraphicFramePr>
          <p:nvPr>
            <p:extLst>
              <p:ext uri="{D42A27DB-BD31-4B8C-83A1-F6EECF244321}">
                <p14:modId xmlns:p14="http://schemas.microsoft.com/office/powerpoint/2010/main" val="348607555"/>
              </p:ext>
            </p:extLst>
          </p:nvPr>
        </p:nvGraphicFramePr>
        <p:xfrm>
          <a:off x="543697" y="1691640"/>
          <a:ext cx="5262743" cy="1920240"/>
        </p:xfrm>
        <a:graphic>
          <a:graphicData uri="http://schemas.openxmlformats.org/drawingml/2006/table">
            <a:tbl>
              <a:tblPr/>
              <a:tblGrid>
                <a:gridCol w="2473823">
                  <a:extLst>
                    <a:ext uri="{9D8B030D-6E8A-4147-A177-3AD203B41FA5}">
                      <a16:colId xmlns:a16="http://schemas.microsoft.com/office/drawing/2014/main" val="20000"/>
                    </a:ext>
                  </a:extLst>
                </a:gridCol>
                <a:gridCol w="2788920">
                  <a:extLst>
                    <a:ext uri="{9D8B030D-6E8A-4147-A177-3AD203B41FA5}">
                      <a16:colId xmlns:a16="http://schemas.microsoft.com/office/drawing/2014/main" val="20001"/>
                    </a:ext>
                  </a:extLst>
                </a:gridCol>
              </a:tblGrid>
              <a:tr h="384048">
                <a:tc>
                  <a:txBody>
                    <a:bodyPr/>
                    <a:lstStyle/>
                    <a:p>
                      <a:pPr marL="0" indent="0">
                        <a:buNone/>
                      </a:pPr>
                      <a:r>
                        <a:rPr lang="en-US" sz="1400" b="1" dirty="0">
                          <a:solidFill>
                            <a:srgbClr val="FFFFFF"/>
                          </a:solidFill>
                          <a:latin typeface="Arial" pitchFamily="34" charset="0"/>
                          <a:ea typeface="Arial" pitchFamily="34" charset="-122"/>
                          <a:cs typeface="Arial" pitchFamily="34" charset="-120"/>
                        </a:rPr>
                        <a:t>Model</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6283F"/>
                    </a:solidFill>
                  </a:tcPr>
                </a:tc>
                <a:tc>
                  <a:txBody>
                    <a:bodyPr/>
                    <a:lstStyle/>
                    <a:p>
                      <a:pPr marL="0" indent="0">
                        <a:buNone/>
                      </a:pPr>
                      <a:r>
                        <a:rPr lang="en-US" sz="1400" b="1" dirty="0">
                          <a:solidFill>
                            <a:srgbClr val="FFFFFF"/>
                          </a:solidFill>
                          <a:latin typeface="Arial" pitchFamily="34" charset="0"/>
                          <a:ea typeface="Arial" pitchFamily="34" charset="-122"/>
                          <a:cs typeface="Arial" pitchFamily="34" charset="-120"/>
                        </a:rPr>
                        <a:t>Company</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6283F"/>
                    </a:solidFill>
                  </a:tcPr>
                </a:tc>
                <a:extLst>
                  <a:ext uri="{0D108BD9-81ED-4DB2-BD59-A6C34878D82A}">
                    <a16:rowId xmlns:a16="http://schemas.microsoft.com/office/drawing/2014/main" val="10000"/>
                  </a:ext>
                </a:extLst>
              </a:tr>
              <a:tr h="384048">
                <a:tc>
                  <a:txBody>
                    <a:bodyPr/>
                    <a:lstStyle/>
                    <a:p>
                      <a:pPr marL="0" indent="0">
                        <a:buNone/>
                      </a:pPr>
                      <a:r>
                        <a:rPr lang="en-US" sz="1400" dirty="0">
                          <a:solidFill>
                            <a:srgbClr val="222222"/>
                          </a:solidFill>
                          <a:latin typeface="Arial" pitchFamily="34" charset="0"/>
                          <a:ea typeface="Arial" pitchFamily="34" charset="-122"/>
                          <a:cs typeface="Arial" pitchFamily="34" charset="-120"/>
                        </a:rPr>
                        <a:t>ChatGPT</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5F8"/>
                    </a:solidFill>
                  </a:tcPr>
                </a:tc>
                <a:tc>
                  <a:txBody>
                    <a:bodyPr/>
                    <a:lstStyle/>
                    <a:p>
                      <a:pPr marL="0" indent="0">
                        <a:buNone/>
                      </a:pPr>
                      <a:r>
                        <a:rPr lang="en-US" sz="1400" dirty="0">
                          <a:solidFill>
                            <a:srgbClr val="222222"/>
                          </a:solidFill>
                          <a:latin typeface="Arial" pitchFamily="34" charset="0"/>
                          <a:ea typeface="Arial" pitchFamily="34" charset="-122"/>
                          <a:cs typeface="Arial" pitchFamily="34" charset="-120"/>
                        </a:rPr>
                        <a:t>OpenAI</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384048">
                <a:tc>
                  <a:txBody>
                    <a:bodyPr/>
                    <a:lstStyle/>
                    <a:p>
                      <a:pPr marL="0" indent="0">
                        <a:buNone/>
                      </a:pPr>
                      <a:r>
                        <a:rPr lang="en-US" sz="1400" dirty="0">
                          <a:solidFill>
                            <a:srgbClr val="222222"/>
                          </a:solidFill>
                          <a:latin typeface="Arial" pitchFamily="34" charset="0"/>
                          <a:ea typeface="Arial" pitchFamily="34" charset="-122"/>
                          <a:cs typeface="Arial" pitchFamily="34" charset="-120"/>
                        </a:rPr>
                        <a:t>Claude</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buNone/>
                      </a:pPr>
                      <a:r>
                        <a:rPr lang="en-US" sz="1400" dirty="0">
                          <a:solidFill>
                            <a:srgbClr val="222222"/>
                          </a:solidFill>
                          <a:latin typeface="Arial" pitchFamily="34" charset="0"/>
                          <a:ea typeface="Arial" pitchFamily="34" charset="-122"/>
                          <a:cs typeface="Arial" pitchFamily="34" charset="-120"/>
                        </a:rPr>
                        <a:t>Anthropic</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400" dirty="0">
                          <a:solidFill>
                            <a:srgbClr val="222222"/>
                          </a:solidFill>
                          <a:latin typeface="Arial" pitchFamily="34" charset="0"/>
                          <a:ea typeface="Arial" pitchFamily="34" charset="-122"/>
                          <a:cs typeface="Arial" pitchFamily="34" charset="-120"/>
                        </a:rPr>
                        <a:t>Gemini</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5F8"/>
                    </a:solidFill>
                  </a:tcPr>
                </a:tc>
                <a:tc>
                  <a:txBody>
                    <a:bodyPr/>
                    <a:lstStyle/>
                    <a:p>
                      <a:pPr marL="0" indent="0">
                        <a:buNone/>
                      </a:pPr>
                      <a:r>
                        <a:rPr lang="en-US" sz="1400" dirty="0">
                          <a:solidFill>
                            <a:srgbClr val="222222"/>
                          </a:solidFill>
                          <a:latin typeface="Arial" pitchFamily="34" charset="0"/>
                          <a:ea typeface="Arial" pitchFamily="34" charset="-122"/>
                          <a:cs typeface="Arial" pitchFamily="34" charset="-120"/>
                        </a:rPr>
                        <a:t>Google</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5F8"/>
                    </a:solidFill>
                  </a:tcPr>
                </a:tc>
                <a:extLst>
                  <a:ext uri="{0D108BD9-81ED-4DB2-BD59-A6C34878D82A}">
                    <a16:rowId xmlns:a16="http://schemas.microsoft.com/office/drawing/2014/main" val="10003"/>
                  </a:ext>
                </a:extLst>
              </a:tr>
              <a:tr h="384048">
                <a:tc>
                  <a:txBody>
                    <a:bodyPr/>
                    <a:lstStyle/>
                    <a:p>
                      <a:pPr marL="0" indent="0">
                        <a:buNone/>
                      </a:pPr>
                      <a:r>
                        <a:rPr lang="en-US" sz="1400" dirty="0">
                          <a:solidFill>
                            <a:srgbClr val="222222"/>
                          </a:solidFill>
                          <a:latin typeface="Arial" pitchFamily="34" charset="0"/>
                          <a:ea typeface="Arial" pitchFamily="34" charset="-122"/>
                          <a:cs typeface="Arial" pitchFamily="34" charset="-120"/>
                        </a:rPr>
                        <a:t>Copilot</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buNone/>
                      </a:pPr>
                      <a:r>
                        <a:rPr lang="en-US" sz="1400" dirty="0">
                          <a:solidFill>
                            <a:srgbClr val="222222"/>
                          </a:solidFill>
                          <a:latin typeface="Arial" pitchFamily="34" charset="0"/>
                          <a:ea typeface="Arial" pitchFamily="34" charset="-122"/>
                          <a:cs typeface="Arial" pitchFamily="34" charset="-120"/>
                        </a:rPr>
                        <a:t>Microsoft</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9" name="Table 1">
            <a:extLst>
              <a:ext uri="{FF2B5EF4-FFF2-40B4-BE49-F238E27FC236}">
                <a16:creationId xmlns:a16="http://schemas.microsoft.com/office/drawing/2014/main" id="{F5B2FD67-8B53-22CC-C5A9-A299A9C0D3CC}"/>
              </a:ext>
            </a:extLst>
          </p:cNvPr>
          <p:cNvGraphicFramePr>
            <a:graphicFrameLocks noGrp="1"/>
          </p:cNvGraphicFramePr>
          <p:nvPr>
            <p:extLst>
              <p:ext uri="{D42A27DB-BD31-4B8C-83A1-F6EECF244321}">
                <p14:modId xmlns:p14="http://schemas.microsoft.com/office/powerpoint/2010/main" val="473504603"/>
              </p:ext>
            </p:extLst>
          </p:nvPr>
        </p:nvGraphicFramePr>
        <p:xfrm>
          <a:off x="6172200" y="1691640"/>
          <a:ext cx="5468112" cy="1920240"/>
        </p:xfrm>
        <a:graphic>
          <a:graphicData uri="http://schemas.openxmlformats.org/drawingml/2006/table">
            <a:tbl>
              <a:tblPr/>
              <a:tblGrid>
                <a:gridCol w="2468880">
                  <a:extLst>
                    <a:ext uri="{9D8B030D-6E8A-4147-A177-3AD203B41FA5}">
                      <a16:colId xmlns:a16="http://schemas.microsoft.com/office/drawing/2014/main" val="20000"/>
                    </a:ext>
                  </a:extLst>
                </a:gridCol>
                <a:gridCol w="2999232">
                  <a:extLst>
                    <a:ext uri="{9D8B030D-6E8A-4147-A177-3AD203B41FA5}">
                      <a16:colId xmlns:a16="http://schemas.microsoft.com/office/drawing/2014/main" val="20001"/>
                    </a:ext>
                  </a:extLst>
                </a:gridCol>
              </a:tblGrid>
              <a:tr h="384048">
                <a:tc>
                  <a:txBody>
                    <a:bodyPr/>
                    <a:lstStyle/>
                    <a:p>
                      <a:pPr marL="0" indent="0">
                        <a:buNone/>
                      </a:pPr>
                      <a:r>
                        <a:rPr lang="en-US" sz="1400" b="1" dirty="0">
                          <a:solidFill>
                            <a:srgbClr val="FFFFFF"/>
                          </a:solidFill>
                          <a:latin typeface="Arial" pitchFamily="34" charset="0"/>
                          <a:ea typeface="Arial" pitchFamily="34" charset="-122"/>
                          <a:cs typeface="Arial" pitchFamily="34" charset="-120"/>
                        </a:rPr>
                        <a:t>Model</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6283F"/>
                    </a:solidFill>
                  </a:tcPr>
                </a:tc>
                <a:tc>
                  <a:txBody>
                    <a:bodyPr/>
                    <a:lstStyle/>
                    <a:p>
                      <a:pPr marL="0" indent="0">
                        <a:buNone/>
                      </a:pPr>
                      <a:r>
                        <a:rPr lang="en-US" sz="1400" b="1" dirty="0">
                          <a:solidFill>
                            <a:srgbClr val="FFFFFF"/>
                          </a:solidFill>
                          <a:latin typeface="Arial" pitchFamily="34" charset="0"/>
                          <a:ea typeface="Arial" pitchFamily="34" charset="-122"/>
                          <a:cs typeface="Arial" pitchFamily="34" charset="-120"/>
                        </a:rPr>
                        <a:t>Company</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6283F"/>
                    </a:solidFill>
                  </a:tcPr>
                </a:tc>
                <a:extLst>
                  <a:ext uri="{0D108BD9-81ED-4DB2-BD59-A6C34878D82A}">
                    <a16:rowId xmlns:a16="http://schemas.microsoft.com/office/drawing/2014/main" val="10000"/>
                  </a:ext>
                </a:extLst>
              </a:tr>
              <a:tr h="384048">
                <a:tc>
                  <a:txBody>
                    <a:bodyPr/>
                    <a:lstStyle/>
                    <a:p>
                      <a:pPr marL="0" indent="0">
                        <a:buNone/>
                      </a:pPr>
                      <a:r>
                        <a:rPr lang="en-US" sz="1400" dirty="0">
                          <a:solidFill>
                            <a:srgbClr val="222222"/>
                          </a:solidFill>
                          <a:latin typeface="Arial" pitchFamily="34" charset="0"/>
                          <a:ea typeface="Arial" pitchFamily="34" charset="-122"/>
                          <a:cs typeface="Arial" pitchFamily="34" charset="-120"/>
                        </a:rPr>
                        <a:t>Llama</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5F8"/>
                    </a:solidFill>
                  </a:tcPr>
                </a:tc>
                <a:tc>
                  <a:txBody>
                    <a:bodyPr/>
                    <a:lstStyle/>
                    <a:p>
                      <a:pPr marL="0" indent="0">
                        <a:buNone/>
                      </a:pPr>
                      <a:r>
                        <a:rPr lang="en-US" sz="1400" dirty="0">
                          <a:solidFill>
                            <a:srgbClr val="222222"/>
                          </a:solidFill>
                          <a:latin typeface="Arial" pitchFamily="34" charset="0"/>
                          <a:ea typeface="Arial" pitchFamily="34" charset="-122"/>
                          <a:cs typeface="Arial" pitchFamily="34" charset="-120"/>
                        </a:rPr>
                        <a:t>Meta</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384048">
                <a:tc>
                  <a:txBody>
                    <a:bodyPr/>
                    <a:lstStyle/>
                    <a:p>
                      <a:pPr marL="0" indent="0">
                        <a:buNone/>
                      </a:pPr>
                      <a:r>
                        <a:rPr lang="en-US" sz="1400" dirty="0">
                          <a:solidFill>
                            <a:srgbClr val="222222"/>
                          </a:solidFill>
                          <a:latin typeface="Arial" pitchFamily="34" charset="0"/>
                          <a:ea typeface="Arial" pitchFamily="34" charset="-122"/>
                          <a:cs typeface="Arial" pitchFamily="34" charset="-120"/>
                        </a:rPr>
                        <a:t>Grok</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buNone/>
                      </a:pPr>
                      <a:r>
                        <a:rPr lang="en-US" sz="1400" dirty="0">
                          <a:solidFill>
                            <a:srgbClr val="222222"/>
                          </a:solidFill>
                          <a:latin typeface="Arial" pitchFamily="34" charset="0"/>
                          <a:ea typeface="Arial" pitchFamily="34" charset="-122"/>
                          <a:cs typeface="Arial" pitchFamily="34" charset="-120"/>
                        </a:rPr>
                        <a:t>xAI</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400" dirty="0">
                          <a:solidFill>
                            <a:srgbClr val="222222"/>
                          </a:solidFill>
                          <a:latin typeface="Arial" pitchFamily="34" charset="0"/>
                          <a:ea typeface="Arial" pitchFamily="34" charset="-122"/>
                          <a:cs typeface="Arial" pitchFamily="34" charset="-120"/>
                        </a:rPr>
                        <a:t>DeepSeek</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5F8"/>
                    </a:solidFill>
                  </a:tcPr>
                </a:tc>
                <a:tc>
                  <a:txBody>
                    <a:bodyPr/>
                    <a:lstStyle/>
                    <a:p>
                      <a:pPr marL="0" indent="0">
                        <a:buNone/>
                      </a:pPr>
                      <a:r>
                        <a:rPr lang="en-US" sz="1400" dirty="0">
                          <a:solidFill>
                            <a:srgbClr val="222222"/>
                          </a:solidFill>
                          <a:latin typeface="Arial" pitchFamily="34" charset="0"/>
                          <a:ea typeface="Arial" pitchFamily="34" charset="-122"/>
                          <a:cs typeface="Arial" pitchFamily="34" charset="-120"/>
                        </a:rPr>
                        <a:t>DeepSeek (China)</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5F8"/>
                    </a:solidFill>
                  </a:tcPr>
                </a:tc>
                <a:extLst>
                  <a:ext uri="{0D108BD9-81ED-4DB2-BD59-A6C34878D82A}">
                    <a16:rowId xmlns:a16="http://schemas.microsoft.com/office/drawing/2014/main" val="10003"/>
                  </a:ext>
                </a:extLst>
              </a:tr>
              <a:tr h="384048">
                <a:tc>
                  <a:txBody>
                    <a:bodyPr/>
                    <a:lstStyle/>
                    <a:p>
                      <a:pPr marL="0" indent="0">
                        <a:buNone/>
                      </a:pPr>
                      <a:r>
                        <a:rPr lang="en-US" sz="1400" dirty="0">
                          <a:solidFill>
                            <a:srgbClr val="222222"/>
                          </a:solidFill>
                          <a:latin typeface="Arial" pitchFamily="34" charset="0"/>
                          <a:ea typeface="Arial" pitchFamily="34" charset="-122"/>
                          <a:cs typeface="Arial" pitchFamily="34" charset="-120"/>
                        </a:rPr>
                        <a:t>Mistral</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buNone/>
                      </a:pPr>
                      <a:r>
                        <a:rPr lang="en-US" sz="1400" dirty="0">
                          <a:solidFill>
                            <a:srgbClr val="222222"/>
                          </a:solidFill>
                          <a:latin typeface="Arial" pitchFamily="34" charset="0"/>
                          <a:ea typeface="Arial" pitchFamily="34" charset="-122"/>
                          <a:cs typeface="Arial" pitchFamily="34" charset="-120"/>
                        </a:rPr>
                        <a:t>Mistral AI (France)</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 3">
            <a:extLst>
              <a:ext uri="{FF2B5EF4-FFF2-40B4-BE49-F238E27FC236}">
                <a16:creationId xmlns:a16="http://schemas.microsoft.com/office/drawing/2014/main" id="{FF39B7D1-8C9B-99E8-0FB8-81AD6BC9E102}"/>
              </a:ext>
            </a:extLst>
          </p:cNvPr>
          <p:cNvSpPr txBox="1"/>
          <p:nvPr/>
        </p:nvSpPr>
        <p:spPr>
          <a:xfrm>
            <a:off x="3264120" y="3906033"/>
            <a:ext cx="5358960" cy="2066227"/>
          </a:xfrm>
          <a:prstGeom prst="rect">
            <a:avLst/>
          </a:prstGeom>
          <a:noFill/>
          <a:ln/>
        </p:spPr>
        <p:txBody>
          <a:bodyPr wrap="square" lIns="0" tIns="0" rIns="0" bIns="0" rtlCol="0" anchor="t"/>
          <a:lstStyle/>
          <a:p>
            <a:pPr marR="0" lvl="0" algn="l" defTabSz="914400" rtl="0" eaLnBrk="1" fontAlgn="auto" latinLnBrk="0" hangingPunct="1">
              <a:lnSpc>
                <a:spcPct val="100000"/>
              </a:lnSpc>
              <a:spcBef>
                <a:spcPts val="0"/>
              </a:spcBef>
              <a:spcAft>
                <a:spcPts val="600"/>
              </a:spcAft>
              <a:buClrTx/>
              <a:buSzPct val="100000"/>
              <a:tabLst/>
              <a:defRPr/>
            </a:pPr>
            <a:r>
              <a:rPr kumimoji="0" lang="en-US" sz="1400" b="0" i="0" u="none" strike="noStrike" kern="1200" cap="none" spc="0" normalizeH="0" baseline="0" noProof="0" dirty="0">
                <a:ln>
                  <a:noFill/>
                </a:ln>
                <a:solidFill>
                  <a:srgbClr val="222222"/>
                </a:solidFill>
                <a:effectLst/>
                <a:uLnTx/>
                <a:uFillTx/>
                <a:latin typeface="Arial Nova" panose="020B0504020202020204" pitchFamily="34" charset="0"/>
                <a:ea typeface="Arial" pitchFamily="34" charset="-122"/>
                <a:cs typeface="Arial" pitchFamily="34" charset="-120"/>
              </a:rPr>
              <a:t>Tools built on top of these LLM models — a fast-growing layer:</a:t>
            </a:r>
            <a:endParaRPr lang="en-US" sz="1400" dirty="0">
              <a:solidFill>
                <a:prstClr val="black"/>
              </a:solidFill>
              <a:latin typeface="Arial Nova" panose="020B0504020202020204" pitchFamily="34" charset="0"/>
            </a:endParaRPr>
          </a:p>
          <a:p>
            <a:pPr marL="285750" marR="0" lvl="0" indent="-285750" algn="l"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400" b="1" i="0" u="none" strike="noStrike" kern="1200" cap="none" spc="0" normalizeH="0" baseline="0" noProof="0" dirty="0">
                <a:ln>
                  <a:noFill/>
                </a:ln>
                <a:solidFill>
                  <a:srgbClr val="222222"/>
                </a:solidFill>
                <a:effectLst/>
                <a:uLnTx/>
                <a:uFillTx/>
                <a:latin typeface="Arial Nova" panose="020B0504020202020204" pitchFamily="34" charset="0"/>
                <a:ea typeface="Arial" pitchFamily="34" charset="-122"/>
                <a:cs typeface="Arial" pitchFamily="34" charset="-120"/>
              </a:rPr>
              <a:t>Perplexity </a:t>
            </a:r>
            <a:r>
              <a:rPr kumimoji="0" lang="en-US" sz="1400" b="0" i="0" u="none" strike="noStrike" kern="1200" cap="none" spc="0" normalizeH="0" baseline="0" noProof="0" dirty="0">
                <a:ln>
                  <a:noFill/>
                </a:ln>
                <a:solidFill>
                  <a:srgbClr val="222222"/>
                </a:solidFill>
                <a:effectLst/>
                <a:uLnTx/>
                <a:uFillTx/>
                <a:latin typeface="Arial Nova" panose="020B0504020202020204" pitchFamily="34" charset="0"/>
                <a:ea typeface="Arial" pitchFamily="34" charset="-122"/>
                <a:cs typeface="Arial" pitchFamily="34" charset="-120"/>
              </a:rPr>
              <a:t>— an AI search (built on other companies' models).</a:t>
            </a:r>
            <a:endParaRPr kumimoji="0" lang="en-US" sz="1400" b="0" i="0" u="none" strike="noStrike" kern="1200" cap="none" spc="0" normalizeH="0" baseline="0" noProof="0" dirty="0">
              <a:ln>
                <a:noFill/>
              </a:ln>
              <a:solidFill>
                <a:prstClr val="black"/>
              </a:solidFill>
              <a:effectLst/>
              <a:uLnTx/>
              <a:uFillTx/>
              <a:latin typeface="Arial Nova" panose="020B0504020202020204" pitchFamily="34" charset="0"/>
            </a:endParaRPr>
          </a:p>
          <a:p>
            <a:pPr marL="285750" indent="-285750">
              <a:spcAft>
                <a:spcPts val="600"/>
              </a:spcAft>
              <a:buFont typeface="Arial" panose="020B0604020202020204" pitchFamily="34" charset="0"/>
              <a:buChar char="•"/>
            </a:pPr>
            <a:r>
              <a:rPr lang="en-US" sz="1400" b="1" dirty="0">
                <a:latin typeface="Arial Nova" panose="020B0504020202020204" pitchFamily="34" charset="0"/>
              </a:rPr>
              <a:t>Grammarly — </a:t>
            </a:r>
            <a:r>
              <a:rPr lang="en-US" sz="1400" dirty="0">
                <a:latin typeface="Arial Nova" panose="020B0504020202020204" pitchFamily="34" charset="0"/>
              </a:rPr>
              <a:t>writing, embedded in the tools you already use. </a:t>
            </a:r>
          </a:p>
          <a:p>
            <a:pPr marL="285750" indent="-285750">
              <a:spcAft>
                <a:spcPts val="600"/>
              </a:spcAft>
              <a:buFont typeface="Arial" panose="020B0604020202020204" pitchFamily="34" charset="0"/>
              <a:buChar char="•"/>
            </a:pPr>
            <a:r>
              <a:rPr lang="en-US" sz="1400" b="1" dirty="0">
                <a:latin typeface="Arial Nova" panose="020B0504020202020204" pitchFamily="34" charset="0"/>
              </a:rPr>
              <a:t>Otter.ai— </a:t>
            </a:r>
            <a:r>
              <a:rPr lang="en-US" sz="1400" dirty="0">
                <a:latin typeface="Arial Nova" panose="020B0504020202020204" pitchFamily="34" charset="0"/>
              </a:rPr>
              <a:t>meeting assistant</a:t>
            </a:r>
            <a:r>
              <a:rPr lang="en-US" sz="1400" b="1" dirty="0">
                <a:latin typeface="Arial Nova" panose="020B0504020202020204" pitchFamily="34" charset="0"/>
              </a:rPr>
              <a:t>.</a:t>
            </a:r>
            <a:r>
              <a:rPr lang="en-US" sz="1400" dirty="0">
                <a:latin typeface="Arial Nova" panose="020B0504020202020204" pitchFamily="34" charset="0"/>
              </a:rPr>
              <a:t> </a:t>
            </a:r>
          </a:p>
          <a:p>
            <a:pPr>
              <a:spcAft>
                <a:spcPts val="600"/>
              </a:spcAft>
            </a:pPr>
            <a:r>
              <a:rPr kumimoji="0" lang="en-US" sz="1400" b="0" i="0" u="none" strike="noStrike" kern="1200" cap="none" spc="0" normalizeH="0" baseline="0" noProof="0" dirty="0">
                <a:ln>
                  <a:noFill/>
                </a:ln>
                <a:solidFill>
                  <a:srgbClr val="222222"/>
                </a:solidFill>
                <a:effectLst/>
                <a:uLnTx/>
                <a:uFillTx/>
                <a:latin typeface="Arial Nova" panose="020B0504020202020204" pitchFamily="34" charset="0"/>
                <a:ea typeface="Arial" pitchFamily="34" charset="-122"/>
                <a:cs typeface="Arial" pitchFamily="34" charset="-120"/>
              </a:rPr>
              <a:t>Numerous more for writing, images, video, code.</a:t>
            </a:r>
            <a:endParaRPr kumimoji="0" lang="en-US" sz="1400" b="0" i="0" u="none" strike="noStrike" kern="1200" cap="none" spc="0" normalizeH="0" baseline="0" noProof="0" dirty="0">
              <a:ln>
                <a:noFill/>
              </a:ln>
              <a:solidFill>
                <a:prstClr val="black"/>
              </a:solidFill>
              <a:effectLst/>
              <a:uLnTx/>
              <a:uFillTx/>
              <a:latin typeface="Arial Nova" panose="020B0504020202020204" pitchFamily="34" charset="0"/>
            </a:endParaRPr>
          </a:p>
        </p:txBody>
      </p:sp>
      <p:sp>
        <p:nvSpPr>
          <p:cNvPr id="8" name="Shape 4">
            <a:extLst>
              <a:ext uri="{FF2B5EF4-FFF2-40B4-BE49-F238E27FC236}">
                <a16:creationId xmlns:a16="http://schemas.microsoft.com/office/drawing/2014/main" id="{0649D205-D430-C707-59B7-36C603858A54}"/>
              </a:ext>
            </a:extLst>
          </p:cNvPr>
          <p:cNvSpPr/>
          <p:nvPr/>
        </p:nvSpPr>
        <p:spPr>
          <a:xfrm>
            <a:off x="548640" y="5943600"/>
            <a:ext cx="11091672" cy="548640"/>
          </a:xfrm>
          <a:prstGeom prst="roundRect">
            <a:avLst>
              <a:gd name="adj" fmla="val 10000"/>
            </a:avLst>
          </a:prstGeom>
          <a:solidFill>
            <a:srgbClr val="16283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5">
            <a:extLst>
              <a:ext uri="{FF2B5EF4-FFF2-40B4-BE49-F238E27FC236}">
                <a16:creationId xmlns:a16="http://schemas.microsoft.com/office/drawing/2014/main" id="{9EFC4F00-5D3F-1548-73C1-941AF4DA4C80}"/>
              </a:ext>
            </a:extLst>
          </p:cNvPr>
          <p:cNvSpPr txBox="1"/>
          <p:nvPr/>
        </p:nvSpPr>
        <p:spPr>
          <a:xfrm>
            <a:off x="777240" y="5943600"/>
            <a:ext cx="1065276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FFFFFF"/>
                </a:solidFill>
                <a:effectLst/>
                <a:uLnTx/>
                <a:uFillTx/>
                <a:latin typeface="+mj-lt"/>
                <a:ea typeface="Georgia" pitchFamily="34" charset="-122"/>
                <a:cs typeface="Arial" panose="020B0604020202020204" pitchFamily="34" charset="0"/>
              </a:rPr>
              <a:t>Model names and versions change constantly. The company pairings are what to remember.</a:t>
            </a:r>
            <a:endParaRPr kumimoji="0" lang="en-US" sz="1500" b="0" i="0" u="none" strike="noStrike" kern="1200" cap="none" spc="0" normalizeH="0" baseline="0" noProof="0" dirty="0">
              <a:ln>
                <a:noFill/>
              </a:ln>
              <a:solidFill>
                <a:prstClr val="black"/>
              </a:solidFill>
              <a:effectLst/>
              <a:uLnTx/>
              <a:uFillTx/>
              <a:latin typeface="+mj-lt"/>
              <a:ea typeface="+mn-ea"/>
              <a:cs typeface="Arial" panose="020B0604020202020204" pitchFamily="34" charset="0"/>
            </a:endParaRPr>
          </a:p>
        </p:txBody>
      </p:sp>
      <p:pic>
        <p:nvPicPr>
          <p:cNvPr id="1026" name="Picture 2" descr="Chat GPT Logo with Text - Download Free at Gpng.Net">
            <a:extLst>
              <a:ext uri="{FF2B5EF4-FFF2-40B4-BE49-F238E27FC236}">
                <a16:creationId xmlns:a16="http://schemas.microsoft.com/office/drawing/2014/main" id="{ED7FADD9-86CA-F865-0452-4DBD11D146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2047" y="2120510"/>
            <a:ext cx="224417" cy="29874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laude AI Logo Rounded HD 67941712 PNG">
            <a:extLst>
              <a:ext uri="{FF2B5EF4-FFF2-40B4-BE49-F238E27FC236}">
                <a16:creationId xmlns:a16="http://schemas.microsoft.com/office/drawing/2014/main" id="{CA6683FF-8E05-A8EF-5F78-9354578B97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4224" y="2472018"/>
            <a:ext cx="347472" cy="34747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Gemini (Google) Logo Free Download S... · LobeHub">
            <a:extLst>
              <a:ext uri="{FF2B5EF4-FFF2-40B4-BE49-F238E27FC236}">
                <a16:creationId xmlns:a16="http://schemas.microsoft.com/office/drawing/2014/main" id="{4C267B45-7781-03D0-37B7-01C845A96EE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84224" y="2869713"/>
            <a:ext cx="320064" cy="320064"/>
          </a:xfrm>
          <a:prstGeom prst="rect">
            <a:avLst/>
          </a:prstGeom>
          <a:noFill/>
          <a:extLst>
            <a:ext uri="{909E8E84-426E-40DD-AFC4-6F175D3DCCD1}">
              <a14:hiddenFill xmlns:a14="http://schemas.microsoft.com/office/drawing/2010/main">
                <a:solidFill>
                  <a:srgbClr val="FFFFFF"/>
                </a:solidFill>
              </a14:hiddenFill>
            </a:ext>
          </a:extLst>
        </p:spPr>
      </p:pic>
      <p:sp>
        <p:nvSpPr>
          <p:cNvPr id="10" name="AutoShape 10">
            <a:extLst>
              <a:ext uri="{FF2B5EF4-FFF2-40B4-BE49-F238E27FC236}">
                <a16:creationId xmlns:a16="http://schemas.microsoft.com/office/drawing/2014/main" id="{8911D35D-8BA8-AC3E-C202-BF4CF771820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38" name="Picture 14" descr="Copilot Logo's PNG &amp; Vector - BrandLogo">
            <a:extLst>
              <a:ext uri="{FF2B5EF4-FFF2-40B4-BE49-F238E27FC236}">
                <a16:creationId xmlns:a16="http://schemas.microsoft.com/office/drawing/2014/main" id="{F54E2004-956B-5432-7EB0-1271E560DC4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96847" y="3321182"/>
            <a:ext cx="281553" cy="281553"/>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Dl.llaun.ch - There's An AI For That®">
            <a:extLst>
              <a:ext uri="{FF2B5EF4-FFF2-40B4-BE49-F238E27FC236}">
                <a16:creationId xmlns:a16="http://schemas.microsoft.com/office/drawing/2014/main" id="{49378DF3-30E7-3CA9-503C-BCD2A481F2F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92123" y="2123870"/>
            <a:ext cx="300748" cy="300748"/>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Grok Ai app icon on transparent background 56505652 PNG">
            <a:extLst>
              <a:ext uri="{FF2B5EF4-FFF2-40B4-BE49-F238E27FC236}">
                <a16:creationId xmlns:a16="http://schemas.microsoft.com/office/drawing/2014/main" id="{770292B0-E30C-F98B-0802-BC7FE4703805}"/>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3170" t="14351" r="14250" b="16509"/>
          <a:stretch>
            <a:fillRect/>
          </a:stretch>
        </p:blipFill>
        <p:spPr bwMode="auto">
          <a:xfrm>
            <a:off x="7155663" y="2468822"/>
            <a:ext cx="373667" cy="355958"/>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DeepSeek AI New Logo Vector File Free Download | Logowik">
            <a:extLst>
              <a:ext uri="{FF2B5EF4-FFF2-40B4-BE49-F238E27FC236}">
                <a16:creationId xmlns:a16="http://schemas.microsoft.com/office/drawing/2014/main" id="{FD1B7339-2748-5F6F-2EDF-96DABD3DF9F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192123" y="2918912"/>
            <a:ext cx="332454" cy="248990"/>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descr="Mistral PNG With Transparent Background">
            <a:extLst>
              <a:ext uri="{FF2B5EF4-FFF2-40B4-BE49-F238E27FC236}">
                <a16:creationId xmlns:a16="http://schemas.microsoft.com/office/drawing/2014/main" id="{AE4037E7-5411-A950-D143-FE6B02A2CDD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78042" y="3241069"/>
            <a:ext cx="351288" cy="351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342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1+#ppt_w/2"/>
                                          </p:val>
                                        </p:tav>
                                        <p:tav tm="100000">
                                          <p:val>
                                            <p:strVal val="#ppt_x"/>
                                          </p:val>
                                        </p:tav>
                                      </p:tavLst>
                                    </p:anim>
                                    <p:anim calcmode="lin" valueType="num">
                                      <p:cBhvr additive="base">
                                        <p:cTn id="14"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FABE8-5D65-5A9A-6621-088F243C961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FD7C537-410D-0A29-3031-608C1EBCADE0}"/>
              </a:ext>
            </a:extLst>
          </p:cNvPr>
          <p:cNvSpPr txBox="1"/>
          <p:nvPr/>
        </p:nvSpPr>
        <p:spPr>
          <a:xfrm>
            <a:off x="548640" y="384048"/>
            <a:ext cx="11091672" cy="640080"/>
          </a:xfrm>
          <a:prstGeom prst="rect">
            <a:avLst/>
          </a:prstGeom>
          <a:noFill/>
          <a:ln/>
        </p:spPr>
        <p:txBody>
          <a:bodyPr wrap="square" lIns="0" tIns="0" rIns="0" bIns="0" rtlCol="0" anchor="ctr"/>
          <a:lstStyle/>
          <a:p>
            <a:pPr marL="0" indent="0" algn="l">
              <a:buNone/>
            </a:pPr>
            <a:r>
              <a:rPr lang="en-US" sz="2800" b="1" dirty="0">
                <a:solidFill>
                  <a:schemeClr val="accent1">
                    <a:lumMod val="75000"/>
                  </a:schemeClr>
                </a:solidFill>
                <a:latin typeface="Arial Nova" panose="020B0504020202020204" pitchFamily="34" charset="0"/>
                <a:ea typeface="Georgia" pitchFamily="34" charset="-122"/>
                <a:cs typeface="Arial" panose="020B0604020202020204" pitchFamily="34" charset="0"/>
              </a:rPr>
              <a:t>A Few Terms</a:t>
            </a:r>
            <a:endParaRPr lang="en-US" sz="2800" dirty="0">
              <a:solidFill>
                <a:schemeClr val="accent1">
                  <a:lumMod val="75000"/>
                </a:schemeClr>
              </a:solidFill>
              <a:latin typeface="Arial Nova" panose="020B0504020202020204" pitchFamily="34" charset="0"/>
            </a:endParaRPr>
          </a:p>
        </p:txBody>
      </p:sp>
      <p:sp>
        <p:nvSpPr>
          <p:cNvPr id="3" name="Text 1">
            <a:extLst>
              <a:ext uri="{FF2B5EF4-FFF2-40B4-BE49-F238E27FC236}">
                <a16:creationId xmlns:a16="http://schemas.microsoft.com/office/drawing/2014/main" id="{DD651ABC-2802-3365-E2EE-D202E9AE4782}"/>
              </a:ext>
            </a:extLst>
          </p:cNvPr>
          <p:cNvSpPr txBox="1"/>
          <p:nvPr/>
        </p:nvSpPr>
        <p:spPr>
          <a:xfrm>
            <a:off x="548640" y="6473952"/>
            <a:ext cx="11091672" cy="274320"/>
          </a:xfrm>
          <a:prstGeom prst="rect">
            <a:avLst/>
          </a:prstGeom>
          <a:noFill/>
          <a:ln/>
        </p:spPr>
        <p:txBody>
          <a:bodyPr wrap="square" lIns="0" tIns="0" rIns="0" bIns="0" rtlCol="0" anchor="ctr"/>
          <a:lstStyle/>
          <a:p>
            <a:pPr marL="0" indent="0" algn="l">
              <a:buNone/>
            </a:pPr>
            <a:r>
              <a:rPr lang="en-US" sz="900" dirty="0">
                <a:solidFill>
                  <a:srgbClr val="667085"/>
                </a:solidFill>
                <a:latin typeface="Arial" pitchFamily="34" charset="0"/>
                <a:ea typeface="Arial" pitchFamily="34" charset="-122"/>
                <a:cs typeface="Arial" pitchFamily="34" charset="-120"/>
              </a:rPr>
              <a:t>Shiftwork Solutions LLC  |  (415) 265-1621  |  www.shift-work.com</a:t>
            </a:r>
            <a:endParaRPr lang="en-US" sz="900" dirty="0"/>
          </a:p>
        </p:txBody>
      </p:sp>
      <p:sp>
        <p:nvSpPr>
          <p:cNvPr id="4" name="Shape 2">
            <a:extLst>
              <a:ext uri="{FF2B5EF4-FFF2-40B4-BE49-F238E27FC236}">
                <a16:creationId xmlns:a16="http://schemas.microsoft.com/office/drawing/2014/main" id="{4A3D3F2C-492C-DCFC-23F7-85029DB2ADCB}"/>
              </a:ext>
            </a:extLst>
          </p:cNvPr>
          <p:cNvSpPr/>
          <p:nvPr/>
        </p:nvSpPr>
        <p:spPr>
          <a:xfrm>
            <a:off x="548640" y="1234440"/>
            <a:ext cx="5440680" cy="1463040"/>
          </a:xfrm>
          <a:prstGeom prst="roundRect">
            <a:avLst>
              <a:gd name="adj" fmla="val 4375"/>
            </a:avLst>
          </a:prstGeom>
          <a:solidFill>
            <a:srgbClr val="F2F5F8"/>
          </a:solidFill>
          <a:ln/>
        </p:spPr>
        <p:txBody>
          <a:bodyPr/>
          <a:lstStyle/>
          <a:p>
            <a:endParaRPr lang="en-US"/>
          </a:p>
        </p:txBody>
      </p:sp>
      <p:sp>
        <p:nvSpPr>
          <p:cNvPr id="5" name="Text 3">
            <a:extLst>
              <a:ext uri="{FF2B5EF4-FFF2-40B4-BE49-F238E27FC236}">
                <a16:creationId xmlns:a16="http://schemas.microsoft.com/office/drawing/2014/main" id="{8B7D2BB4-A5D3-DBDB-CB00-F46F347C79AB}"/>
              </a:ext>
            </a:extLst>
          </p:cNvPr>
          <p:cNvSpPr txBox="1"/>
          <p:nvPr/>
        </p:nvSpPr>
        <p:spPr>
          <a:xfrm>
            <a:off x="822960" y="1435608"/>
            <a:ext cx="262890" cy="320040"/>
          </a:xfrm>
          <a:prstGeom prst="rect">
            <a:avLst/>
          </a:prstGeom>
          <a:noFill/>
          <a:ln/>
        </p:spPr>
        <p:txBody>
          <a:bodyPr wrap="square" lIns="0" tIns="0" rIns="0" bIns="0" rtlCol="0" anchor="ctr"/>
          <a:lstStyle/>
          <a:p>
            <a:pPr marL="0" indent="0">
              <a:buNone/>
            </a:pPr>
            <a:r>
              <a:rPr lang="en-US" sz="1300" b="1" kern="0" spc="200" dirty="0">
                <a:solidFill>
                  <a:srgbClr val="2A7F7F"/>
                </a:solidFill>
                <a:latin typeface="Arial" pitchFamily="34" charset="0"/>
                <a:ea typeface="Arial" pitchFamily="34" charset="-122"/>
                <a:cs typeface="Arial" pitchFamily="34" charset="-120"/>
              </a:rPr>
              <a:t>AI</a:t>
            </a:r>
            <a:endParaRPr lang="en-US" sz="1300" dirty="0"/>
          </a:p>
        </p:txBody>
      </p:sp>
      <p:sp>
        <p:nvSpPr>
          <p:cNvPr id="6" name="Text 4">
            <a:extLst>
              <a:ext uri="{FF2B5EF4-FFF2-40B4-BE49-F238E27FC236}">
                <a16:creationId xmlns:a16="http://schemas.microsoft.com/office/drawing/2014/main" id="{F552B422-3A52-55F6-57CF-7302843F78BD}"/>
              </a:ext>
            </a:extLst>
          </p:cNvPr>
          <p:cNvSpPr txBox="1"/>
          <p:nvPr/>
        </p:nvSpPr>
        <p:spPr>
          <a:xfrm>
            <a:off x="822960" y="1801368"/>
            <a:ext cx="4892040" cy="713232"/>
          </a:xfrm>
          <a:prstGeom prst="rect">
            <a:avLst/>
          </a:prstGeom>
          <a:noFill/>
          <a:ln/>
        </p:spPr>
        <p:txBody>
          <a:bodyPr wrap="square" lIns="0" tIns="0" rIns="0" bIns="0" rtlCol="0" anchor="t"/>
          <a:lstStyle/>
          <a:p>
            <a:pPr>
              <a:buSzPct val="100000"/>
            </a:pPr>
            <a:r>
              <a:rPr lang="en-US" sz="1250" dirty="0">
                <a:solidFill>
                  <a:srgbClr val="222222"/>
                </a:solidFill>
                <a:latin typeface="Arial" pitchFamily="34" charset="0"/>
                <a:ea typeface="Arial" pitchFamily="34" charset="-122"/>
                <a:cs typeface="Arial" pitchFamily="34" charset="-120"/>
              </a:rPr>
              <a:t>The broad umbrella term — software that does things that normally require human intelligence: understanding language, recognizing patterns, making judgment calls.</a:t>
            </a:r>
            <a:endParaRPr lang="en-US" sz="1250" dirty="0"/>
          </a:p>
        </p:txBody>
      </p:sp>
      <p:sp>
        <p:nvSpPr>
          <p:cNvPr id="7" name="Shape 5">
            <a:extLst>
              <a:ext uri="{FF2B5EF4-FFF2-40B4-BE49-F238E27FC236}">
                <a16:creationId xmlns:a16="http://schemas.microsoft.com/office/drawing/2014/main" id="{54ADB7BF-F93A-7FDA-375C-35E41531F28E}"/>
              </a:ext>
            </a:extLst>
          </p:cNvPr>
          <p:cNvSpPr/>
          <p:nvPr/>
        </p:nvSpPr>
        <p:spPr>
          <a:xfrm>
            <a:off x="6190488" y="1252728"/>
            <a:ext cx="5440680" cy="1463040"/>
          </a:xfrm>
          <a:prstGeom prst="roundRect">
            <a:avLst>
              <a:gd name="adj" fmla="val 4375"/>
            </a:avLst>
          </a:prstGeom>
          <a:solidFill>
            <a:srgbClr val="F2F5F8"/>
          </a:solidFill>
          <a:ln/>
        </p:spPr>
        <p:txBody>
          <a:bodyPr/>
          <a:lstStyle/>
          <a:p>
            <a:endParaRPr lang="en-US"/>
          </a:p>
        </p:txBody>
      </p:sp>
      <p:sp>
        <p:nvSpPr>
          <p:cNvPr id="8" name="Text 6">
            <a:extLst>
              <a:ext uri="{FF2B5EF4-FFF2-40B4-BE49-F238E27FC236}">
                <a16:creationId xmlns:a16="http://schemas.microsoft.com/office/drawing/2014/main" id="{330B580A-F0AE-4B29-C06C-36CB7D922EC7}"/>
              </a:ext>
            </a:extLst>
          </p:cNvPr>
          <p:cNvSpPr txBox="1"/>
          <p:nvPr/>
        </p:nvSpPr>
        <p:spPr>
          <a:xfrm>
            <a:off x="6464808" y="1435608"/>
            <a:ext cx="458506" cy="320040"/>
          </a:xfrm>
          <a:prstGeom prst="rect">
            <a:avLst/>
          </a:prstGeom>
          <a:noFill/>
          <a:ln/>
        </p:spPr>
        <p:txBody>
          <a:bodyPr wrap="square" lIns="0" tIns="0" rIns="0" bIns="0" rtlCol="0" anchor="ctr"/>
          <a:lstStyle/>
          <a:p>
            <a:pPr marL="0" indent="0">
              <a:buNone/>
            </a:pPr>
            <a:r>
              <a:rPr lang="en-US" sz="1300" b="1" kern="0" spc="200" dirty="0">
                <a:solidFill>
                  <a:srgbClr val="2A7F7F"/>
                </a:solidFill>
                <a:latin typeface="Arial" pitchFamily="34" charset="0"/>
                <a:ea typeface="Arial" pitchFamily="34" charset="-122"/>
                <a:cs typeface="Arial" pitchFamily="34" charset="-120"/>
              </a:rPr>
              <a:t>LLM</a:t>
            </a:r>
            <a:endParaRPr lang="en-US" sz="1300" dirty="0"/>
          </a:p>
        </p:txBody>
      </p:sp>
      <p:sp>
        <p:nvSpPr>
          <p:cNvPr id="9" name="Text 7">
            <a:extLst>
              <a:ext uri="{FF2B5EF4-FFF2-40B4-BE49-F238E27FC236}">
                <a16:creationId xmlns:a16="http://schemas.microsoft.com/office/drawing/2014/main" id="{78827723-EFB5-B66A-D9AF-AF15C87CBC08}"/>
              </a:ext>
            </a:extLst>
          </p:cNvPr>
          <p:cNvSpPr txBox="1"/>
          <p:nvPr/>
        </p:nvSpPr>
        <p:spPr>
          <a:xfrm>
            <a:off x="6464808" y="1801368"/>
            <a:ext cx="4892040" cy="896112"/>
          </a:xfrm>
          <a:prstGeom prst="rect">
            <a:avLst/>
          </a:prstGeom>
          <a:noFill/>
          <a:ln/>
        </p:spPr>
        <p:txBody>
          <a:bodyPr wrap="square" lIns="0" tIns="0" rIns="0" bIns="0" rtlCol="0" anchor="t"/>
          <a:lstStyle/>
          <a:p>
            <a:pPr>
              <a:buSzPct val="100000"/>
            </a:pPr>
            <a:r>
              <a:rPr lang="en-US" sz="1250" dirty="0">
                <a:latin typeface="Arial Nova" panose="020B0504020202020204" pitchFamily="34" charset="0"/>
              </a:rPr>
              <a:t>A large language model (LLM) generates text by repeatedly predicting a likely next word in context, based on patterns learned from enormous amounts of text. </a:t>
            </a:r>
            <a:r>
              <a:rPr lang="en-US" sz="1250" dirty="0">
                <a:solidFill>
                  <a:srgbClr val="222222"/>
                </a:solidFill>
                <a:latin typeface="Arial Nova" panose="020B0504020202020204" pitchFamily="34" charset="0"/>
                <a:ea typeface="Arial" pitchFamily="34" charset="-122"/>
                <a:cs typeface="Arial" pitchFamily="34" charset="-120"/>
              </a:rPr>
              <a:t>Examples include ChatGPT, Claude, and Gemini.</a:t>
            </a:r>
            <a:r>
              <a:rPr lang="en-US" sz="1250" dirty="0">
                <a:latin typeface="Arial Nova" panose="020B0504020202020204" pitchFamily="34" charset="0"/>
              </a:rPr>
              <a:t> </a:t>
            </a:r>
          </a:p>
        </p:txBody>
      </p:sp>
      <p:sp>
        <p:nvSpPr>
          <p:cNvPr id="10" name="Shape 8">
            <a:extLst>
              <a:ext uri="{FF2B5EF4-FFF2-40B4-BE49-F238E27FC236}">
                <a16:creationId xmlns:a16="http://schemas.microsoft.com/office/drawing/2014/main" id="{1C181FB3-4AAE-16DC-486E-FEB5B3D821F2}"/>
              </a:ext>
            </a:extLst>
          </p:cNvPr>
          <p:cNvSpPr/>
          <p:nvPr/>
        </p:nvSpPr>
        <p:spPr>
          <a:xfrm>
            <a:off x="548640" y="2834640"/>
            <a:ext cx="5440680" cy="1463040"/>
          </a:xfrm>
          <a:prstGeom prst="roundRect">
            <a:avLst>
              <a:gd name="adj" fmla="val 4375"/>
            </a:avLst>
          </a:prstGeom>
          <a:solidFill>
            <a:srgbClr val="F2F5F8"/>
          </a:solidFill>
          <a:ln/>
        </p:spPr>
        <p:txBody>
          <a:bodyPr/>
          <a:lstStyle/>
          <a:p>
            <a:endParaRPr lang="en-US"/>
          </a:p>
        </p:txBody>
      </p:sp>
      <p:sp>
        <p:nvSpPr>
          <p:cNvPr id="11" name="Text 9">
            <a:extLst>
              <a:ext uri="{FF2B5EF4-FFF2-40B4-BE49-F238E27FC236}">
                <a16:creationId xmlns:a16="http://schemas.microsoft.com/office/drawing/2014/main" id="{DA107E8C-63CD-8EC9-0D4D-82ACC760D62E}"/>
              </a:ext>
            </a:extLst>
          </p:cNvPr>
          <p:cNvSpPr txBox="1"/>
          <p:nvPr/>
        </p:nvSpPr>
        <p:spPr>
          <a:xfrm>
            <a:off x="822960" y="3035808"/>
            <a:ext cx="434340" cy="320040"/>
          </a:xfrm>
          <a:prstGeom prst="rect">
            <a:avLst/>
          </a:prstGeom>
          <a:noFill/>
          <a:ln/>
        </p:spPr>
        <p:txBody>
          <a:bodyPr wrap="square" lIns="0" tIns="0" rIns="0" bIns="0" rtlCol="0" anchor="ctr"/>
          <a:lstStyle/>
          <a:p>
            <a:pPr marL="0" indent="0">
              <a:buNone/>
            </a:pPr>
            <a:r>
              <a:rPr lang="en-US" sz="1300" b="1" kern="0" spc="200" dirty="0">
                <a:solidFill>
                  <a:srgbClr val="2A7F7F"/>
                </a:solidFill>
                <a:latin typeface="Arial" pitchFamily="34" charset="0"/>
                <a:ea typeface="Arial" pitchFamily="34" charset="-122"/>
                <a:cs typeface="Arial" pitchFamily="34" charset="-120"/>
              </a:rPr>
              <a:t>AGI</a:t>
            </a:r>
            <a:endParaRPr lang="en-US" sz="1300" dirty="0"/>
          </a:p>
        </p:txBody>
      </p:sp>
      <p:sp>
        <p:nvSpPr>
          <p:cNvPr id="12" name="Text 10">
            <a:extLst>
              <a:ext uri="{FF2B5EF4-FFF2-40B4-BE49-F238E27FC236}">
                <a16:creationId xmlns:a16="http://schemas.microsoft.com/office/drawing/2014/main" id="{4CF74F9F-1300-AE37-3BBF-C2D99965482B}"/>
              </a:ext>
            </a:extLst>
          </p:cNvPr>
          <p:cNvSpPr txBox="1"/>
          <p:nvPr/>
        </p:nvSpPr>
        <p:spPr>
          <a:xfrm>
            <a:off x="822960" y="3401568"/>
            <a:ext cx="4892040" cy="713232"/>
          </a:xfrm>
          <a:prstGeom prst="rect">
            <a:avLst/>
          </a:prstGeom>
          <a:noFill/>
          <a:ln/>
        </p:spPr>
        <p:txBody>
          <a:bodyPr wrap="square" lIns="0" tIns="0" rIns="0" bIns="0" rtlCol="0" anchor="t"/>
          <a:lstStyle/>
          <a:p>
            <a:pPr>
              <a:buSzPct val="100000"/>
            </a:pPr>
            <a:r>
              <a:rPr lang="en-US" sz="1250" dirty="0">
                <a:solidFill>
                  <a:srgbClr val="222222"/>
                </a:solidFill>
                <a:latin typeface="Arial" pitchFamily="34" charset="0"/>
                <a:ea typeface="Arial" pitchFamily="34" charset="-122"/>
                <a:cs typeface="Arial" pitchFamily="34" charset="-120"/>
              </a:rPr>
              <a:t>A hypothetical future AI that can do any intellectual task a human can, across any domain — not just what it was trained on. We're not there. When?</a:t>
            </a:r>
            <a:endParaRPr lang="en-US" sz="1250" dirty="0"/>
          </a:p>
        </p:txBody>
      </p:sp>
      <p:sp>
        <p:nvSpPr>
          <p:cNvPr id="13" name="Shape 11">
            <a:extLst>
              <a:ext uri="{FF2B5EF4-FFF2-40B4-BE49-F238E27FC236}">
                <a16:creationId xmlns:a16="http://schemas.microsoft.com/office/drawing/2014/main" id="{C52AF48F-73CA-DC14-ABCF-FB1D595B9400}"/>
              </a:ext>
            </a:extLst>
          </p:cNvPr>
          <p:cNvSpPr/>
          <p:nvPr/>
        </p:nvSpPr>
        <p:spPr>
          <a:xfrm>
            <a:off x="6190488" y="2834640"/>
            <a:ext cx="5440680" cy="1463040"/>
          </a:xfrm>
          <a:prstGeom prst="roundRect">
            <a:avLst>
              <a:gd name="adj" fmla="val 4375"/>
            </a:avLst>
          </a:prstGeom>
          <a:solidFill>
            <a:srgbClr val="F2F5F8"/>
          </a:solidFill>
          <a:ln/>
        </p:spPr>
        <p:txBody>
          <a:bodyPr/>
          <a:lstStyle/>
          <a:p>
            <a:endParaRPr lang="en-US"/>
          </a:p>
        </p:txBody>
      </p:sp>
      <p:sp>
        <p:nvSpPr>
          <p:cNvPr id="14" name="Text 12">
            <a:extLst>
              <a:ext uri="{FF2B5EF4-FFF2-40B4-BE49-F238E27FC236}">
                <a16:creationId xmlns:a16="http://schemas.microsoft.com/office/drawing/2014/main" id="{A0877C56-1C57-33B4-B69C-1D97121ECF9C}"/>
              </a:ext>
            </a:extLst>
          </p:cNvPr>
          <p:cNvSpPr txBox="1"/>
          <p:nvPr/>
        </p:nvSpPr>
        <p:spPr>
          <a:xfrm>
            <a:off x="6464808" y="3035808"/>
            <a:ext cx="4892040" cy="320040"/>
          </a:xfrm>
          <a:prstGeom prst="rect">
            <a:avLst/>
          </a:prstGeom>
          <a:noFill/>
          <a:ln/>
        </p:spPr>
        <p:txBody>
          <a:bodyPr wrap="square" lIns="0" tIns="0" rIns="0" bIns="0" rtlCol="0" anchor="ctr"/>
          <a:lstStyle/>
          <a:p>
            <a:pPr marL="0" indent="0">
              <a:buNone/>
            </a:pPr>
            <a:r>
              <a:rPr lang="en-US" sz="1300" b="1" kern="0" spc="200" dirty="0">
                <a:solidFill>
                  <a:srgbClr val="2A7F7F"/>
                </a:solidFill>
                <a:latin typeface="Arial" pitchFamily="34" charset="0"/>
                <a:ea typeface="Arial" pitchFamily="34" charset="-122"/>
                <a:cs typeface="Arial" pitchFamily="34" charset="-120"/>
              </a:rPr>
              <a:t>Agentic AI</a:t>
            </a:r>
            <a:endParaRPr lang="en-US" sz="1300" dirty="0"/>
          </a:p>
        </p:txBody>
      </p:sp>
      <p:sp>
        <p:nvSpPr>
          <p:cNvPr id="15" name="Text 13">
            <a:extLst>
              <a:ext uri="{FF2B5EF4-FFF2-40B4-BE49-F238E27FC236}">
                <a16:creationId xmlns:a16="http://schemas.microsoft.com/office/drawing/2014/main" id="{BC4BA087-98EA-DDB6-2369-EAB76AE06AB1}"/>
              </a:ext>
            </a:extLst>
          </p:cNvPr>
          <p:cNvSpPr txBox="1"/>
          <p:nvPr/>
        </p:nvSpPr>
        <p:spPr>
          <a:xfrm>
            <a:off x="6464808" y="3401568"/>
            <a:ext cx="4892040" cy="713232"/>
          </a:xfrm>
          <a:prstGeom prst="rect">
            <a:avLst/>
          </a:prstGeom>
          <a:noFill/>
          <a:ln/>
        </p:spPr>
        <p:txBody>
          <a:bodyPr wrap="square" lIns="0" tIns="0" rIns="0" bIns="0" rtlCol="0" anchor="t"/>
          <a:lstStyle/>
          <a:p>
            <a:pPr>
              <a:buSzPct val="100000"/>
            </a:pPr>
            <a:r>
              <a:rPr lang="en-US" sz="1250" dirty="0">
                <a:solidFill>
                  <a:srgbClr val="222222"/>
                </a:solidFill>
                <a:latin typeface="Arial" pitchFamily="34" charset="0"/>
                <a:ea typeface="Arial" pitchFamily="34" charset="-122"/>
                <a:cs typeface="Arial" pitchFamily="34" charset="-120"/>
              </a:rPr>
              <a:t>Not a product — a description. AI built to act, not just answer: it uses tools, remembers context, and works toward a goal across multiple steps without you prompting each one.</a:t>
            </a:r>
            <a:endParaRPr lang="en-US" sz="1250" dirty="0"/>
          </a:p>
        </p:txBody>
      </p:sp>
      <p:sp>
        <p:nvSpPr>
          <p:cNvPr id="16" name="Shape 14">
            <a:extLst>
              <a:ext uri="{FF2B5EF4-FFF2-40B4-BE49-F238E27FC236}">
                <a16:creationId xmlns:a16="http://schemas.microsoft.com/office/drawing/2014/main" id="{384D6188-00EB-BA70-33A6-1A552FD65D70}"/>
              </a:ext>
            </a:extLst>
          </p:cNvPr>
          <p:cNvSpPr/>
          <p:nvPr/>
        </p:nvSpPr>
        <p:spPr>
          <a:xfrm>
            <a:off x="548640" y="4434840"/>
            <a:ext cx="5440680" cy="1463040"/>
          </a:xfrm>
          <a:prstGeom prst="roundRect">
            <a:avLst>
              <a:gd name="adj" fmla="val 4375"/>
            </a:avLst>
          </a:prstGeom>
          <a:solidFill>
            <a:srgbClr val="F2F5F8"/>
          </a:solidFill>
          <a:ln/>
        </p:spPr>
        <p:txBody>
          <a:bodyPr/>
          <a:lstStyle/>
          <a:p>
            <a:endParaRPr lang="en-US"/>
          </a:p>
        </p:txBody>
      </p:sp>
      <p:sp>
        <p:nvSpPr>
          <p:cNvPr id="17" name="Text 15">
            <a:extLst>
              <a:ext uri="{FF2B5EF4-FFF2-40B4-BE49-F238E27FC236}">
                <a16:creationId xmlns:a16="http://schemas.microsoft.com/office/drawing/2014/main" id="{B30622A2-D1F8-FE9D-289C-579458A24BAB}"/>
              </a:ext>
            </a:extLst>
          </p:cNvPr>
          <p:cNvSpPr txBox="1"/>
          <p:nvPr/>
        </p:nvSpPr>
        <p:spPr>
          <a:xfrm>
            <a:off x="822960" y="4636008"/>
            <a:ext cx="4892040" cy="320040"/>
          </a:xfrm>
          <a:prstGeom prst="rect">
            <a:avLst/>
          </a:prstGeom>
          <a:noFill/>
          <a:ln/>
        </p:spPr>
        <p:txBody>
          <a:bodyPr wrap="square" lIns="0" tIns="0" rIns="0" bIns="0" rtlCol="0" anchor="ctr"/>
          <a:lstStyle/>
          <a:p>
            <a:pPr marL="0" indent="0">
              <a:buNone/>
            </a:pPr>
            <a:r>
              <a:rPr lang="en-US" sz="1300" b="1" kern="0" spc="200" dirty="0">
                <a:solidFill>
                  <a:srgbClr val="2A7F7F"/>
                </a:solidFill>
                <a:latin typeface="Arial" pitchFamily="34" charset="0"/>
                <a:ea typeface="Arial" pitchFamily="34" charset="-122"/>
                <a:cs typeface="Arial" pitchFamily="34" charset="-120"/>
              </a:rPr>
              <a:t>AI Agent</a:t>
            </a:r>
            <a:endParaRPr lang="en-US" sz="1300" dirty="0"/>
          </a:p>
        </p:txBody>
      </p:sp>
      <p:sp>
        <p:nvSpPr>
          <p:cNvPr id="18" name="Text 16">
            <a:extLst>
              <a:ext uri="{FF2B5EF4-FFF2-40B4-BE49-F238E27FC236}">
                <a16:creationId xmlns:a16="http://schemas.microsoft.com/office/drawing/2014/main" id="{0EE3A427-FFFC-660B-620B-E6A6176C1A1C}"/>
              </a:ext>
            </a:extLst>
          </p:cNvPr>
          <p:cNvSpPr txBox="1"/>
          <p:nvPr/>
        </p:nvSpPr>
        <p:spPr>
          <a:xfrm>
            <a:off x="822960" y="5001768"/>
            <a:ext cx="4892040" cy="713232"/>
          </a:xfrm>
          <a:prstGeom prst="rect">
            <a:avLst/>
          </a:prstGeom>
          <a:noFill/>
          <a:ln/>
        </p:spPr>
        <p:txBody>
          <a:bodyPr wrap="square" lIns="0" tIns="0" rIns="0" bIns="0" rtlCol="0" anchor="t"/>
          <a:lstStyle/>
          <a:p>
            <a:pPr>
              <a:buSzPct val="100000"/>
            </a:pPr>
            <a:r>
              <a:rPr lang="en-US" sz="1250" dirty="0">
                <a:solidFill>
                  <a:srgbClr val="222222"/>
                </a:solidFill>
                <a:latin typeface="Arial" pitchFamily="34" charset="0"/>
                <a:ea typeface="Arial" pitchFamily="34" charset="-122"/>
                <a:cs typeface="Arial" pitchFamily="34" charset="-120"/>
              </a:rPr>
              <a:t>One specific instance of agentic AI, given a job: access to your systems, a memory of what it's already done, and a goal. </a:t>
            </a:r>
            <a:endParaRPr lang="en-US" sz="1250" dirty="0"/>
          </a:p>
        </p:txBody>
      </p:sp>
      <p:sp>
        <p:nvSpPr>
          <p:cNvPr id="19" name="Shape 17">
            <a:extLst>
              <a:ext uri="{FF2B5EF4-FFF2-40B4-BE49-F238E27FC236}">
                <a16:creationId xmlns:a16="http://schemas.microsoft.com/office/drawing/2014/main" id="{5506401F-37BD-316E-57AC-8C60C3F4C5AA}"/>
              </a:ext>
            </a:extLst>
          </p:cNvPr>
          <p:cNvSpPr/>
          <p:nvPr/>
        </p:nvSpPr>
        <p:spPr>
          <a:xfrm>
            <a:off x="6190488" y="4434840"/>
            <a:ext cx="5440680" cy="1463040"/>
          </a:xfrm>
          <a:prstGeom prst="roundRect">
            <a:avLst>
              <a:gd name="adj" fmla="val 4375"/>
            </a:avLst>
          </a:prstGeom>
          <a:solidFill>
            <a:srgbClr val="F2F5F8"/>
          </a:solidFill>
          <a:ln/>
        </p:spPr>
        <p:txBody>
          <a:bodyPr/>
          <a:lstStyle/>
          <a:p>
            <a:endParaRPr lang="en-US"/>
          </a:p>
        </p:txBody>
      </p:sp>
      <p:sp>
        <p:nvSpPr>
          <p:cNvPr id="20" name="Text 18">
            <a:extLst>
              <a:ext uri="{FF2B5EF4-FFF2-40B4-BE49-F238E27FC236}">
                <a16:creationId xmlns:a16="http://schemas.microsoft.com/office/drawing/2014/main" id="{632EC862-E0CE-A4D3-9CDE-7B26198F0C0E}"/>
              </a:ext>
            </a:extLst>
          </p:cNvPr>
          <p:cNvSpPr txBox="1"/>
          <p:nvPr/>
        </p:nvSpPr>
        <p:spPr>
          <a:xfrm>
            <a:off x="6464808" y="4636008"/>
            <a:ext cx="4892040" cy="320040"/>
          </a:xfrm>
          <a:prstGeom prst="rect">
            <a:avLst/>
          </a:prstGeom>
          <a:noFill/>
          <a:ln/>
        </p:spPr>
        <p:txBody>
          <a:bodyPr wrap="square" lIns="0" tIns="0" rIns="0" bIns="0" rtlCol="0" anchor="ctr"/>
          <a:lstStyle/>
          <a:p>
            <a:pPr marL="0" indent="0">
              <a:buNone/>
            </a:pPr>
            <a:r>
              <a:rPr lang="en-US" sz="1300" b="1" kern="0" spc="200" dirty="0">
                <a:solidFill>
                  <a:srgbClr val="2A7F7F"/>
                </a:solidFill>
                <a:latin typeface="Arial" pitchFamily="34" charset="0"/>
                <a:ea typeface="Arial" pitchFamily="34" charset="-122"/>
                <a:cs typeface="Arial" pitchFamily="34" charset="-120"/>
              </a:rPr>
              <a:t>Recursive AI</a:t>
            </a:r>
            <a:endParaRPr lang="en-US" sz="1300" dirty="0"/>
          </a:p>
        </p:txBody>
      </p:sp>
      <p:sp>
        <p:nvSpPr>
          <p:cNvPr id="21" name="Text 19">
            <a:extLst>
              <a:ext uri="{FF2B5EF4-FFF2-40B4-BE49-F238E27FC236}">
                <a16:creationId xmlns:a16="http://schemas.microsoft.com/office/drawing/2014/main" id="{F43C0425-0FF6-3FC5-DAF6-FCBDAB3D3013}"/>
              </a:ext>
            </a:extLst>
          </p:cNvPr>
          <p:cNvSpPr txBox="1"/>
          <p:nvPr/>
        </p:nvSpPr>
        <p:spPr>
          <a:xfrm>
            <a:off x="6464808" y="5001768"/>
            <a:ext cx="4892040" cy="713232"/>
          </a:xfrm>
          <a:prstGeom prst="rect">
            <a:avLst/>
          </a:prstGeom>
          <a:noFill/>
          <a:ln/>
        </p:spPr>
        <p:txBody>
          <a:bodyPr wrap="square" lIns="0" tIns="0" rIns="0" bIns="0" rtlCol="0" anchor="t"/>
          <a:lstStyle/>
          <a:p>
            <a:pPr>
              <a:buSzPct val="100000"/>
            </a:pPr>
            <a:r>
              <a:rPr lang="en-US" sz="1250" dirty="0">
                <a:solidFill>
                  <a:srgbClr val="222222"/>
                </a:solidFill>
                <a:latin typeface="Arial" pitchFamily="34" charset="0"/>
                <a:ea typeface="Arial" pitchFamily="34" charset="-122"/>
                <a:cs typeface="Arial" pitchFamily="34" charset="-120"/>
              </a:rPr>
              <a:t>AI is used to improve AI itself — using these tools to help build, test, and refine the next version of the tools—part of why the pace keeps accelerating.</a:t>
            </a:r>
            <a:endParaRPr lang="en-US" sz="1250" dirty="0"/>
          </a:p>
        </p:txBody>
      </p:sp>
      <p:sp>
        <p:nvSpPr>
          <p:cNvPr id="22" name="TextBox 21">
            <a:extLst>
              <a:ext uri="{FF2B5EF4-FFF2-40B4-BE49-F238E27FC236}">
                <a16:creationId xmlns:a16="http://schemas.microsoft.com/office/drawing/2014/main" id="{1CC957BF-0D4C-6F8E-F060-51B16DAE94DA}"/>
              </a:ext>
            </a:extLst>
          </p:cNvPr>
          <p:cNvSpPr txBox="1"/>
          <p:nvPr/>
        </p:nvSpPr>
        <p:spPr>
          <a:xfrm>
            <a:off x="1085850" y="1437167"/>
            <a:ext cx="2073728" cy="307777"/>
          </a:xfrm>
          <a:prstGeom prst="rect">
            <a:avLst/>
          </a:prstGeom>
          <a:noFill/>
        </p:spPr>
        <p:txBody>
          <a:bodyPr wrap="square" rtlCol="0">
            <a:spAutoFit/>
          </a:bodyPr>
          <a:lstStyle/>
          <a:p>
            <a:r>
              <a:rPr lang="en-US" sz="1400" b="1" dirty="0">
                <a:solidFill>
                  <a:srgbClr val="222222"/>
                </a:solidFill>
                <a:latin typeface="Arial" pitchFamily="34" charset="0"/>
                <a:ea typeface="Arial" pitchFamily="34" charset="-122"/>
                <a:cs typeface="Arial" pitchFamily="34" charset="-120"/>
              </a:rPr>
              <a:t>Artificial Intelligence </a:t>
            </a:r>
            <a:endParaRPr lang="en-US" sz="1400" b="1" dirty="0"/>
          </a:p>
        </p:txBody>
      </p:sp>
      <p:sp>
        <p:nvSpPr>
          <p:cNvPr id="23" name="TextBox 22">
            <a:extLst>
              <a:ext uri="{FF2B5EF4-FFF2-40B4-BE49-F238E27FC236}">
                <a16:creationId xmlns:a16="http://schemas.microsoft.com/office/drawing/2014/main" id="{CEEFC009-A80C-32B5-0C76-C510B3CBCF6B}"/>
              </a:ext>
            </a:extLst>
          </p:cNvPr>
          <p:cNvSpPr txBox="1"/>
          <p:nvPr/>
        </p:nvSpPr>
        <p:spPr>
          <a:xfrm>
            <a:off x="6923314" y="1434155"/>
            <a:ext cx="2424793" cy="307777"/>
          </a:xfrm>
          <a:prstGeom prst="rect">
            <a:avLst/>
          </a:prstGeom>
          <a:noFill/>
        </p:spPr>
        <p:txBody>
          <a:bodyPr wrap="square" rtlCol="0">
            <a:spAutoFit/>
          </a:bodyPr>
          <a:lstStyle/>
          <a:p>
            <a:r>
              <a:rPr lang="en-US" sz="1400" b="1" dirty="0">
                <a:solidFill>
                  <a:srgbClr val="222222"/>
                </a:solidFill>
                <a:latin typeface="Arial" pitchFamily="34" charset="0"/>
                <a:ea typeface="Arial" pitchFamily="34" charset="-122"/>
                <a:cs typeface="Arial" pitchFamily="34" charset="-120"/>
              </a:rPr>
              <a:t>Large Language Model</a:t>
            </a:r>
            <a:endParaRPr lang="en-US" sz="1400" b="1" dirty="0"/>
          </a:p>
        </p:txBody>
      </p:sp>
      <p:sp>
        <p:nvSpPr>
          <p:cNvPr id="24" name="TextBox 23">
            <a:extLst>
              <a:ext uri="{FF2B5EF4-FFF2-40B4-BE49-F238E27FC236}">
                <a16:creationId xmlns:a16="http://schemas.microsoft.com/office/drawing/2014/main" id="{F213A8A8-C389-3A04-5635-EAC52E438FE1}"/>
              </a:ext>
            </a:extLst>
          </p:cNvPr>
          <p:cNvSpPr txBox="1"/>
          <p:nvPr/>
        </p:nvSpPr>
        <p:spPr>
          <a:xfrm>
            <a:off x="1257300" y="3035808"/>
            <a:ext cx="3894364" cy="307777"/>
          </a:xfrm>
          <a:prstGeom prst="rect">
            <a:avLst/>
          </a:prstGeom>
          <a:noFill/>
        </p:spPr>
        <p:txBody>
          <a:bodyPr wrap="square" rtlCol="0">
            <a:spAutoFit/>
          </a:bodyPr>
          <a:lstStyle/>
          <a:p>
            <a:r>
              <a:rPr lang="en-US" sz="1400" b="1" dirty="0">
                <a:solidFill>
                  <a:srgbClr val="222222"/>
                </a:solidFill>
                <a:latin typeface="Arial" pitchFamily="34" charset="0"/>
                <a:ea typeface="Arial" pitchFamily="34" charset="-122"/>
                <a:cs typeface="Arial" pitchFamily="34" charset="-120"/>
              </a:rPr>
              <a:t>Artificial General Intelligence</a:t>
            </a:r>
            <a:endParaRPr lang="en-US" sz="1400" b="1" dirty="0"/>
          </a:p>
        </p:txBody>
      </p:sp>
    </p:spTree>
    <p:extLst>
      <p:ext uri="{BB962C8B-B14F-4D97-AF65-F5344CB8AC3E}">
        <p14:creationId xmlns:p14="http://schemas.microsoft.com/office/powerpoint/2010/main" val="2232186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4A063-CA9E-CD26-E681-B3BD50142C8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412C30F-0C87-24DD-1A20-210DFB3AAFA3}"/>
              </a:ext>
            </a:extLst>
          </p:cNvPr>
          <p:cNvSpPr txBox="1"/>
          <p:nvPr/>
        </p:nvSpPr>
        <p:spPr>
          <a:xfrm>
            <a:off x="422257" y="359320"/>
            <a:ext cx="11091672" cy="640080"/>
          </a:xfrm>
          <a:prstGeom prst="rect">
            <a:avLst/>
          </a:prstGeom>
          <a:noFill/>
          <a:ln/>
        </p:spPr>
        <p:txBody>
          <a:bodyPr wrap="square" lIns="0" tIns="0" rIns="0" bIns="0" rtlCol="0" anchor="ctr"/>
          <a:lstStyle/>
          <a:p>
            <a:pPr marL="0" indent="0" algn="l">
              <a:buNone/>
            </a:pPr>
            <a:r>
              <a:rPr lang="en-US" sz="2800" b="1" dirty="0">
                <a:solidFill>
                  <a:schemeClr val="accent1">
                    <a:lumMod val="75000"/>
                  </a:schemeClr>
                </a:solidFill>
                <a:latin typeface="Arial" panose="020B0604020202020204" pitchFamily="34" charset="0"/>
                <a:ea typeface="Georgia" pitchFamily="34" charset="-122"/>
                <a:cs typeface="Arial" panose="020B0604020202020204" pitchFamily="34" charset="0"/>
              </a:rPr>
              <a:t>How we got here</a:t>
            </a:r>
            <a:endParaRPr lang="en-US" sz="2800" dirty="0">
              <a:solidFill>
                <a:schemeClr val="accent1">
                  <a:lumMod val="75000"/>
                </a:schemeClr>
              </a:solidFill>
              <a:latin typeface="Arial" panose="020B0604020202020204" pitchFamily="34" charset="0"/>
              <a:cs typeface="Arial" panose="020B0604020202020204" pitchFamily="34" charset="0"/>
            </a:endParaRPr>
          </a:p>
        </p:txBody>
      </p:sp>
      <p:sp>
        <p:nvSpPr>
          <p:cNvPr id="3" name="Text 1">
            <a:extLst>
              <a:ext uri="{FF2B5EF4-FFF2-40B4-BE49-F238E27FC236}">
                <a16:creationId xmlns:a16="http://schemas.microsoft.com/office/drawing/2014/main" id="{92FC10CE-2975-0B88-3B6C-719D865CB08B}"/>
              </a:ext>
            </a:extLst>
          </p:cNvPr>
          <p:cNvSpPr txBox="1"/>
          <p:nvPr/>
        </p:nvSpPr>
        <p:spPr>
          <a:xfrm>
            <a:off x="548640" y="6473952"/>
            <a:ext cx="11091672" cy="274320"/>
          </a:xfrm>
          <a:prstGeom prst="rect">
            <a:avLst/>
          </a:prstGeom>
          <a:noFill/>
          <a:ln/>
        </p:spPr>
        <p:txBody>
          <a:bodyPr wrap="square" lIns="0" tIns="0" rIns="0" bIns="0" rtlCol="0" anchor="ctr"/>
          <a:lstStyle/>
          <a:p>
            <a:pPr marL="0" indent="0" algn="l">
              <a:buNone/>
            </a:pPr>
            <a:r>
              <a:rPr lang="en-US" sz="900" dirty="0">
                <a:solidFill>
                  <a:srgbClr val="667085"/>
                </a:solidFill>
                <a:latin typeface="Arial" pitchFamily="34" charset="0"/>
                <a:ea typeface="Arial" pitchFamily="34" charset="-122"/>
                <a:cs typeface="Arial" pitchFamily="34" charset="-120"/>
              </a:rPr>
              <a:t>Shiftwork Solutions LLC  |  (415) 265-1621  |  www.shift-work.com</a:t>
            </a:r>
            <a:endParaRPr lang="en-US" sz="900" dirty="0"/>
          </a:p>
        </p:txBody>
      </p:sp>
      <p:sp>
        <p:nvSpPr>
          <p:cNvPr id="5" name="Shape 2">
            <a:extLst>
              <a:ext uri="{FF2B5EF4-FFF2-40B4-BE49-F238E27FC236}">
                <a16:creationId xmlns:a16="http://schemas.microsoft.com/office/drawing/2014/main" id="{06E06E38-4C20-233D-B528-094B0CBA72EF}"/>
              </a:ext>
            </a:extLst>
          </p:cNvPr>
          <p:cNvSpPr/>
          <p:nvPr/>
        </p:nvSpPr>
        <p:spPr>
          <a:xfrm>
            <a:off x="548640" y="5806440"/>
            <a:ext cx="11091672" cy="548640"/>
          </a:xfrm>
          <a:prstGeom prst="roundRect">
            <a:avLst>
              <a:gd name="adj" fmla="val 10000"/>
            </a:avLst>
          </a:prstGeom>
          <a:solidFill>
            <a:srgbClr val="16283F"/>
          </a:solidFill>
          <a:ln/>
        </p:spPr>
        <p:txBody>
          <a:bodyPr/>
          <a:lstStyle/>
          <a:p>
            <a:endParaRPr lang="en-US"/>
          </a:p>
        </p:txBody>
      </p:sp>
      <p:sp>
        <p:nvSpPr>
          <p:cNvPr id="6" name="Text 3">
            <a:extLst>
              <a:ext uri="{FF2B5EF4-FFF2-40B4-BE49-F238E27FC236}">
                <a16:creationId xmlns:a16="http://schemas.microsoft.com/office/drawing/2014/main" id="{270F979C-683F-FD7D-A150-0A36D9233297}"/>
              </a:ext>
            </a:extLst>
          </p:cNvPr>
          <p:cNvSpPr txBox="1"/>
          <p:nvPr/>
        </p:nvSpPr>
        <p:spPr>
          <a:xfrm>
            <a:off x="777240" y="5806440"/>
            <a:ext cx="10652760" cy="548640"/>
          </a:xfrm>
          <a:prstGeom prst="rect">
            <a:avLst/>
          </a:prstGeom>
          <a:noFill/>
          <a:ln/>
        </p:spPr>
        <p:txBody>
          <a:bodyPr wrap="square" lIns="0" tIns="0" rIns="0" bIns="0" rtlCol="0" anchor="ctr"/>
          <a:lstStyle/>
          <a:p>
            <a:pPr marL="0" indent="0">
              <a:buNone/>
            </a:pPr>
            <a:r>
              <a:rPr lang="en-US" sz="1500" dirty="0">
                <a:solidFill>
                  <a:srgbClr val="FFFFFF"/>
                </a:solidFill>
                <a:latin typeface="+mj-lt"/>
                <a:ea typeface="Georgia" pitchFamily="34" charset="-122"/>
                <a:cs typeface="Arial" panose="020B0604020202020204" pitchFamily="34" charset="0"/>
              </a:rPr>
              <a:t>Big companies are adopting — but it lags at the plant level.</a:t>
            </a:r>
            <a:endParaRPr lang="en-US" sz="1500" dirty="0">
              <a:latin typeface="+mj-lt"/>
              <a:cs typeface="Arial" panose="020B0604020202020204" pitchFamily="34" charset="0"/>
            </a:endParaRPr>
          </a:p>
        </p:txBody>
      </p:sp>
      <p:cxnSp>
        <p:nvCxnSpPr>
          <p:cNvPr id="10" name="Straight Connector 9">
            <a:extLst>
              <a:ext uri="{FF2B5EF4-FFF2-40B4-BE49-F238E27FC236}">
                <a16:creationId xmlns:a16="http://schemas.microsoft.com/office/drawing/2014/main" id="{77BCD445-C9E4-EECC-D2F1-417A34DE9072}"/>
              </a:ext>
            </a:extLst>
          </p:cNvPr>
          <p:cNvCxnSpPr/>
          <p:nvPr/>
        </p:nvCxnSpPr>
        <p:spPr>
          <a:xfrm>
            <a:off x="881743" y="3069771"/>
            <a:ext cx="101727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26846BC-36E0-77E7-CE83-EEA5DE5F66BF}"/>
              </a:ext>
            </a:extLst>
          </p:cNvPr>
          <p:cNvCxnSpPr/>
          <p:nvPr/>
        </p:nvCxnSpPr>
        <p:spPr>
          <a:xfrm>
            <a:off x="1510393" y="2269671"/>
            <a:ext cx="0" cy="8001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F860CF6-59CA-A3A9-491B-1A0621EAF014}"/>
              </a:ext>
            </a:extLst>
          </p:cNvPr>
          <p:cNvCxnSpPr>
            <a:cxnSpLocks/>
          </p:cNvCxnSpPr>
          <p:nvPr/>
        </p:nvCxnSpPr>
        <p:spPr>
          <a:xfrm>
            <a:off x="2930979" y="3069771"/>
            <a:ext cx="0" cy="759279"/>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E851A3C-A1EF-D6ED-8F10-8E75477094E2}"/>
              </a:ext>
            </a:extLst>
          </p:cNvPr>
          <p:cNvCxnSpPr>
            <a:cxnSpLocks/>
          </p:cNvCxnSpPr>
          <p:nvPr/>
        </p:nvCxnSpPr>
        <p:spPr>
          <a:xfrm>
            <a:off x="4278085" y="2328727"/>
            <a:ext cx="0" cy="741044"/>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3918014-2AF5-376E-6064-09F264E806BB}"/>
              </a:ext>
            </a:extLst>
          </p:cNvPr>
          <p:cNvCxnSpPr>
            <a:cxnSpLocks/>
          </p:cNvCxnSpPr>
          <p:nvPr/>
        </p:nvCxnSpPr>
        <p:spPr>
          <a:xfrm flipH="1">
            <a:off x="5987153" y="3069771"/>
            <a:ext cx="1" cy="924402"/>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D77E9392-5608-816A-DBB4-465CCDF554E6}"/>
              </a:ext>
            </a:extLst>
          </p:cNvPr>
          <p:cNvCxnSpPr/>
          <p:nvPr/>
        </p:nvCxnSpPr>
        <p:spPr>
          <a:xfrm>
            <a:off x="7663549" y="2470174"/>
            <a:ext cx="0" cy="612321"/>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43B8FE1-BB96-6454-0789-F9066E2B59F5}"/>
              </a:ext>
            </a:extLst>
          </p:cNvPr>
          <p:cNvCxnSpPr>
            <a:cxnSpLocks/>
          </p:cNvCxnSpPr>
          <p:nvPr/>
        </p:nvCxnSpPr>
        <p:spPr>
          <a:xfrm>
            <a:off x="9252855" y="3045278"/>
            <a:ext cx="0" cy="1053193"/>
          </a:xfrm>
          <a:prstGeom prst="line">
            <a:avLst/>
          </a:prstGeom>
        </p:spPr>
        <p:style>
          <a:lnRef idx="1">
            <a:schemeClr val="accent1"/>
          </a:lnRef>
          <a:fillRef idx="0">
            <a:schemeClr val="accent1"/>
          </a:fillRef>
          <a:effectRef idx="0">
            <a:schemeClr val="accent1"/>
          </a:effectRef>
          <a:fontRef idx="minor">
            <a:schemeClr val="tx1"/>
          </a:fontRef>
        </p:style>
      </p:cxnSp>
      <p:sp>
        <p:nvSpPr>
          <p:cNvPr id="25" name="Flowchart: Connector 24">
            <a:extLst>
              <a:ext uri="{FF2B5EF4-FFF2-40B4-BE49-F238E27FC236}">
                <a16:creationId xmlns:a16="http://schemas.microsoft.com/office/drawing/2014/main" id="{7810CAC5-A0AB-35CD-E7D8-BA6241539AE2}"/>
              </a:ext>
            </a:extLst>
          </p:cNvPr>
          <p:cNvSpPr/>
          <p:nvPr/>
        </p:nvSpPr>
        <p:spPr>
          <a:xfrm>
            <a:off x="1387929" y="2955471"/>
            <a:ext cx="236760" cy="233165"/>
          </a:xfrm>
          <a:prstGeom prst="flowChartConnector">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4">
                  <a:lumMod val="75000"/>
                </a:schemeClr>
              </a:solidFill>
            </a:endParaRPr>
          </a:p>
        </p:txBody>
      </p:sp>
      <p:sp>
        <p:nvSpPr>
          <p:cNvPr id="26" name="Flowchart: Connector 25">
            <a:extLst>
              <a:ext uri="{FF2B5EF4-FFF2-40B4-BE49-F238E27FC236}">
                <a16:creationId xmlns:a16="http://schemas.microsoft.com/office/drawing/2014/main" id="{A719F9EA-262A-3CBE-6262-B7D9F32EDAB3}"/>
              </a:ext>
            </a:extLst>
          </p:cNvPr>
          <p:cNvSpPr/>
          <p:nvPr/>
        </p:nvSpPr>
        <p:spPr>
          <a:xfrm>
            <a:off x="2820765" y="2974960"/>
            <a:ext cx="236760" cy="233165"/>
          </a:xfrm>
          <a:prstGeom prst="flowChartConnector">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lowchart: Connector 26">
            <a:extLst>
              <a:ext uri="{FF2B5EF4-FFF2-40B4-BE49-F238E27FC236}">
                <a16:creationId xmlns:a16="http://schemas.microsoft.com/office/drawing/2014/main" id="{288C646D-79B4-0058-76EA-E2F5E7E11492}"/>
              </a:ext>
            </a:extLst>
          </p:cNvPr>
          <p:cNvSpPr/>
          <p:nvPr/>
        </p:nvSpPr>
        <p:spPr>
          <a:xfrm>
            <a:off x="4161064" y="2947305"/>
            <a:ext cx="236760" cy="233165"/>
          </a:xfrm>
          <a:prstGeom prst="flowChartConnector">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lowchart: Connector 27">
            <a:extLst>
              <a:ext uri="{FF2B5EF4-FFF2-40B4-BE49-F238E27FC236}">
                <a16:creationId xmlns:a16="http://schemas.microsoft.com/office/drawing/2014/main" id="{6BD3D3B6-8458-6C79-A829-6BB5B94C5AEE}"/>
              </a:ext>
            </a:extLst>
          </p:cNvPr>
          <p:cNvSpPr/>
          <p:nvPr/>
        </p:nvSpPr>
        <p:spPr>
          <a:xfrm>
            <a:off x="5868774" y="2965474"/>
            <a:ext cx="236760" cy="233165"/>
          </a:xfrm>
          <a:prstGeom prst="flowChartConnector">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lowchart: Connector 28">
            <a:extLst>
              <a:ext uri="{FF2B5EF4-FFF2-40B4-BE49-F238E27FC236}">
                <a16:creationId xmlns:a16="http://schemas.microsoft.com/office/drawing/2014/main" id="{19CA2882-15C9-95D4-968D-DC3DADC586EB}"/>
              </a:ext>
            </a:extLst>
          </p:cNvPr>
          <p:cNvSpPr/>
          <p:nvPr/>
        </p:nvSpPr>
        <p:spPr>
          <a:xfrm>
            <a:off x="7545169" y="2965913"/>
            <a:ext cx="236760" cy="233165"/>
          </a:xfrm>
          <a:prstGeom prst="flowChartConnector">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lowchart: Connector 29">
            <a:extLst>
              <a:ext uri="{FF2B5EF4-FFF2-40B4-BE49-F238E27FC236}">
                <a16:creationId xmlns:a16="http://schemas.microsoft.com/office/drawing/2014/main" id="{923EA6E6-FE9B-3030-DB18-7BBDD1EB4F46}"/>
              </a:ext>
            </a:extLst>
          </p:cNvPr>
          <p:cNvSpPr/>
          <p:nvPr/>
        </p:nvSpPr>
        <p:spPr>
          <a:xfrm>
            <a:off x="9134475" y="2947306"/>
            <a:ext cx="236760" cy="233165"/>
          </a:xfrm>
          <a:prstGeom prst="flowChartConnector">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lowchart: Connector 30">
            <a:extLst>
              <a:ext uri="{FF2B5EF4-FFF2-40B4-BE49-F238E27FC236}">
                <a16:creationId xmlns:a16="http://schemas.microsoft.com/office/drawing/2014/main" id="{3E566EE2-7824-7F30-1920-E005EC39E688}"/>
              </a:ext>
            </a:extLst>
          </p:cNvPr>
          <p:cNvSpPr/>
          <p:nvPr/>
        </p:nvSpPr>
        <p:spPr>
          <a:xfrm>
            <a:off x="10444847" y="2965913"/>
            <a:ext cx="236760" cy="233165"/>
          </a:xfrm>
          <a:prstGeom prst="flowChartConnector">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a:extLst>
              <a:ext uri="{FF2B5EF4-FFF2-40B4-BE49-F238E27FC236}">
                <a16:creationId xmlns:a16="http://schemas.microsoft.com/office/drawing/2014/main" id="{63E59B7D-49F1-2A6D-BCB2-FFD953BD8826}"/>
              </a:ext>
            </a:extLst>
          </p:cNvPr>
          <p:cNvCxnSpPr>
            <a:cxnSpLocks/>
          </p:cNvCxnSpPr>
          <p:nvPr/>
        </p:nvCxnSpPr>
        <p:spPr>
          <a:xfrm>
            <a:off x="10553701" y="1861457"/>
            <a:ext cx="0" cy="1208314"/>
          </a:xfrm>
          <a:prstGeom prst="line">
            <a:avLst/>
          </a:prstGeom>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22F9FD57-656B-958C-EFE7-A61C53AC7EB6}"/>
              </a:ext>
            </a:extLst>
          </p:cNvPr>
          <p:cNvSpPr txBox="1"/>
          <p:nvPr/>
        </p:nvSpPr>
        <p:spPr>
          <a:xfrm>
            <a:off x="1249136" y="3209966"/>
            <a:ext cx="702124" cy="369332"/>
          </a:xfrm>
          <a:prstGeom prst="rect">
            <a:avLst/>
          </a:prstGeom>
          <a:noFill/>
        </p:spPr>
        <p:txBody>
          <a:bodyPr wrap="square" rtlCol="0">
            <a:spAutoFit/>
          </a:bodyPr>
          <a:lstStyle/>
          <a:p>
            <a:r>
              <a:rPr lang="en-US" dirty="0"/>
              <a:t>1997</a:t>
            </a:r>
          </a:p>
        </p:txBody>
      </p:sp>
      <p:sp>
        <p:nvSpPr>
          <p:cNvPr id="36" name="TextBox 35">
            <a:extLst>
              <a:ext uri="{FF2B5EF4-FFF2-40B4-BE49-F238E27FC236}">
                <a16:creationId xmlns:a16="http://schemas.microsoft.com/office/drawing/2014/main" id="{4DAAA743-6B4A-553F-CF90-7A63696B57D5}"/>
              </a:ext>
            </a:extLst>
          </p:cNvPr>
          <p:cNvSpPr txBox="1"/>
          <p:nvPr/>
        </p:nvSpPr>
        <p:spPr>
          <a:xfrm>
            <a:off x="2597610" y="2604306"/>
            <a:ext cx="702124" cy="369332"/>
          </a:xfrm>
          <a:prstGeom prst="rect">
            <a:avLst/>
          </a:prstGeom>
          <a:noFill/>
        </p:spPr>
        <p:txBody>
          <a:bodyPr wrap="square" rtlCol="0">
            <a:spAutoFit/>
          </a:bodyPr>
          <a:lstStyle/>
          <a:p>
            <a:r>
              <a:rPr lang="en-US" dirty="0"/>
              <a:t>2010</a:t>
            </a:r>
          </a:p>
        </p:txBody>
      </p:sp>
      <p:sp>
        <p:nvSpPr>
          <p:cNvPr id="37" name="TextBox 36">
            <a:extLst>
              <a:ext uri="{FF2B5EF4-FFF2-40B4-BE49-F238E27FC236}">
                <a16:creationId xmlns:a16="http://schemas.microsoft.com/office/drawing/2014/main" id="{D38502A2-EEF9-8F6A-C523-39E56ED60D9A}"/>
              </a:ext>
            </a:extLst>
          </p:cNvPr>
          <p:cNvSpPr txBox="1"/>
          <p:nvPr/>
        </p:nvSpPr>
        <p:spPr>
          <a:xfrm>
            <a:off x="4003242" y="3235463"/>
            <a:ext cx="702124" cy="369332"/>
          </a:xfrm>
          <a:prstGeom prst="rect">
            <a:avLst/>
          </a:prstGeom>
          <a:noFill/>
        </p:spPr>
        <p:txBody>
          <a:bodyPr wrap="square" rtlCol="0">
            <a:spAutoFit/>
          </a:bodyPr>
          <a:lstStyle/>
          <a:p>
            <a:r>
              <a:rPr lang="en-US" dirty="0"/>
              <a:t>2017</a:t>
            </a:r>
          </a:p>
        </p:txBody>
      </p:sp>
      <p:sp>
        <p:nvSpPr>
          <p:cNvPr id="38" name="TextBox 37">
            <a:extLst>
              <a:ext uri="{FF2B5EF4-FFF2-40B4-BE49-F238E27FC236}">
                <a16:creationId xmlns:a16="http://schemas.microsoft.com/office/drawing/2014/main" id="{EBE380F4-7901-1050-642F-1C41AEED7D53}"/>
              </a:ext>
            </a:extLst>
          </p:cNvPr>
          <p:cNvSpPr txBox="1"/>
          <p:nvPr/>
        </p:nvSpPr>
        <p:spPr>
          <a:xfrm>
            <a:off x="5645606" y="2621956"/>
            <a:ext cx="702124" cy="369332"/>
          </a:xfrm>
          <a:prstGeom prst="rect">
            <a:avLst/>
          </a:prstGeom>
          <a:noFill/>
        </p:spPr>
        <p:txBody>
          <a:bodyPr wrap="square" rtlCol="0">
            <a:spAutoFit/>
          </a:bodyPr>
          <a:lstStyle/>
          <a:p>
            <a:r>
              <a:rPr lang="en-US" dirty="0"/>
              <a:t>2022</a:t>
            </a:r>
          </a:p>
        </p:txBody>
      </p:sp>
      <p:sp>
        <p:nvSpPr>
          <p:cNvPr id="39" name="TextBox 38">
            <a:extLst>
              <a:ext uri="{FF2B5EF4-FFF2-40B4-BE49-F238E27FC236}">
                <a16:creationId xmlns:a16="http://schemas.microsoft.com/office/drawing/2014/main" id="{10C58865-B71D-CECE-1722-503C67BF12E4}"/>
              </a:ext>
            </a:extLst>
          </p:cNvPr>
          <p:cNvSpPr txBox="1"/>
          <p:nvPr/>
        </p:nvSpPr>
        <p:spPr>
          <a:xfrm>
            <a:off x="7135588" y="3251270"/>
            <a:ext cx="1068161" cy="369332"/>
          </a:xfrm>
          <a:prstGeom prst="rect">
            <a:avLst/>
          </a:prstGeom>
          <a:noFill/>
        </p:spPr>
        <p:txBody>
          <a:bodyPr wrap="square" rtlCol="0">
            <a:spAutoFit/>
          </a:bodyPr>
          <a:lstStyle/>
          <a:p>
            <a:r>
              <a:rPr lang="en-US" dirty="0"/>
              <a:t>2023-24</a:t>
            </a:r>
          </a:p>
        </p:txBody>
      </p:sp>
      <p:sp>
        <p:nvSpPr>
          <p:cNvPr id="40" name="TextBox 39">
            <a:extLst>
              <a:ext uri="{FF2B5EF4-FFF2-40B4-BE49-F238E27FC236}">
                <a16:creationId xmlns:a16="http://schemas.microsoft.com/office/drawing/2014/main" id="{77544E49-5EBF-A42A-5FC7-44CD58F235B3}"/>
              </a:ext>
            </a:extLst>
          </p:cNvPr>
          <p:cNvSpPr txBox="1"/>
          <p:nvPr/>
        </p:nvSpPr>
        <p:spPr>
          <a:xfrm>
            <a:off x="8882739" y="2586139"/>
            <a:ext cx="702124" cy="369332"/>
          </a:xfrm>
          <a:prstGeom prst="rect">
            <a:avLst/>
          </a:prstGeom>
          <a:noFill/>
        </p:spPr>
        <p:txBody>
          <a:bodyPr wrap="square" rtlCol="0">
            <a:spAutoFit/>
          </a:bodyPr>
          <a:lstStyle/>
          <a:p>
            <a:r>
              <a:rPr lang="en-US" dirty="0"/>
              <a:t>2025</a:t>
            </a:r>
          </a:p>
        </p:txBody>
      </p:sp>
      <p:sp>
        <p:nvSpPr>
          <p:cNvPr id="41" name="TextBox 40">
            <a:extLst>
              <a:ext uri="{FF2B5EF4-FFF2-40B4-BE49-F238E27FC236}">
                <a16:creationId xmlns:a16="http://schemas.microsoft.com/office/drawing/2014/main" id="{FC7BDBD3-5529-8D95-6F02-00B6EC41F0BC}"/>
              </a:ext>
            </a:extLst>
          </p:cNvPr>
          <p:cNvSpPr txBox="1"/>
          <p:nvPr/>
        </p:nvSpPr>
        <p:spPr>
          <a:xfrm>
            <a:off x="10240740" y="3206803"/>
            <a:ext cx="702124" cy="369332"/>
          </a:xfrm>
          <a:prstGeom prst="rect">
            <a:avLst/>
          </a:prstGeom>
          <a:noFill/>
        </p:spPr>
        <p:txBody>
          <a:bodyPr wrap="square" rtlCol="0">
            <a:spAutoFit/>
          </a:bodyPr>
          <a:lstStyle/>
          <a:p>
            <a:r>
              <a:rPr lang="en-US" dirty="0"/>
              <a:t>2026</a:t>
            </a:r>
          </a:p>
        </p:txBody>
      </p:sp>
      <p:sp>
        <p:nvSpPr>
          <p:cNvPr id="42" name="TextBox 41">
            <a:extLst>
              <a:ext uri="{FF2B5EF4-FFF2-40B4-BE49-F238E27FC236}">
                <a16:creationId xmlns:a16="http://schemas.microsoft.com/office/drawing/2014/main" id="{C7650EFF-41AB-8675-D23C-48D9430BBB65}"/>
              </a:ext>
            </a:extLst>
          </p:cNvPr>
          <p:cNvSpPr txBox="1"/>
          <p:nvPr/>
        </p:nvSpPr>
        <p:spPr>
          <a:xfrm>
            <a:off x="777240" y="1407543"/>
            <a:ext cx="1900646" cy="830997"/>
          </a:xfrm>
          <a:prstGeom prst="rect">
            <a:avLst/>
          </a:prstGeom>
          <a:noFill/>
        </p:spPr>
        <p:txBody>
          <a:bodyPr wrap="square" rtlCol="0">
            <a:spAutoFit/>
          </a:bodyPr>
          <a:lstStyle/>
          <a:p>
            <a:pPr marL="0" marR="0">
              <a:buNone/>
            </a:pPr>
            <a:r>
              <a:rPr lang="en-US" sz="1600" b="1" dirty="0">
                <a:effectLst/>
                <a:latin typeface="Arial Nova" panose="020B0504020202020204" pitchFamily="34" charset="0"/>
                <a:ea typeface="Times New Roman" panose="02020603050405020304" pitchFamily="18" charset="0"/>
              </a:rPr>
              <a:t>IBM's Deep Blue </a:t>
            </a:r>
            <a:r>
              <a:rPr lang="en-US" sz="1600" dirty="0">
                <a:effectLst/>
                <a:latin typeface="Arial Nova" panose="020B0504020202020204" pitchFamily="34" charset="0"/>
                <a:ea typeface="Times New Roman" panose="02020603050405020304" pitchFamily="18" charset="0"/>
              </a:rPr>
              <a:t>beats the world chess champion. </a:t>
            </a:r>
          </a:p>
        </p:txBody>
      </p:sp>
      <p:sp>
        <p:nvSpPr>
          <p:cNvPr id="44" name="TextBox 43">
            <a:extLst>
              <a:ext uri="{FF2B5EF4-FFF2-40B4-BE49-F238E27FC236}">
                <a16:creationId xmlns:a16="http://schemas.microsoft.com/office/drawing/2014/main" id="{B7733271-38F3-B485-83FB-16F2908F5805}"/>
              </a:ext>
            </a:extLst>
          </p:cNvPr>
          <p:cNvSpPr txBox="1"/>
          <p:nvPr/>
        </p:nvSpPr>
        <p:spPr>
          <a:xfrm>
            <a:off x="1519927" y="3850380"/>
            <a:ext cx="2155365" cy="1877437"/>
          </a:xfrm>
          <a:prstGeom prst="rect">
            <a:avLst/>
          </a:prstGeom>
          <a:noFill/>
        </p:spPr>
        <p:txBody>
          <a:bodyPr wrap="square" rtlCol="0">
            <a:spAutoFit/>
          </a:bodyPr>
          <a:lstStyle/>
          <a:p>
            <a:pPr marL="0" marR="0">
              <a:buNone/>
            </a:pPr>
            <a:r>
              <a:rPr lang="en-US" sz="1600" b="1" dirty="0">
                <a:effectLst/>
                <a:latin typeface="Arial Nova" panose="020B0504020202020204" pitchFamily="34" charset="0"/>
                <a:ea typeface="Times New Roman" panose="02020603050405020304" pitchFamily="18" charset="0"/>
              </a:rPr>
              <a:t>Machine learning </a:t>
            </a:r>
            <a:r>
              <a:rPr lang="en-US" sz="1600" dirty="0">
                <a:effectLst/>
                <a:latin typeface="Arial Nova" panose="020B0504020202020204" pitchFamily="34" charset="0"/>
                <a:ea typeface="Times New Roman" panose="02020603050405020304" pitchFamily="18" charset="0"/>
              </a:rPr>
              <a:t>takes off — computers learn from examples instead of rules. 2016: AlphaGo beats the world Go champion.</a:t>
            </a:r>
          </a:p>
        </p:txBody>
      </p:sp>
      <p:sp>
        <p:nvSpPr>
          <p:cNvPr id="45" name="TextBox 44">
            <a:extLst>
              <a:ext uri="{FF2B5EF4-FFF2-40B4-BE49-F238E27FC236}">
                <a16:creationId xmlns:a16="http://schemas.microsoft.com/office/drawing/2014/main" id="{A524D2EC-7B1A-5799-C2C6-66159547CBE5}"/>
              </a:ext>
            </a:extLst>
          </p:cNvPr>
          <p:cNvSpPr txBox="1"/>
          <p:nvPr/>
        </p:nvSpPr>
        <p:spPr>
          <a:xfrm>
            <a:off x="3184418" y="1112109"/>
            <a:ext cx="3041896" cy="1323439"/>
          </a:xfrm>
          <a:prstGeom prst="rect">
            <a:avLst/>
          </a:prstGeom>
          <a:noFill/>
        </p:spPr>
        <p:txBody>
          <a:bodyPr wrap="square" rtlCol="0">
            <a:spAutoFit/>
          </a:bodyPr>
          <a:lstStyle/>
          <a:p>
            <a:r>
              <a:rPr lang="en-US" sz="1600" b="1" dirty="0">
                <a:latin typeface="Arial Nova" panose="020B0504020202020204" pitchFamily="34" charset="0"/>
                <a:cs typeface="Arial" panose="020B0604020202020204" pitchFamily="34" charset="0"/>
              </a:rPr>
              <a:t>Google's "Attention Is All You Need" paper </a:t>
            </a:r>
            <a:r>
              <a:rPr lang="en-US" sz="1600" dirty="0">
                <a:latin typeface="Arial Nova" panose="020B0504020202020204" pitchFamily="34" charset="0"/>
                <a:cs typeface="Arial" panose="020B0604020202020204" pitchFamily="34" charset="0"/>
              </a:rPr>
              <a:t>introduces the Transformer, which reads all words at once instead of in sequence. </a:t>
            </a:r>
          </a:p>
        </p:txBody>
      </p:sp>
      <p:sp>
        <p:nvSpPr>
          <p:cNvPr id="47" name="TextBox 46">
            <a:extLst>
              <a:ext uri="{FF2B5EF4-FFF2-40B4-BE49-F238E27FC236}">
                <a16:creationId xmlns:a16="http://schemas.microsoft.com/office/drawing/2014/main" id="{433B9998-623B-A239-30E3-8ADF5A446863}"/>
              </a:ext>
            </a:extLst>
          </p:cNvPr>
          <p:cNvSpPr txBox="1"/>
          <p:nvPr/>
        </p:nvSpPr>
        <p:spPr>
          <a:xfrm>
            <a:off x="4705366" y="4114391"/>
            <a:ext cx="2454704" cy="1569660"/>
          </a:xfrm>
          <a:prstGeom prst="rect">
            <a:avLst/>
          </a:prstGeom>
          <a:noFill/>
        </p:spPr>
        <p:txBody>
          <a:bodyPr wrap="square" rtlCol="0">
            <a:spAutoFit/>
          </a:bodyPr>
          <a:lstStyle/>
          <a:p>
            <a:r>
              <a:rPr lang="en-US" sz="1600" b="1" dirty="0">
                <a:latin typeface="Arial Nova" panose="020B0504020202020204" pitchFamily="34" charset="0"/>
                <a:cs typeface="Arial" panose="020B0604020202020204" pitchFamily="34" charset="0"/>
              </a:rPr>
              <a:t>ChatGPT</a:t>
            </a:r>
            <a:r>
              <a:rPr lang="en-US" sz="1600" dirty="0">
                <a:latin typeface="Arial Nova" panose="020B0504020202020204" pitchFamily="34" charset="0"/>
                <a:cs typeface="Arial" panose="020B0604020202020204" pitchFamily="34" charset="0"/>
              </a:rPr>
              <a:t> is released — roughly 100 million users in two months. Early days: tell it 2 + 2 = 5 and it would apologize and agree.</a:t>
            </a:r>
          </a:p>
        </p:txBody>
      </p:sp>
      <p:sp>
        <p:nvSpPr>
          <p:cNvPr id="48" name="TextBox 47">
            <a:extLst>
              <a:ext uri="{FF2B5EF4-FFF2-40B4-BE49-F238E27FC236}">
                <a16:creationId xmlns:a16="http://schemas.microsoft.com/office/drawing/2014/main" id="{C64CA577-A66E-1F24-A6C7-1A5D8F3596FD}"/>
              </a:ext>
            </a:extLst>
          </p:cNvPr>
          <p:cNvSpPr txBox="1"/>
          <p:nvPr/>
        </p:nvSpPr>
        <p:spPr>
          <a:xfrm>
            <a:off x="6455254" y="1321095"/>
            <a:ext cx="2371725" cy="1323439"/>
          </a:xfrm>
          <a:prstGeom prst="rect">
            <a:avLst/>
          </a:prstGeom>
          <a:noFill/>
        </p:spPr>
        <p:txBody>
          <a:bodyPr wrap="square" rtlCol="0">
            <a:spAutoFit/>
          </a:bodyPr>
          <a:lstStyle/>
          <a:p>
            <a:r>
              <a:rPr lang="en-US" sz="1600" b="1" dirty="0">
                <a:latin typeface="Arial Nova" panose="020B0504020202020204" pitchFamily="34" charset="0"/>
                <a:cs typeface="Arial" panose="020B0604020202020204" pitchFamily="34" charset="0"/>
              </a:rPr>
              <a:t>Multimodal</a:t>
            </a:r>
            <a:r>
              <a:rPr lang="en-US" sz="1600" dirty="0">
                <a:latin typeface="Arial Nova" panose="020B0504020202020204" pitchFamily="34" charset="0"/>
                <a:cs typeface="Arial" panose="020B0604020202020204" pitchFamily="34" charset="0"/>
              </a:rPr>
              <a:t> — it reads images and hears speech. You can show it a photo of a failed bearing.</a:t>
            </a:r>
          </a:p>
        </p:txBody>
      </p:sp>
      <p:sp>
        <p:nvSpPr>
          <p:cNvPr id="49" name="TextBox 48">
            <a:extLst>
              <a:ext uri="{FF2B5EF4-FFF2-40B4-BE49-F238E27FC236}">
                <a16:creationId xmlns:a16="http://schemas.microsoft.com/office/drawing/2014/main" id="{C0E3A9DC-BA5E-3261-57CA-F742A68D3D7E}"/>
              </a:ext>
            </a:extLst>
          </p:cNvPr>
          <p:cNvSpPr txBox="1"/>
          <p:nvPr/>
        </p:nvSpPr>
        <p:spPr>
          <a:xfrm>
            <a:off x="8203749" y="4098471"/>
            <a:ext cx="2124064" cy="830997"/>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Reasoning models — </a:t>
            </a:r>
            <a:r>
              <a:rPr lang="en-US" sz="1600" dirty="0">
                <a:latin typeface="Arial" panose="020B0604020202020204" pitchFamily="34" charset="0"/>
                <a:cs typeface="Arial" panose="020B0604020202020204" pitchFamily="34" charset="0"/>
              </a:rPr>
              <a:t>they think before they answer. </a:t>
            </a:r>
          </a:p>
        </p:txBody>
      </p:sp>
      <p:sp>
        <p:nvSpPr>
          <p:cNvPr id="53" name="TextBox 52">
            <a:extLst>
              <a:ext uri="{FF2B5EF4-FFF2-40B4-BE49-F238E27FC236}">
                <a16:creationId xmlns:a16="http://schemas.microsoft.com/office/drawing/2014/main" id="{0F2686D4-7978-F23F-4039-3D007144275A}"/>
              </a:ext>
            </a:extLst>
          </p:cNvPr>
          <p:cNvSpPr txBox="1"/>
          <p:nvPr/>
        </p:nvSpPr>
        <p:spPr>
          <a:xfrm>
            <a:off x="9478736" y="669471"/>
            <a:ext cx="2161576" cy="1077218"/>
          </a:xfrm>
          <a:prstGeom prst="rect">
            <a:avLst/>
          </a:prstGeom>
          <a:noFill/>
        </p:spPr>
        <p:txBody>
          <a:bodyPr wrap="square" rtlCol="0">
            <a:spAutoFit/>
          </a:bodyPr>
          <a:lstStyle/>
          <a:p>
            <a:r>
              <a:rPr lang="en-US" sz="1600" b="1" dirty="0">
                <a:latin typeface="Arial Nova" panose="020B0504020202020204" pitchFamily="34" charset="0"/>
              </a:rPr>
              <a:t>Agents</a:t>
            </a:r>
            <a:r>
              <a:rPr lang="en-US" sz="1600" dirty="0">
                <a:latin typeface="Arial Nova" panose="020B0504020202020204" pitchFamily="34" charset="0"/>
              </a:rPr>
              <a:t> — AI that does, not just says. And the first real regulation.</a:t>
            </a:r>
            <a:endParaRPr lang="en-US" sz="1600" dirty="0">
              <a:latin typeface="Arial Nova" panose="020B0504020202020204" pitchFamily="34" charset="0"/>
              <a:cs typeface="Arial" panose="020B0604020202020204" pitchFamily="34" charset="0"/>
            </a:endParaRPr>
          </a:p>
        </p:txBody>
      </p:sp>
    </p:spTree>
    <p:extLst>
      <p:ext uri="{BB962C8B-B14F-4D97-AF65-F5344CB8AC3E}">
        <p14:creationId xmlns:p14="http://schemas.microsoft.com/office/powerpoint/2010/main" val="26213376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FAFDCE9-378C-D810-A7F7-30014B9540A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942CBFE-4000-4C59-68A2-0C8E4744D85C}"/>
              </a:ext>
            </a:extLst>
          </p:cNvPr>
          <p:cNvSpPr txBox="1"/>
          <p:nvPr/>
        </p:nvSpPr>
        <p:spPr>
          <a:xfrm>
            <a:off x="548640" y="384048"/>
            <a:ext cx="11091672"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chemeClr val="accent1">
                    <a:lumMod val="75000"/>
                  </a:schemeClr>
                </a:solidFill>
                <a:effectLst/>
                <a:uLnTx/>
                <a:uFillTx/>
                <a:latin typeface="Arial Nova" panose="020B0504020202020204" pitchFamily="34" charset="0"/>
                <a:ea typeface="Georgia" pitchFamily="34" charset="-122"/>
                <a:cs typeface="Georgia" pitchFamily="34" charset="-120"/>
              </a:rPr>
              <a:t>The learning curve — and where everybody is on it</a:t>
            </a:r>
            <a:endParaRPr kumimoji="0" lang="en-US" sz="2800" b="0" i="0" u="none" strike="noStrike" kern="1200" cap="none" spc="0" normalizeH="0" baseline="0" noProof="0" dirty="0">
              <a:ln>
                <a:noFill/>
              </a:ln>
              <a:solidFill>
                <a:schemeClr val="accent1">
                  <a:lumMod val="75000"/>
                </a:schemeClr>
              </a:solidFill>
              <a:effectLst/>
              <a:uLnTx/>
              <a:uFillTx/>
              <a:latin typeface="Arial Nova" panose="020B0504020202020204" pitchFamily="34" charset="0"/>
            </a:endParaRPr>
          </a:p>
        </p:txBody>
      </p:sp>
      <p:sp>
        <p:nvSpPr>
          <p:cNvPr id="3" name="Text 1">
            <a:extLst>
              <a:ext uri="{FF2B5EF4-FFF2-40B4-BE49-F238E27FC236}">
                <a16:creationId xmlns:a16="http://schemas.microsoft.com/office/drawing/2014/main" id="{7664AEC0-631B-13A7-634F-6D91D613A507}"/>
              </a:ext>
            </a:extLst>
          </p:cNvPr>
          <p:cNvSpPr txBox="1"/>
          <p:nvPr/>
        </p:nvSpPr>
        <p:spPr>
          <a:xfrm>
            <a:off x="548640" y="6473952"/>
            <a:ext cx="11091672"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67085"/>
                </a:solidFill>
                <a:effectLst/>
                <a:uLnTx/>
                <a:uFillTx/>
                <a:latin typeface="Arial" pitchFamily="34" charset="0"/>
                <a:ea typeface="Arial" pitchFamily="34" charset="-122"/>
                <a:cs typeface="Arial" pitchFamily="34" charset="-120"/>
              </a:rPr>
              <a:t>Shiftwork Solutions LLC  |  (415) 265-1621  |  www.shift-work.com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Image 0" descr="gompertz.png">
            <a:extLst>
              <a:ext uri="{FF2B5EF4-FFF2-40B4-BE49-F238E27FC236}">
                <a16:creationId xmlns:a16="http://schemas.microsoft.com/office/drawing/2014/main" id="{1AA46048-110E-9CF1-2DB4-A7222EEB34A7}"/>
              </a:ext>
            </a:extLst>
          </p:cNvPr>
          <p:cNvPicPr>
            <a:picLocks noChangeAspect="1"/>
          </p:cNvPicPr>
          <p:nvPr/>
        </p:nvPicPr>
        <p:blipFill>
          <a:blip r:embed="rId3"/>
          <a:stretch>
            <a:fillRect/>
          </a:stretch>
        </p:blipFill>
        <p:spPr>
          <a:xfrm>
            <a:off x="548640" y="1417320"/>
            <a:ext cx="11064240" cy="4206240"/>
          </a:xfrm>
          <a:prstGeom prst="rect">
            <a:avLst/>
          </a:prstGeom>
        </p:spPr>
      </p:pic>
      <p:sp>
        <p:nvSpPr>
          <p:cNvPr id="5" name="Text 2">
            <a:extLst>
              <a:ext uri="{FF2B5EF4-FFF2-40B4-BE49-F238E27FC236}">
                <a16:creationId xmlns:a16="http://schemas.microsoft.com/office/drawing/2014/main" id="{1FFAF44D-9155-3A1A-A38B-BAEE8FBE5573}"/>
              </a:ext>
            </a:extLst>
          </p:cNvPr>
          <p:cNvSpPr txBox="1"/>
          <p:nvPr/>
        </p:nvSpPr>
        <p:spPr>
          <a:xfrm>
            <a:off x="640080" y="3977640"/>
            <a:ext cx="329184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1" u="none" strike="noStrike" kern="1200" cap="none" spc="0" normalizeH="0" baseline="0" noProof="0" dirty="0">
                <a:ln>
                  <a:noFill/>
                </a:ln>
                <a:solidFill>
                  <a:srgbClr val="667085"/>
                </a:solidFill>
                <a:effectLst/>
                <a:uLnTx/>
                <a:uFillTx/>
                <a:latin typeface="Arial" pitchFamily="34" charset="0"/>
                <a:ea typeface="Arial" pitchFamily="34" charset="-122"/>
                <a:cs typeface="Arial" pitchFamily="34" charset="-120"/>
              </a:rPr>
              <a:t>Most people are here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1" u="none" strike="noStrike" kern="1200" cap="none" spc="0" normalizeH="0" baseline="0" noProof="0" dirty="0">
                <a:ln>
                  <a:noFill/>
                </a:ln>
                <a:solidFill>
                  <a:srgbClr val="667085"/>
                </a:solidFill>
                <a:effectLst/>
                <a:uLnTx/>
                <a:uFillTx/>
                <a:latin typeface="Arial" pitchFamily="34" charset="0"/>
                <a:ea typeface="Arial" pitchFamily="34" charset="-122"/>
                <a:cs typeface="Arial" pitchFamily="34" charset="-120"/>
              </a:rPr>
              <a:t>still using AI as a chatbot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3">
            <a:extLst>
              <a:ext uri="{FF2B5EF4-FFF2-40B4-BE49-F238E27FC236}">
                <a16:creationId xmlns:a16="http://schemas.microsoft.com/office/drawing/2014/main" id="{6846520D-AA19-F82B-FAB1-45F0E48C2A0F}"/>
              </a:ext>
            </a:extLst>
          </p:cNvPr>
          <p:cNvSpPr txBox="1"/>
          <p:nvPr/>
        </p:nvSpPr>
        <p:spPr>
          <a:xfrm>
            <a:off x="4846320" y="2560320"/>
            <a:ext cx="27432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1" u="none" strike="noStrike" kern="1200" cap="none" spc="0" normalizeH="0" baseline="0" noProof="0" dirty="0">
                <a:ln>
                  <a:noFill/>
                </a:ln>
                <a:solidFill>
                  <a:srgbClr val="2A7F7F"/>
                </a:solidFill>
                <a:effectLst/>
                <a:uLnTx/>
                <a:uFillTx/>
                <a:latin typeface="Arial" pitchFamily="34" charset="0"/>
                <a:ea typeface="Arial" pitchFamily="34" charset="-122"/>
                <a:cs typeface="Arial" pitchFamily="34" charset="-120"/>
              </a:rPr>
              <a:t>The few who are actually</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1" u="none" strike="noStrike" kern="1200" cap="none" spc="0" normalizeH="0" baseline="0" noProof="0" dirty="0">
                <a:ln>
                  <a:noFill/>
                </a:ln>
                <a:solidFill>
                  <a:srgbClr val="2A7F7F"/>
                </a:solidFill>
                <a:effectLst/>
                <a:uLnTx/>
                <a:uFillTx/>
                <a:latin typeface="Arial" pitchFamily="34" charset="0"/>
                <a:ea typeface="Arial" pitchFamily="34" charset="-122"/>
                <a:cs typeface="Arial" pitchFamily="34" charset="-120"/>
              </a:rPr>
              <a:t>implementing</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a:extLst>
              <a:ext uri="{FF2B5EF4-FFF2-40B4-BE49-F238E27FC236}">
                <a16:creationId xmlns:a16="http://schemas.microsoft.com/office/drawing/2014/main" id="{2ABA417A-4E2A-11FB-953B-B6A1D2B5E386}"/>
              </a:ext>
            </a:extLst>
          </p:cNvPr>
          <p:cNvSpPr txBox="1"/>
          <p:nvPr/>
        </p:nvSpPr>
        <p:spPr>
          <a:xfrm>
            <a:off x="8595360" y="1143000"/>
            <a:ext cx="292608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1" u="none" strike="noStrike" kern="1200" cap="none" spc="0" normalizeH="0" baseline="0" noProof="0" dirty="0">
                <a:ln>
                  <a:noFill/>
                </a:ln>
                <a:solidFill>
                  <a:srgbClr val="C9A227"/>
                </a:solidFill>
                <a:effectLst/>
                <a:uLnTx/>
                <a:uFillTx/>
                <a:latin typeface="Arial" pitchFamily="34" charset="0"/>
                <a:ea typeface="Arial" pitchFamily="34" charset="-122"/>
                <a:cs typeface="Arial" pitchFamily="34" charset="-120"/>
              </a:rPr>
              <a:t>Cutting-edge AI development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300" b="1" i="1" dirty="0">
                <a:solidFill>
                  <a:srgbClr val="C9A227"/>
                </a:solidFill>
                <a:latin typeface="Arial" pitchFamily="34" charset="0"/>
                <a:ea typeface="Arial" pitchFamily="34" charset="-122"/>
                <a:cs typeface="Arial" pitchFamily="34" charset="-120"/>
              </a:rPr>
              <a:t>The</a:t>
            </a:r>
            <a:r>
              <a:rPr kumimoji="0" lang="en-US" sz="1300" b="1" i="1" u="none" strike="noStrike" kern="1200" cap="none" spc="0" normalizeH="0" baseline="0" noProof="0" dirty="0">
                <a:ln>
                  <a:noFill/>
                </a:ln>
                <a:solidFill>
                  <a:srgbClr val="C9A227"/>
                </a:solidFill>
                <a:effectLst/>
                <a:uLnTx/>
                <a:uFillTx/>
                <a:latin typeface="Arial" pitchFamily="34" charset="0"/>
                <a:ea typeface="Arial" pitchFamily="34" charset="-122"/>
                <a:cs typeface="Arial" pitchFamily="34" charset="-120"/>
              </a:rPr>
              <a:t> frontier labs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a:extLst>
              <a:ext uri="{FF2B5EF4-FFF2-40B4-BE49-F238E27FC236}">
                <a16:creationId xmlns:a16="http://schemas.microsoft.com/office/drawing/2014/main" id="{321FE539-2BF6-2DCE-6FB8-7BA002F58387}"/>
              </a:ext>
            </a:extLst>
          </p:cNvPr>
          <p:cNvSpPr txBox="1"/>
          <p:nvPr/>
        </p:nvSpPr>
        <p:spPr>
          <a:xfrm>
            <a:off x="6454026" y="4505127"/>
            <a:ext cx="5012823"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6283F"/>
                </a:solidFill>
                <a:effectLst/>
                <a:uLnTx/>
                <a:uFillTx/>
                <a:latin typeface="Arial Nova" panose="020B0504020202020204" pitchFamily="34" charset="0"/>
                <a:ea typeface="Georgia" pitchFamily="34" charset="-122"/>
                <a:cs typeface="Georgia" pitchFamily="34" charset="-120"/>
              </a:rPr>
              <a:t>Where we want to be is on that steep slope.</a:t>
            </a:r>
            <a:endParaRPr kumimoji="0" lang="en-US" sz="1800" b="0" i="0" u="none" strike="noStrike" kern="1200" cap="none" spc="0" normalizeH="0" baseline="0" noProof="0" dirty="0">
              <a:ln>
                <a:noFill/>
              </a:ln>
              <a:solidFill>
                <a:prstClr val="black"/>
              </a:solidFill>
              <a:effectLst/>
              <a:uLnTx/>
              <a:uFillTx/>
              <a:latin typeface="Arial Nova" panose="020B0504020202020204" pitchFamily="34" charset="0"/>
            </a:endParaRPr>
          </a:p>
        </p:txBody>
      </p:sp>
    </p:spTree>
    <p:extLst>
      <p:ext uri="{BB962C8B-B14F-4D97-AF65-F5344CB8AC3E}">
        <p14:creationId xmlns:p14="http://schemas.microsoft.com/office/powerpoint/2010/main" val="7380002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0357A49-2D09-A8B9-2510-973C2754C58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8D27286-D00F-23A0-96DB-157963E5B598}"/>
              </a:ext>
            </a:extLst>
          </p:cNvPr>
          <p:cNvSpPr txBox="1"/>
          <p:nvPr/>
        </p:nvSpPr>
        <p:spPr>
          <a:xfrm>
            <a:off x="548640" y="384048"/>
            <a:ext cx="11091672"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chemeClr val="accent1">
                    <a:lumMod val="75000"/>
                  </a:schemeClr>
                </a:solidFill>
                <a:effectLst/>
                <a:uLnTx/>
                <a:uFillTx/>
                <a:latin typeface="Arial Nova" panose="020B0504020202020204" pitchFamily="34" charset="0"/>
                <a:ea typeface="Georgia" pitchFamily="34" charset="-122"/>
                <a:cs typeface="Georgia" pitchFamily="34" charset="-120"/>
              </a:rPr>
              <a:t>What's moving fast — and what isn't</a:t>
            </a:r>
            <a:endParaRPr kumimoji="0" lang="en-US" sz="2800" b="0" i="0" u="none" strike="noStrike" kern="1200" cap="none" spc="0" normalizeH="0" baseline="0" noProof="0" dirty="0">
              <a:ln>
                <a:noFill/>
              </a:ln>
              <a:solidFill>
                <a:schemeClr val="accent1">
                  <a:lumMod val="75000"/>
                </a:schemeClr>
              </a:solidFill>
              <a:effectLst/>
              <a:uLnTx/>
              <a:uFillTx/>
              <a:latin typeface="Arial Nova" panose="020B0504020202020204" pitchFamily="34" charset="0"/>
            </a:endParaRPr>
          </a:p>
        </p:txBody>
      </p:sp>
      <p:sp>
        <p:nvSpPr>
          <p:cNvPr id="3" name="Text 1">
            <a:extLst>
              <a:ext uri="{FF2B5EF4-FFF2-40B4-BE49-F238E27FC236}">
                <a16:creationId xmlns:a16="http://schemas.microsoft.com/office/drawing/2014/main" id="{0BD12240-FB71-7551-3AD5-AFF7A76D0809}"/>
              </a:ext>
            </a:extLst>
          </p:cNvPr>
          <p:cNvSpPr txBox="1"/>
          <p:nvPr/>
        </p:nvSpPr>
        <p:spPr>
          <a:xfrm>
            <a:off x="548640" y="6473952"/>
            <a:ext cx="11091672"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67085"/>
                </a:solidFill>
                <a:effectLst/>
                <a:uLnTx/>
                <a:uFillTx/>
                <a:latin typeface="Arial" pitchFamily="34" charset="0"/>
                <a:ea typeface="Arial" pitchFamily="34" charset="-122"/>
                <a:cs typeface="Arial" pitchFamily="34" charset="-120"/>
              </a:rPr>
              <a:t>Shiftwork Solutions LLC  |  (415) 265-1621  |  www.shift-work.com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a:extLst>
              <a:ext uri="{FF2B5EF4-FFF2-40B4-BE49-F238E27FC236}">
                <a16:creationId xmlns:a16="http://schemas.microsoft.com/office/drawing/2014/main" id="{49323F75-BDA1-6B00-B472-2ADFA68DE418}"/>
              </a:ext>
            </a:extLst>
          </p:cNvPr>
          <p:cNvSpPr txBox="1"/>
          <p:nvPr/>
        </p:nvSpPr>
        <p:spPr>
          <a:xfrm>
            <a:off x="562356" y="1600200"/>
            <a:ext cx="1106424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2A7F7F"/>
                </a:solidFill>
                <a:effectLst/>
                <a:uLnTx/>
                <a:uFillTx/>
                <a:latin typeface="Arial Nova" panose="020B0504020202020204" pitchFamily="34" charset="0"/>
                <a:ea typeface="Arial" pitchFamily="34" charset="-122"/>
                <a:cs typeface="Arial" pitchFamily="34" charset="-120"/>
              </a:rPr>
              <a:t>PROJECT SENTINEL</a:t>
            </a:r>
            <a:r>
              <a:rPr kumimoji="0" lang="en-US" sz="14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 Where are the models, the robots, the laws? What exists now that didn't last time? The output isn't the snapshot. It's the trajectory.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a:extLst>
              <a:ext uri="{FF2B5EF4-FFF2-40B4-BE49-F238E27FC236}">
                <a16:creationId xmlns:a16="http://schemas.microsoft.com/office/drawing/2014/main" id="{B55F73A7-8609-EF5D-5912-A369B6197CE4}"/>
              </a:ext>
            </a:extLst>
          </p:cNvPr>
          <p:cNvSpPr txBox="1"/>
          <p:nvPr/>
        </p:nvSpPr>
        <p:spPr>
          <a:xfrm>
            <a:off x="4866050" y="4799623"/>
            <a:ext cx="6432151"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2A7F7F"/>
                </a:solidFill>
                <a:effectLst/>
                <a:uLnTx/>
                <a:uFillTx/>
                <a:latin typeface="Arial Nova" panose="020B0504020202020204" pitchFamily="34" charset="0"/>
                <a:ea typeface="Arial" pitchFamily="34" charset="-122"/>
                <a:cs typeface="Arial" pitchFamily="34" charset="-120"/>
              </a:rPr>
              <a:t>PROJECT SENTINEL  ·  TRAJECTORY READ  ·  SEPTEMBER 1, 2026</a:t>
            </a:r>
            <a:endParaRPr kumimoji="0" lang="en-US" sz="1200" b="0" i="0" u="none" strike="noStrike" kern="1200" cap="none" spc="0" normalizeH="0" baseline="0" noProof="0" dirty="0">
              <a:ln>
                <a:noFill/>
              </a:ln>
              <a:solidFill>
                <a:prstClr val="black"/>
              </a:solidFill>
              <a:effectLst/>
              <a:uLnTx/>
              <a:uFillTx/>
              <a:latin typeface="Arial Nova" panose="020B0504020202020204" pitchFamily="34" charset="0"/>
              <a:ea typeface="+mn-ea"/>
              <a:cs typeface="+mn-cs"/>
            </a:endParaRPr>
          </a:p>
        </p:txBody>
      </p:sp>
      <p:graphicFrame>
        <p:nvGraphicFramePr>
          <p:cNvPr id="9" name="Table 0">
            <a:extLst>
              <a:ext uri="{FF2B5EF4-FFF2-40B4-BE49-F238E27FC236}">
                <a16:creationId xmlns:a16="http://schemas.microsoft.com/office/drawing/2014/main" id="{DB9626A2-12A3-AF6E-39C5-2456BB593947}"/>
              </a:ext>
            </a:extLst>
          </p:cNvPr>
          <p:cNvGraphicFramePr>
            <a:graphicFrameLocks noGrp="1"/>
          </p:cNvGraphicFramePr>
          <p:nvPr>
            <p:extLst>
              <p:ext uri="{D42A27DB-BD31-4B8C-83A1-F6EECF244321}">
                <p14:modId xmlns:p14="http://schemas.microsoft.com/office/powerpoint/2010/main" val="2434553762"/>
              </p:ext>
            </p:extLst>
          </p:nvPr>
        </p:nvGraphicFramePr>
        <p:xfrm>
          <a:off x="1083859" y="2354239"/>
          <a:ext cx="10024282" cy="2457960"/>
        </p:xfrm>
        <a:graphic>
          <a:graphicData uri="http://schemas.openxmlformats.org/drawingml/2006/table">
            <a:tbl>
              <a:tblPr/>
              <a:tblGrid>
                <a:gridCol w="2816740">
                  <a:extLst>
                    <a:ext uri="{9D8B030D-6E8A-4147-A177-3AD203B41FA5}">
                      <a16:colId xmlns:a16="http://schemas.microsoft.com/office/drawing/2014/main" val="20000"/>
                    </a:ext>
                  </a:extLst>
                </a:gridCol>
                <a:gridCol w="1988288">
                  <a:extLst>
                    <a:ext uri="{9D8B030D-6E8A-4147-A177-3AD203B41FA5}">
                      <a16:colId xmlns:a16="http://schemas.microsoft.com/office/drawing/2014/main" val="20001"/>
                    </a:ext>
                  </a:extLst>
                </a:gridCol>
                <a:gridCol w="5219254">
                  <a:extLst>
                    <a:ext uri="{9D8B030D-6E8A-4147-A177-3AD203B41FA5}">
                      <a16:colId xmlns:a16="http://schemas.microsoft.com/office/drawing/2014/main" val="20002"/>
                    </a:ext>
                  </a:extLst>
                </a:gridCol>
              </a:tblGrid>
              <a:tr h="409660">
                <a:tc>
                  <a:txBody>
                    <a:bodyPr/>
                    <a:lstStyle/>
                    <a:p>
                      <a:pPr marL="0" indent="0">
                        <a:buNone/>
                      </a:pPr>
                      <a:r>
                        <a:rPr lang="en-US" sz="1400" b="1" dirty="0">
                          <a:solidFill>
                            <a:srgbClr val="FFFFFF"/>
                          </a:solidFill>
                          <a:latin typeface="Arial" pitchFamily="34" charset="0"/>
                          <a:ea typeface="Arial" pitchFamily="34" charset="-122"/>
                          <a:cs typeface="Arial" pitchFamily="34" charset="-120"/>
                        </a:rPr>
                        <a:t>Area</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6283F"/>
                    </a:solidFill>
                  </a:tcPr>
                </a:tc>
                <a:tc>
                  <a:txBody>
                    <a:bodyPr/>
                    <a:lstStyle/>
                    <a:p>
                      <a:pPr marL="0" indent="0">
                        <a:buNone/>
                      </a:pPr>
                      <a:r>
                        <a:rPr lang="en-US" sz="1400" b="1" dirty="0">
                          <a:solidFill>
                            <a:srgbClr val="FFFFFF"/>
                          </a:solidFill>
                          <a:latin typeface="Arial" pitchFamily="34" charset="0"/>
                          <a:ea typeface="Arial" pitchFamily="34" charset="-122"/>
                          <a:cs typeface="Arial" pitchFamily="34" charset="-120"/>
                        </a:rPr>
                        <a:t>Velocity</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6283F"/>
                    </a:solidFill>
                  </a:tcPr>
                </a:tc>
                <a:tc>
                  <a:txBody>
                    <a:bodyPr/>
                    <a:lstStyle/>
                    <a:p>
                      <a:pPr marL="0" indent="0">
                        <a:buNone/>
                      </a:pPr>
                      <a:r>
                        <a:rPr lang="en-US" sz="1400" b="1" dirty="0">
                          <a:solidFill>
                            <a:srgbClr val="FFFFFF"/>
                          </a:solidFill>
                          <a:latin typeface="Arial" pitchFamily="34" charset="0"/>
                          <a:ea typeface="Arial" pitchFamily="34" charset="-122"/>
                          <a:cs typeface="Arial" pitchFamily="34" charset="-120"/>
                        </a:rPr>
                        <a:t>Direction</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6283F"/>
                    </a:solidFill>
                  </a:tcPr>
                </a:tc>
                <a:extLst>
                  <a:ext uri="{0D108BD9-81ED-4DB2-BD59-A6C34878D82A}">
                    <a16:rowId xmlns:a16="http://schemas.microsoft.com/office/drawing/2014/main" val="10000"/>
                  </a:ext>
                </a:extLst>
              </a:tr>
              <a:tr h="409660">
                <a:tc>
                  <a:txBody>
                    <a:bodyPr/>
                    <a:lstStyle/>
                    <a:p>
                      <a:pPr marL="0" indent="0">
                        <a:buNone/>
                      </a:pPr>
                      <a:r>
                        <a:rPr lang="en-US" sz="1400" dirty="0">
                          <a:solidFill>
                            <a:srgbClr val="222222"/>
                          </a:solidFill>
                          <a:latin typeface="Arial" pitchFamily="34" charset="0"/>
                          <a:ea typeface="Arial" pitchFamily="34" charset="-122"/>
                          <a:cs typeface="Arial" pitchFamily="34" charset="-120"/>
                        </a:rPr>
                        <a:t>Humanoid robots</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5F8"/>
                    </a:solidFill>
                  </a:tcPr>
                </a:tc>
                <a:tc>
                  <a:txBody>
                    <a:bodyPr/>
                    <a:lstStyle/>
                    <a:p>
                      <a:pPr marL="0" indent="0">
                        <a:buNone/>
                      </a:pPr>
                      <a:r>
                        <a:rPr lang="en-US" sz="1400" dirty="0">
                          <a:solidFill>
                            <a:srgbClr val="222222"/>
                          </a:solidFill>
                          <a:latin typeface="Arial" pitchFamily="34" charset="0"/>
                          <a:ea typeface="Arial" pitchFamily="34" charset="-122"/>
                          <a:cs typeface="Arial" pitchFamily="34" charset="-120"/>
                        </a:rPr>
                        <a:t>Extremely fast</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5F8"/>
                    </a:solidFill>
                  </a:tcPr>
                </a:tc>
                <a:tc>
                  <a:txBody>
                    <a:bodyPr/>
                    <a:lstStyle/>
                    <a:p>
                      <a:pPr marL="0" indent="0">
                        <a:buNone/>
                      </a:pPr>
                      <a:r>
                        <a:rPr lang="en-US" sz="1400" dirty="0">
                          <a:solidFill>
                            <a:srgbClr val="222222"/>
                          </a:solidFill>
                          <a:latin typeface="Arial" pitchFamily="34" charset="0"/>
                          <a:ea typeface="Arial" pitchFamily="34" charset="-122"/>
                          <a:cs typeface="Arial" pitchFamily="34" charset="-120"/>
                        </a:rPr>
                        <a:t>Crossed the commercialization threshold</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409660">
                <a:tc>
                  <a:txBody>
                    <a:bodyPr/>
                    <a:lstStyle/>
                    <a:p>
                      <a:pPr marL="0" indent="0">
                        <a:buNone/>
                      </a:pPr>
                      <a:r>
                        <a:rPr lang="en-US" sz="1400" dirty="0">
                          <a:solidFill>
                            <a:srgbClr val="222222"/>
                          </a:solidFill>
                          <a:latin typeface="Arial" pitchFamily="34" charset="0"/>
                          <a:ea typeface="Arial" pitchFamily="34" charset="-122"/>
                          <a:cs typeface="Arial" pitchFamily="34" charset="-120"/>
                        </a:rPr>
                        <a:t>The price of AI software</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buNone/>
                      </a:pPr>
                      <a:r>
                        <a:rPr lang="en-US" sz="1400" dirty="0">
                          <a:solidFill>
                            <a:srgbClr val="222222"/>
                          </a:solidFill>
                          <a:latin typeface="Arial" pitchFamily="34" charset="0"/>
                          <a:ea typeface="Arial" pitchFamily="34" charset="-122"/>
                          <a:cs typeface="Arial" pitchFamily="34" charset="-120"/>
                        </a:rPr>
                        <a:t>Extremely fast</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buNone/>
                      </a:pPr>
                      <a:r>
                        <a:rPr lang="en-US" sz="1400" dirty="0">
                          <a:solidFill>
                            <a:srgbClr val="222222"/>
                          </a:solidFill>
                          <a:latin typeface="Arial" pitchFamily="34" charset="0"/>
                          <a:ea typeface="Arial" pitchFamily="34" charset="-122"/>
                          <a:cs typeface="Arial" pitchFamily="34" charset="-120"/>
                        </a:rPr>
                        <a:t>A price war — cuts of up to 80% on major models this summer</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2"/>
                  </a:ext>
                </a:extLst>
              </a:tr>
              <a:tr h="409660">
                <a:tc>
                  <a:txBody>
                    <a:bodyPr/>
                    <a:lstStyle/>
                    <a:p>
                      <a:pPr marL="0" indent="0">
                        <a:buNone/>
                      </a:pPr>
                      <a:r>
                        <a:rPr lang="en-US" sz="1400" dirty="0">
                          <a:solidFill>
                            <a:srgbClr val="222222"/>
                          </a:solidFill>
                          <a:latin typeface="Arial" pitchFamily="34" charset="0"/>
                          <a:ea typeface="Arial" pitchFamily="34" charset="-122"/>
                          <a:cs typeface="Arial" pitchFamily="34" charset="-120"/>
                        </a:rPr>
                        <a:t>Enterprise automation</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5F8"/>
                    </a:solidFill>
                  </a:tcPr>
                </a:tc>
                <a:tc>
                  <a:txBody>
                    <a:bodyPr/>
                    <a:lstStyle/>
                    <a:p>
                      <a:pPr marL="0" indent="0">
                        <a:buNone/>
                      </a:pPr>
                      <a:r>
                        <a:rPr lang="en-US" sz="1400" dirty="0">
                          <a:solidFill>
                            <a:srgbClr val="222222"/>
                          </a:solidFill>
                          <a:latin typeface="Arial" pitchFamily="34" charset="0"/>
                          <a:ea typeface="Arial" pitchFamily="34" charset="-122"/>
                          <a:cs typeface="Arial" pitchFamily="34" charset="-120"/>
                        </a:rPr>
                        <a:t>Fast</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5F8"/>
                    </a:solidFill>
                  </a:tcPr>
                </a:tc>
                <a:tc>
                  <a:txBody>
                    <a:bodyPr/>
                    <a:lstStyle/>
                    <a:p>
                      <a:pPr marL="0" indent="0">
                        <a:buNone/>
                      </a:pPr>
                      <a:r>
                        <a:rPr lang="en-US" sz="1400" dirty="0">
                          <a:solidFill>
                            <a:srgbClr val="222222"/>
                          </a:solidFill>
                          <a:latin typeface="Arial" pitchFamily="34" charset="0"/>
                          <a:ea typeface="Arial" pitchFamily="34" charset="-122"/>
                          <a:cs typeface="Arial" pitchFamily="34" charset="-120"/>
                        </a:rPr>
                        <a:t>Large contracts becoming the template</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5F8"/>
                    </a:solidFill>
                  </a:tcPr>
                </a:tc>
                <a:extLst>
                  <a:ext uri="{0D108BD9-81ED-4DB2-BD59-A6C34878D82A}">
                    <a16:rowId xmlns:a16="http://schemas.microsoft.com/office/drawing/2014/main" val="10003"/>
                  </a:ext>
                </a:extLst>
              </a:tr>
              <a:tr h="409660">
                <a:tc>
                  <a:txBody>
                    <a:bodyPr/>
                    <a:lstStyle/>
                    <a:p>
                      <a:pPr marL="0" indent="0">
                        <a:buNone/>
                      </a:pPr>
                      <a:r>
                        <a:rPr lang="en-US" sz="1400" dirty="0">
                          <a:solidFill>
                            <a:srgbClr val="222222"/>
                          </a:solidFill>
                          <a:latin typeface="Arial" pitchFamily="34" charset="0"/>
                          <a:ea typeface="Arial" pitchFamily="34" charset="-122"/>
                          <a:cs typeface="Arial" pitchFamily="34" charset="-120"/>
                        </a:rPr>
                        <a:t>AI regulation</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buNone/>
                      </a:pPr>
                      <a:r>
                        <a:rPr lang="en-US" sz="1400" dirty="0">
                          <a:solidFill>
                            <a:srgbClr val="222222"/>
                          </a:solidFill>
                          <a:latin typeface="Arial" pitchFamily="34" charset="0"/>
                          <a:ea typeface="Arial" pitchFamily="34" charset="-122"/>
                          <a:cs typeface="Arial" pitchFamily="34" charset="-120"/>
                        </a:rPr>
                        <a:t>Fast</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buNone/>
                      </a:pPr>
                      <a:r>
                        <a:rPr lang="en-US" sz="1400" dirty="0">
                          <a:solidFill>
                            <a:srgbClr val="222222"/>
                          </a:solidFill>
                          <a:latin typeface="Arial" pitchFamily="34" charset="0"/>
                          <a:ea typeface="Arial" pitchFamily="34" charset="-122"/>
                          <a:cs typeface="Arial" pitchFamily="34" charset="-120"/>
                        </a:rPr>
                        <a:t>New — was near zero, now accelerating</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4"/>
                  </a:ext>
                </a:extLst>
              </a:tr>
              <a:tr h="409660">
                <a:tc>
                  <a:txBody>
                    <a:bodyPr/>
                    <a:lstStyle/>
                    <a:p>
                      <a:pPr marL="0" indent="0">
                        <a:buNone/>
                      </a:pPr>
                      <a:r>
                        <a:rPr lang="en-US" sz="1400" dirty="0">
                          <a:solidFill>
                            <a:srgbClr val="222222"/>
                          </a:solidFill>
                          <a:latin typeface="Arial" pitchFamily="34" charset="0"/>
                          <a:ea typeface="Arial" pitchFamily="34" charset="-122"/>
                          <a:cs typeface="Arial" pitchFamily="34" charset="-120"/>
                        </a:rPr>
                        <a:t>Raw model capability</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5F8"/>
                    </a:solidFill>
                  </a:tcPr>
                </a:tc>
                <a:tc>
                  <a:txBody>
                    <a:bodyPr/>
                    <a:lstStyle/>
                    <a:p>
                      <a:pPr marL="0" indent="0">
                        <a:buNone/>
                      </a:pPr>
                      <a:r>
                        <a:rPr lang="en-US" sz="1400" dirty="0">
                          <a:solidFill>
                            <a:srgbClr val="222222"/>
                          </a:solidFill>
                          <a:latin typeface="Arial" pitchFamily="34" charset="0"/>
                          <a:ea typeface="Arial" pitchFamily="34" charset="-122"/>
                          <a:cs typeface="Arial" pitchFamily="34" charset="-120"/>
                        </a:rPr>
                        <a:t>Moderate</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5F8"/>
                    </a:solidFill>
                  </a:tcPr>
                </a:tc>
                <a:tc>
                  <a:txBody>
                    <a:bodyPr/>
                    <a:lstStyle/>
                    <a:p>
                      <a:pPr marL="0" indent="0">
                        <a:buNone/>
                      </a:pPr>
                      <a:r>
                        <a:rPr lang="en-US" sz="1400" dirty="0">
                          <a:solidFill>
                            <a:srgbClr val="222222"/>
                          </a:solidFill>
                          <a:latin typeface="Arial" pitchFamily="34" charset="0"/>
                          <a:ea typeface="Arial" pitchFamily="34" charset="-122"/>
                          <a:cs typeface="Arial" pitchFamily="34" charset="-120"/>
                        </a:rPr>
                        <a:t>Stabilizing — the ceiling has held 30+ days</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5F8"/>
                    </a:solidFill>
                  </a:tcPr>
                </a:tc>
                <a:extLst>
                  <a:ext uri="{0D108BD9-81ED-4DB2-BD59-A6C34878D82A}">
                    <a16:rowId xmlns:a16="http://schemas.microsoft.com/office/drawing/2014/main" val="10005"/>
                  </a:ext>
                </a:extLst>
              </a:tr>
            </a:tbl>
          </a:graphicData>
        </a:graphic>
      </p:graphicFrame>
      <p:sp>
        <p:nvSpPr>
          <p:cNvPr id="6" name="TextBox 5">
            <a:extLst>
              <a:ext uri="{FF2B5EF4-FFF2-40B4-BE49-F238E27FC236}">
                <a16:creationId xmlns:a16="http://schemas.microsoft.com/office/drawing/2014/main" id="{7AC9F165-8C31-F669-0EFE-15638ED4BCAF}"/>
              </a:ext>
            </a:extLst>
          </p:cNvPr>
          <p:cNvSpPr txBox="1"/>
          <p:nvPr/>
        </p:nvSpPr>
        <p:spPr>
          <a:xfrm>
            <a:off x="463731" y="1240971"/>
            <a:ext cx="5375366" cy="369332"/>
          </a:xfrm>
          <a:prstGeom prst="rect">
            <a:avLst/>
          </a:prstGeom>
          <a:noFill/>
        </p:spPr>
        <p:txBody>
          <a:bodyPr wrap="square" rtlCol="0">
            <a:spAutoFit/>
          </a:bodyPr>
          <a:lstStyle/>
          <a:p>
            <a:r>
              <a:rPr lang="en-US" dirty="0">
                <a:latin typeface="Arial Nova" panose="020B0504020202020204" pitchFamily="34" charset="0"/>
              </a:rPr>
              <a:t>Hard to keep up?</a:t>
            </a:r>
          </a:p>
        </p:txBody>
      </p:sp>
    </p:spTree>
    <p:extLst>
      <p:ext uri="{BB962C8B-B14F-4D97-AF65-F5344CB8AC3E}">
        <p14:creationId xmlns:p14="http://schemas.microsoft.com/office/powerpoint/2010/main" val="39415801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6283F"/>
        </a:solidFill>
        <a:effectLst/>
      </p:bgPr>
    </p:bg>
    <p:spTree>
      <p:nvGrpSpPr>
        <p:cNvPr id="1" name="">
          <a:extLst>
            <a:ext uri="{FF2B5EF4-FFF2-40B4-BE49-F238E27FC236}">
              <a16:creationId xmlns:a16="http://schemas.microsoft.com/office/drawing/2014/main" id="{77A84F42-DCEF-302E-CF4D-F6A00FD42B2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B1EF679-AF36-DA06-498A-98B2F60EE739}"/>
              </a:ext>
            </a:extLst>
          </p:cNvPr>
          <p:cNvSpPr txBox="1"/>
          <p:nvPr/>
        </p:nvSpPr>
        <p:spPr>
          <a:xfrm>
            <a:off x="1574251" y="6460607"/>
            <a:ext cx="7267009"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FA1B8"/>
                </a:solidFill>
                <a:effectLst/>
                <a:uLnTx/>
                <a:uFillTx/>
                <a:latin typeface="Arial" pitchFamily="34" charset="0"/>
                <a:ea typeface="Arial" pitchFamily="34" charset="-122"/>
                <a:cs typeface="Arial" pitchFamily="34" charset="-120"/>
              </a:rPr>
              <a:t>Shiftwork Solutions LLC  |  (415) 265-1621  |  www.shift-work.com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D3415208-5F21-7645-A7DA-F8B6B55C3E4F}"/>
              </a:ext>
            </a:extLst>
          </p:cNvPr>
          <p:cNvSpPr txBox="1"/>
          <p:nvPr/>
        </p:nvSpPr>
        <p:spPr>
          <a:xfrm>
            <a:off x="822960" y="2331720"/>
            <a:ext cx="10515600" cy="10972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Arial Nova" panose="020B0504020202020204" pitchFamily="34" charset="0"/>
                <a:ea typeface="Georgia" pitchFamily="34" charset="-122"/>
                <a:cs typeface="Georgia" pitchFamily="34" charset="-120"/>
              </a:rPr>
              <a:t>What's New in Robotics</a:t>
            </a:r>
            <a:endParaRPr kumimoji="0" lang="en-US" sz="4000" b="0" i="0" u="none" strike="noStrike" kern="1200" cap="none" spc="0" normalizeH="0" baseline="0" noProof="0" dirty="0">
              <a:ln>
                <a:noFill/>
              </a:ln>
              <a:solidFill>
                <a:prstClr val="black"/>
              </a:solidFill>
              <a:effectLst/>
              <a:uLnTx/>
              <a:uFillTx/>
              <a:latin typeface="Arial Nova" panose="020B0504020202020204" pitchFamily="34" charset="0"/>
            </a:endParaRPr>
          </a:p>
        </p:txBody>
      </p:sp>
      <p:sp>
        <p:nvSpPr>
          <p:cNvPr id="4" name="Text 2">
            <a:extLst>
              <a:ext uri="{FF2B5EF4-FFF2-40B4-BE49-F238E27FC236}">
                <a16:creationId xmlns:a16="http://schemas.microsoft.com/office/drawing/2014/main" id="{37A70666-FDD5-C7D5-1F2B-5055F327DC5B}"/>
              </a:ext>
            </a:extLst>
          </p:cNvPr>
          <p:cNvSpPr txBox="1"/>
          <p:nvPr/>
        </p:nvSpPr>
        <p:spPr>
          <a:xfrm>
            <a:off x="822960" y="3341267"/>
            <a:ext cx="100584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u="none" strike="noStrike" kern="1200" cap="none" spc="0" normalizeH="0" baseline="0" noProof="0" dirty="0">
                <a:ln>
                  <a:noFill/>
                </a:ln>
                <a:solidFill>
                  <a:schemeClr val="accent4"/>
                </a:solidFill>
                <a:effectLst/>
                <a:uLnTx/>
                <a:uFillTx/>
                <a:latin typeface="Arial Nova" panose="020B0504020202020204" pitchFamily="34" charset="0"/>
                <a:ea typeface="Arial" pitchFamily="34" charset="-122"/>
                <a:cs typeface="Arial" pitchFamily="34" charset="-120"/>
              </a:rPr>
              <a:t>From one-trick machines to general-purpose</a:t>
            </a:r>
            <a:endParaRPr kumimoji="0" lang="en-US" sz="1600" b="0" u="none" strike="noStrike" kern="1200" cap="none" spc="0" normalizeH="0" baseline="0" noProof="0" dirty="0">
              <a:ln>
                <a:noFill/>
              </a:ln>
              <a:solidFill>
                <a:schemeClr val="accent4"/>
              </a:solidFill>
              <a:effectLst/>
              <a:uLnTx/>
              <a:uFillTx/>
              <a:latin typeface="Arial Nova" panose="020B0504020202020204" pitchFamily="34" charset="0"/>
            </a:endParaRPr>
          </a:p>
        </p:txBody>
      </p:sp>
      <p:pic>
        <p:nvPicPr>
          <p:cNvPr id="5" name="Picture 4">
            <a:extLst>
              <a:ext uri="{FF2B5EF4-FFF2-40B4-BE49-F238E27FC236}">
                <a16:creationId xmlns:a16="http://schemas.microsoft.com/office/drawing/2014/main" id="{F6AD7F48-0133-E54A-45D5-5041F54963E8}"/>
              </a:ext>
            </a:extLst>
          </p:cNvPr>
          <p:cNvPicPr>
            <a:picLocks noChangeAspect="1"/>
          </p:cNvPicPr>
          <p:nvPr/>
        </p:nvPicPr>
        <p:blipFill>
          <a:blip r:embed="rId3"/>
          <a:stretch>
            <a:fillRect/>
          </a:stretch>
        </p:blipFill>
        <p:spPr>
          <a:xfrm>
            <a:off x="822960" y="6048384"/>
            <a:ext cx="672208" cy="672208"/>
          </a:xfrm>
          <a:prstGeom prst="rect">
            <a:avLst/>
          </a:prstGeom>
        </p:spPr>
      </p:pic>
    </p:spTree>
    <p:extLst>
      <p:ext uri="{BB962C8B-B14F-4D97-AF65-F5344CB8AC3E}">
        <p14:creationId xmlns:p14="http://schemas.microsoft.com/office/powerpoint/2010/main" val="1037542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65812-07C3-0DF6-5174-BCFB2244B5B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DF93A23-85B2-CA91-35ED-8AA9CDEC543E}"/>
              </a:ext>
            </a:extLst>
          </p:cNvPr>
          <p:cNvSpPr txBox="1"/>
          <p:nvPr/>
        </p:nvSpPr>
        <p:spPr>
          <a:xfrm>
            <a:off x="548640" y="384048"/>
            <a:ext cx="11091672" cy="640080"/>
          </a:xfrm>
          <a:prstGeom prst="rect">
            <a:avLst/>
          </a:prstGeom>
          <a:noFill/>
          <a:ln/>
        </p:spPr>
        <p:txBody>
          <a:bodyPr wrap="square" lIns="0" tIns="0" rIns="0" bIns="0" rtlCol="0" anchor="ctr"/>
          <a:lstStyle/>
          <a:p>
            <a:pPr marL="0" indent="0" algn="l">
              <a:buNone/>
            </a:pPr>
            <a:r>
              <a:rPr lang="en-US" sz="2800" b="1" dirty="0">
                <a:solidFill>
                  <a:schemeClr val="accent1">
                    <a:lumMod val="75000"/>
                  </a:schemeClr>
                </a:solidFill>
                <a:latin typeface="Arial Nova" panose="020B0504020202020204" pitchFamily="34" charset="0"/>
                <a:ea typeface="Georgia" pitchFamily="34" charset="-122"/>
                <a:cs typeface="Georgia" pitchFamily="34" charset="-120"/>
              </a:rPr>
              <a:t>What is a robot?</a:t>
            </a:r>
            <a:endParaRPr lang="en-US" sz="2800" dirty="0">
              <a:solidFill>
                <a:schemeClr val="accent1">
                  <a:lumMod val="75000"/>
                </a:schemeClr>
              </a:solidFill>
              <a:latin typeface="Arial Nova" panose="020B0504020202020204" pitchFamily="34" charset="0"/>
            </a:endParaRPr>
          </a:p>
        </p:txBody>
      </p:sp>
      <p:sp>
        <p:nvSpPr>
          <p:cNvPr id="3" name="Text 1">
            <a:extLst>
              <a:ext uri="{FF2B5EF4-FFF2-40B4-BE49-F238E27FC236}">
                <a16:creationId xmlns:a16="http://schemas.microsoft.com/office/drawing/2014/main" id="{D89DA65B-0CA0-8BBA-8A1F-B27A611F094B}"/>
              </a:ext>
            </a:extLst>
          </p:cNvPr>
          <p:cNvSpPr txBox="1"/>
          <p:nvPr/>
        </p:nvSpPr>
        <p:spPr>
          <a:xfrm>
            <a:off x="548640" y="6473952"/>
            <a:ext cx="11091672" cy="274320"/>
          </a:xfrm>
          <a:prstGeom prst="rect">
            <a:avLst/>
          </a:prstGeom>
          <a:noFill/>
          <a:ln/>
        </p:spPr>
        <p:txBody>
          <a:bodyPr wrap="square" lIns="0" tIns="0" rIns="0" bIns="0" rtlCol="0" anchor="ctr"/>
          <a:lstStyle/>
          <a:p>
            <a:pPr marL="0" indent="0" algn="l">
              <a:buNone/>
            </a:pPr>
            <a:r>
              <a:rPr lang="en-US" sz="900" dirty="0">
                <a:solidFill>
                  <a:srgbClr val="667085"/>
                </a:solidFill>
                <a:latin typeface="Arial" pitchFamily="34" charset="0"/>
                <a:ea typeface="Arial" pitchFamily="34" charset="-122"/>
                <a:cs typeface="Arial" pitchFamily="34" charset="-120"/>
              </a:rPr>
              <a:t>Shiftwork Solutions LLC  |  (415) 265-1621  |  www.shift-work.com</a:t>
            </a:r>
            <a:endParaRPr lang="en-US" sz="900" dirty="0"/>
          </a:p>
        </p:txBody>
      </p:sp>
      <p:pic>
        <p:nvPicPr>
          <p:cNvPr id="4" name="Image 0" descr="robot_eq.png">
            <a:extLst>
              <a:ext uri="{FF2B5EF4-FFF2-40B4-BE49-F238E27FC236}">
                <a16:creationId xmlns:a16="http://schemas.microsoft.com/office/drawing/2014/main" id="{97C456AD-7A0D-E3A9-A451-527C4A0E93EE}"/>
              </a:ext>
            </a:extLst>
          </p:cNvPr>
          <p:cNvPicPr>
            <a:picLocks noChangeAspect="1"/>
          </p:cNvPicPr>
          <p:nvPr/>
        </p:nvPicPr>
        <p:blipFill>
          <a:blip r:embed="rId3"/>
          <a:stretch>
            <a:fillRect/>
          </a:stretch>
        </p:blipFill>
        <p:spPr>
          <a:xfrm>
            <a:off x="1051560" y="1554480"/>
            <a:ext cx="10058400" cy="2926080"/>
          </a:xfrm>
          <a:prstGeom prst="rect">
            <a:avLst/>
          </a:prstGeom>
        </p:spPr>
      </p:pic>
      <p:sp>
        <p:nvSpPr>
          <p:cNvPr id="5" name="Text 2">
            <a:extLst>
              <a:ext uri="{FF2B5EF4-FFF2-40B4-BE49-F238E27FC236}">
                <a16:creationId xmlns:a16="http://schemas.microsoft.com/office/drawing/2014/main" id="{955B0311-86DC-A278-0C72-B1E990DBB8B0}"/>
              </a:ext>
            </a:extLst>
          </p:cNvPr>
          <p:cNvSpPr txBox="1"/>
          <p:nvPr/>
        </p:nvSpPr>
        <p:spPr>
          <a:xfrm>
            <a:off x="1051560" y="4526280"/>
            <a:ext cx="3108960" cy="365760"/>
          </a:xfrm>
          <a:prstGeom prst="rect">
            <a:avLst/>
          </a:prstGeom>
          <a:noFill/>
          <a:ln/>
        </p:spPr>
        <p:txBody>
          <a:bodyPr wrap="square" lIns="0" tIns="0" rIns="0" bIns="0" rtlCol="0" anchor="ctr"/>
          <a:lstStyle/>
          <a:p>
            <a:pPr marL="0" indent="0" algn="ctr">
              <a:buNone/>
            </a:pPr>
            <a:r>
              <a:rPr lang="en-US" sz="1500" b="1" dirty="0">
                <a:solidFill>
                  <a:srgbClr val="16283F"/>
                </a:solidFill>
                <a:latin typeface="Arial Nova" panose="020B0504020202020204" pitchFamily="34" charset="0"/>
                <a:ea typeface="Arial" pitchFamily="34" charset="-122"/>
                <a:cs typeface="Arial" pitchFamily="34" charset="-120"/>
              </a:rPr>
              <a:t>Artificial intelligence</a:t>
            </a:r>
            <a:endParaRPr lang="en-US" sz="1500" dirty="0">
              <a:latin typeface="Arial Nova" panose="020B0504020202020204" pitchFamily="34" charset="0"/>
            </a:endParaRPr>
          </a:p>
        </p:txBody>
      </p:sp>
      <p:sp>
        <p:nvSpPr>
          <p:cNvPr id="6" name="Text 3">
            <a:extLst>
              <a:ext uri="{FF2B5EF4-FFF2-40B4-BE49-F238E27FC236}">
                <a16:creationId xmlns:a16="http://schemas.microsoft.com/office/drawing/2014/main" id="{6228418E-283A-22E4-2C37-5ECCF565A624}"/>
              </a:ext>
            </a:extLst>
          </p:cNvPr>
          <p:cNvSpPr txBox="1"/>
          <p:nvPr/>
        </p:nvSpPr>
        <p:spPr>
          <a:xfrm>
            <a:off x="4595478" y="4529987"/>
            <a:ext cx="2377440" cy="365760"/>
          </a:xfrm>
          <a:prstGeom prst="rect">
            <a:avLst/>
          </a:prstGeom>
          <a:noFill/>
          <a:ln/>
        </p:spPr>
        <p:txBody>
          <a:bodyPr wrap="square" lIns="0" tIns="0" rIns="0" bIns="0" rtlCol="0" anchor="ctr"/>
          <a:lstStyle/>
          <a:p>
            <a:pPr marL="0" indent="0" algn="ctr">
              <a:buNone/>
            </a:pPr>
            <a:r>
              <a:rPr lang="en-US" sz="1500" b="1" dirty="0">
                <a:solidFill>
                  <a:srgbClr val="16283F"/>
                </a:solidFill>
                <a:latin typeface="Arial Nova" panose="020B0504020202020204" pitchFamily="34" charset="0"/>
                <a:ea typeface="Arial" pitchFamily="34" charset="-122"/>
                <a:cs typeface="Arial" pitchFamily="34" charset="-120"/>
              </a:rPr>
              <a:t>A machine</a:t>
            </a:r>
            <a:endParaRPr lang="en-US" sz="1500" dirty="0">
              <a:latin typeface="Arial Nova" panose="020B0504020202020204" pitchFamily="34" charset="0"/>
            </a:endParaRPr>
          </a:p>
        </p:txBody>
      </p:sp>
      <p:sp>
        <p:nvSpPr>
          <p:cNvPr id="7" name="Text 4">
            <a:extLst>
              <a:ext uri="{FF2B5EF4-FFF2-40B4-BE49-F238E27FC236}">
                <a16:creationId xmlns:a16="http://schemas.microsoft.com/office/drawing/2014/main" id="{28D194C6-6410-4316-BF08-61019B9869F5}"/>
              </a:ext>
            </a:extLst>
          </p:cNvPr>
          <p:cNvSpPr txBox="1"/>
          <p:nvPr/>
        </p:nvSpPr>
        <p:spPr>
          <a:xfrm>
            <a:off x="8187587" y="4544568"/>
            <a:ext cx="2377440" cy="365760"/>
          </a:xfrm>
          <a:prstGeom prst="rect">
            <a:avLst/>
          </a:prstGeom>
          <a:noFill/>
          <a:ln/>
        </p:spPr>
        <p:txBody>
          <a:bodyPr wrap="square" lIns="0" tIns="0" rIns="0" bIns="0" rtlCol="0" anchor="ctr"/>
          <a:lstStyle/>
          <a:p>
            <a:pPr marL="0" indent="0" algn="ctr">
              <a:buNone/>
            </a:pPr>
            <a:r>
              <a:rPr lang="en-US" sz="1500" b="1" dirty="0">
                <a:solidFill>
                  <a:srgbClr val="16283F"/>
                </a:solidFill>
                <a:latin typeface="Arial Nova" panose="020B0504020202020204" pitchFamily="34" charset="0"/>
                <a:ea typeface="Arial" pitchFamily="34" charset="-122"/>
                <a:cs typeface="Arial" pitchFamily="34" charset="-120"/>
              </a:rPr>
              <a:t>A robot</a:t>
            </a:r>
            <a:endParaRPr lang="en-US" sz="1500" dirty="0">
              <a:latin typeface="Arial Nova" panose="020B0504020202020204" pitchFamily="34" charset="0"/>
            </a:endParaRPr>
          </a:p>
        </p:txBody>
      </p:sp>
      <p:sp>
        <p:nvSpPr>
          <p:cNvPr id="8" name="Text 5">
            <a:extLst>
              <a:ext uri="{FF2B5EF4-FFF2-40B4-BE49-F238E27FC236}">
                <a16:creationId xmlns:a16="http://schemas.microsoft.com/office/drawing/2014/main" id="{E889036D-F3FB-5B98-D1E1-EAF46000D923}"/>
              </a:ext>
            </a:extLst>
          </p:cNvPr>
          <p:cNvSpPr txBox="1"/>
          <p:nvPr/>
        </p:nvSpPr>
        <p:spPr>
          <a:xfrm>
            <a:off x="548640" y="5120640"/>
            <a:ext cx="11064240" cy="502920"/>
          </a:xfrm>
          <a:prstGeom prst="rect">
            <a:avLst/>
          </a:prstGeom>
          <a:noFill/>
          <a:ln/>
        </p:spPr>
        <p:txBody>
          <a:bodyPr wrap="square" lIns="0" tIns="0" rIns="0" bIns="0" rtlCol="0" anchor="ctr"/>
          <a:lstStyle/>
          <a:p>
            <a:pPr marL="0" indent="0" algn="ctr">
              <a:buNone/>
            </a:pPr>
            <a:r>
              <a:rPr lang="en-US" sz="2200" b="1" dirty="0">
                <a:solidFill>
                  <a:srgbClr val="16283F"/>
                </a:solidFill>
                <a:latin typeface="Arial Nova" panose="020B0504020202020204" pitchFamily="34" charset="0"/>
                <a:ea typeface="Georgia" pitchFamily="34" charset="-122"/>
                <a:cs typeface="Georgia" pitchFamily="34" charset="-120"/>
              </a:rPr>
              <a:t>A robot is a machine with an AI brain.</a:t>
            </a:r>
            <a:endParaRPr lang="en-US" sz="2200" dirty="0">
              <a:latin typeface="Arial Nova" panose="020B0504020202020204" pitchFamily="34" charset="0"/>
            </a:endParaRPr>
          </a:p>
        </p:txBody>
      </p:sp>
      <p:sp>
        <p:nvSpPr>
          <p:cNvPr id="9" name="Shape 6">
            <a:extLst>
              <a:ext uri="{FF2B5EF4-FFF2-40B4-BE49-F238E27FC236}">
                <a16:creationId xmlns:a16="http://schemas.microsoft.com/office/drawing/2014/main" id="{893D17C6-C12F-1813-ACD7-36CB734B937D}"/>
              </a:ext>
            </a:extLst>
          </p:cNvPr>
          <p:cNvSpPr/>
          <p:nvPr/>
        </p:nvSpPr>
        <p:spPr>
          <a:xfrm>
            <a:off x="548640" y="5833872"/>
            <a:ext cx="11091672" cy="548640"/>
          </a:xfrm>
          <a:prstGeom prst="roundRect">
            <a:avLst>
              <a:gd name="adj" fmla="val 10000"/>
            </a:avLst>
          </a:prstGeom>
          <a:solidFill>
            <a:srgbClr val="16283F"/>
          </a:solidFill>
          <a:ln/>
        </p:spPr>
        <p:txBody>
          <a:bodyPr/>
          <a:lstStyle/>
          <a:p>
            <a:endParaRPr lang="en-US"/>
          </a:p>
        </p:txBody>
      </p:sp>
      <p:sp>
        <p:nvSpPr>
          <p:cNvPr id="10" name="Text 7">
            <a:extLst>
              <a:ext uri="{FF2B5EF4-FFF2-40B4-BE49-F238E27FC236}">
                <a16:creationId xmlns:a16="http://schemas.microsoft.com/office/drawing/2014/main" id="{46296441-0400-0B0E-CC3B-94A4EBAF3DD2}"/>
              </a:ext>
            </a:extLst>
          </p:cNvPr>
          <p:cNvSpPr txBox="1"/>
          <p:nvPr/>
        </p:nvSpPr>
        <p:spPr>
          <a:xfrm>
            <a:off x="777240" y="5833872"/>
            <a:ext cx="10652760" cy="548640"/>
          </a:xfrm>
          <a:prstGeom prst="rect">
            <a:avLst/>
          </a:prstGeom>
          <a:noFill/>
          <a:ln/>
        </p:spPr>
        <p:txBody>
          <a:bodyPr wrap="square" lIns="0" tIns="0" rIns="0" bIns="0" rtlCol="0" anchor="ctr"/>
          <a:lstStyle/>
          <a:p>
            <a:pPr marL="0" indent="0">
              <a:buNone/>
            </a:pPr>
            <a:r>
              <a:rPr lang="en-US" sz="1500" dirty="0">
                <a:solidFill>
                  <a:srgbClr val="FFFFFF"/>
                </a:solidFill>
                <a:latin typeface="Calibri Light" panose="020F0302020204030204" pitchFamily="34" charset="0"/>
                <a:ea typeface="Calibri Light" panose="020F0302020204030204" pitchFamily="34" charset="0"/>
                <a:cs typeface="Calibri Light" panose="020F0302020204030204" pitchFamily="34" charset="0"/>
              </a:rPr>
              <a:t>Everything before this slide was software that helps you work. Everything after is a machine that does work.</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578963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9F7DD5E-AA7B-1881-11F8-C44A0F8C02FA}"/>
            </a:ext>
          </a:extLst>
        </p:cNvPr>
        <p:cNvGrpSpPr/>
        <p:nvPr/>
      </p:nvGrpSpPr>
      <p:grpSpPr>
        <a:xfrm>
          <a:off x="0" y="0"/>
          <a:ext cx="0" cy="0"/>
          <a:chOff x="0" y="0"/>
          <a:chExt cx="0" cy="0"/>
        </a:xfrm>
      </p:grpSpPr>
      <p:sp>
        <p:nvSpPr>
          <p:cNvPr id="29" name="Shape 2">
            <a:extLst>
              <a:ext uri="{FF2B5EF4-FFF2-40B4-BE49-F238E27FC236}">
                <a16:creationId xmlns:a16="http://schemas.microsoft.com/office/drawing/2014/main" id="{053530D0-0598-5BAF-0C4B-59379CD4C2A2}"/>
              </a:ext>
            </a:extLst>
          </p:cNvPr>
          <p:cNvSpPr/>
          <p:nvPr/>
        </p:nvSpPr>
        <p:spPr>
          <a:xfrm>
            <a:off x="8086265" y="1345170"/>
            <a:ext cx="2628158" cy="3148454"/>
          </a:xfrm>
          <a:prstGeom prst="roundRect">
            <a:avLst>
              <a:gd name="adj" fmla="val 1772"/>
            </a:avLst>
          </a:prstGeom>
          <a:solidFill>
            <a:schemeClr val="bg1"/>
          </a:solidFill>
          <a:ln>
            <a:solidFill>
              <a:schemeClr val="tx1">
                <a:lumMod val="50000"/>
                <a:lumOff val="50000"/>
              </a:scheme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
            <a:extLst>
              <a:ext uri="{FF2B5EF4-FFF2-40B4-BE49-F238E27FC236}">
                <a16:creationId xmlns:a16="http://schemas.microsoft.com/office/drawing/2014/main" id="{60986BA4-F577-C17F-549A-DA32E782134A}"/>
              </a:ext>
            </a:extLst>
          </p:cNvPr>
          <p:cNvSpPr/>
          <p:nvPr/>
        </p:nvSpPr>
        <p:spPr>
          <a:xfrm>
            <a:off x="4349153" y="1373770"/>
            <a:ext cx="2628158" cy="3119854"/>
          </a:xfrm>
          <a:prstGeom prst="roundRect">
            <a:avLst>
              <a:gd name="adj" fmla="val 1772"/>
            </a:avLst>
          </a:prstGeom>
          <a:solidFill>
            <a:schemeClr val="bg1"/>
          </a:solidFill>
          <a:ln>
            <a:solidFill>
              <a:schemeClr val="tx1">
                <a:lumMod val="50000"/>
                <a:lumOff val="50000"/>
              </a:scheme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2">
            <a:extLst>
              <a:ext uri="{FF2B5EF4-FFF2-40B4-BE49-F238E27FC236}">
                <a16:creationId xmlns:a16="http://schemas.microsoft.com/office/drawing/2014/main" id="{95B40080-0E6C-BC56-C9BD-C77DE60D65D9}"/>
              </a:ext>
            </a:extLst>
          </p:cNvPr>
          <p:cNvSpPr/>
          <p:nvPr/>
        </p:nvSpPr>
        <p:spPr>
          <a:xfrm>
            <a:off x="578420" y="1371606"/>
            <a:ext cx="2628158" cy="3122017"/>
          </a:xfrm>
          <a:prstGeom prst="roundRect">
            <a:avLst>
              <a:gd name="adj" fmla="val 1772"/>
            </a:avLst>
          </a:prstGeom>
          <a:solidFill>
            <a:schemeClr val="bg1"/>
          </a:solidFill>
          <a:ln>
            <a:solidFill>
              <a:schemeClr val="tx1">
                <a:lumMod val="50000"/>
                <a:lumOff val="50000"/>
              </a:scheme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ext 0">
            <a:extLst>
              <a:ext uri="{FF2B5EF4-FFF2-40B4-BE49-F238E27FC236}">
                <a16:creationId xmlns:a16="http://schemas.microsoft.com/office/drawing/2014/main" id="{75EAD90D-DEDE-95E8-3A6B-DC447F2E104C}"/>
              </a:ext>
            </a:extLst>
          </p:cNvPr>
          <p:cNvSpPr txBox="1"/>
          <p:nvPr/>
        </p:nvSpPr>
        <p:spPr>
          <a:xfrm>
            <a:off x="578420" y="384048"/>
            <a:ext cx="11091672"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chemeClr val="accent1">
                    <a:lumMod val="75000"/>
                  </a:schemeClr>
                </a:solidFill>
                <a:effectLst/>
                <a:uLnTx/>
                <a:uFillTx/>
                <a:latin typeface="Arial Nova" panose="020B0504020202020204" pitchFamily="34" charset="0"/>
                <a:ea typeface="Georgia" pitchFamily="34" charset="-122"/>
                <a:cs typeface="Georgia" pitchFamily="34" charset="-120"/>
              </a:rPr>
              <a:t>What a robot can do</a:t>
            </a:r>
            <a:endParaRPr kumimoji="0" lang="en-US" sz="2800" b="0" i="0" u="none" strike="noStrike" kern="1200" cap="none" spc="0" normalizeH="0" baseline="0" noProof="0" dirty="0">
              <a:ln>
                <a:noFill/>
              </a:ln>
              <a:solidFill>
                <a:schemeClr val="accent1">
                  <a:lumMod val="75000"/>
                </a:schemeClr>
              </a:solidFill>
              <a:effectLst/>
              <a:uLnTx/>
              <a:uFillTx/>
              <a:latin typeface="Arial Nova" panose="020B0504020202020204" pitchFamily="34" charset="0"/>
            </a:endParaRPr>
          </a:p>
        </p:txBody>
      </p:sp>
      <p:sp>
        <p:nvSpPr>
          <p:cNvPr id="3" name="Text 1">
            <a:extLst>
              <a:ext uri="{FF2B5EF4-FFF2-40B4-BE49-F238E27FC236}">
                <a16:creationId xmlns:a16="http://schemas.microsoft.com/office/drawing/2014/main" id="{B707427B-DA97-3FF9-FBAB-E24CC702A0A6}"/>
              </a:ext>
            </a:extLst>
          </p:cNvPr>
          <p:cNvSpPr txBox="1"/>
          <p:nvPr/>
        </p:nvSpPr>
        <p:spPr>
          <a:xfrm>
            <a:off x="548640" y="6473952"/>
            <a:ext cx="11091672"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67085"/>
                </a:solidFill>
                <a:effectLst/>
                <a:uLnTx/>
                <a:uFillTx/>
                <a:latin typeface="Arial" pitchFamily="34" charset="0"/>
                <a:ea typeface="Arial" pitchFamily="34" charset="-122"/>
                <a:cs typeface="Arial" pitchFamily="34" charset="-120"/>
              </a:rPr>
              <a:t>Shiftwork Solutions LLC  |  (415) 265-1621  |  www.shift-work.com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D25C605B-1D94-BE14-CD7B-55B4B6E79F8A}"/>
              </a:ext>
            </a:extLst>
          </p:cNvPr>
          <p:cNvSpPr/>
          <p:nvPr/>
        </p:nvSpPr>
        <p:spPr>
          <a:xfrm>
            <a:off x="803500" y="2133641"/>
            <a:ext cx="3337560" cy="2875417"/>
          </a:xfrm>
          <a:prstGeom prst="roundRect">
            <a:avLst>
              <a:gd name="adj" fmla="val 1772"/>
            </a:avLst>
          </a:prstGeom>
          <a:solidFill>
            <a:srgbClr val="F2F5F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a:extLst>
              <a:ext uri="{FF2B5EF4-FFF2-40B4-BE49-F238E27FC236}">
                <a16:creationId xmlns:a16="http://schemas.microsoft.com/office/drawing/2014/main" id="{2B257CD5-3C71-5153-7B90-C4A2E1BFC106}"/>
              </a:ext>
            </a:extLst>
          </p:cNvPr>
          <p:cNvSpPr txBox="1"/>
          <p:nvPr/>
        </p:nvSpPr>
        <p:spPr>
          <a:xfrm>
            <a:off x="1008188" y="2479014"/>
            <a:ext cx="3063240" cy="2556613"/>
          </a:xfrm>
          <a:prstGeom prst="rect">
            <a:avLst/>
          </a:prstGeom>
          <a:noFill/>
          <a:ln/>
        </p:spPr>
        <p:txBody>
          <a:bodyPr wrap="square" lIns="0" tIns="0" rIns="0" bIns="0" rtlCol="0" anchor="t"/>
          <a:lstStyle/>
          <a:p>
            <a:pPr marL="342900" marR="0" lvl="0" indent="-342900" algn="l" defTabSz="914400" rtl="0" eaLnBrk="1" fontAlgn="auto" latinLnBrk="0" hangingPunct="1">
              <a:lnSpc>
                <a:spcPct val="100000"/>
              </a:lnSpc>
              <a:spcBef>
                <a:spcPts val="0"/>
              </a:spcBef>
              <a:spcAft>
                <a:spcPts val="1400"/>
              </a:spcAft>
              <a:buClrTx/>
              <a:buSzPct val="100000"/>
              <a:buFontTx/>
              <a:buChar char="•"/>
              <a:tabLst/>
              <a:defRPr/>
            </a:pPr>
            <a:r>
              <a:rPr kumimoji="0" lang="en-US" sz="16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One robot, one task.</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1400"/>
              </a:spcAft>
              <a:buClrTx/>
              <a:buSzPct val="100000"/>
              <a:buFontTx/>
              <a:buChar char="•"/>
              <a:tabLst/>
              <a:defRPr/>
            </a:pPr>
            <a:r>
              <a:rPr kumimoji="0" lang="en-US" sz="16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It doesn't even look like a person — it's shaped like the job.</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1400"/>
              </a:spcAft>
              <a:buClrTx/>
              <a:buSzPct val="100000"/>
              <a:buFontTx/>
              <a:buChar char="•"/>
              <a:tabLst/>
              <a:defRPr/>
            </a:pPr>
            <a:r>
              <a:rPr kumimoji="0" lang="en-US" sz="16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A palletizer palletizes. You can't reprogram it to drive a forklift.</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a:extLst>
              <a:ext uri="{FF2B5EF4-FFF2-40B4-BE49-F238E27FC236}">
                <a16:creationId xmlns:a16="http://schemas.microsoft.com/office/drawing/2014/main" id="{EF03AF47-FE78-41AA-1A49-CE002D485CC4}"/>
              </a:ext>
            </a:extLst>
          </p:cNvPr>
          <p:cNvSpPr/>
          <p:nvPr/>
        </p:nvSpPr>
        <p:spPr>
          <a:xfrm>
            <a:off x="4539768" y="2133641"/>
            <a:ext cx="3337560" cy="2875418"/>
          </a:xfrm>
          <a:prstGeom prst="roundRect">
            <a:avLst>
              <a:gd name="adj" fmla="val 1772"/>
            </a:avLst>
          </a:prstGeom>
          <a:solidFill>
            <a:srgbClr val="16283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a:extLst>
              <a:ext uri="{FF2B5EF4-FFF2-40B4-BE49-F238E27FC236}">
                <a16:creationId xmlns:a16="http://schemas.microsoft.com/office/drawing/2014/main" id="{C83982D6-ACC5-F43A-1446-69EF46EF4949}"/>
              </a:ext>
            </a:extLst>
          </p:cNvPr>
          <p:cNvSpPr txBox="1"/>
          <p:nvPr/>
        </p:nvSpPr>
        <p:spPr>
          <a:xfrm>
            <a:off x="4442007" y="1622681"/>
            <a:ext cx="933182"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200" normalizeH="0" baseline="0" noProof="0" dirty="0">
                <a:ln>
                  <a:noFill/>
                </a:ln>
                <a:solidFill>
                  <a:schemeClr val="accent1">
                    <a:lumMod val="50000"/>
                  </a:schemeClr>
                </a:solidFill>
                <a:effectLst/>
                <a:uLnTx/>
                <a:uFillTx/>
                <a:latin typeface="Arial Nova" panose="020B0504020202020204" pitchFamily="34" charset="0"/>
                <a:ea typeface="Arial" pitchFamily="34" charset="-122"/>
                <a:cs typeface="Arial" pitchFamily="34" charset="-120"/>
              </a:rPr>
              <a:t>Now</a:t>
            </a:r>
            <a:endParaRPr kumimoji="0" lang="en-US" sz="2400" b="0" i="0" u="none" strike="noStrike" kern="1200" cap="none" spc="0" normalizeH="0" baseline="0" noProof="0" dirty="0">
              <a:ln>
                <a:noFill/>
              </a:ln>
              <a:solidFill>
                <a:schemeClr val="accent1">
                  <a:lumMod val="50000"/>
                </a:schemeClr>
              </a:solidFill>
              <a:effectLst/>
              <a:uLnTx/>
              <a:uFillTx/>
              <a:latin typeface="Arial Nova" panose="020B0504020202020204" pitchFamily="34" charset="0"/>
            </a:endParaRPr>
          </a:p>
        </p:txBody>
      </p:sp>
      <p:sp>
        <p:nvSpPr>
          <p:cNvPr id="9" name="Text 7">
            <a:extLst>
              <a:ext uri="{FF2B5EF4-FFF2-40B4-BE49-F238E27FC236}">
                <a16:creationId xmlns:a16="http://schemas.microsoft.com/office/drawing/2014/main" id="{9AC6C5C0-1801-29BF-7F0E-294F31266B71}"/>
              </a:ext>
            </a:extLst>
          </p:cNvPr>
          <p:cNvSpPr txBox="1"/>
          <p:nvPr/>
        </p:nvSpPr>
        <p:spPr>
          <a:xfrm>
            <a:off x="4748705" y="2479013"/>
            <a:ext cx="3063240" cy="2556614"/>
          </a:xfrm>
          <a:prstGeom prst="rect">
            <a:avLst/>
          </a:prstGeom>
          <a:noFill/>
          <a:ln/>
        </p:spPr>
        <p:txBody>
          <a:bodyPr wrap="square" lIns="0" tIns="0" rIns="0" bIns="0" rtlCol="0" anchor="t"/>
          <a:lstStyle/>
          <a:p>
            <a:pPr marL="342900" marR="0" lvl="0" indent="-342900" algn="l" defTabSz="914400" rtl="0" eaLnBrk="1" fontAlgn="auto" latinLnBrk="0" hangingPunct="1">
              <a:lnSpc>
                <a:spcPct val="100000"/>
              </a:lnSpc>
              <a:spcBef>
                <a:spcPts val="0"/>
              </a:spcBef>
              <a:spcAft>
                <a:spcPts val="1400"/>
              </a:spcAft>
              <a:buClrTx/>
              <a:buSzPct val="100000"/>
              <a:buFontTx/>
              <a:buChar char="•"/>
              <a:tabLst/>
              <a:defRPr/>
            </a:pPr>
            <a:r>
              <a:rPr kumimoji="0" lang="en-US" b="0" i="0" u="none" strike="noStrike" kern="1200" cap="none" spc="0" normalizeH="0" baseline="0" noProof="0" dirty="0">
                <a:ln>
                  <a:noFill/>
                </a:ln>
                <a:solidFill>
                  <a:srgbClr val="E6EBF2"/>
                </a:solidFill>
                <a:effectLst/>
                <a:uLnTx/>
                <a:uFillTx/>
                <a:latin typeface="Arial Nova" panose="020B0504020202020204" pitchFamily="34" charset="0"/>
                <a:ea typeface="Arial" pitchFamily="34" charset="-122"/>
                <a:cs typeface="Arial" pitchFamily="34" charset="-120"/>
              </a:rPr>
              <a:t>Several simple, similar tasks.</a:t>
            </a:r>
            <a:endParaRPr kumimoji="0" lang="en-US" b="0" i="0" u="none" strike="noStrike" kern="1200" cap="none" spc="0" normalizeH="0" baseline="0" noProof="0" dirty="0">
              <a:ln>
                <a:noFill/>
              </a:ln>
              <a:solidFill>
                <a:prstClr val="black"/>
              </a:solidFill>
              <a:effectLst/>
              <a:uLnTx/>
              <a:uFillTx/>
              <a:latin typeface="Arial Nova" panose="020B0504020202020204" pitchFamily="34" charset="0"/>
            </a:endParaRPr>
          </a:p>
          <a:p>
            <a:pPr marL="342900" marR="0" lvl="0" indent="-342900" algn="l" defTabSz="914400" rtl="0" eaLnBrk="1" fontAlgn="auto" latinLnBrk="0" hangingPunct="1">
              <a:lnSpc>
                <a:spcPct val="100000"/>
              </a:lnSpc>
              <a:spcBef>
                <a:spcPts val="0"/>
              </a:spcBef>
              <a:spcAft>
                <a:spcPts val="1400"/>
              </a:spcAft>
              <a:buClrTx/>
              <a:buSzPct val="100000"/>
              <a:buFontTx/>
              <a:buChar char="•"/>
              <a:tabLst/>
              <a:defRPr/>
            </a:pPr>
            <a:r>
              <a:rPr kumimoji="0" lang="en-US" b="0" i="0" u="none" strike="noStrike" kern="1200" cap="none" spc="0" normalizeH="0" baseline="0" noProof="0" dirty="0">
                <a:ln>
                  <a:noFill/>
                </a:ln>
                <a:solidFill>
                  <a:srgbClr val="E6EBF2"/>
                </a:solidFill>
                <a:effectLst/>
                <a:uLnTx/>
                <a:uFillTx/>
                <a:latin typeface="Arial Nova" panose="020B0504020202020204" pitchFamily="34" charset="0"/>
                <a:ea typeface="Arial" pitchFamily="34" charset="-122"/>
                <a:cs typeface="Arial" pitchFamily="34" charset="-120"/>
              </a:rPr>
              <a:t>The same robot does one thing on this line, then something else on the next.</a:t>
            </a:r>
            <a:endParaRPr kumimoji="0" lang="en-US" b="0" i="0" u="none" strike="noStrike" kern="1200" cap="none" spc="0" normalizeH="0" baseline="0" noProof="0" dirty="0">
              <a:ln>
                <a:noFill/>
              </a:ln>
              <a:solidFill>
                <a:prstClr val="black"/>
              </a:solidFill>
              <a:effectLst/>
              <a:uLnTx/>
              <a:uFillTx/>
              <a:latin typeface="Arial Nova" panose="020B0504020202020204" pitchFamily="34" charset="0"/>
            </a:endParaRPr>
          </a:p>
        </p:txBody>
      </p:sp>
      <p:sp>
        <p:nvSpPr>
          <p:cNvPr id="10" name="Shape 8">
            <a:extLst>
              <a:ext uri="{FF2B5EF4-FFF2-40B4-BE49-F238E27FC236}">
                <a16:creationId xmlns:a16="http://schemas.microsoft.com/office/drawing/2014/main" id="{3B1882D9-8C92-5E42-2C4A-7D0470FADF58}"/>
              </a:ext>
            </a:extLst>
          </p:cNvPr>
          <p:cNvSpPr/>
          <p:nvPr/>
        </p:nvSpPr>
        <p:spPr>
          <a:xfrm>
            <a:off x="8345668" y="2133641"/>
            <a:ext cx="3251973" cy="2847864"/>
          </a:xfrm>
          <a:prstGeom prst="roundRect">
            <a:avLst>
              <a:gd name="adj" fmla="val 1795"/>
            </a:avLst>
          </a:prstGeom>
          <a:solidFill>
            <a:srgbClr val="F2F5F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a:extLst>
              <a:ext uri="{FF2B5EF4-FFF2-40B4-BE49-F238E27FC236}">
                <a16:creationId xmlns:a16="http://schemas.microsoft.com/office/drawing/2014/main" id="{FFC99383-E454-60FA-90A5-13E5E6AFE586}"/>
              </a:ext>
            </a:extLst>
          </p:cNvPr>
          <p:cNvSpPr txBox="1"/>
          <p:nvPr/>
        </p:nvSpPr>
        <p:spPr>
          <a:xfrm>
            <a:off x="8186818" y="1622681"/>
            <a:ext cx="2527605"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1" i="0" u="none" strike="noStrike" kern="0" cap="none" spc="200" normalizeH="0" baseline="0" noProof="0" dirty="0">
                <a:ln>
                  <a:noFill/>
                </a:ln>
                <a:solidFill>
                  <a:schemeClr val="accent1">
                    <a:lumMod val="50000"/>
                  </a:schemeClr>
                </a:solidFill>
                <a:effectLst/>
                <a:uLnTx/>
                <a:uFillTx/>
                <a:latin typeface="Arial Nova" panose="020B0504020202020204" pitchFamily="34" charset="0"/>
                <a:ea typeface="Arial" pitchFamily="34" charset="-122"/>
                <a:cs typeface="Arial" pitchFamily="34" charset="-120"/>
              </a:rPr>
              <a:t>In 5 to 10 years</a:t>
            </a:r>
            <a:endParaRPr kumimoji="0" lang="en-US" sz="2300" b="0" i="0" u="none" strike="noStrike" kern="1200" cap="none" spc="0" normalizeH="0" baseline="0" noProof="0" dirty="0">
              <a:ln>
                <a:noFill/>
              </a:ln>
              <a:solidFill>
                <a:schemeClr val="accent1">
                  <a:lumMod val="50000"/>
                </a:schemeClr>
              </a:solidFill>
              <a:effectLst/>
              <a:uLnTx/>
              <a:uFillTx/>
              <a:latin typeface="Arial Nova" panose="020B0504020202020204" pitchFamily="34" charset="0"/>
            </a:endParaRPr>
          </a:p>
        </p:txBody>
      </p:sp>
      <p:sp>
        <p:nvSpPr>
          <p:cNvPr id="12" name="Text 10">
            <a:extLst>
              <a:ext uri="{FF2B5EF4-FFF2-40B4-BE49-F238E27FC236}">
                <a16:creationId xmlns:a16="http://schemas.microsoft.com/office/drawing/2014/main" id="{39315F1F-0CDB-9E62-5994-806A37FBA3C2}"/>
              </a:ext>
            </a:extLst>
          </p:cNvPr>
          <p:cNvSpPr txBox="1"/>
          <p:nvPr/>
        </p:nvSpPr>
        <p:spPr>
          <a:xfrm>
            <a:off x="8554605" y="2372379"/>
            <a:ext cx="3017520" cy="2556614"/>
          </a:xfrm>
          <a:prstGeom prst="rect">
            <a:avLst/>
          </a:prstGeom>
          <a:noFill/>
          <a:ln/>
        </p:spPr>
        <p:txBody>
          <a:bodyPr wrap="square" lIns="0" tIns="0" rIns="0" bIns="0" rtlCol="0" anchor="t"/>
          <a:lstStyle/>
          <a:p>
            <a:pPr marL="342900" marR="0" lvl="0" indent="-342900" algn="l" defTabSz="914400" rtl="0" eaLnBrk="1" fontAlgn="auto" latinLnBrk="0" hangingPunct="1">
              <a:lnSpc>
                <a:spcPct val="100000"/>
              </a:lnSpc>
              <a:spcBef>
                <a:spcPts val="0"/>
              </a:spcBef>
              <a:spcAft>
                <a:spcPts val="1400"/>
              </a:spcAft>
              <a:buClrTx/>
              <a:buSzPct val="100000"/>
              <a:buFontTx/>
              <a:buChar char="•"/>
              <a:tabLst/>
              <a:defRPr/>
            </a:pPr>
            <a:r>
              <a:rPr kumimoji="0" lang="en-US" sz="1600" b="0" i="0" u="none" strike="noStrike" kern="1200" cap="none" spc="0" normalizeH="0" baseline="0" noProof="0" dirty="0">
                <a:ln>
                  <a:noFill/>
                </a:ln>
                <a:solidFill>
                  <a:srgbClr val="222222"/>
                </a:solidFill>
                <a:effectLst/>
                <a:uLnTx/>
                <a:uFillTx/>
                <a:latin typeface="Arial Nova" panose="020B0504020202020204" pitchFamily="34" charset="0"/>
                <a:ea typeface="Arial" pitchFamily="34" charset="-122"/>
                <a:cs typeface="Arial" pitchFamily="34" charset="-120"/>
              </a:rPr>
              <a:t>You give it a goal, not a task.</a:t>
            </a:r>
            <a:endParaRPr kumimoji="0" lang="en-US" sz="1600" b="0" i="0" u="none" strike="noStrike" kern="1200" cap="none" spc="0" normalizeH="0" baseline="0" noProof="0" dirty="0">
              <a:ln>
                <a:noFill/>
              </a:ln>
              <a:solidFill>
                <a:prstClr val="black"/>
              </a:solidFill>
              <a:effectLst/>
              <a:uLnTx/>
              <a:uFillTx/>
              <a:latin typeface="Arial Nova" panose="020B0504020202020204" pitchFamily="34" charset="0"/>
            </a:endParaRPr>
          </a:p>
          <a:p>
            <a:pPr marL="342900" marR="0" lvl="0" indent="-342900" algn="l" defTabSz="914400" rtl="0" eaLnBrk="1" fontAlgn="auto" latinLnBrk="0" hangingPunct="1">
              <a:lnSpc>
                <a:spcPct val="100000"/>
              </a:lnSpc>
              <a:spcBef>
                <a:spcPts val="0"/>
              </a:spcBef>
              <a:spcAft>
                <a:spcPts val="1400"/>
              </a:spcAft>
              <a:buClrTx/>
              <a:buSzPct val="100000"/>
              <a:buFontTx/>
              <a:buChar char="•"/>
              <a:tabLst/>
              <a:defRPr/>
            </a:pPr>
            <a:r>
              <a:rPr kumimoji="0" lang="en-US" sz="1600" b="0" i="0" u="none" strike="noStrike" kern="1200" cap="none" spc="0" normalizeH="0" baseline="0" noProof="0" dirty="0">
                <a:ln>
                  <a:noFill/>
                </a:ln>
                <a:solidFill>
                  <a:srgbClr val="222222"/>
                </a:solidFill>
                <a:effectLst/>
                <a:uLnTx/>
                <a:uFillTx/>
                <a:latin typeface="Arial Nova" panose="020B0504020202020204" pitchFamily="34" charset="0"/>
                <a:ea typeface="Arial" pitchFamily="34" charset="-122"/>
                <a:cs typeface="Arial" pitchFamily="34" charset="-120"/>
              </a:rPr>
              <a:t>It moves around the floor, deciding what needs doing: fill the palletizer, clean up over there, stage some cartons, move that stock.</a:t>
            </a:r>
            <a:endParaRPr kumimoji="0" lang="en-US" sz="1600" b="0" i="0" u="none" strike="noStrike" kern="1200" cap="none" spc="0" normalizeH="0" baseline="0" noProof="0" dirty="0">
              <a:ln>
                <a:noFill/>
              </a:ln>
              <a:solidFill>
                <a:prstClr val="black"/>
              </a:solidFill>
              <a:effectLst/>
              <a:uLnTx/>
              <a:uFillTx/>
              <a:latin typeface="Arial Nova" panose="020B0504020202020204" pitchFamily="34" charset="0"/>
            </a:endParaRPr>
          </a:p>
          <a:p>
            <a:pPr marL="342900" marR="0" lvl="0" indent="-342900" algn="l" defTabSz="914400" rtl="0" eaLnBrk="1" fontAlgn="auto" latinLnBrk="0" hangingPunct="1">
              <a:lnSpc>
                <a:spcPct val="100000"/>
              </a:lnSpc>
              <a:spcBef>
                <a:spcPts val="0"/>
              </a:spcBef>
              <a:spcAft>
                <a:spcPts val="1400"/>
              </a:spcAft>
              <a:buClrTx/>
              <a:buSzPct val="100000"/>
              <a:buFontTx/>
              <a:buChar char="•"/>
              <a:tabLst/>
              <a:defRPr/>
            </a:pPr>
            <a:r>
              <a:rPr kumimoji="0" lang="en-US" sz="1600" b="1" i="0" u="none" strike="noStrike" kern="1200" cap="none" spc="0" normalizeH="0" baseline="0" noProof="0" dirty="0">
                <a:ln>
                  <a:noFill/>
                </a:ln>
                <a:solidFill>
                  <a:srgbClr val="222222"/>
                </a:solidFill>
                <a:effectLst/>
                <a:uLnTx/>
                <a:uFillTx/>
                <a:latin typeface="Arial Nova" panose="020B0504020202020204" pitchFamily="34" charset="0"/>
                <a:ea typeface="Arial" pitchFamily="34" charset="-122"/>
                <a:cs typeface="Arial" pitchFamily="34" charset="-120"/>
              </a:rPr>
              <a:t>Several jobs. Its own judgment.</a:t>
            </a:r>
            <a:endParaRPr kumimoji="0" lang="en-US" sz="1600" b="0" i="0" u="none" strike="noStrike" kern="1200" cap="none" spc="0" normalizeH="0" baseline="0" noProof="0" dirty="0">
              <a:ln>
                <a:noFill/>
              </a:ln>
              <a:solidFill>
                <a:prstClr val="black"/>
              </a:solidFill>
              <a:effectLst/>
              <a:uLnTx/>
              <a:uFillTx/>
              <a:latin typeface="Arial Nova" panose="020B0504020202020204" pitchFamily="34" charset="0"/>
            </a:endParaRPr>
          </a:p>
        </p:txBody>
      </p:sp>
      <p:sp>
        <p:nvSpPr>
          <p:cNvPr id="13" name="Shape 11">
            <a:extLst>
              <a:ext uri="{FF2B5EF4-FFF2-40B4-BE49-F238E27FC236}">
                <a16:creationId xmlns:a16="http://schemas.microsoft.com/office/drawing/2014/main" id="{ABA36DCA-3C6F-EEA8-7E72-FCCD7F75003A}"/>
              </a:ext>
            </a:extLst>
          </p:cNvPr>
          <p:cNvSpPr/>
          <p:nvPr/>
        </p:nvSpPr>
        <p:spPr>
          <a:xfrm>
            <a:off x="548640" y="5833872"/>
            <a:ext cx="11091672" cy="548640"/>
          </a:xfrm>
          <a:prstGeom prst="roundRect">
            <a:avLst>
              <a:gd name="adj" fmla="val 10000"/>
            </a:avLst>
          </a:prstGeom>
          <a:solidFill>
            <a:srgbClr val="16283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a:extLst>
              <a:ext uri="{FF2B5EF4-FFF2-40B4-BE49-F238E27FC236}">
                <a16:creationId xmlns:a16="http://schemas.microsoft.com/office/drawing/2014/main" id="{2B7EA724-5247-F4EE-03C6-5570CFB726C9}"/>
              </a:ext>
            </a:extLst>
          </p:cNvPr>
          <p:cNvSpPr txBox="1"/>
          <p:nvPr/>
        </p:nvSpPr>
        <p:spPr>
          <a:xfrm>
            <a:off x="777240" y="5833872"/>
            <a:ext cx="1065276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u="none" strike="noStrike" kern="1200" cap="none" spc="0" normalizeH="0" baseline="0" noProof="0" dirty="0">
                <a:ln>
                  <a:noFill/>
                </a:ln>
                <a:solidFill>
                  <a:srgbClr val="FFFFFF"/>
                </a:solidFill>
                <a:effectLst/>
                <a:uLnTx/>
                <a:uFillTx/>
                <a:latin typeface="Calibri Light" panose="020F0302020204030204" pitchFamily="34" charset="0"/>
                <a:ea typeface="Calibri Light" panose="020F0302020204030204" pitchFamily="34" charset="0"/>
                <a:cs typeface="Calibri Light" panose="020F0302020204030204" pitchFamily="34" charset="0"/>
              </a:rPr>
              <a:t>One task. Then several tasks. Then its own judgment about which task comes next</a:t>
            </a:r>
            <a:r>
              <a:rPr kumimoji="0" lang="en-US" sz="1500" b="0" i="1"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Box 19">
            <a:extLst>
              <a:ext uri="{FF2B5EF4-FFF2-40B4-BE49-F238E27FC236}">
                <a16:creationId xmlns:a16="http://schemas.microsoft.com/office/drawing/2014/main" id="{F0CDFCBF-6A63-E8DF-C0D3-D0BEEF908B9F}"/>
              </a:ext>
            </a:extLst>
          </p:cNvPr>
          <p:cNvSpPr txBox="1"/>
          <p:nvPr/>
        </p:nvSpPr>
        <p:spPr>
          <a:xfrm>
            <a:off x="548640" y="1551868"/>
            <a:ext cx="2398363" cy="461665"/>
          </a:xfrm>
          <a:prstGeom prst="rect">
            <a:avLst/>
          </a:prstGeom>
          <a:noFill/>
        </p:spPr>
        <p:txBody>
          <a:bodyPr wrap="square" rtlCol="0">
            <a:spAutoFit/>
          </a:bodyPr>
          <a:lstStyle/>
          <a:p>
            <a:pPr lvl="0">
              <a:defRPr/>
            </a:pPr>
            <a:r>
              <a:rPr lang="en-US" sz="2400" b="1" kern="0" spc="200" dirty="0">
                <a:solidFill>
                  <a:schemeClr val="accent1">
                    <a:lumMod val="50000"/>
                  </a:schemeClr>
                </a:solidFill>
                <a:latin typeface="Arial Nova" panose="020B0504020202020204" pitchFamily="34" charset="0"/>
                <a:ea typeface="Arial" pitchFamily="34" charset="-122"/>
                <a:cs typeface="Arial" pitchFamily="34" charset="-120"/>
              </a:rPr>
              <a:t>Traditionally</a:t>
            </a:r>
            <a:endParaRPr lang="en-US" sz="2400" dirty="0">
              <a:solidFill>
                <a:schemeClr val="accent1">
                  <a:lumMod val="50000"/>
                </a:schemeClr>
              </a:solidFill>
              <a:latin typeface="Arial Nova" panose="020B0504020202020204" pitchFamily="34" charset="0"/>
            </a:endParaRPr>
          </a:p>
        </p:txBody>
      </p:sp>
    </p:spTree>
    <p:extLst>
      <p:ext uri="{BB962C8B-B14F-4D97-AF65-F5344CB8AC3E}">
        <p14:creationId xmlns:p14="http://schemas.microsoft.com/office/powerpoint/2010/main" val="21993696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82E755B-5DA8-5BFB-0C87-8E0EA596E91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65336A0-84F5-2F56-F974-7486A511FCC4}"/>
              </a:ext>
            </a:extLst>
          </p:cNvPr>
          <p:cNvSpPr txBox="1"/>
          <p:nvPr/>
        </p:nvSpPr>
        <p:spPr>
          <a:xfrm>
            <a:off x="548640" y="384048"/>
            <a:ext cx="11091672"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4472C4">
                    <a:lumMod val="75000"/>
                  </a:srgbClr>
                </a:solidFill>
                <a:effectLst/>
                <a:uLnTx/>
                <a:uFillTx/>
                <a:latin typeface="Arial Nova" panose="020B0504020202020204" pitchFamily="34" charset="0"/>
                <a:ea typeface="Georgia" pitchFamily="34" charset="-122"/>
                <a:cs typeface="Georgia" pitchFamily="34" charset="-120"/>
              </a:rPr>
              <a:t>AI: the intellectually challenged genius</a:t>
            </a:r>
            <a:endParaRPr kumimoji="0" lang="en-US" sz="2800" b="0" i="0" u="none" strike="noStrike" kern="1200" cap="none" spc="0" normalizeH="0" baseline="0" noProof="0" dirty="0">
              <a:ln>
                <a:noFill/>
              </a:ln>
              <a:solidFill>
                <a:srgbClr val="4472C4">
                  <a:lumMod val="75000"/>
                </a:srgbClr>
              </a:solidFill>
              <a:effectLst/>
              <a:uLnTx/>
              <a:uFillTx/>
              <a:latin typeface="Arial Nova" panose="020B0504020202020204" pitchFamily="34" charset="0"/>
              <a:ea typeface="+mn-ea"/>
              <a:cs typeface="+mn-cs"/>
            </a:endParaRPr>
          </a:p>
        </p:txBody>
      </p:sp>
      <p:sp>
        <p:nvSpPr>
          <p:cNvPr id="3" name="Text 1">
            <a:extLst>
              <a:ext uri="{FF2B5EF4-FFF2-40B4-BE49-F238E27FC236}">
                <a16:creationId xmlns:a16="http://schemas.microsoft.com/office/drawing/2014/main" id="{DDA8E6BB-E860-4BD6-5A6B-AE5B7269A621}"/>
              </a:ext>
            </a:extLst>
          </p:cNvPr>
          <p:cNvSpPr txBox="1"/>
          <p:nvPr/>
        </p:nvSpPr>
        <p:spPr>
          <a:xfrm>
            <a:off x="548640" y="6473952"/>
            <a:ext cx="11091672"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67085"/>
                </a:solidFill>
                <a:effectLst/>
                <a:uLnTx/>
                <a:uFillTx/>
                <a:latin typeface="Arial" pitchFamily="34" charset="0"/>
                <a:ea typeface="Arial" pitchFamily="34" charset="-122"/>
                <a:cs typeface="Arial" pitchFamily="34" charset="-120"/>
              </a:rPr>
              <a:t>Shiftwork Solutions LLC  |  (415) 265-1621  |  www.shift-work.com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8C235401-A4FA-B120-AFF7-B2933432AE16}"/>
              </a:ext>
            </a:extLst>
          </p:cNvPr>
          <p:cNvSpPr/>
          <p:nvPr/>
        </p:nvSpPr>
        <p:spPr>
          <a:xfrm>
            <a:off x="1205047" y="1604772"/>
            <a:ext cx="3925389" cy="3507377"/>
          </a:xfrm>
          <a:prstGeom prst="roundRect">
            <a:avLst>
              <a:gd name="adj" fmla="val 1489"/>
            </a:avLst>
          </a:prstGeom>
          <a:solidFill>
            <a:srgbClr val="F2F5F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a:extLst>
              <a:ext uri="{FF2B5EF4-FFF2-40B4-BE49-F238E27FC236}">
                <a16:creationId xmlns:a16="http://schemas.microsoft.com/office/drawing/2014/main" id="{6148DEA2-2F32-C9E1-2C69-AB2C7EFEDB64}"/>
              </a:ext>
            </a:extLst>
          </p:cNvPr>
          <p:cNvSpPr txBox="1"/>
          <p:nvPr/>
        </p:nvSpPr>
        <p:spPr>
          <a:xfrm>
            <a:off x="1476102" y="1794511"/>
            <a:ext cx="2292531"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200" normalizeH="0" baseline="0" noProof="0" dirty="0">
                <a:ln>
                  <a:noFill/>
                </a:ln>
                <a:solidFill>
                  <a:srgbClr val="2A7F7F"/>
                </a:solidFill>
                <a:effectLst/>
                <a:uLnTx/>
                <a:uFillTx/>
                <a:latin typeface="Arial" pitchFamily="34" charset="0"/>
                <a:ea typeface="Arial" pitchFamily="34" charset="-122"/>
                <a:cs typeface="Arial" pitchFamily="34" charset="-120"/>
              </a:rPr>
              <a:t>GENIUS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a:extLst>
              <a:ext uri="{FF2B5EF4-FFF2-40B4-BE49-F238E27FC236}">
                <a16:creationId xmlns:a16="http://schemas.microsoft.com/office/drawing/2014/main" id="{34A28CAF-3B5C-2158-35D6-20FC5CA9872C}"/>
              </a:ext>
            </a:extLst>
          </p:cNvPr>
          <p:cNvSpPr txBox="1"/>
          <p:nvPr/>
        </p:nvSpPr>
        <p:spPr>
          <a:xfrm>
            <a:off x="1521822" y="2202398"/>
            <a:ext cx="3291840" cy="2816352"/>
          </a:xfrm>
          <a:prstGeom prst="rect">
            <a:avLst/>
          </a:prstGeom>
          <a:noFill/>
          <a:ln/>
        </p:spPr>
        <p:txBody>
          <a:bodyPr wrap="square" lIns="0" tIns="0" rIns="0" bIns="0" rtlCol="0" anchor="t"/>
          <a:lstStyle/>
          <a:p>
            <a:pPr marL="342900" marR="0" lvl="0" indent="-342900" algn="l" defTabSz="914400" rtl="0" eaLnBrk="1" fontAlgn="auto" latinLnBrk="0" hangingPunct="1">
              <a:lnSpc>
                <a:spcPct val="100000"/>
              </a:lnSpc>
              <a:spcBef>
                <a:spcPts val="0"/>
              </a:spcBef>
              <a:spcAft>
                <a:spcPts val="1400"/>
              </a:spcAft>
              <a:buClrTx/>
              <a:buSzPct val="100000"/>
              <a:buFontTx/>
              <a:buChar char="•"/>
              <a:tabLst/>
              <a:defRPr/>
            </a:pPr>
            <a:r>
              <a:rPr kumimoji="0" lang="en-US" sz="1600" b="0" i="0" u="none" strike="noStrike" kern="1200" cap="none" spc="0" normalizeH="0" baseline="0" noProof="0" dirty="0">
                <a:ln>
                  <a:noFill/>
                </a:ln>
                <a:solidFill>
                  <a:srgbClr val="222222"/>
                </a:solidFill>
                <a:effectLst/>
                <a:uLnTx/>
                <a:uFillTx/>
                <a:latin typeface="Arial Nova" panose="020B0504020202020204" pitchFamily="34" charset="0"/>
                <a:ea typeface="Arial" pitchFamily="34" charset="-122"/>
                <a:cs typeface="Arial" pitchFamily="34" charset="-120"/>
              </a:rPr>
              <a:t>I asked it to take the stellar mass of our solar system, age every known star, and track how the mass and density changed over time — then tell me how much dark matter is still unaccounted for.</a:t>
            </a:r>
            <a:endParaRPr kumimoji="0" lang="en-US" sz="1600" b="0" i="0" u="none" strike="noStrike" kern="1200" cap="none" spc="0" normalizeH="0" baseline="0" noProof="0" dirty="0">
              <a:ln>
                <a:noFill/>
              </a:ln>
              <a:solidFill>
                <a:prstClr val="black"/>
              </a:solidFill>
              <a:effectLst/>
              <a:uLnTx/>
              <a:uFillTx/>
              <a:latin typeface="Arial Nova" panose="020B0504020202020204" pitchFamily="34" charset="0"/>
              <a:ea typeface="+mn-ea"/>
              <a:cs typeface="+mn-cs"/>
            </a:endParaRPr>
          </a:p>
          <a:p>
            <a:pPr marL="342900" marR="0" lvl="0" indent="-342900" algn="l" defTabSz="914400" rtl="0" eaLnBrk="1" fontAlgn="auto" latinLnBrk="0" hangingPunct="1">
              <a:lnSpc>
                <a:spcPct val="100000"/>
              </a:lnSpc>
              <a:spcBef>
                <a:spcPts val="0"/>
              </a:spcBef>
              <a:spcAft>
                <a:spcPts val="1400"/>
              </a:spcAft>
              <a:buClrTx/>
              <a:buSzPct val="100000"/>
              <a:buFontTx/>
              <a:buChar char="•"/>
              <a:tabLst/>
              <a:defRPr/>
            </a:pPr>
            <a:r>
              <a:rPr kumimoji="0" lang="en-US" sz="1600" b="1" i="0" u="none" strike="noStrike" kern="1200" cap="none" spc="0" normalizeH="0" baseline="0" noProof="0" dirty="0">
                <a:ln>
                  <a:noFill/>
                </a:ln>
                <a:solidFill>
                  <a:srgbClr val="222222"/>
                </a:solidFill>
                <a:effectLst/>
                <a:uLnTx/>
                <a:uFillTx/>
                <a:latin typeface="Arial Nova" panose="020B0504020202020204" pitchFamily="34" charset="0"/>
                <a:ea typeface="Arial" pitchFamily="34" charset="-122"/>
                <a:cs typeface="Arial" pitchFamily="34" charset="-120"/>
              </a:rPr>
              <a:t>It researched everything and came back in minutes with an</a:t>
            </a:r>
            <a:r>
              <a:rPr lang="en-US" sz="1600" b="1" dirty="0">
                <a:solidFill>
                  <a:srgbClr val="222222"/>
                </a:solidFill>
                <a:latin typeface="Arial Nova" panose="020B0504020202020204" pitchFamily="34" charset="0"/>
                <a:ea typeface="Arial" pitchFamily="34" charset="-122"/>
                <a:cs typeface="Arial" pitchFamily="34" charset="-120"/>
              </a:rPr>
              <a:t> exact </a:t>
            </a:r>
            <a:r>
              <a:rPr kumimoji="0" lang="en-US" sz="1600" b="1" i="0" u="none" strike="noStrike" kern="1200" cap="none" spc="0" normalizeH="0" baseline="0" noProof="0" dirty="0">
                <a:ln>
                  <a:noFill/>
                </a:ln>
                <a:solidFill>
                  <a:srgbClr val="222222"/>
                </a:solidFill>
                <a:effectLst/>
                <a:uLnTx/>
                <a:uFillTx/>
                <a:latin typeface="Arial Nova" panose="020B0504020202020204" pitchFamily="34" charset="0"/>
                <a:ea typeface="Arial" pitchFamily="34" charset="-122"/>
                <a:cs typeface="Arial" pitchFamily="34" charset="-120"/>
              </a:rPr>
              <a:t>answer.</a:t>
            </a:r>
            <a:endParaRPr kumimoji="0" lang="en-US" sz="1600" b="0" i="0" u="none" strike="noStrike" kern="1200" cap="none" spc="0" normalizeH="0" baseline="0" noProof="0" dirty="0">
              <a:ln>
                <a:noFill/>
              </a:ln>
              <a:solidFill>
                <a:prstClr val="black"/>
              </a:solidFill>
              <a:effectLst/>
              <a:uLnTx/>
              <a:uFillTx/>
              <a:latin typeface="Arial Nova" panose="020B0504020202020204" pitchFamily="34" charset="0"/>
              <a:ea typeface="+mn-ea"/>
              <a:cs typeface="+mn-cs"/>
            </a:endParaRPr>
          </a:p>
        </p:txBody>
      </p:sp>
      <p:sp>
        <p:nvSpPr>
          <p:cNvPr id="7" name="Shape 5">
            <a:extLst>
              <a:ext uri="{FF2B5EF4-FFF2-40B4-BE49-F238E27FC236}">
                <a16:creationId xmlns:a16="http://schemas.microsoft.com/office/drawing/2014/main" id="{6B5FF40E-81D8-9492-F0D4-4ABF2D8AD7F1}"/>
              </a:ext>
            </a:extLst>
          </p:cNvPr>
          <p:cNvSpPr/>
          <p:nvPr/>
        </p:nvSpPr>
        <p:spPr>
          <a:xfrm>
            <a:off x="6642450" y="1604772"/>
            <a:ext cx="3822193" cy="3507377"/>
          </a:xfrm>
          <a:prstGeom prst="roundRect">
            <a:avLst>
              <a:gd name="adj" fmla="val 1489"/>
            </a:avLst>
          </a:prstGeom>
          <a:solidFill>
            <a:srgbClr val="16283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a:extLst>
              <a:ext uri="{FF2B5EF4-FFF2-40B4-BE49-F238E27FC236}">
                <a16:creationId xmlns:a16="http://schemas.microsoft.com/office/drawing/2014/main" id="{5010ADD0-3CE3-3614-53AE-3000136FA439}"/>
              </a:ext>
            </a:extLst>
          </p:cNvPr>
          <p:cNvSpPr txBox="1"/>
          <p:nvPr/>
        </p:nvSpPr>
        <p:spPr>
          <a:xfrm>
            <a:off x="6963796" y="1788305"/>
            <a:ext cx="3048871"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200" normalizeH="0" baseline="0" noProof="0" dirty="0">
                <a:ln>
                  <a:noFill/>
                </a:ln>
                <a:solidFill>
                  <a:srgbClr val="C9A227"/>
                </a:solidFill>
                <a:effectLst/>
                <a:uLnTx/>
                <a:uFillTx/>
                <a:latin typeface="Arial" pitchFamily="34" charset="0"/>
                <a:ea typeface="Arial" pitchFamily="34" charset="-122"/>
                <a:cs typeface="Arial" pitchFamily="34" charset="-120"/>
              </a:rPr>
              <a:t>CHALLENGED</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a:extLst>
              <a:ext uri="{FF2B5EF4-FFF2-40B4-BE49-F238E27FC236}">
                <a16:creationId xmlns:a16="http://schemas.microsoft.com/office/drawing/2014/main" id="{25FFB1F2-97D9-2DE9-856E-CC1DEADEE943}"/>
              </a:ext>
            </a:extLst>
          </p:cNvPr>
          <p:cNvSpPr txBox="1"/>
          <p:nvPr/>
        </p:nvSpPr>
        <p:spPr>
          <a:xfrm>
            <a:off x="6963796" y="2171047"/>
            <a:ext cx="3133779" cy="3105041"/>
          </a:xfrm>
          <a:prstGeom prst="rect">
            <a:avLst/>
          </a:prstGeom>
          <a:noFill/>
          <a:ln/>
        </p:spPr>
        <p:txBody>
          <a:bodyPr wrap="square" lIns="0" tIns="0" rIns="0" bIns="0" rtlCol="0" anchor="t"/>
          <a:lstStyle/>
          <a:p>
            <a:pPr marL="342900" marR="0" lvl="0" indent="-342900" algn="l" defTabSz="914400" rtl="0" eaLnBrk="1" fontAlgn="auto" latinLnBrk="0" hangingPunct="1">
              <a:lnSpc>
                <a:spcPct val="100000"/>
              </a:lnSpc>
              <a:spcBef>
                <a:spcPts val="0"/>
              </a:spcBef>
              <a:spcAft>
                <a:spcPts val="1400"/>
              </a:spcAft>
              <a:buClrTx/>
              <a:buSzPct val="100000"/>
              <a:buFontTx/>
              <a:buChar char="•"/>
              <a:tabLst/>
              <a:defRPr/>
            </a:pPr>
            <a:r>
              <a:rPr kumimoji="0" lang="en-US" sz="1900" b="0" i="0" u="none" strike="noStrike" kern="1200" cap="none" spc="0" normalizeH="0" baseline="0" noProof="0" dirty="0">
                <a:ln>
                  <a:noFill/>
                </a:ln>
                <a:solidFill>
                  <a:srgbClr val="E6EBF2"/>
                </a:solidFill>
                <a:effectLst/>
                <a:uLnTx/>
                <a:uFillTx/>
                <a:latin typeface="Arial Nova" panose="020B0504020202020204" pitchFamily="34" charset="0"/>
                <a:ea typeface="Arial" pitchFamily="34" charset="-122"/>
                <a:cs typeface="Arial" pitchFamily="34" charset="-120"/>
              </a:rPr>
              <a:t>The same day, I asked for a simple 24/7 schedule: two crews fixed, two crews rotating.</a:t>
            </a:r>
            <a:endParaRPr kumimoji="0" lang="en-US" sz="1900" b="0" i="0" u="none" strike="noStrike" kern="1200" cap="none" spc="0" normalizeH="0" baseline="0" noProof="0" dirty="0">
              <a:ln>
                <a:noFill/>
              </a:ln>
              <a:solidFill>
                <a:prstClr val="black"/>
              </a:solidFill>
              <a:effectLst/>
              <a:uLnTx/>
              <a:uFillTx/>
              <a:latin typeface="Arial Nova" panose="020B0504020202020204" pitchFamily="34" charset="0"/>
              <a:ea typeface="+mn-ea"/>
              <a:cs typeface="+mn-cs"/>
            </a:endParaRPr>
          </a:p>
          <a:p>
            <a:pPr marL="342900" marR="0" lvl="0" indent="-342900" algn="l" defTabSz="914400" rtl="0" eaLnBrk="1" fontAlgn="auto" latinLnBrk="0" hangingPunct="1">
              <a:lnSpc>
                <a:spcPct val="100000"/>
              </a:lnSpc>
              <a:spcBef>
                <a:spcPts val="0"/>
              </a:spcBef>
              <a:spcAft>
                <a:spcPts val="1400"/>
              </a:spcAft>
              <a:buClrTx/>
              <a:buSzPct val="100000"/>
              <a:buFontTx/>
              <a:buChar char="•"/>
              <a:tabLst/>
              <a:defRPr/>
            </a:pPr>
            <a:r>
              <a:rPr kumimoji="0" lang="en-US" sz="1900" b="1" i="0" u="none" strike="noStrike" kern="1200" cap="none" spc="0" normalizeH="0" baseline="0" noProof="0" dirty="0">
                <a:ln>
                  <a:noFill/>
                </a:ln>
                <a:solidFill>
                  <a:srgbClr val="E6EBF2"/>
                </a:solidFill>
                <a:effectLst/>
                <a:uLnTx/>
                <a:uFillTx/>
                <a:latin typeface="Arial Nova" panose="020B0504020202020204" pitchFamily="34" charset="0"/>
                <a:ea typeface="Arial" pitchFamily="34" charset="-122"/>
                <a:cs typeface="Arial" pitchFamily="34" charset="-120"/>
              </a:rPr>
              <a:t>It could not do it. No matter how hard it tried.</a:t>
            </a:r>
            <a:endParaRPr kumimoji="0" lang="en-US" sz="1900" b="0" i="0" u="none" strike="noStrike" kern="1200" cap="none" spc="0" normalizeH="0" baseline="0" noProof="0" dirty="0">
              <a:ln>
                <a:noFill/>
              </a:ln>
              <a:solidFill>
                <a:prstClr val="black"/>
              </a:solidFill>
              <a:effectLst/>
              <a:uLnTx/>
              <a:uFillTx/>
              <a:latin typeface="Arial Nova" panose="020B0504020202020204" pitchFamily="34" charset="0"/>
              <a:ea typeface="+mn-ea"/>
              <a:cs typeface="+mn-cs"/>
            </a:endParaRPr>
          </a:p>
        </p:txBody>
      </p:sp>
      <p:sp>
        <p:nvSpPr>
          <p:cNvPr id="10" name="Shape 8">
            <a:extLst>
              <a:ext uri="{FF2B5EF4-FFF2-40B4-BE49-F238E27FC236}">
                <a16:creationId xmlns:a16="http://schemas.microsoft.com/office/drawing/2014/main" id="{A7F050E2-D6AE-45C8-96AA-8894DC95BD88}"/>
              </a:ext>
            </a:extLst>
          </p:cNvPr>
          <p:cNvSpPr/>
          <p:nvPr/>
        </p:nvSpPr>
        <p:spPr>
          <a:xfrm>
            <a:off x="548640" y="5605272"/>
            <a:ext cx="11091672" cy="777240"/>
          </a:xfrm>
          <a:prstGeom prst="roundRect">
            <a:avLst>
              <a:gd name="adj" fmla="val 7059"/>
            </a:avLst>
          </a:prstGeom>
          <a:solidFill>
            <a:srgbClr val="16283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a:extLst>
              <a:ext uri="{FF2B5EF4-FFF2-40B4-BE49-F238E27FC236}">
                <a16:creationId xmlns:a16="http://schemas.microsoft.com/office/drawing/2014/main" id="{7B9AA959-1EAF-2AFC-6930-B0E1AD9DD245}"/>
              </a:ext>
            </a:extLst>
          </p:cNvPr>
          <p:cNvSpPr txBox="1"/>
          <p:nvPr/>
        </p:nvSpPr>
        <p:spPr>
          <a:xfrm>
            <a:off x="777240" y="5605272"/>
            <a:ext cx="1065276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FFFFFF"/>
                </a:solidFill>
                <a:effectLst/>
                <a:uLnTx/>
                <a:uFillTx/>
                <a:latin typeface="Arial Nova" panose="020B0504020202020204" pitchFamily="34" charset="0"/>
                <a:ea typeface="Georgia" pitchFamily="34" charset="-122"/>
                <a:cs typeface="Georgia" pitchFamily="34" charset="-120"/>
              </a:rPr>
              <a:t>Astrophysics in minutes. A basic schedule, never. What's hard for AI and what's hard for a person are not the same list.</a:t>
            </a:r>
            <a:endParaRPr kumimoji="0" lang="en-US" sz="1300" b="0" i="0" u="none" strike="noStrike" kern="1200" cap="none" spc="0" normalizeH="0" baseline="0" noProof="0" dirty="0">
              <a:ln>
                <a:noFill/>
              </a:ln>
              <a:solidFill>
                <a:prstClr val="black"/>
              </a:solidFill>
              <a:effectLst/>
              <a:uLnTx/>
              <a:uFillTx/>
              <a:latin typeface="Arial Nova" panose="020B0504020202020204" pitchFamily="34" charset="0"/>
              <a:ea typeface="+mn-ea"/>
              <a:cs typeface="+mn-cs"/>
            </a:endParaRPr>
          </a:p>
        </p:txBody>
      </p:sp>
      <p:pic>
        <p:nvPicPr>
          <p:cNvPr id="33" name="Picture 32">
            <a:extLst>
              <a:ext uri="{FF2B5EF4-FFF2-40B4-BE49-F238E27FC236}">
                <a16:creationId xmlns:a16="http://schemas.microsoft.com/office/drawing/2014/main" id="{1BEFE508-6F3D-3A30-1512-A7E3CC5EA968}"/>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9293144" y="1303673"/>
            <a:ext cx="645144" cy="640081"/>
          </a:xfrm>
          <a:prstGeom prst="rect">
            <a:avLst/>
          </a:prstGeom>
        </p:spPr>
      </p:pic>
      <p:pic>
        <p:nvPicPr>
          <p:cNvPr id="41" name="Picture 40">
            <a:extLst>
              <a:ext uri="{FF2B5EF4-FFF2-40B4-BE49-F238E27FC236}">
                <a16:creationId xmlns:a16="http://schemas.microsoft.com/office/drawing/2014/main" id="{F2A6D4D4-49FC-1F8E-9B7A-A4B480E85044}"/>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3918224" y="1246371"/>
            <a:ext cx="1092258" cy="819194"/>
          </a:xfrm>
          <a:prstGeom prst="rect">
            <a:avLst/>
          </a:prstGeom>
        </p:spPr>
      </p:pic>
      <p:sp>
        <p:nvSpPr>
          <p:cNvPr id="42" name="Arrow: Left-Right 41">
            <a:extLst>
              <a:ext uri="{FF2B5EF4-FFF2-40B4-BE49-F238E27FC236}">
                <a16:creationId xmlns:a16="http://schemas.microsoft.com/office/drawing/2014/main" id="{48DD87BB-EBB6-3204-E3AE-A5FA2989C6E6}"/>
              </a:ext>
            </a:extLst>
          </p:cNvPr>
          <p:cNvSpPr/>
          <p:nvPr/>
        </p:nvSpPr>
        <p:spPr>
          <a:xfrm>
            <a:off x="5163086" y="2874481"/>
            <a:ext cx="1433642" cy="849086"/>
          </a:xfrm>
          <a:prstGeom prst="leftRightArrow">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72596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17F63D6-357B-7A0E-7FBB-935D510DFF8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C6F6DFA-70AB-8B3D-8E7F-0D28A7BF570B}"/>
              </a:ext>
            </a:extLst>
          </p:cNvPr>
          <p:cNvSpPr txBox="1"/>
          <p:nvPr/>
        </p:nvSpPr>
        <p:spPr>
          <a:xfrm>
            <a:off x="548640" y="384048"/>
            <a:ext cx="11091672"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chemeClr val="accent1">
                    <a:lumMod val="75000"/>
                  </a:schemeClr>
                </a:solidFill>
                <a:effectLst/>
                <a:uLnTx/>
                <a:uFillTx/>
                <a:latin typeface="Arial Nova" panose="020B0504020202020204" pitchFamily="34" charset="0"/>
                <a:ea typeface="Georgia" pitchFamily="34" charset="-122"/>
                <a:cs typeface="Georgia" pitchFamily="34" charset="-120"/>
              </a:rPr>
              <a:t>What will be impacted in manufacturing by AI</a:t>
            </a:r>
            <a:endParaRPr kumimoji="0" lang="en-US" sz="2800" b="0" i="0" u="none" strike="noStrike" kern="1200" cap="none" spc="0" normalizeH="0" baseline="0" noProof="0" dirty="0">
              <a:ln>
                <a:noFill/>
              </a:ln>
              <a:solidFill>
                <a:schemeClr val="accent1">
                  <a:lumMod val="75000"/>
                </a:schemeClr>
              </a:solidFill>
              <a:effectLst/>
              <a:uLnTx/>
              <a:uFillTx/>
              <a:latin typeface="Arial Nova" panose="020B0504020202020204" pitchFamily="34" charset="0"/>
            </a:endParaRPr>
          </a:p>
        </p:txBody>
      </p:sp>
      <p:sp>
        <p:nvSpPr>
          <p:cNvPr id="3" name="Text 1">
            <a:extLst>
              <a:ext uri="{FF2B5EF4-FFF2-40B4-BE49-F238E27FC236}">
                <a16:creationId xmlns:a16="http://schemas.microsoft.com/office/drawing/2014/main" id="{314408E6-5AD5-6293-BD60-C0F2CEC5C94B}"/>
              </a:ext>
            </a:extLst>
          </p:cNvPr>
          <p:cNvSpPr txBox="1"/>
          <p:nvPr/>
        </p:nvSpPr>
        <p:spPr>
          <a:xfrm>
            <a:off x="548640" y="6473952"/>
            <a:ext cx="11091672"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67085"/>
                </a:solidFill>
                <a:effectLst/>
                <a:uLnTx/>
                <a:uFillTx/>
                <a:latin typeface="Arial" pitchFamily="34" charset="0"/>
                <a:ea typeface="Arial" pitchFamily="34" charset="-122"/>
                <a:cs typeface="Arial" pitchFamily="34" charset="-120"/>
              </a:rPr>
              <a:t>Shiftwork Solutions LLC  |  (415) 265-1621  |  www.shift-work.com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E6458E38-BEFC-9EF3-C68C-FA3100FAD80F}"/>
              </a:ext>
            </a:extLst>
          </p:cNvPr>
          <p:cNvSpPr/>
          <p:nvPr/>
        </p:nvSpPr>
        <p:spPr>
          <a:xfrm>
            <a:off x="548640" y="1280160"/>
            <a:ext cx="11091672" cy="786384"/>
          </a:xfrm>
          <a:prstGeom prst="roundRect">
            <a:avLst>
              <a:gd name="adj" fmla="val 8140"/>
            </a:avLst>
          </a:prstGeom>
          <a:solidFill>
            <a:srgbClr val="F2F5F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a:extLst>
              <a:ext uri="{FF2B5EF4-FFF2-40B4-BE49-F238E27FC236}">
                <a16:creationId xmlns:a16="http://schemas.microsoft.com/office/drawing/2014/main" id="{329C3275-4220-0312-8403-2E5B49DEC20B}"/>
              </a:ext>
            </a:extLst>
          </p:cNvPr>
          <p:cNvSpPr txBox="1"/>
          <p:nvPr/>
        </p:nvSpPr>
        <p:spPr>
          <a:xfrm>
            <a:off x="777240" y="1280160"/>
            <a:ext cx="640080"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C9A227"/>
                </a:solidFill>
                <a:effectLst/>
                <a:uLnTx/>
                <a:uFillTx/>
                <a:latin typeface="Georgia" pitchFamily="34" charset="0"/>
                <a:ea typeface="Georgia" pitchFamily="34" charset="-122"/>
                <a:cs typeface="Georgia" pitchFamily="34" charset="-120"/>
              </a:rPr>
              <a:t>1</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a:extLst>
              <a:ext uri="{FF2B5EF4-FFF2-40B4-BE49-F238E27FC236}">
                <a16:creationId xmlns:a16="http://schemas.microsoft.com/office/drawing/2014/main" id="{8D7CE909-9ADC-3D09-0CBF-CC93EF471FF7}"/>
              </a:ext>
            </a:extLst>
          </p:cNvPr>
          <p:cNvSpPr txBox="1"/>
          <p:nvPr/>
        </p:nvSpPr>
        <p:spPr>
          <a:xfrm>
            <a:off x="1554480" y="1280160"/>
            <a:ext cx="9966960"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16283F"/>
                </a:solidFill>
                <a:effectLst/>
                <a:uLnTx/>
                <a:uFillTx/>
                <a:latin typeface="Arial Nova" panose="020B0504020202020204" pitchFamily="34" charset="0"/>
                <a:ea typeface="Georgia" pitchFamily="34" charset="-122"/>
                <a:cs typeface="Georgia" pitchFamily="34" charset="-120"/>
              </a:rPr>
              <a:t>Maintenance</a:t>
            </a:r>
            <a:endParaRPr kumimoji="0" lang="en-US" b="0" i="0" u="none" strike="noStrike" kern="1200" cap="none" spc="0" normalizeH="0" baseline="0" noProof="0" dirty="0">
              <a:ln>
                <a:noFill/>
              </a:ln>
              <a:solidFill>
                <a:prstClr val="black"/>
              </a:solidFill>
              <a:effectLst/>
              <a:uLnTx/>
              <a:uFillTx/>
              <a:latin typeface="Arial Nova" panose="020B05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222222"/>
                </a:solidFill>
                <a:effectLst/>
                <a:uLnTx/>
                <a:uFillTx/>
                <a:latin typeface="Arial Nova" panose="020B0504020202020204" pitchFamily="34" charset="0"/>
                <a:ea typeface="Arial" pitchFamily="34" charset="-122"/>
                <a:cs typeface="Arial" pitchFamily="34" charset="-120"/>
              </a:rPr>
              <a:t>Predicting the failure before the break, and keeping the right parts on the shelf.</a:t>
            </a:r>
            <a:endParaRPr kumimoji="0" lang="en-US" sz="1400" b="0" i="0" u="none" strike="noStrike" kern="1200" cap="none" spc="0" normalizeH="0" baseline="0" noProof="0" dirty="0">
              <a:ln>
                <a:noFill/>
              </a:ln>
              <a:solidFill>
                <a:prstClr val="black"/>
              </a:solidFill>
              <a:effectLst/>
              <a:uLnTx/>
              <a:uFillTx/>
              <a:latin typeface="Arial Nova" panose="020B0504020202020204" pitchFamily="34" charset="0"/>
            </a:endParaRPr>
          </a:p>
        </p:txBody>
      </p:sp>
      <p:sp>
        <p:nvSpPr>
          <p:cNvPr id="7" name="Shape 5">
            <a:extLst>
              <a:ext uri="{FF2B5EF4-FFF2-40B4-BE49-F238E27FC236}">
                <a16:creationId xmlns:a16="http://schemas.microsoft.com/office/drawing/2014/main" id="{7E43DA3F-608E-841C-54B0-78E6D002FE2F}"/>
              </a:ext>
            </a:extLst>
          </p:cNvPr>
          <p:cNvSpPr/>
          <p:nvPr/>
        </p:nvSpPr>
        <p:spPr>
          <a:xfrm>
            <a:off x="548640" y="2176272"/>
            <a:ext cx="11091672" cy="786384"/>
          </a:xfrm>
          <a:prstGeom prst="roundRect">
            <a:avLst>
              <a:gd name="adj" fmla="val 8140"/>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a:extLst>
              <a:ext uri="{FF2B5EF4-FFF2-40B4-BE49-F238E27FC236}">
                <a16:creationId xmlns:a16="http://schemas.microsoft.com/office/drawing/2014/main" id="{C05F202D-22B9-FCD1-6AEC-1D1127F5F854}"/>
              </a:ext>
            </a:extLst>
          </p:cNvPr>
          <p:cNvSpPr txBox="1"/>
          <p:nvPr/>
        </p:nvSpPr>
        <p:spPr>
          <a:xfrm>
            <a:off x="777240" y="2176272"/>
            <a:ext cx="640080"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C9A227"/>
                </a:solidFill>
                <a:effectLst/>
                <a:uLnTx/>
                <a:uFillTx/>
                <a:latin typeface="Georgia" pitchFamily="34" charset="0"/>
                <a:ea typeface="Georgia" pitchFamily="34" charset="-122"/>
                <a:cs typeface="Georgia" pitchFamily="34" charset="-120"/>
              </a:rPr>
              <a:t>2</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a:extLst>
              <a:ext uri="{FF2B5EF4-FFF2-40B4-BE49-F238E27FC236}">
                <a16:creationId xmlns:a16="http://schemas.microsoft.com/office/drawing/2014/main" id="{94D3ADE4-BEDB-9A96-2340-9C6551582CFC}"/>
              </a:ext>
            </a:extLst>
          </p:cNvPr>
          <p:cNvSpPr txBox="1"/>
          <p:nvPr/>
        </p:nvSpPr>
        <p:spPr>
          <a:xfrm>
            <a:off x="1554480" y="2176272"/>
            <a:ext cx="9966960"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16283F"/>
                </a:solidFill>
                <a:effectLst/>
                <a:uLnTx/>
                <a:uFillTx/>
                <a:latin typeface="Arial Nova" panose="020B0504020202020204" pitchFamily="34" charset="0"/>
                <a:ea typeface="Georgia" pitchFamily="34" charset="-122"/>
                <a:cs typeface="Georgia" pitchFamily="34" charset="-120"/>
              </a:rPr>
              <a:t>Production scheduling</a:t>
            </a:r>
            <a:endParaRPr kumimoji="0" lang="en-US" b="0" i="0" u="none" strike="noStrike" kern="1200" cap="none" spc="0" normalizeH="0" baseline="0" noProof="0" dirty="0">
              <a:ln>
                <a:noFill/>
              </a:ln>
              <a:solidFill>
                <a:prstClr val="black"/>
              </a:solidFill>
              <a:effectLst/>
              <a:uLnTx/>
              <a:uFillTx/>
              <a:latin typeface="Arial Nova" panose="020B05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222222"/>
                </a:solidFill>
                <a:effectLst/>
                <a:uLnTx/>
                <a:uFillTx/>
                <a:latin typeface="Arial Nova" panose="020B0504020202020204" pitchFamily="34" charset="0"/>
                <a:ea typeface="Arial" pitchFamily="34" charset="-122"/>
                <a:cs typeface="Arial" pitchFamily="34" charset="-120"/>
              </a:rPr>
              <a:t>Sequencing what runs, in what order, against orders, inventory, and crew qualifications.</a:t>
            </a:r>
            <a:endParaRPr kumimoji="0" lang="en-US" sz="1400" b="0" i="0" u="none" strike="noStrike" kern="1200" cap="none" spc="0" normalizeH="0" baseline="0" noProof="0" dirty="0">
              <a:ln>
                <a:noFill/>
              </a:ln>
              <a:solidFill>
                <a:prstClr val="black"/>
              </a:solidFill>
              <a:effectLst/>
              <a:uLnTx/>
              <a:uFillTx/>
              <a:latin typeface="Arial Nova" panose="020B0504020202020204" pitchFamily="34" charset="0"/>
            </a:endParaRPr>
          </a:p>
        </p:txBody>
      </p:sp>
      <p:sp>
        <p:nvSpPr>
          <p:cNvPr id="10" name="Shape 8">
            <a:extLst>
              <a:ext uri="{FF2B5EF4-FFF2-40B4-BE49-F238E27FC236}">
                <a16:creationId xmlns:a16="http://schemas.microsoft.com/office/drawing/2014/main" id="{1D292E66-B8D4-1350-303D-A937B57AD00A}"/>
              </a:ext>
            </a:extLst>
          </p:cNvPr>
          <p:cNvSpPr/>
          <p:nvPr/>
        </p:nvSpPr>
        <p:spPr>
          <a:xfrm>
            <a:off x="548640" y="3072384"/>
            <a:ext cx="11091672" cy="786384"/>
          </a:xfrm>
          <a:prstGeom prst="roundRect">
            <a:avLst>
              <a:gd name="adj" fmla="val 8140"/>
            </a:avLst>
          </a:prstGeom>
          <a:solidFill>
            <a:srgbClr val="F2F5F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a:extLst>
              <a:ext uri="{FF2B5EF4-FFF2-40B4-BE49-F238E27FC236}">
                <a16:creationId xmlns:a16="http://schemas.microsoft.com/office/drawing/2014/main" id="{B6DC77D2-35CD-02FA-0EA8-E04698F4B4EE}"/>
              </a:ext>
            </a:extLst>
          </p:cNvPr>
          <p:cNvSpPr txBox="1"/>
          <p:nvPr/>
        </p:nvSpPr>
        <p:spPr>
          <a:xfrm>
            <a:off x="777240" y="3072384"/>
            <a:ext cx="640080"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C9A227"/>
                </a:solidFill>
                <a:effectLst/>
                <a:uLnTx/>
                <a:uFillTx/>
                <a:latin typeface="Georgia" pitchFamily="34" charset="0"/>
                <a:ea typeface="Georgia" pitchFamily="34" charset="-122"/>
                <a:cs typeface="Georgia" pitchFamily="34" charset="-120"/>
              </a:rPr>
              <a:t>3</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a:extLst>
              <a:ext uri="{FF2B5EF4-FFF2-40B4-BE49-F238E27FC236}">
                <a16:creationId xmlns:a16="http://schemas.microsoft.com/office/drawing/2014/main" id="{8BCBD990-BEB6-CBF0-6FF8-AB5400FAA570}"/>
              </a:ext>
            </a:extLst>
          </p:cNvPr>
          <p:cNvSpPr txBox="1"/>
          <p:nvPr/>
        </p:nvSpPr>
        <p:spPr>
          <a:xfrm>
            <a:off x="1554480" y="3072384"/>
            <a:ext cx="9966960"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16283F"/>
                </a:solidFill>
                <a:effectLst/>
                <a:uLnTx/>
                <a:uFillTx/>
                <a:latin typeface="Arial Nova" panose="020B0504020202020204" pitchFamily="34" charset="0"/>
                <a:ea typeface="Georgia" pitchFamily="34" charset="-122"/>
                <a:cs typeface="Georgia" pitchFamily="34" charset="-120"/>
              </a:rPr>
              <a:t>Supply chain</a:t>
            </a:r>
            <a:endParaRPr kumimoji="0" lang="en-US" b="0" i="0" u="none" strike="noStrike" kern="1200" cap="none" spc="0" normalizeH="0" baseline="0" noProof="0" dirty="0">
              <a:ln>
                <a:noFill/>
              </a:ln>
              <a:solidFill>
                <a:prstClr val="black"/>
              </a:solidFill>
              <a:effectLst/>
              <a:uLnTx/>
              <a:uFillTx/>
              <a:latin typeface="Arial Nova" panose="020B05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222222"/>
                </a:solidFill>
                <a:effectLst/>
                <a:uLnTx/>
                <a:uFillTx/>
                <a:latin typeface="Arial Nova" panose="020B0504020202020204" pitchFamily="34" charset="0"/>
                <a:ea typeface="Arial" pitchFamily="34" charset="-122"/>
                <a:cs typeface="Arial" pitchFamily="34" charset="-120"/>
              </a:rPr>
              <a:t>Seeing disruptions coming — and knowing what to order, when, and from whom.</a:t>
            </a:r>
            <a:endParaRPr kumimoji="0" lang="en-US" sz="1400" b="0" i="0" u="none" strike="noStrike" kern="1200" cap="none" spc="0" normalizeH="0" baseline="0" noProof="0" dirty="0">
              <a:ln>
                <a:noFill/>
              </a:ln>
              <a:solidFill>
                <a:prstClr val="black"/>
              </a:solidFill>
              <a:effectLst/>
              <a:uLnTx/>
              <a:uFillTx/>
              <a:latin typeface="Arial Nova" panose="020B0504020202020204" pitchFamily="34" charset="0"/>
            </a:endParaRPr>
          </a:p>
        </p:txBody>
      </p:sp>
      <p:sp>
        <p:nvSpPr>
          <p:cNvPr id="13" name="Shape 11">
            <a:extLst>
              <a:ext uri="{FF2B5EF4-FFF2-40B4-BE49-F238E27FC236}">
                <a16:creationId xmlns:a16="http://schemas.microsoft.com/office/drawing/2014/main" id="{218BF006-B881-A0BB-72F9-B2CF448910B8}"/>
              </a:ext>
            </a:extLst>
          </p:cNvPr>
          <p:cNvSpPr/>
          <p:nvPr/>
        </p:nvSpPr>
        <p:spPr>
          <a:xfrm>
            <a:off x="548640" y="3968496"/>
            <a:ext cx="11091672" cy="786384"/>
          </a:xfrm>
          <a:prstGeom prst="roundRect">
            <a:avLst>
              <a:gd name="adj" fmla="val 8140"/>
            </a:avLst>
          </a:prstGeom>
          <a:solidFill>
            <a:srgbClr val="FFFF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a:extLst>
              <a:ext uri="{FF2B5EF4-FFF2-40B4-BE49-F238E27FC236}">
                <a16:creationId xmlns:a16="http://schemas.microsoft.com/office/drawing/2014/main" id="{91E4934B-4102-E8FD-4858-394654634925}"/>
              </a:ext>
            </a:extLst>
          </p:cNvPr>
          <p:cNvSpPr txBox="1"/>
          <p:nvPr/>
        </p:nvSpPr>
        <p:spPr>
          <a:xfrm>
            <a:off x="777240" y="3968496"/>
            <a:ext cx="640080"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C9A227"/>
                </a:solidFill>
                <a:effectLst/>
                <a:uLnTx/>
                <a:uFillTx/>
                <a:latin typeface="Georgia" pitchFamily="34" charset="0"/>
                <a:ea typeface="Georgia" pitchFamily="34" charset="-122"/>
                <a:cs typeface="Georgia" pitchFamily="34" charset="-120"/>
              </a:rPr>
              <a:t>4</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a:extLst>
              <a:ext uri="{FF2B5EF4-FFF2-40B4-BE49-F238E27FC236}">
                <a16:creationId xmlns:a16="http://schemas.microsoft.com/office/drawing/2014/main" id="{9EBB7E4A-F87E-0379-E256-8BB7C4F9DD6A}"/>
              </a:ext>
            </a:extLst>
          </p:cNvPr>
          <p:cNvSpPr txBox="1"/>
          <p:nvPr/>
        </p:nvSpPr>
        <p:spPr>
          <a:xfrm>
            <a:off x="1554480" y="3968496"/>
            <a:ext cx="9966960"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16283F"/>
                </a:solidFill>
                <a:effectLst/>
                <a:uLnTx/>
                <a:uFillTx/>
                <a:latin typeface="Arial Nova" panose="020B0504020202020204" pitchFamily="34" charset="0"/>
                <a:ea typeface="Georgia" pitchFamily="34" charset="-122"/>
                <a:cs typeface="Georgia" pitchFamily="34" charset="-120"/>
              </a:rPr>
              <a:t>Quality inspection</a:t>
            </a:r>
            <a:endParaRPr kumimoji="0" lang="en-US" b="0" i="0" u="none" strike="noStrike" kern="1200" cap="none" spc="0" normalizeH="0" baseline="0" noProof="0" dirty="0">
              <a:ln>
                <a:noFill/>
              </a:ln>
              <a:solidFill>
                <a:prstClr val="black"/>
              </a:solidFill>
              <a:effectLst/>
              <a:uLnTx/>
              <a:uFillTx/>
              <a:latin typeface="Arial Nova" panose="020B05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222222"/>
                </a:solidFill>
                <a:effectLst/>
                <a:uLnTx/>
                <a:uFillTx/>
                <a:latin typeface="Arial Nova" panose="020B0504020202020204" pitchFamily="34" charset="0"/>
                <a:ea typeface="Arial" pitchFamily="34" charset="-122"/>
                <a:cs typeface="Arial" pitchFamily="34" charset="-120"/>
              </a:rPr>
              <a:t>Catching defects faster and more consistently than a human eye alone.</a:t>
            </a:r>
            <a:endParaRPr kumimoji="0" lang="en-US" sz="1400" b="0" i="0" u="none" strike="noStrike" kern="1200" cap="none" spc="0" normalizeH="0" baseline="0" noProof="0" dirty="0">
              <a:ln>
                <a:noFill/>
              </a:ln>
              <a:solidFill>
                <a:prstClr val="black"/>
              </a:solidFill>
              <a:effectLst/>
              <a:uLnTx/>
              <a:uFillTx/>
              <a:latin typeface="Arial Nova" panose="020B0504020202020204" pitchFamily="34" charset="0"/>
            </a:endParaRPr>
          </a:p>
        </p:txBody>
      </p:sp>
      <p:sp>
        <p:nvSpPr>
          <p:cNvPr id="16" name="Shape 14">
            <a:extLst>
              <a:ext uri="{FF2B5EF4-FFF2-40B4-BE49-F238E27FC236}">
                <a16:creationId xmlns:a16="http://schemas.microsoft.com/office/drawing/2014/main" id="{C3F9BAEE-C602-1DA5-4D5F-DA884DCB71EE}"/>
              </a:ext>
            </a:extLst>
          </p:cNvPr>
          <p:cNvSpPr/>
          <p:nvPr/>
        </p:nvSpPr>
        <p:spPr>
          <a:xfrm>
            <a:off x="548640" y="4864608"/>
            <a:ext cx="11091672" cy="786384"/>
          </a:xfrm>
          <a:prstGeom prst="roundRect">
            <a:avLst>
              <a:gd name="adj" fmla="val 8140"/>
            </a:avLst>
          </a:prstGeom>
          <a:solidFill>
            <a:srgbClr val="F2F5F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a:extLst>
              <a:ext uri="{FF2B5EF4-FFF2-40B4-BE49-F238E27FC236}">
                <a16:creationId xmlns:a16="http://schemas.microsoft.com/office/drawing/2014/main" id="{6189C64D-CFA8-7AB0-B605-D2014F26C3E6}"/>
              </a:ext>
            </a:extLst>
          </p:cNvPr>
          <p:cNvSpPr txBox="1"/>
          <p:nvPr/>
        </p:nvSpPr>
        <p:spPr>
          <a:xfrm>
            <a:off x="777240" y="4864608"/>
            <a:ext cx="640080"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C9A227"/>
                </a:solidFill>
                <a:effectLst/>
                <a:uLnTx/>
                <a:uFillTx/>
                <a:latin typeface="Georgia" pitchFamily="34" charset="0"/>
                <a:ea typeface="Georgia" pitchFamily="34" charset="-122"/>
                <a:cs typeface="Georgia" pitchFamily="34" charset="-120"/>
              </a:rPr>
              <a:t>5</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a:extLst>
              <a:ext uri="{FF2B5EF4-FFF2-40B4-BE49-F238E27FC236}">
                <a16:creationId xmlns:a16="http://schemas.microsoft.com/office/drawing/2014/main" id="{6F3C4F91-1397-28D6-C159-976C5FABE2F6}"/>
              </a:ext>
            </a:extLst>
          </p:cNvPr>
          <p:cNvSpPr txBox="1"/>
          <p:nvPr/>
        </p:nvSpPr>
        <p:spPr>
          <a:xfrm>
            <a:off x="1554480" y="4864608"/>
            <a:ext cx="9966960"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16283F"/>
                </a:solidFill>
                <a:effectLst/>
                <a:uLnTx/>
                <a:uFillTx/>
                <a:latin typeface="Arial Nova" panose="020B0504020202020204" pitchFamily="34" charset="0"/>
                <a:ea typeface="Georgia" pitchFamily="34" charset="-122"/>
                <a:cs typeface="Georgia" pitchFamily="34" charset="-120"/>
              </a:rPr>
              <a:t>Your workforce</a:t>
            </a:r>
            <a:endParaRPr kumimoji="0" lang="en-US" b="0" i="0" u="none" strike="noStrike" kern="1200" cap="none" spc="0" normalizeH="0" baseline="0" noProof="0" dirty="0">
              <a:ln>
                <a:noFill/>
              </a:ln>
              <a:solidFill>
                <a:prstClr val="black"/>
              </a:solidFill>
              <a:effectLst/>
              <a:uLnTx/>
              <a:uFillTx/>
              <a:latin typeface="Arial Nova" panose="020B05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222222"/>
                </a:solidFill>
                <a:effectLst/>
                <a:uLnTx/>
                <a:uFillTx/>
                <a:latin typeface="Arial Nova" panose="020B0504020202020204" pitchFamily="34" charset="0"/>
                <a:ea typeface="Arial" pitchFamily="34" charset="-122"/>
                <a:cs typeface="Arial" pitchFamily="34" charset="-120"/>
              </a:rPr>
              <a:t>Training, recruiting, and scheduling — the part of this talk that touches everyone.</a:t>
            </a:r>
            <a:endParaRPr kumimoji="0" lang="en-US" sz="1400" b="0" i="0" u="none" strike="noStrike" kern="1200" cap="none" spc="0" normalizeH="0" baseline="0" noProof="0" dirty="0">
              <a:ln>
                <a:noFill/>
              </a:ln>
              <a:solidFill>
                <a:prstClr val="black"/>
              </a:solidFill>
              <a:effectLst/>
              <a:uLnTx/>
              <a:uFillTx/>
              <a:latin typeface="Arial Nova" panose="020B0504020202020204" pitchFamily="34" charset="0"/>
            </a:endParaRPr>
          </a:p>
        </p:txBody>
      </p:sp>
    </p:spTree>
    <p:extLst>
      <p:ext uri="{BB962C8B-B14F-4D97-AF65-F5344CB8AC3E}">
        <p14:creationId xmlns:p14="http://schemas.microsoft.com/office/powerpoint/2010/main" val="32691330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3AE7F87-FAAC-9CAA-941C-CF18B21BD53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7F3EB42-C231-126D-6D1E-16E9BBD6ACA6}"/>
              </a:ext>
            </a:extLst>
          </p:cNvPr>
          <p:cNvSpPr txBox="1"/>
          <p:nvPr/>
        </p:nvSpPr>
        <p:spPr>
          <a:xfrm>
            <a:off x="548640" y="384048"/>
            <a:ext cx="11091672"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chemeClr val="accent1">
                    <a:lumMod val="75000"/>
                  </a:schemeClr>
                </a:solidFill>
                <a:effectLst/>
                <a:uLnTx/>
                <a:uFillTx/>
                <a:latin typeface="Arial Nova" panose="020B0504020202020204" pitchFamily="34" charset="0"/>
                <a:ea typeface="Georgia" pitchFamily="34" charset="-122"/>
                <a:cs typeface="Georgia" pitchFamily="34" charset="-120"/>
              </a:rPr>
              <a:t>Before you build: two decisions</a:t>
            </a:r>
            <a:endParaRPr kumimoji="0" lang="en-US" sz="2800" b="0" i="0" u="none" strike="noStrike" kern="1200" cap="none" spc="0" normalizeH="0" baseline="0" noProof="0" dirty="0">
              <a:ln>
                <a:noFill/>
              </a:ln>
              <a:solidFill>
                <a:schemeClr val="accent1">
                  <a:lumMod val="75000"/>
                </a:schemeClr>
              </a:solidFill>
              <a:effectLst/>
              <a:uLnTx/>
              <a:uFillTx/>
              <a:latin typeface="Arial Nova" panose="020B0504020202020204" pitchFamily="34" charset="0"/>
            </a:endParaRPr>
          </a:p>
        </p:txBody>
      </p:sp>
      <p:sp>
        <p:nvSpPr>
          <p:cNvPr id="3" name="Text 1">
            <a:extLst>
              <a:ext uri="{FF2B5EF4-FFF2-40B4-BE49-F238E27FC236}">
                <a16:creationId xmlns:a16="http://schemas.microsoft.com/office/drawing/2014/main" id="{B7B7C4B3-2E2F-B115-D600-80F0FF243C44}"/>
              </a:ext>
            </a:extLst>
          </p:cNvPr>
          <p:cNvSpPr txBox="1"/>
          <p:nvPr/>
        </p:nvSpPr>
        <p:spPr>
          <a:xfrm>
            <a:off x="548640" y="6473952"/>
            <a:ext cx="11091672"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67085"/>
                </a:solidFill>
                <a:effectLst/>
                <a:uLnTx/>
                <a:uFillTx/>
                <a:latin typeface="Arial" pitchFamily="34" charset="0"/>
                <a:ea typeface="Arial" pitchFamily="34" charset="-122"/>
                <a:cs typeface="Arial" pitchFamily="34" charset="-120"/>
              </a:rPr>
              <a:t>Shiftwork Solutions LLC  |  (415) 265-1621  |  www.shift-work.com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15" name="Table 0">
            <a:extLst>
              <a:ext uri="{FF2B5EF4-FFF2-40B4-BE49-F238E27FC236}">
                <a16:creationId xmlns:a16="http://schemas.microsoft.com/office/drawing/2014/main" id="{AF0BE778-D5E6-98DA-A78C-CDDBE1800830}"/>
              </a:ext>
            </a:extLst>
          </p:cNvPr>
          <p:cNvGraphicFramePr>
            <a:graphicFrameLocks noGrp="1"/>
          </p:cNvGraphicFramePr>
          <p:nvPr>
            <p:extLst>
              <p:ext uri="{D42A27DB-BD31-4B8C-83A1-F6EECF244321}">
                <p14:modId xmlns:p14="http://schemas.microsoft.com/office/powerpoint/2010/main" val="2482664370"/>
              </p:ext>
            </p:extLst>
          </p:nvPr>
        </p:nvGraphicFramePr>
        <p:xfrm>
          <a:off x="6864179" y="1492873"/>
          <a:ext cx="4565822" cy="3078480"/>
        </p:xfrm>
        <a:graphic>
          <a:graphicData uri="http://schemas.openxmlformats.org/drawingml/2006/table">
            <a:tbl>
              <a:tblPr/>
              <a:tblGrid>
                <a:gridCol w="905291">
                  <a:extLst>
                    <a:ext uri="{9D8B030D-6E8A-4147-A177-3AD203B41FA5}">
                      <a16:colId xmlns:a16="http://schemas.microsoft.com/office/drawing/2014/main" val="20000"/>
                    </a:ext>
                  </a:extLst>
                </a:gridCol>
                <a:gridCol w="3660531">
                  <a:extLst>
                    <a:ext uri="{9D8B030D-6E8A-4147-A177-3AD203B41FA5}">
                      <a16:colId xmlns:a16="http://schemas.microsoft.com/office/drawing/2014/main" val="20001"/>
                    </a:ext>
                  </a:extLst>
                </a:gridCol>
              </a:tblGrid>
              <a:tr h="343166">
                <a:tc>
                  <a:txBody>
                    <a:bodyPr/>
                    <a:lstStyle/>
                    <a:p>
                      <a:pPr marL="0" indent="0">
                        <a:buNone/>
                      </a:pPr>
                      <a:r>
                        <a:rPr lang="en-US" sz="1400" b="1" dirty="0">
                          <a:solidFill>
                            <a:srgbClr val="FFFFFF"/>
                          </a:solidFill>
                          <a:latin typeface="Arial" pitchFamily="34" charset="0"/>
                          <a:ea typeface="Arial" pitchFamily="34" charset="-122"/>
                          <a:cs typeface="Arial" pitchFamily="34" charset="-120"/>
                        </a:rPr>
                        <a:t>Model</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6283F"/>
                    </a:solidFill>
                  </a:tcPr>
                </a:tc>
                <a:tc>
                  <a:txBody>
                    <a:bodyPr/>
                    <a:lstStyle/>
                    <a:p>
                      <a:pPr marL="0" indent="0">
                        <a:buNone/>
                      </a:pPr>
                      <a:r>
                        <a:rPr lang="en-US" sz="1400" b="1" dirty="0">
                          <a:solidFill>
                            <a:srgbClr val="FFFFFF"/>
                          </a:solidFill>
                          <a:latin typeface="Arial" pitchFamily="34" charset="0"/>
                          <a:ea typeface="Arial" pitchFamily="34" charset="-122"/>
                          <a:cs typeface="Arial" pitchFamily="34" charset="-120"/>
                        </a:rPr>
                        <a:t>What it's for</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6283F"/>
                    </a:solidFill>
                  </a:tcPr>
                </a:tc>
                <a:extLst>
                  <a:ext uri="{0D108BD9-81ED-4DB2-BD59-A6C34878D82A}">
                    <a16:rowId xmlns:a16="http://schemas.microsoft.com/office/drawing/2014/main" val="10000"/>
                  </a:ext>
                </a:extLst>
              </a:tr>
              <a:tr h="546740">
                <a:tc>
                  <a:txBody>
                    <a:bodyPr/>
                    <a:lstStyle/>
                    <a:p>
                      <a:pPr marL="0" indent="0">
                        <a:buNone/>
                      </a:pPr>
                      <a:r>
                        <a:rPr lang="en-US" sz="1400" b="1" dirty="0">
                          <a:solidFill>
                            <a:srgbClr val="16283F"/>
                          </a:solidFill>
                          <a:latin typeface="Arial" pitchFamily="34" charset="0"/>
                          <a:ea typeface="Arial" pitchFamily="34" charset="-122"/>
                          <a:cs typeface="Arial" pitchFamily="34" charset="-120"/>
                        </a:rPr>
                        <a:t>Haiku</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5F8"/>
                    </a:solidFill>
                  </a:tcPr>
                </a:tc>
                <a:tc>
                  <a:txBody>
                    <a:bodyPr/>
                    <a:lstStyle/>
                    <a:p>
                      <a:pPr marL="0" indent="0">
                        <a:buNone/>
                      </a:pPr>
                      <a:r>
                        <a:rPr lang="en-US" sz="1400" dirty="0">
                          <a:solidFill>
                            <a:srgbClr val="222222"/>
                          </a:solidFill>
                          <a:latin typeface="Arial" pitchFamily="34" charset="0"/>
                          <a:ea typeface="Arial" pitchFamily="34" charset="-122"/>
                          <a:cs typeface="Arial" pitchFamily="34" charset="-120"/>
                        </a:rPr>
                        <a:t>Quick conversations, spitballing, brainstorming. Cheapest.</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750313">
                <a:tc>
                  <a:txBody>
                    <a:bodyPr/>
                    <a:lstStyle/>
                    <a:p>
                      <a:pPr marL="0" indent="0">
                        <a:buNone/>
                      </a:pPr>
                      <a:r>
                        <a:rPr lang="en-US" sz="1400" b="1" dirty="0">
                          <a:solidFill>
                            <a:srgbClr val="16283F"/>
                          </a:solidFill>
                          <a:latin typeface="Arial" pitchFamily="34" charset="0"/>
                          <a:ea typeface="Arial" pitchFamily="34" charset="-122"/>
                          <a:cs typeface="Arial" pitchFamily="34" charset="-120"/>
                        </a:rPr>
                        <a:t>Sonnet</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buNone/>
                      </a:pPr>
                      <a:r>
                        <a:rPr lang="en-US" sz="1400" dirty="0">
                          <a:solidFill>
                            <a:srgbClr val="222222"/>
                          </a:solidFill>
                          <a:latin typeface="Arial" pitchFamily="34" charset="0"/>
                          <a:ea typeface="Arial" pitchFamily="34" charset="-122"/>
                          <a:cs typeface="Arial" pitchFamily="34" charset="-120"/>
                        </a:rPr>
                        <a:t>The contractor. Writes code fast and inexpensively when you tell it what you want.</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2"/>
                  </a:ext>
                </a:extLst>
              </a:tr>
              <a:tr h="546740">
                <a:tc>
                  <a:txBody>
                    <a:bodyPr/>
                    <a:lstStyle/>
                    <a:p>
                      <a:pPr marL="0" indent="0">
                        <a:buNone/>
                      </a:pPr>
                      <a:r>
                        <a:rPr lang="en-US" sz="1400" b="1" dirty="0">
                          <a:solidFill>
                            <a:srgbClr val="16283F"/>
                          </a:solidFill>
                          <a:latin typeface="Arial" pitchFamily="34" charset="0"/>
                          <a:ea typeface="Arial" pitchFamily="34" charset="-122"/>
                          <a:cs typeface="Arial" pitchFamily="34" charset="-120"/>
                        </a:rPr>
                        <a:t>Opus</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5F8"/>
                    </a:solidFill>
                  </a:tcPr>
                </a:tc>
                <a:tc>
                  <a:txBody>
                    <a:bodyPr/>
                    <a:lstStyle/>
                    <a:p>
                      <a:pPr marL="0" indent="0">
                        <a:buNone/>
                      </a:pPr>
                      <a:r>
                        <a:rPr lang="en-US" sz="1400" dirty="0">
                          <a:solidFill>
                            <a:srgbClr val="222222"/>
                          </a:solidFill>
                          <a:latin typeface="Arial" pitchFamily="34" charset="0"/>
                          <a:ea typeface="Arial" pitchFamily="34" charset="-122"/>
                          <a:cs typeface="Arial" pitchFamily="34" charset="-120"/>
                        </a:rPr>
                        <a:t>The architect. Holds the big picture of a complex project and directs the contractor.</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5F8"/>
                    </a:solidFill>
                  </a:tcPr>
                </a:tc>
                <a:extLst>
                  <a:ext uri="{0D108BD9-81ED-4DB2-BD59-A6C34878D82A}">
                    <a16:rowId xmlns:a16="http://schemas.microsoft.com/office/drawing/2014/main" val="10003"/>
                  </a:ext>
                </a:extLst>
              </a:tr>
              <a:tr h="750313">
                <a:tc>
                  <a:txBody>
                    <a:bodyPr/>
                    <a:lstStyle/>
                    <a:p>
                      <a:pPr marL="0" indent="0">
                        <a:buNone/>
                      </a:pPr>
                      <a:r>
                        <a:rPr lang="en-US" sz="1400" b="1" dirty="0">
                          <a:solidFill>
                            <a:srgbClr val="16283F"/>
                          </a:solidFill>
                          <a:latin typeface="Arial" pitchFamily="34" charset="0"/>
                          <a:ea typeface="Arial" pitchFamily="34" charset="-122"/>
                          <a:cs typeface="Arial" pitchFamily="34" charset="-120"/>
                        </a:rPr>
                        <a:t>Fable</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buNone/>
                      </a:pPr>
                      <a:r>
                        <a:rPr lang="en-US" sz="1400" dirty="0">
                          <a:solidFill>
                            <a:srgbClr val="222222"/>
                          </a:solidFill>
                          <a:latin typeface="Arial" pitchFamily="34" charset="0"/>
                          <a:ea typeface="Arial" pitchFamily="34" charset="-122"/>
                          <a:cs typeface="Arial" pitchFamily="34" charset="-120"/>
                        </a:rPr>
                        <a:t>For when you're not building a building — you're building a city. The most powerful, and the most expensive.</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Shape 3">
            <a:extLst>
              <a:ext uri="{FF2B5EF4-FFF2-40B4-BE49-F238E27FC236}">
                <a16:creationId xmlns:a16="http://schemas.microsoft.com/office/drawing/2014/main" id="{98C05EF7-502F-4D00-85B5-5D797E02013A}"/>
              </a:ext>
            </a:extLst>
          </p:cNvPr>
          <p:cNvSpPr/>
          <p:nvPr/>
        </p:nvSpPr>
        <p:spPr>
          <a:xfrm>
            <a:off x="548640" y="5605272"/>
            <a:ext cx="11091672" cy="777240"/>
          </a:xfrm>
          <a:prstGeom prst="roundRect">
            <a:avLst>
              <a:gd name="adj" fmla="val 7059"/>
            </a:avLst>
          </a:prstGeom>
          <a:solidFill>
            <a:srgbClr val="16283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4">
            <a:extLst>
              <a:ext uri="{FF2B5EF4-FFF2-40B4-BE49-F238E27FC236}">
                <a16:creationId xmlns:a16="http://schemas.microsoft.com/office/drawing/2014/main" id="{E925BC4E-6531-3B9F-30B7-C408B195057F}"/>
              </a:ext>
            </a:extLst>
          </p:cNvPr>
          <p:cNvSpPr txBox="1"/>
          <p:nvPr/>
        </p:nvSpPr>
        <p:spPr>
          <a:xfrm>
            <a:off x="777240" y="5605272"/>
            <a:ext cx="1065276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u="none" strike="noStrike" kern="1200" cap="none" spc="0" normalizeH="0" baseline="0" noProof="0" dirty="0">
                <a:ln>
                  <a:noFill/>
                </a:ln>
                <a:solidFill>
                  <a:srgbClr val="FFFFFF"/>
                </a:solidFill>
                <a:effectLst/>
                <a:uLnTx/>
                <a:uFillTx/>
                <a:latin typeface="Calibri Light" panose="020F0302020204030204" pitchFamily="34" charset="0"/>
                <a:ea typeface="Calibri Light" panose="020F0302020204030204" pitchFamily="34" charset="0"/>
                <a:cs typeface="Calibri Light" panose="020F0302020204030204" pitchFamily="34" charset="0"/>
              </a:rPr>
              <a:t>Rule of thumb: the bigger and more interconnected the project, the more capable (and costly) the model you start with. It can delegate the routine work.</a:t>
            </a:r>
            <a:endParaRPr kumimoji="0" lang="en-US" sz="1300" b="0" u="none" strike="noStrike" kern="1200" cap="none" spc="0" normalizeH="0" baseline="0" noProof="0" dirty="0">
              <a:ln>
                <a:noFill/>
              </a:ln>
              <a:solidFill>
                <a:prstClr val="black"/>
              </a:solidFill>
              <a:effectLst/>
              <a:uLnTx/>
              <a:uFillTx/>
              <a:latin typeface="Calibri Light" panose="020F0302020204030204" pitchFamily="34" charset="0"/>
              <a:ea typeface="Calibri Light" panose="020F0302020204030204" pitchFamily="34" charset="0"/>
              <a:cs typeface="Calibri Light" panose="020F0302020204030204" pitchFamily="34" charset="0"/>
            </a:endParaRPr>
          </a:p>
        </p:txBody>
      </p:sp>
      <p:graphicFrame>
        <p:nvGraphicFramePr>
          <p:cNvPr id="5" name="Diagram 4">
            <a:extLst>
              <a:ext uri="{FF2B5EF4-FFF2-40B4-BE49-F238E27FC236}">
                <a16:creationId xmlns:a16="http://schemas.microsoft.com/office/drawing/2014/main" id="{7B678E80-EE68-A02F-9802-2A2856ABF2F7}"/>
              </a:ext>
            </a:extLst>
          </p:cNvPr>
          <p:cNvGraphicFramePr/>
          <p:nvPr>
            <p:extLst>
              <p:ext uri="{D42A27DB-BD31-4B8C-83A1-F6EECF244321}">
                <p14:modId xmlns:p14="http://schemas.microsoft.com/office/powerpoint/2010/main" val="619865913"/>
              </p:ext>
            </p:extLst>
          </p:nvPr>
        </p:nvGraphicFramePr>
        <p:xfrm>
          <a:off x="548640" y="1487837"/>
          <a:ext cx="4967411" cy="35619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Arrow: Striped Right 7">
            <a:extLst>
              <a:ext uri="{FF2B5EF4-FFF2-40B4-BE49-F238E27FC236}">
                <a16:creationId xmlns:a16="http://schemas.microsoft.com/office/drawing/2014/main" id="{E1AC1474-E71B-7C16-B589-DE25EDD7CB73}"/>
              </a:ext>
            </a:extLst>
          </p:cNvPr>
          <p:cNvSpPr/>
          <p:nvPr/>
        </p:nvSpPr>
        <p:spPr>
          <a:xfrm rot="10800000">
            <a:off x="5989949" y="2774082"/>
            <a:ext cx="556054" cy="640080"/>
          </a:xfrm>
          <a:prstGeom prst="strip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Striped Right 8">
            <a:extLst>
              <a:ext uri="{FF2B5EF4-FFF2-40B4-BE49-F238E27FC236}">
                <a16:creationId xmlns:a16="http://schemas.microsoft.com/office/drawing/2014/main" id="{670DA3BC-0FF3-2329-A9D3-071DAB0F3899}"/>
              </a:ext>
            </a:extLst>
          </p:cNvPr>
          <p:cNvSpPr/>
          <p:nvPr/>
        </p:nvSpPr>
        <p:spPr>
          <a:xfrm rot="10800000">
            <a:off x="5989949" y="1847373"/>
            <a:ext cx="556054" cy="640080"/>
          </a:xfrm>
          <a:prstGeom prst="strip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Striped Right 9">
            <a:extLst>
              <a:ext uri="{FF2B5EF4-FFF2-40B4-BE49-F238E27FC236}">
                <a16:creationId xmlns:a16="http://schemas.microsoft.com/office/drawing/2014/main" id="{4B1D018A-ADDC-C79F-755B-E0D2C952E913}"/>
              </a:ext>
            </a:extLst>
          </p:cNvPr>
          <p:cNvSpPr/>
          <p:nvPr/>
        </p:nvSpPr>
        <p:spPr>
          <a:xfrm rot="10800000">
            <a:off x="6056367" y="3765095"/>
            <a:ext cx="556054" cy="640080"/>
          </a:xfrm>
          <a:prstGeom prst="strip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974731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6283F"/>
        </a:solidFill>
        <a:effectLst/>
      </p:bgPr>
    </p:bg>
    <p:spTree>
      <p:nvGrpSpPr>
        <p:cNvPr id="1" name="">
          <a:extLst>
            <a:ext uri="{FF2B5EF4-FFF2-40B4-BE49-F238E27FC236}">
              <a16:creationId xmlns:a16="http://schemas.microsoft.com/office/drawing/2014/main" id="{D0A5E62F-EFAE-0287-6E1E-BA28AF6D7D8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07FB1BC-CD93-34B6-8F16-D4586B391E21}"/>
              </a:ext>
            </a:extLst>
          </p:cNvPr>
          <p:cNvSpPr txBox="1"/>
          <p:nvPr/>
        </p:nvSpPr>
        <p:spPr>
          <a:xfrm>
            <a:off x="1495168" y="6472963"/>
            <a:ext cx="5574134"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FA1B8"/>
                </a:solidFill>
                <a:effectLst/>
                <a:uLnTx/>
                <a:uFillTx/>
                <a:latin typeface="Arial" pitchFamily="34" charset="0"/>
                <a:ea typeface="Arial" pitchFamily="34" charset="-122"/>
                <a:cs typeface="Arial" pitchFamily="34" charset="-120"/>
              </a:rPr>
              <a:t>Shiftwork Solutions LLC  |  (415) 265-1621  |  www.shift-work.com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B55614FC-B6C5-5B2A-813B-DAA7B2AFBE97}"/>
              </a:ext>
            </a:extLst>
          </p:cNvPr>
          <p:cNvSpPr txBox="1"/>
          <p:nvPr/>
        </p:nvSpPr>
        <p:spPr>
          <a:xfrm>
            <a:off x="822960" y="2331720"/>
            <a:ext cx="10515600" cy="10972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Arial Nova" panose="020B0504020202020204" pitchFamily="34" charset="0"/>
                <a:ea typeface="Georgia" pitchFamily="34" charset="-122"/>
                <a:cs typeface="Georgia" pitchFamily="34" charset="-120"/>
              </a:rPr>
              <a:t>What You Could Build Today</a:t>
            </a:r>
            <a:endParaRPr kumimoji="0" lang="en-US" sz="4000" b="0" i="0" u="none" strike="noStrike" kern="1200" cap="none" spc="0" normalizeH="0" baseline="0" noProof="0" dirty="0">
              <a:ln>
                <a:noFill/>
              </a:ln>
              <a:solidFill>
                <a:prstClr val="black"/>
              </a:solidFill>
              <a:effectLst/>
              <a:uLnTx/>
              <a:uFillTx/>
              <a:latin typeface="Arial Nova" panose="020B0504020202020204" pitchFamily="34" charset="0"/>
              <a:ea typeface="+mn-ea"/>
              <a:cs typeface="+mn-cs"/>
            </a:endParaRPr>
          </a:p>
        </p:txBody>
      </p:sp>
      <p:sp>
        <p:nvSpPr>
          <p:cNvPr id="4" name="Text 2">
            <a:extLst>
              <a:ext uri="{FF2B5EF4-FFF2-40B4-BE49-F238E27FC236}">
                <a16:creationId xmlns:a16="http://schemas.microsoft.com/office/drawing/2014/main" id="{D07DE7EA-6675-8351-4652-0FE8CBA16239}"/>
              </a:ext>
            </a:extLst>
          </p:cNvPr>
          <p:cNvSpPr txBox="1"/>
          <p:nvPr/>
        </p:nvSpPr>
        <p:spPr>
          <a:xfrm>
            <a:off x="822960" y="3403051"/>
            <a:ext cx="100584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C000"/>
                </a:solidFill>
                <a:effectLst/>
                <a:uLnTx/>
                <a:uFillTx/>
                <a:latin typeface="Arial Nova" panose="020B0504020202020204" pitchFamily="34" charset="0"/>
                <a:ea typeface="Arial" pitchFamily="34" charset="-122"/>
                <a:cs typeface="Arial" pitchFamily="34" charset="-120"/>
              </a:rPr>
              <a:t>Four dashboards — what "at your fingertips" actually looks like</a:t>
            </a:r>
            <a:endParaRPr kumimoji="0" lang="en-US" sz="1600" b="0" i="0" u="none" strike="noStrike" kern="1200" cap="none" spc="0" normalizeH="0" baseline="0" noProof="0" dirty="0">
              <a:ln>
                <a:noFill/>
              </a:ln>
              <a:solidFill>
                <a:srgbClr val="FFC000"/>
              </a:solidFill>
              <a:effectLst/>
              <a:uLnTx/>
              <a:uFillTx/>
              <a:latin typeface="Arial Nova" panose="020B0504020202020204" pitchFamily="34" charset="0"/>
              <a:ea typeface="+mn-ea"/>
              <a:cs typeface="+mn-cs"/>
            </a:endParaRPr>
          </a:p>
        </p:txBody>
      </p:sp>
      <p:pic>
        <p:nvPicPr>
          <p:cNvPr id="6" name="Picture 5">
            <a:extLst>
              <a:ext uri="{FF2B5EF4-FFF2-40B4-BE49-F238E27FC236}">
                <a16:creationId xmlns:a16="http://schemas.microsoft.com/office/drawing/2014/main" id="{A1AB5CF4-EA43-09B4-D9B0-D9AFD5DC39D5}"/>
              </a:ext>
            </a:extLst>
          </p:cNvPr>
          <p:cNvPicPr>
            <a:picLocks noChangeAspect="1"/>
          </p:cNvPicPr>
          <p:nvPr/>
        </p:nvPicPr>
        <p:blipFill>
          <a:blip r:embed="rId3"/>
          <a:stretch>
            <a:fillRect/>
          </a:stretch>
        </p:blipFill>
        <p:spPr>
          <a:xfrm>
            <a:off x="822960" y="6075075"/>
            <a:ext cx="672208" cy="672208"/>
          </a:xfrm>
          <a:prstGeom prst="rect">
            <a:avLst/>
          </a:prstGeom>
        </p:spPr>
      </p:pic>
    </p:spTree>
    <p:extLst>
      <p:ext uri="{BB962C8B-B14F-4D97-AF65-F5344CB8AC3E}">
        <p14:creationId xmlns:p14="http://schemas.microsoft.com/office/powerpoint/2010/main" val="25883762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marL="0" indent="0" algn="l">
              <a:buNone/>
            </a:pPr>
            <a:r>
              <a:rPr lang="en-US" sz="2800" b="1" dirty="0">
                <a:solidFill>
                  <a:schemeClr val="accent1">
                    <a:lumMod val="75000"/>
                  </a:schemeClr>
                </a:solidFill>
                <a:latin typeface="Arial Nova" panose="020B0504020202020204" pitchFamily="34" charset="0"/>
                <a:ea typeface="Georgia" pitchFamily="34" charset="-122"/>
                <a:cs typeface="Georgia" pitchFamily="34" charset="-120"/>
              </a:rPr>
              <a:t>If your maintenance manager had AI at his fingertips</a:t>
            </a:r>
            <a:endParaRPr lang="en-US" sz="2800" dirty="0">
              <a:solidFill>
                <a:schemeClr val="accent1">
                  <a:lumMod val="75000"/>
                </a:schemeClr>
              </a:solidFill>
              <a:latin typeface="Arial Nova" panose="020B0504020202020204" pitchFamily="34" charset="0"/>
            </a:endParaRPr>
          </a:p>
        </p:txBody>
      </p:sp>
      <p:sp>
        <p:nvSpPr>
          <p:cNvPr id="3" name="Text 1"/>
          <p:cNvSpPr txBox="1"/>
          <p:nvPr/>
        </p:nvSpPr>
        <p:spPr>
          <a:xfrm>
            <a:off x="548640" y="6473952"/>
            <a:ext cx="11091672" cy="274320"/>
          </a:xfrm>
          <a:prstGeom prst="rect">
            <a:avLst/>
          </a:prstGeom>
          <a:noFill/>
          <a:ln/>
        </p:spPr>
        <p:txBody>
          <a:bodyPr wrap="square" lIns="0" tIns="0" rIns="0" bIns="0" rtlCol="0" anchor="ctr"/>
          <a:lstStyle/>
          <a:p>
            <a:pPr marL="0" indent="0" algn="l">
              <a:buNone/>
            </a:pPr>
            <a:r>
              <a:rPr lang="en-US" sz="900" dirty="0">
                <a:solidFill>
                  <a:srgbClr val="667085"/>
                </a:solidFill>
                <a:latin typeface="Arial" pitchFamily="34" charset="0"/>
                <a:ea typeface="Arial" pitchFamily="34" charset="-122"/>
                <a:cs typeface="Arial" pitchFamily="34" charset="-120"/>
              </a:rPr>
              <a:t>Shiftwork Solutions LLC  |  (415) 265-1621  |  www.shift-work.com</a:t>
            </a:r>
            <a:endParaRPr lang="en-US" sz="900" dirty="0"/>
          </a:p>
        </p:txBody>
      </p:sp>
      <p:sp>
        <p:nvSpPr>
          <p:cNvPr id="4" name="Shape 2"/>
          <p:cNvSpPr/>
          <p:nvPr/>
        </p:nvSpPr>
        <p:spPr>
          <a:xfrm>
            <a:off x="548640" y="1143000"/>
            <a:ext cx="11091672" cy="5257800"/>
          </a:xfrm>
          <a:prstGeom prst="roundRect">
            <a:avLst>
              <a:gd name="adj" fmla="val 1043"/>
            </a:avLst>
          </a:prstGeom>
          <a:solidFill>
            <a:srgbClr val="FFFFFF"/>
          </a:solidFill>
          <a:ln w="12700">
            <a:solidFill>
              <a:srgbClr val="CBD2DB"/>
            </a:solidFill>
            <a:prstDash val="solid"/>
          </a:ln>
        </p:spPr>
        <p:txBody>
          <a:bodyPr/>
          <a:lstStyle/>
          <a:p>
            <a:endParaRPr lang="en-US"/>
          </a:p>
        </p:txBody>
      </p:sp>
      <p:sp>
        <p:nvSpPr>
          <p:cNvPr id="5" name="Shape 3"/>
          <p:cNvSpPr/>
          <p:nvPr/>
        </p:nvSpPr>
        <p:spPr>
          <a:xfrm>
            <a:off x="548640" y="1143000"/>
            <a:ext cx="11091672" cy="384048"/>
          </a:xfrm>
          <a:prstGeom prst="roundRect">
            <a:avLst>
              <a:gd name="adj" fmla="val 14286"/>
            </a:avLst>
          </a:prstGeom>
          <a:solidFill>
            <a:srgbClr val="0F1C2E"/>
          </a:solidFill>
          <a:ln/>
        </p:spPr>
        <p:txBody>
          <a:bodyPr/>
          <a:lstStyle/>
          <a:p>
            <a:endParaRPr lang="en-US"/>
          </a:p>
        </p:txBody>
      </p:sp>
      <p:sp>
        <p:nvSpPr>
          <p:cNvPr id="6" name="Shape 4"/>
          <p:cNvSpPr/>
          <p:nvPr/>
        </p:nvSpPr>
        <p:spPr>
          <a:xfrm>
            <a:off x="548640" y="1335024"/>
            <a:ext cx="11091672" cy="192024"/>
          </a:xfrm>
          <a:prstGeom prst="rect">
            <a:avLst/>
          </a:prstGeom>
          <a:solidFill>
            <a:srgbClr val="0F1C2E"/>
          </a:solidFill>
          <a:ln/>
        </p:spPr>
        <p:txBody>
          <a:bodyPr/>
          <a:lstStyle/>
          <a:p>
            <a:endParaRPr lang="en-US"/>
          </a:p>
        </p:txBody>
      </p:sp>
      <p:sp>
        <p:nvSpPr>
          <p:cNvPr id="7" name="Shape 5"/>
          <p:cNvSpPr/>
          <p:nvPr/>
        </p:nvSpPr>
        <p:spPr>
          <a:xfrm>
            <a:off x="731520" y="1289304"/>
            <a:ext cx="91440" cy="91440"/>
          </a:xfrm>
          <a:prstGeom prst="ellipse">
            <a:avLst/>
          </a:prstGeom>
          <a:solidFill>
            <a:srgbClr val="5A6B85"/>
          </a:solidFill>
          <a:ln/>
        </p:spPr>
        <p:txBody>
          <a:bodyPr/>
          <a:lstStyle/>
          <a:p>
            <a:endParaRPr lang="en-US"/>
          </a:p>
        </p:txBody>
      </p:sp>
      <p:sp>
        <p:nvSpPr>
          <p:cNvPr id="8" name="Shape 6"/>
          <p:cNvSpPr/>
          <p:nvPr/>
        </p:nvSpPr>
        <p:spPr>
          <a:xfrm>
            <a:off x="932688" y="1289304"/>
            <a:ext cx="91440" cy="91440"/>
          </a:xfrm>
          <a:prstGeom prst="ellipse">
            <a:avLst/>
          </a:prstGeom>
          <a:solidFill>
            <a:srgbClr val="5A6B85"/>
          </a:solidFill>
          <a:ln/>
        </p:spPr>
        <p:txBody>
          <a:bodyPr/>
          <a:lstStyle/>
          <a:p>
            <a:endParaRPr lang="en-US"/>
          </a:p>
        </p:txBody>
      </p:sp>
      <p:sp>
        <p:nvSpPr>
          <p:cNvPr id="9" name="Shape 7"/>
          <p:cNvSpPr/>
          <p:nvPr/>
        </p:nvSpPr>
        <p:spPr>
          <a:xfrm>
            <a:off x="1133856" y="1289304"/>
            <a:ext cx="91440" cy="91440"/>
          </a:xfrm>
          <a:prstGeom prst="ellipse">
            <a:avLst/>
          </a:prstGeom>
          <a:solidFill>
            <a:srgbClr val="5A6B85"/>
          </a:solidFill>
          <a:ln/>
        </p:spPr>
        <p:txBody>
          <a:bodyPr/>
          <a:lstStyle/>
          <a:p>
            <a:endParaRPr lang="en-US"/>
          </a:p>
        </p:txBody>
      </p:sp>
      <p:sp>
        <p:nvSpPr>
          <p:cNvPr id="10" name="Text 8"/>
          <p:cNvSpPr txBox="1"/>
          <p:nvPr/>
        </p:nvSpPr>
        <p:spPr>
          <a:xfrm>
            <a:off x="1463040" y="1143000"/>
            <a:ext cx="9262872" cy="384048"/>
          </a:xfrm>
          <a:prstGeom prst="rect">
            <a:avLst/>
          </a:prstGeom>
          <a:noFill/>
          <a:ln/>
        </p:spPr>
        <p:txBody>
          <a:bodyPr wrap="square" lIns="0" tIns="0" rIns="0" bIns="0" rtlCol="0" anchor="ctr"/>
          <a:lstStyle/>
          <a:p>
            <a:pPr marL="0" indent="0" algn="ctr">
              <a:buNone/>
            </a:pPr>
            <a:r>
              <a:rPr lang="en-US" sz="1050" dirty="0">
                <a:solidFill>
                  <a:srgbClr val="C9D2DF"/>
                </a:solidFill>
                <a:latin typeface="Arial" pitchFamily="34" charset="0"/>
                <a:ea typeface="Arial" pitchFamily="34" charset="-122"/>
                <a:cs typeface="Arial" pitchFamily="34" charset="-120"/>
              </a:rPr>
              <a:t>Mill AI  ·  Maintenance  ·  PM2 &amp; Finishing</a:t>
            </a:r>
            <a:endParaRPr lang="en-US" sz="1050" dirty="0"/>
          </a:p>
        </p:txBody>
      </p:sp>
      <p:sp>
        <p:nvSpPr>
          <p:cNvPr id="11" name="Text 9"/>
          <p:cNvSpPr txBox="1"/>
          <p:nvPr/>
        </p:nvSpPr>
        <p:spPr>
          <a:xfrm>
            <a:off x="10177272" y="1143000"/>
            <a:ext cx="1280160" cy="384048"/>
          </a:xfrm>
          <a:prstGeom prst="rect">
            <a:avLst/>
          </a:prstGeom>
          <a:noFill/>
          <a:ln/>
        </p:spPr>
        <p:txBody>
          <a:bodyPr wrap="square" lIns="0" tIns="0" rIns="0" bIns="0" rtlCol="0" anchor="ctr"/>
          <a:lstStyle/>
          <a:p>
            <a:pPr marL="0" indent="0" algn="r">
              <a:buNone/>
            </a:pPr>
            <a:r>
              <a:rPr lang="en-US" sz="1000" b="1" dirty="0">
                <a:solidFill>
                  <a:srgbClr val="C9A227"/>
                </a:solidFill>
                <a:latin typeface="Arial" pitchFamily="34" charset="0"/>
                <a:ea typeface="Arial" pitchFamily="34" charset="-122"/>
                <a:cs typeface="Arial" pitchFamily="34" charset="-120"/>
              </a:rPr>
              <a:t>Ask the AI  ▸</a:t>
            </a:r>
            <a:endParaRPr lang="en-US" sz="1000" dirty="0"/>
          </a:p>
        </p:txBody>
      </p:sp>
      <p:sp>
        <p:nvSpPr>
          <p:cNvPr id="12" name="Shape 10"/>
          <p:cNvSpPr/>
          <p:nvPr/>
        </p:nvSpPr>
        <p:spPr>
          <a:xfrm>
            <a:off x="548640" y="1527048"/>
            <a:ext cx="1874520" cy="4873752"/>
          </a:xfrm>
          <a:prstGeom prst="rect">
            <a:avLst/>
          </a:prstGeom>
          <a:solidFill>
            <a:srgbClr val="16283F"/>
          </a:solidFill>
          <a:ln/>
        </p:spPr>
        <p:txBody>
          <a:bodyPr/>
          <a:lstStyle/>
          <a:p>
            <a:endParaRPr lang="en-US"/>
          </a:p>
        </p:txBody>
      </p:sp>
      <p:sp>
        <p:nvSpPr>
          <p:cNvPr id="13" name="Shape 11"/>
          <p:cNvSpPr/>
          <p:nvPr/>
        </p:nvSpPr>
        <p:spPr>
          <a:xfrm>
            <a:off x="685800" y="1691640"/>
            <a:ext cx="1600200" cy="329184"/>
          </a:xfrm>
          <a:prstGeom prst="roundRect">
            <a:avLst>
              <a:gd name="adj" fmla="val 13889"/>
            </a:avLst>
          </a:prstGeom>
          <a:solidFill>
            <a:srgbClr val="2A7F7F"/>
          </a:solidFill>
          <a:ln/>
        </p:spPr>
        <p:txBody>
          <a:bodyPr/>
          <a:lstStyle/>
          <a:p>
            <a:endParaRPr lang="en-US"/>
          </a:p>
        </p:txBody>
      </p:sp>
      <p:sp>
        <p:nvSpPr>
          <p:cNvPr id="14" name="Text 12"/>
          <p:cNvSpPr txBox="1"/>
          <p:nvPr/>
        </p:nvSpPr>
        <p:spPr>
          <a:xfrm>
            <a:off x="749808" y="1691640"/>
            <a:ext cx="1508760" cy="329184"/>
          </a:xfrm>
          <a:prstGeom prst="rect">
            <a:avLst/>
          </a:prstGeom>
          <a:noFill/>
          <a:ln/>
        </p:spPr>
        <p:txBody>
          <a:bodyPr wrap="square" lIns="0" tIns="0" rIns="0" bIns="0" rtlCol="0" anchor="ctr"/>
          <a:lstStyle/>
          <a:p>
            <a:pPr marL="0" indent="0">
              <a:buNone/>
            </a:pPr>
            <a:r>
              <a:rPr lang="en-US" sz="1050" b="1" dirty="0">
                <a:solidFill>
                  <a:srgbClr val="FFFFFF"/>
                </a:solidFill>
                <a:latin typeface="Arial" pitchFamily="34" charset="0"/>
                <a:ea typeface="Arial" pitchFamily="34" charset="-122"/>
                <a:cs typeface="Arial" pitchFamily="34" charset="-120"/>
              </a:rPr>
              <a:t>▸  Overview</a:t>
            </a:r>
            <a:endParaRPr lang="en-US" sz="1050" dirty="0"/>
          </a:p>
        </p:txBody>
      </p:sp>
      <p:sp>
        <p:nvSpPr>
          <p:cNvPr id="15" name="Text 13"/>
          <p:cNvSpPr txBox="1"/>
          <p:nvPr/>
        </p:nvSpPr>
        <p:spPr>
          <a:xfrm>
            <a:off x="749808" y="2093976"/>
            <a:ext cx="1508760" cy="329184"/>
          </a:xfrm>
          <a:prstGeom prst="rect">
            <a:avLst/>
          </a:prstGeom>
          <a:noFill/>
          <a:ln/>
        </p:spPr>
        <p:txBody>
          <a:bodyPr wrap="square" lIns="0" tIns="0" rIns="0" bIns="0" rtlCol="0" anchor="ctr"/>
          <a:lstStyle/>
          <a:p>
            <a:pPr marL="0" indent="0">
              <a:buNone/>
            </a:pPr>
            <a:r>
              <a:rPr lang="en-US" sz="1050" dirty="0">
                <a:solidFill>
                  <a:srgbClr val="C9D2DF"/>
                </a:solidFill>
                <a:latin typeface="Arial" pitchFamily="34" charset="0"/>
                <a:ea typeface="Arial" pitchFamily="34" charset="-122"/>
                <a:cs typeface="Arial" pitchFamily="34" charset="-120"/>
              </a:rPr>
              <a:t>    Inventory</a:t>
            </a:r>
            <a:endParaRPr lang="en-US" sz="1050" dirty="0"/>
          </a:p>
        </p:txBody>
      </p:sp>
      <p:sp>
        <p:nvSpPr>
          <p:cNvPr id="16" name="Text 14"/>
          <p:cNvSpPr txBox="1"/>
          <p:nvPr/>
        </p:nvSpPr>
        <p:spPr>
          <a:xfrm>
            <a:off x="749808" y="2496312"/>
            <a:ext cx="1508760" cy="329184"/>
          </a:xfrm>
          <a:prstGeom prst="rect">
            <a:avLst/>
          </a:prstGeom>
          <a:noFill/>
          <a:ln/>
        </p:spPr>
        <p:txBody>
          <a:bodyPr wrap="square" lIns="0" tIns="0" rIns="0" bIns="0" rtlCol="0" anchor="ctr"/>
          <a:lstStyle/>
          <a:p>
            <a:pPr marL="0" indent="0">
              <a:buNone/>
            </a:pPr>
            <a:r>
              <a:rPr lang="en-US" sz="1050" dirty="0">
                <a:solidFill>
                  <a:srgbClr val="C9D2DF"/>
                </a:solidFill>
                <a:latin typeface="Arial" pitchFamily="34" charset="0"/>
                <a:ea typeface="Arial" pitchFamily="34" charset="-122"/>
                <a:cs typeface="Arial" pitchFamily="34" charset="-120"/>
              </a:rPr>
              <a:t>    Work orders</a:t>
            </a:r>
            <a:endParaRPr lang="en-US" sz="1050" dirty="0"/>
          </a:p>
        </p:txBody>
      </p:sp>
      <p:sp>
        <p:nvSpPr>
          <p:cNvPr id="17" name="Text 15"/>
          <p:cNvSpPr txBox="1"/>
          <p:nvPr/>
        </p:nvSpPr>
        <p:spPr>
          <a:xfrm>
            <a:off x="749808" y="2898648"/>
            <a:ext cx="1508760" cy="329184"/>
          </a:xfrm>
          <a:prstGeom prst="rect">
            <a:avLst/>
          </a:prstGeom>
          <a:noFill/>
          <a:ln/>
        </p:spPr>
        <p:txBody>
          <a:bodyPr wrap="square" lIns="0" tIns="0" rIns="0" bIns="0" rtlCol="0" anchor="ctr"/>
          <a:lstStyle/>
          <a:p>
            <a:pPr marL="0" indent="0">
              <a:buNone/>
            </a:pPr>
            <a:r>
              <a:rPr lang="en-US" sz="1050" dirty="0">
                <a:solidFill>
                  <a:srgbClr val="C9D2DF"/>
                </a:solidFill>
                <a:latin typeface="Arial" pitchFamily="34" charset="0"/>
                <a:ea typeface="Arial" pitchFamily="34" charset="-122"/>
                <a:cs typeface="Arial" pitchFamily="34" charset="-120"/>
              </a:rPr>
              <a:t>    Predictions</a:t>
            </a:r>
            <a:endParaRPr lang="en-US" sz="1050" dirty="0"/>
          </a:p>
        </p:txBody>
      </p:sp>
      <p:sp>
        <p:nvSpPr>
          <p:cNvPr id="18" name="Text 16"/>
          <p:cNvSpPr txBox="1"/>
          <p:nvPr/>
        </p:nvSpPr>
        <p:spPr>
          <a:xfrm>
            <a:off x="749808" y="3300984"/>
            <a:ext cx="1508760" cy="329184"/>
          </a:xfrm>
          <a:prstGeom prst="rect">
            <a:avLst/>
          </a:prstGeom>
          <a:noFill/>
          <a:ln/>
        </p:spPr>
        <p:txBody>
          <a:bodyPr wrap="square" lIns="0" tIns="0" rIns="0" bIns="0" rtlCol="0" anchor="ctr"/>
          <a:lstStyle/>
          <a:p>
            <a:pPr marL="0" indent="0">
              <a:buNone/>
            </a:pPr>
            <a:r>
              <a:rPr lang="en-US" sz="1050" dirty="0">
                <a:solidFill>
                  <a:srgbClr val="C9D2DF"/>
                </a:solidFill>
                <a:latin typeface="Arial" pitchFamily="34" charset="0"/>
                <a:ea typeface="Arial" pitchFamily="34" charset="-122"/>
                <a:cs typeface="Arial" pitchFamily="34" charset="-120"/>
              </a:rPr>
              <a:t>    Staffing</a:t>
            </a:r>
            <a:endParaRPr lang="en-US" sz="1050" dirty="0"/>
          </a:p>
        </p:txBody>
      </p:sp>
      <p:sp>
        <p:nvSpPr>
          <p:cNvPr id="19" name="Text 17"/>
          <p:cNvSpPr txBox="1"/>
          <p:nvPr/>
        </p:nvSpPr>
        <p:spPr>
          <a:xfrm>
            <a:off x="749808" y="3703320"/>
            <a:ext cx="1508760" cy="329184"/>
          </a:xfrm>
          <a:prstGeom prst="rect">
            <a:avLst/>
          </a:prstGeom>
          <a:noFill/>
          <a:ln/>
        </p:spPr>
        <p:txBody>
          <a:bodyPr wrap="square" lIns="0" tIns="0" rIns="0" bIns="0" rtlCol="0" anchor="ctr"/>
          <a:lstStyle/>
          <a:p>
            <a:pPr marL="0" indent="0">
              <a:buNone/>
            </a:pPr>
            <a:r>
              <a:rPr lang="en-US" sz="1050" dirty="0">
                <a:solidFill>
                  <a:srgbClr val="C9D2DF"/>
                </a:solidFill>
                <a:latin typeface="Arial" pitchFamily="34" charset="0"/>
                <a:ea typeface="Arial" pitchFamily="34" charset="-122"/>
                <a:cs typeface="Arial" pitchFamily="34" charset="-120"/>
              </a:rPr>
              <a:t>    Vendors</a:t>
            </a:r>
            <a:endParaRPr lang="en-US" sz="1050" dirty="0"/>
          </a:p>
        </p:txBody>
      </p:sp>
      <p:sp>
        <p:nvSpPr>
          <p:cNvPr id="20" name="Text 18"/>
          <p:cNvSpPr txBox="1"/>
          <p:nvPr/>
        </p:nvSpPr>
        <p:spPr>
          <a:xfrm>
            <a:off x="749808" y="4105656"/>
            <a:ext cx="1508760" cy="329184"/>
          </a:xfrm>
          <a:prstGeom prst="rect">
            <a:avLst/>
          </a:prstGeom>
          <a:noFill/>
          <a:ln/>
        </p:spPr>
        <p:txBody>
          <a:bodyPr wrap="square" lIns="0" tIns="0" rIns="0" bIns="0" rtlCol="0" anchor="ctr"/>
          <a:lstStyle/>
          <a:p>
            <a:pPr marL="0" indent="0">
              <a:buNone/>
            </a:pPr>
            <a:r>
              <a:rPr lang="en-US" sz="1050" dirty="0">
                <a:solidFill>
                  <a:srgbClr val="C9D2DF"/>
                </a:solidFill>
                <a:latin typeface="Arial" pitchFamily="34" charset="0"/>
                <a:ea typeface="Arial" pitchFamily="34" charset="-122"/>
                <a:cs typeface="Arial" pitchFamily="34" charset="-120"/>
              </a:rPr>
              <a:t>    Reports</a:t>
            </a:r>
            <a:endParaRPr lang="en-US" sz="1050" dirty="0"/>
          </a:p>
        </p:txBody>
      </p:sp>
      <p:sp>
        <p:nvSpPr>
          <p:cNvPr id="21" name="Shape 19"/>
          <p:cNvSpPr/>
          <p:nvPr/>
        </p:nvSpPr>
        <p:spPr>
          <a:xfrm>
            <a:off x="2651760" y="1728216"/>
            <a:ext cx="2087118" cy="868680"/>
          </a:xfrm>
          <a:prstGeom prst="roundRect">
            <a:avLst>
              <a:gd name="adj" fmla="val 5263"/>
            </a:avLst>
          </a:prstGeom>
          <a:solidFill>
            <a:srgbClr val="F2F5F8"/>
          </a:solidFill>
          <a:ln/>
        </p:spPr>
        <p:txBody>
          <a:bodyPr/>
          <a:lstStyle/>
          <a:p>
            <a:endParaRPr lang="en-US"/>
          </a:p>
        </p:txBody>
      </p:sp>
      <p:sp>
        <p:nvSpPr>
          <p:cNvPr id="22" name="Text 20"/>
          <p:cNvSpPr txBox="1"/>
          <p:nvPr/>
        </p:nvSpPr>
        <p:spPr>
          <a:xfrm>
            <a:off x="2788920" y="1783080"/>
            <a:ext cx="1812798" cy="411480"/>
          </a:xfrm>
          <a:prstGeom prst="rect">
            <a:avLst/>
          </a:prstGeom>
          <a:noFill/>
          <a:ln/>
        </p:spPr>
        <p:txBody>
          <a:bodyPr wrap="square" lIns="0" tIns="0" rIns="0" bIns="0" rtlCol="0" anchor="ctr"/>
          <a:lstStyle/>
          <a:p>
            <a:pPr marL="0" indent="0">
              <a:buNone/>
            </a:pPr>
            <a:r>
              <a:rPr lang="en-US" sz="2200" b="1" dirty="0">
                <a:solidFill>
                  <a:srgbClr val="16283F"/>
                </a:solidFill>
                <a:latin typeface="Georgia" pitchFamily="34" charset="0"/>
                <a:ea typeface="Georgia" pitchFamily="34" charset="-122"/>
                <a:cs typeface="Georgia" pitchFamily="34" charset="-120"/>
              </a:rPr>
              <a:t>23</a:t>
            </a:r>
            <a:endParaRPr lang="en-US" sz="2200" dirty="0"/>
          </a:p>
        </p:txBody>
      </p:sp>
      <p:sp>
        <p:nvSpPr>
          <p:cNvPr id="23" name="Text 21"/>
          <p:cNvSpPr txBox="1"/>
          <p:nvPr/>
        </p:nvSpPr>
        <p:spPr>
          <a:xfrm>
            <a:off x="2788920" y="2185416"/>
            <a:ext cx="1812798" cy="201168"/>
          </a:xfrm>
          <a:prstGeom prst="rect">
            <a:avLst/>
          </a:prstGeom>
          <a:noFill/>
          <a:ln/>
        </p:spPr>
        <p:txBody>
          <a:bodyPr wrap="square" lIns="0" tIns="0" rIns="0" bIns="0" rtlCol="0" anchor="ctr"/>
          <a:lstStyle/>
          <a:p>
            <a:pPr marL="0" indent="0">
              <a:buNone/>
            </a:pPr>
            <a:r>
              <a:rPr lang="en-US" sz="950" dirty="0">
                <a:solidFill>
                  <a:srgbClr val="667085"/>
                </a:solidFill>
                <a:latin typeface="Arial" pitchFamily="34" charset="0"/>
                <a:ea typeface="Arial" pitchFamily="34" charset="-122"/>
                <a:cs typeface="Arial" pitchFamily="34" charset="-120"/>
              </a:rPr>
              <a:t>Open work orders</a:t>
            </a:r>
            <a:endParaRPr lang="en-US" sz="950" dirty="0"/>
          </a:p>
        </p:txBody>
      </p:sp>
      <p:sp>
        <p:nvSpPr>
          <p:cNvPr id="24" name="Text 22"/>
          <p:cNvSpPr txBox="1"/>
          <p:nvPr/>
        </p:nvSpPr>
        <p:spPr>
          <a:xfrm>
            <a:off x="2788920" y="2368296"/>
            <a:ext cx="1812798" cy="201168"/>
          </a:xfrm>
          <a:prstGeom prst="rect">
            <a:avLst/>
          </a:prstGeom>
          <a:noFill/>
          <a:ln/>
        </p:spPr>
        <p:txBody>
          <a:bodyPr wrap="square" lIns="0" tIns="0" rIns="0" bIns="0" rtlCol="0" anchor="ctr"/>
          <a:lstStyle/>
          <a:p>
            <a:pPr marL="0" indent="0">
              <a:buNone/>
            </a:pPr>
            <a:r>
              <a:rPr lang="en-US" sz="900" b="1" dirty="0">
                <a:solidFill>
                  <a:srgbClr val="2A7F7F"/>
                </a:solidFill>
                <a:latin typeface="Arial" pitchFamily="34" charset="0"/>
                <a:ea typeface="Arial" pitchFamily="34" charset="-122"/>
                <a:cs typeface="Arial" pitchFamily="34" charset="-120"/>
              </a:rPr>
              <a:t>▼ 4 this week</a:t>
            </a:r>
            <a:endParaRPr lang="en-US" sz="900" dirty="0"/>
          </a:p>
        </p:txBody>
      </p:sp>
      <p:sp>
        <p:nvSpPr>
          <p:cNvPr id="25" name="Shape 23"/>
          <p:cNvSpPr/>
          <p:nvPr/>
        </p:nvSpPr>
        <p:spPr>
          <a:xfrm>
            <a:off x="4876038" y="1728216"/>
            <a:ext cx="2087118" cy="868680"/>
          </a:xfrm>
          <a:prstGeom prst="roundRect">
            <a:avLst>
              <a:gd name="adj" fmla="val 5263"/>
            </a:avLst>
          </a:prstGeom>
          <a:solidFill>
            <a:srgbClr val="F2F5F8"/>
          </a:solidFill>
          <a:ln/>
        </p:spPr>
        <p:txBody>
          <a:bodyPr/>
          <a:lstStyle/>
          <a:p>
            <a:endParaRPr lang="en-US"/>
          </a:p>
        </p:txBody>
      </p:sp>
      <p:sp>
        <p:nvSpPr>
          <p:cNvPr id="26" name="Text 24"/>
          <p:cNvSpPr txBox="1"/>
          <p:nvPr/>
        </p:nvSpPr>
        <p:spPr>
          <a:xfrm>
            <a:off x="5013198" y="1783080"/>
            <a:ext cx="1812798" cy="411480"/>
          </a:xfrm>
          <a:prstGeom prst="rect">
            <a:avLst/>
          </a:prstGeom>
          <a:noFill/>
          <a:ln/>
        </p:spPr>
        <p:txBody>
          <a:bodyPr wrap="square" lIns="0" tIns="0" rIns="0" bIns="0" rtlCol="0" anchor="ctr"/>
          <a:lstStyle/>
          <a:p>
            <a:pPr marL="0" indent="0">
              <a:buNone/>
            </a:pPr>
            <a:r>
              <a:rPr lang="en-US" sz="2200" b="1" dirty="0">
                <a:solidFill>
                  <a:srgbClr val="16283F"/>
                </a:solidFill>
                <a:latin typeface="Georgia" pitchFamily="34" charset="0"/>
                <a:ea typeface="Georgia" pitchFamily="34" charset="-122"/>
                <a:cs typeface="Georgia" pitchFamily="34" charset="-120"/>
              </a:rPr>
              <a:t>7</a:t>
            </a:r>
            <a:endParaRPr lang="en-US" sz="2200" dirty="0"/>
          </a:p>
        </p:txBody>
      </p:sp>
      <p:sp>
        <p:nvSpPr>
          <p:cNvPr id="27" name="Text 25"/>
          <p:cNvSpPr txBox="1"/>
          <p:nvPr/>
        </p:nvSpPr>
        <p:spPr>
          <a:xfrm>
            <a:off x="5013198" y="2185416"/>
            <a:ext cx="1812798" cy="201168"/>
          </a:xfrm>
          <a:prstGeom prst="rect">
            <a:avLst/>
          </a:prstGeom>
          <a:noFill/>
          <a:ln/>
        </p:spPr>
        <p:txBody>
          <a:bodyPr wrap="square" lIns="0" tIns="0" rIns="0" bIns="0" rtlCol="0" anchor="ctr"/>
          <a:lstStyle/>
          <a:p>
            <a:pPr marL="0" indent="0">
              <a:buNone/>
            </a:pPr>
            <a:r>
              <a:rPr lang="en-US" sz="950" dirty="0">
                <a:solidFill>
                  <a:srgbClr val="667085"/>
                </a:solidFill>
                <a:latin typeface="Arial" pitchFamily="34" charset="0"/>
                <a:ea typeface="Arial" pitchFamily="34" charset="-122"/>
                <a:cs typeface="Arial" pitchFamily="34" charset="-120"/>
              </a:rPr>
              <a:t>Parts below minimum</a:t>
            </a:r>
            <a:endParaRPr lang="en-US" sz="950" dirty="0"/>
          </a:p>
        </p:txBody>
      </p:sp>
      <p:sp>
        <p:nvSpPr>
          <p:cNvPr id="28" name="Text 26"/>
          <p:cNvSpPr txBox="1"/>
          <p:nvPr/>
        </p:nvSpPr>
        <p:spPr>
          <a:xfrm>
            <a:off x="5013198" y="2368296"/>
            <a:ext cx="1812798" cy="201168"/>
          </a:xfrm>
          <a:prstGeom prst="rect">
            <a:avLst/>
          </a:prstGeom>
          <a:noFill/>
          <a:ln/>
        </p:spPr>
        <p:txBody>
          <a:bodyPr wrap="square" lIns="0" tIns="0" rIns="0" bIns="0" rtlCol="0" anchor="ctr"/>
          <a:lstStyle/>
          <a:p>
            <a:pPr marL="0" indent="0">
              <a:buNone/>
            </a:pPr>
            <a:r>
              <a:rPr lang="en-US" sz="900" b="1" dirty="0">
                <a:solidFill>
                  <a:srgbClr val="B4531F"/>
                </a:solidFill>
                <a:latin typeface="Arial" pitchFamily="34" charset="0"/>
                <a:ea typeface="Arial" pitchFamily="34" charset="-122"/>
                <a:cs typeface="Arial" pitchFamily="34" charset="-120"/>
              </a:rPr>
              <a:t>2 critical</a:t>
            </a:r>
            <a:endParaRPr lang="en-US" sz="900" dirty="0"/>
          </a:p>
        </p:txBody>
      </p:sp>
      <p:sp>
        <p:nvSpPr>
          <p:cNvPr id="29" name="Shape 27"/>
          <p:cNvSpPr/>
          <p:nvPr/>
        </p:nvSpPr>
        <p:spPr>
          <a:xfrm>
            <a:off x="7100316" y="1728216"/>
            <a:ext cx="2087118" cy="868680"/>
          </a:xfrm>
          <a:prstGeom prst="roundRect">
            <a:avLst>
              <a:gd name="adj" fmla="val 5263"/>
            </a:avLst>
          </a:prstGeom>
          <a:solidFill>
            <a:srgbClr val="F2F5F8"/>
          </a:solidFill>
          <a:ln/>
        </p:spPr>
        <p:txBody>
          <a:bodyPr/>
          <a:lstStyle/>
          <a:p>
            <a:endParaRPr lang="en-US"/>
          </a:p>
        </p:txBody>
      </p:sp>
      <p:sp>
        <p:nvSpPr>
          <p:cNvPr id="30" name="Text 28"/>
          <p:cNvSpPr txBox="1"/>
          <p:nvPr/>
        </p:nvSpPr>
        <p:spPr>
          <a:xfrm>
            <a:off x="7237476" y="1783080"/>
            <a:ext cx="1812798" cy="411480"/>
          </a:xfrm>
          <a:prstGeom prst="rect">
            <a:avLst/>
          </a:prstGeom>
          <a:noFill/>
          <a:ln/>
        </p:spPr>
        <p:txBody>
          <a:bodyPr wrap="square" lIns="0" tIns="0" rIns="0" bIns="0" rtlCol="0" anchor="ctr"/>
          <a:lstStyle/>
          <a:p>
            <a:pPr marL="0" indent="0">
              <a:buNone/>
            </a:pPr>
            <a:r>
              <a:rPr lang="en-US" sz="2200" b="1" dirty="0">
                <a:solidFill>
                  <a:srgbClr val="16283F"/>
                </a:solidFill>
                <a:latin typeface="Georgia" pitchFamily="34" charset="0"/>
                <a:ea typeface="Georgia" pitchFamily="34" charset="-122"/>
                <a:cs typeface="Georgia" pitchFamily="34" charset="-120"/>
              </a:rPr>
              <a:t>3</a:t>
            </a:r>
            <a:endParaRPr lang="en-US" sz="2200" dirty="0"/>
          </a:p>
        </p:txBody>
      </p:sp>
      <p:sp>
        <p:nvSpPr>
          <p:cNvPr id="31" name="Text 29"/>
          <p:cNvSpPr txBox="1"/>
          <p:nvPr/>
        </p:nvSpPr>
        <p:spPr>
          <a:xfrm>
            <a:off x="7237476" y="2185416"/>
            <a:ext cx="1812798" cy="201168"/>
          </a:xfrm>
          <a:prstGeom prst="rect">
            <a:avLst/>
          </a:prstGeom>
          <a:noFill/>
          <a:ln/>
        </p:spPr>
        <p:txBody>
          <a:bodyPr wrap="square" lIns="0" tIns="0" rIns="0" bIns="0" rtlCol="0" anchor="ctr"/>
          <a:lstStyle/>
          <a:p>
            <a:pPr marL="0" indent="0">
              <a:buNone/>
            </a:pPr>
            <a:r>
              <a:rPr lang="en-US" sz="950" dirty="0">
                <a:solidFill>
                  <a:srgbClr val="667085"/>
                </a:solidFill>
                <a:latin typeface="Arial" pitchFamily="34" charset="0"/>
                <a:ea typeface="Arial" pitchFamily="34" charset="-122"/>
                <a:cs typeface="Arial" pitchFamily="34" charset="-120"/>
              </a:rPr>
              <a:t>Predicted failures · 30 days</a:t>
            </a:r>
            <a:endParaRPr lang="en-US" sz="950" dirty="0"/>
          </a:p>
        </p:txBody>
      </p:sp>
      <p:sp>
        <p:nvSpPr>
          <p:cNvPr id="32" name="Text 30"/>
          <p:cNvSpPr txBox="1"/>
          <p:nvPr/>
        </p:nvSpPr>
        <p:spPr>
          <a:xfrm>
            <a:off x="7237476" y="2368296"/>
            <a:ext cx="1812798" cy="201168"/>
          </a:xfrm>
          <a:prstGeom prst="rect">
            <a:avLst/>
          </a:prstGeom>
          <a:noFill/>
          <a:ln/>
        </p:spPr>
        <p:txBody>
          <a:bodyPr wrap="square" lIns="0" tIns="0" rIns="0" bIns="0" rtlCol="0" anchor="ctr"/>
          <a:lstStyle/>
          <a:p>
            <a:pPr marL="0" indent="0">
              <a:buNone/>
            </a:pPr>
            <a:r>
              <a:rPr lang="en-US" sz="900" b="1" dirty="0">
                <a:solidFill>
                  <a:srgbClr val="2A7F7F"/>
                </a:solidFill>
                <a:latin typeface="Arial" pitchFamily="34" charset="0"/>
                <a:ea typeface="Arial" pitchFamily="34" charset="-122"/>
                <a:cs typeface="Arial" pitchFamily="34" charset="-120"/>
              </a:rPr>
              <a:t>all have parts on shelf</a:t>
            </a:r>
            <a:endParaRPr lang="en-US" sz="900" dirty="0"/>
          </a:p>
        </p:txBody>
      </p:sp>
      <p:sp>
        <p:nvSpPr>
          <p:cNvPr id="33" name="Shape 31"/>
          <p:cNvSpPr/>
          <p:nvPr/>
        </p:nvSpPr>
        <p:spPr>
          <a:xfrm>
            <a:off x="9324594" y="1728216"/>
            <a:ext cx="2087118" cy="868680"/>
          </a:xfrm>
          <a:prstGeom prst="roundRect">
            <a:avLst>
              <a:gd name="adj" fmla="val 5263"/>
            </a:avLst>
          </a:prstGeom>
          <a:solidFill>
            <a:srgbClr val="F2F5F8"/>
          </a:solidFill>
          <a:ln/>
        </p:spPr>
        <p:txBody>
          <a:bodyPr/>
          <a:lstStyle/>
          <a:p>
            <a:endParaRPr lang="en-US"/>
          </a:p>
        </p:txBody>
      </p:sp>
      <p:sp>
        <p:nvSpPr>
          <p:cNvPr id="34" name="Text 32"/>
          <p:cNvSpPr txBox="1"/>
          <p:nvPr/>
        </p:nvSpPr>
        <p:spPr>
          <a:xfrm>
            <a:off x="9461754" y="1783080"/>
            <a:ext cx="1812798" cy="411480"/>
          </a:xfrm>
          <a:prstGeom prst="rect">
            <a:avLst/>
          </a:prstGeom>
          <a:noFill/>
          <a:ln/>
        </p:spPr>
        <p:txBody>
          <a:bodyPr wrap="square" lIns="0" tIns="0" rIns="0" bIns="0" rtlCol="0" anchor="ctr"/>
          <a:lstStyle/>
          <a:p>
            <a:pPr marL="0" indent="0">
              <a:buNone/>
            </a:pPr>
            <a:r>
              <a:rPr lang="en-US" sz="2200" b="1" dirty="0">
                <a:solidFill>
                  <a:srgbClr val="16283F"/>
                </a:solidFill>
                <a:latin typeface="Georgia" pitchFamily="34" charset="0"/>
                <a:ea typeface="Georgia" pitchFamily="34" charset="-122"/>
                <a:cs typeface="Georgia" pitchFamily="34" charset="-120"/>
              </a:rPr>
              <a:t>94%</a:t>
            </a:r>
            <a:endParaRPr lang="en-US" sz="2200" dirty="0"/>
          </a:p>
        </p:txBody>
      </p:sp>
      <p:sp>
        <p:nvSpPr>
          <p:cNvPr id="35" name="Text 33"/>
          <p:cNvSpPr txBox="1"/>
          <p:nvPr/>
        </p:nvSpPr>
        <p:spPr>
          <a:xfrm>
            <a:off x="9461754" y="2185416"/>
            <a:ext cx="1812798" cy="201168"/>
          </a:xfrm>
          <a:prstGeom prst="rect">
            <a:avLst/>
          </a:prstGeom>
          <a:noFill/>
          <a:ln/>
        </p:spPr>
        <p:txBody>
          <a:bodyPr wrap="square" lIns="0" tIns="0" rIns="0" bIns="0" rtlCol="0" anchor="ctr"/>
          <a:lstStyle/>
          <a:p>
            <a:pPr marL="0" indent="0">
              <a:buNone/>
            </a:pPr>
            <a:r>
              <a:rPr lang="en-US" sz="950" dirty="0">
                <a:solidFill>
                  <a:srgbClr val="667085"/>
                </a:solidFill>
                <a:latin typeface="Arial" pitchFamily="34" charset="0"/>
                <a:ea typeface="Arial" pitchFamily="34" charset="-122"/>
                <a:cs typeface="Arial" pitchFamily="34" charset="-120"/>
              </a:rPr>
              <a:t>PM compliance</a:t>
            </a:r>
            <a:endParaRPr lang="en-US" sz="950" dirty="0"/>
          </a:p>
        </p:txBody>
      </p:sp>
      <p:sp>
        <p:nvSpPr>
          <p:cNvPr id="36" name="Text 34"/>
          <p:cNvSpPr txBox="1"/>
          <p:nvPr/>
        </p:nvSpPr>
        <p:spPr>
          <a:xfrm>
            <a:off x="9461754" y="2368296"/>
            <a:ext cx="1812798" cy="201168"/>
          </a:xfrm>
          <a:prstGeom prst="rect">
            <a:avLst/>
          </a:prstGeom>
          <a:noFill/>
          <a:ln/>
        </p:spPr>
        <p:txBody>
          <a:bodyPr wrap="square" lIns="0" tIns="0" rIns="0" bIns="0" rtlCol="0" anchor="ctr"/>
          <a:lstStyle/>
          <a:p>
            <a:pPr marL="0" indent="0">
              <a:buNone/>
            </a:pPr>
            <a:r>
              <a:rPr lang="en-US" sz="900" b="1" dirty="0">
                <a:solidFill>
                  <a:srgbClr val="2A7F7F"/>
                </a:solidFill>
                <a:latin typeface="Arial" pitchFamily="34" charset="0"/>
                <a:ea typeface="Arial" pitchFamily="34" charset="-122"/>
                <a:cs typeface="Arial" pitchFamily="34" charset="-120"/>
              </a:rPr>
              <a:t>▲ from 88%</a:t>
            </a:r>
            <a:endParaRPr lang="en-US" sz="900" dirty="0"/>
          </a:p>
        </p:txBody>
      </p:sp>
      <p:sp>
        <p:nvSpPr>
          <p:cNvPr id="37" name="Shape 35"/>
          <p:cNvSpPr/>
          <p:nvPr/>
        </p:nvSpPr>
        <p:spPr>
          <a:xfrm>
            <a:off x="2651760" y="2734056"/>
            <a:ext cx="4905573" cy="2478024"/>
          </a:xfrm>
          <a:prstGeom prst="roundRect">
            <a:avLst>
              <a:gd name="adj" fmla="val 1845"/>
            </a:avLst>
          </a:prstGeom>
          <a:solidFill>
            <a:srgbClr val="FFFFFF"/>
          </a:solidFill>
          <a:ln w="9525">
            <a:solidFill>
              <a:srgbClr val="E3E7ED"/>
            </a:solidFill>
            <a:prstDash val="solid"/>
          </a:ln>
        </p:spPr>
        <p:txBody>
          <a:bodyPr/>
          <a:lstStyle/>
          <a:p>
            <a:endParaRPr lang="en-US"/>
          </a:p>
        </p:txBody>
      </p:sp>
      <p:sp>
        <p:nvSpPr>
          <p:cNvPr id="38" name="Text 36"/>
          <p:cNvSpPr txBox="1"/>
          <p:nvPr/>
        </p:nvSpPr>
        <p:spPr>
          <a:xfrm>
            <a:off x="2788920" y="2825496"/>
            <a:ext cx="4631253" cy="256032"/>
          </a:xfrm>
          <a:prstGeom prst="rect">
            <a:avLst/>
          </a:prstGeom>
          <a:noFill/>
          <a:ln/>
        </p:spPr>
        <p:txBody>
          <a:bodyPr wrap="square" lIns="0" tIns="0" rIns="0" bIns="0" rtlCol="0" anchor="ctr"/>
          <a:lstStyle/>
          <a:p>
            <a:pPr marL="0" indent="0">
              <a:buNone/>
            </a:pPr>
            <a:r>
              <a:rPr lang="en-US" sz="1000" b="1" kern="0" spc="100" dirty="0">
                <a:solidFill>
                  <a:srgbClr val="16283F"/>
                </a:solidFill>
                <a:latin typeface="Arial" pitchFamily="34" charset="0"/>
                <a:ea typeface="Arial" pitchFamily="34" charset="-122"/>
                <a:cs typeface="Arial" pitchFamily="34" charset="-120"/>
              </a:rPr>
              <a:t>PREDICTED UNSCHEDULED FAILURES</a:t>
            </a:r>
            <a:endParaRPr lang="en-US" sz="1000" dirty="0"/>
          </a:p>
        </p:txBody>
      </p:sp>
      <p:sp>
        <p:nvSpPr>
          <p:cNvPr id="39" name="Text 37"/>
          <p:cNvSpPr txBox="1"/>
          <p:nvPr/>
        </p:nvSpPr>
        <p:spPr>
          <a:xfrm>
            <a:off x="2788920" y="3118104"/>
            <a:ext cx="4631253" cy="2020824"/>
          </a:xfrm>
          <a:prstGeom prst="rect">
            <a:avLst/>
          </a:prstGeom>
          <a:noFill/>
          <a:ln/>
        </p:spPr>
        <p:txBody>
          <a:bodyPr wrap="square" lIns="0" tIns="0" rIns="0" bIns="0" rtlCol="0" anchor="t"/>
          <a:lstStyle/>
          <a:p>
            <a:pPr marL="0" indent="0">
              <a:spcAft>
                <a:spcPts val="1100"/>
              </a:spcAft>
              <a:buNone/>
            </a:pPr>
            <a:r>
              <a:rPr lang="en-US" sz="1150" dirty="0">
                <a:solidFill>
                  <a:srgbClr val="222222"/>
                </a:solidFill>
                <a:latin typeface="Arial" pitchFamily="34" charset="0"/>
                <a:ea typeface="Arial" pitchFamily="34" charset="-122"/>
                <a:cs typeface="Arial" pitchFamily="34" charset="-120"/>
              </a:rPr>
              <a:t>#3 dryer fan bearing  ·  ~9 weeks  ·  part on shelf ✓</a:t>
            </a:r>
            <a:endParaRPr lang="en-US" sz="1150" dirty="0"/>
          </a:p>
          <a:p>
            <a:pPr marL="0" indent="0">
              <a:spcAft>
                <a:spcPts val="1100"/>
              </a:spcAft>
              <a:buNone/>
            </a:pPr>
            <a:r>
              <a:rPr lang="en-US" sz="1150" dirty="0">
                <a:solidFill>
                  <a:srgbClr val="222222"/>
                </a:solidFill>
                <a:latin typeface="Arial" pitchFamily="34" charset="0"/>
                <a:ea typeface="Arial" pitchFamily="34" charset="-122"/>
                <a:cs typeface="Arial" pitchFamily="34" charset="-120"/>
              </a:rPr>
              <a:t>Size press pump seal  ·  ~5 weeks  ·  lead time 14 wks — order now ⚠</a:t>
            </a:r>
            <a:endParaRPr lang="en-US" sz="1150" dirty="0"/>
          </a:p>
          <a:p>
            <a:pPr marL="0" indent="0">
              <a:spcAft>
                <a:spcPts val="1100"/>
              </a:spcAft>
              <a:buNone/>
            </a:pPr>
            <a:r>
              <a:rPr lang="en-US" sz="1150" dirty="0">
                <a:solidFill>
                  <a:srgbClr val="222222"/>
                </a:solidFill>
                <a:latin typeface="Arial" pitchFamily="34" charset="0"/>
                <a:ea typeface="Arial" pitchFamily="34" charset="-122"/>
                <a:cs typeface="Arial" pitchFamily="34" charset="-120"/>
              </a:rPr>
              <a:t>Winder drive coupling  ·  ~12 weeks  ·  PO placed 9/3</a:t>
            </a:r>
            <a:endParaRPr lang="en-US" sz="1150" dirty="0"/>
          </a:p>
          <a:p>
            <a:pPr marL="0" indent="0">
              <a:spcAft>
                <a:spcPts val="1100"/>
              </a:spcAft>
              <a:buNone/>
            </a:pPr>
            <a:r>
              <a:rPr lang="en-US" sz="1150" dirty="0">
                <a:solidFill>
                  <a:srgbClr val="222222"/>
                </a:solidFill>
                <a:latin typeface="Arial" pitchFamily="34" charset="0"/>
                <a:ea typeface="Arial" pitchFamily="34" charset="-122"/>
                <a:cs typeface="Arial" pitchFamily="34" charset="-120"/>
              </a:rPr>
              <a:t>Stock pump motor  ·  ~3 weeks  ·  tech scheduled Sat 06:00</a:t>
            </a:r>
            <a:endParaRPr lang="en-US" sz="1150" dirty="0"/>
          </a:p>
        </p:txBody>
      </p:sp>
      <p:sp>
        <p:nvSpPr>
          <p:cNvPr id="40" name="Shape 38"/>
          <p:cNvSpPr/>
          <p:nvPr/>
        </p:nvSpPr>
        <p:spPr>
          <a:xfrm>
            <a:off x="7694493" y="2734056"/>
            <a:ext cx="3717219" cy="2478024"/>
          </a:xfrm>
          <a:prstGeom prst="roundRect">
            <a:avLst>
              <a:gd name="adj" fmla="val 1845"/>
            </a:avLst>
          </a:prstGeom>
          <a:solidFill>
            <a:srgbClr val="0F1C2E"/>
          </a:solidFill>
          <a:ln w="9525">
            <a:solidFill>
              <a:srgbClr val="0F1C2E"/>
            </a:solidFill>
            <a:prstDash val="solid"/>
          </a:ln>
        </p:spPr>
        <p:txBody>
          <a:bodyPr/>
          <a:lstStyle/>
          <a:p>
            <a:endParaRPr lang="en-US"/>
          </a:p>
        </p:txBody>
      </p:sp>
      <p:sp>
        <p:nvSpPr>
          <p:cNvPr id="41" name="Text 39"/>
          <p:cNvSpPr txBox="1"/>
          <p:nvPr/>
        </p:nvSpPr>
        <p:spPr>
          <a:xfrm>
            <a:off x="7831653" y="2825496"/>
            <a:ext cx="3442899" cy="256032"/>
          </a:xfrm>
          <a:prstGeom prst="rect">
            <a:avLst/>
          </a:prstGeom>
          <a:noFill/>
          <a:ln/>
        </p:spPr>
        <p:txBody>
          <a:bodyPr wrap="square" lIns="0" tIns="0" rIns="0" bIns="0" rtlCol="0" anchor="ctr"/>
          <a:lstStyle/>
          <a:p>
            <a:pPr marL="0" indent="0">
              <a:buNone/>
            </a:pPr>
            <a:r>
              <a:rPr lang="en-US" sz="1000" b="1" kern="0" spc="100" dirty="0">
                <a:solidFill>
                  <a:srgbClr val="C9A227"/>
                </a:solidFill>
                <a:latin typeface="Arial" pitchFamily="34" charset="0"/>
                <a:ea typeface="Arial" pitchFamily="34" charset="-122"/>
                <a:cs typeface="Arial" pitchFamily="34" charset="-120"/>
              </a:rPr>
              <a:t>ALERTS</a:t>
            </a:r>
            <a:endParaRPr lang="en-US" sz="1000" dirty="0"/>
          </a:p>
        </p:txBody>
      </p:sp>
      <p:sp>
        <p:nvSpPr>
          <p:cNvPr id="42" name="Text 40"/>
          <p:cNvSpPr txBox="1"/>
          <p:nvPr/>
        </p:nvSpPr>
        <p:spPr>
          <a:xfrm>
            <a:off x="7831653" y="3118104"/>
            <a:ext cx="3442899" cy="2020824"/>
          </a:xfrm>
          <a:prstGeom prst="rect">
            <a:avLst/>
          </a:prstGeom>
          <a:noFill/>
          <a:ln/>
        </p:spPr>
        <p:txBody>
          <a:bodyPr wrap="square" lIns="0" tIns="0" rIns="0" bIns="0" rtlCol="0" anchor="t"/>
          <a:lstStyle/>
          <a:p>
            <a:pPr marL="0" indent="0">
              <a:spcAft>
                <a:spcPts val="1100"/>
              </a:spcAft>
              <a:buNone/>
            </a:pPr>
            <a:r>
              <a:rPr lang="en-US" sz="1150" dirty="0">
                <a:solidFill>
                  <a:srgbClr val="E6EBF2"/>
                </a:solidFill>
                <a:latin typeface="Arial" pitchFamily="34" charset="0"/>
                <a:ea typeface="Arial" pitchFamily="34" charset="-122"/>
                <a:cs typeface="Arial" pitchFamily="34" charset="-120"/>
              </a:rPr>
              <a:t>●  Seal kit 4471 below minimum — reorder</a:t>
            </a:r>
            <a:endParaRPr lang="en-US" sz="1150" dirty="0"/>
          </a:p>
          <a:p>
            <a:pPr marL="0" indent="0">
              <a:spcAft>
                <a:spcPts val="1100"/>
              </a:spcAft>
              <a:buNone/>
            </a:pPr>
            <a:r>
              <a:rPr lang="en-US" sz="1150" dirty="0">
                <a:solidFill>
                  <a:srgbClr val="E6EBF2"/>
                </a:solidFill>
                <a:latin typeface="Arial" pitchFamily="34" charset="0"/>
                <a:ea typeface="Arial" pitchFamily="34" charset="-122"/>
                <a:cs typeface="Arial" pitchFamily="34" charset="-120"/>
              </a:rPr>
              <a:t>●  Sat PM window: 3 techs needed, 2 available</a:t>
            </a:r>
            <a:endParaRPr lang="en-US" sz="1150" dirty="0"/>
          </a:p>
          <a:p>
            <a:pPr marL="0" indent="0">
              <a:spcAft>
                <a:spcPts val="1100"/>
              </a:spcAft>
              <a:buNone/>
            </a:pPr>
            <a:r>
              <a:rPr lang="en-US" sz="1150" dirty="0">
                <a:solidFill>
                  <a:srgbClr val="E6EBF2"/>
                </a:solidFill>
                <a:latin typeface="Arial" pitchFamily="34" charset="0"/>
                <a:ea typeface="Arial" pitchFamily="34" charset="-122"/>
                <a:cs typeface="Arial" pitchFamily="34" charset="-120"/>
              </a:rPr>
              <a:t>●  Vendor lead time changed 10 → 14 wks</a:t>
            </a:r>
            <a:endParaRPr lang="en-US" sz="1150" dirty="0"/>
          </a:p>
          <a:p>
            <a:pPr marL="0" indent="0">
              <a:spcAft>
                <a:spcPts val="1100"/>
              </a:spcAft>
              <a:buNone/>
            </a:pPr>
            <a:r>
              <a:rPr lang="en-US" sz="1150" dirty="0">
                <a:solidFill>
                  <a:srgbClr val="E6EBF2"/>
                </a:solidFill>
                <a:latin typeface="Arial" pitchFamily="34" charset="0"/>
                <a:ea typeface="Arial" pitchFamily="34" charset="-122"/>
                <a:cs typeface="Arial" pitchFamily="34" charset="-120"/>
              </a:rPr>
              <a:t>●  Vibration trend up on #2 vacuum pump</a:t>
            </a:r>
            <a:endParaRPr lang="en-US" sz="1150" dirty="0"/>
          </a:p>
        </p:txBody>
      </p:sp>
      <p:sp>
        <p:nvSpPr>
          <p:cNvPr id="43" name="Shape 41"/>
          <p:cNvSpPr/>
          <p:nvPr/>
        </p:nvSpPr>
        <p:spPr>
          <a:xfrm>
            <a:off x="2651760" y="5349240"/>
            <a:ext cx="4905573" cy="868680"/>
          </a:xfrm>
          <a:prstGeom prst="roundRect">
            <a:avLst>
              <a:gd name="adj" fmla="val 5263"/>
            </a:avLst>
          </a:prstGeom>
          <a:solidFill>
            <a:srgbClr val="F2F5F8"/>
          </a:solidFill>
          <a:ln/>
        </p:spPr>
        <p:txBody>
          <a:bodyPr/>
          <a:lstStyle/>
          <a:p>
            <a:endParaRPr lang="en-US"/>
          </a:p>
        </p:txBody>
      </p:sp>
      <p:sp>
        <p:nvSpPr>
          <p:cNvPr id="44" name="Text 42"/>
          <p:cNvSpPr txBox="1"/>
          <p:nvPr/>
        </p:nvSpPr>
        <p:spPr>
          <a:xfrm>
            <a:off x="2788920" y="5422392"/>
            <a:ext cx="4631253" cy="228600"/>
          </a:xfrm>
          <a:prstGeom prst="rect">
            <a:avLst/>
          </a:prstGeom>
          <a:noFill/>
          <a:ln/>
        </p:spPr>
        <p:txBody>
          <a:bodyPr wrap="square" lIns="0" tIns="0" rIns="0" bIns="0" rtlCol="0" anchor="ctr"/>
          <a:lstStyle/>
          <a:p>
            <a:pPr marL="0" indent="0">
              <a:buNone/>
            </a:pPr>
            <a:r>
              <a:rPr lang="en-US" sz="1000" b="1" kern="0" spc="100" dirty="0">
                <a:solidFill>
                  <a:srgbClr val="16283F"/>
                </a:solidFill>
                <a:latin typeface="Arial" pitchFamily="34" charset="0"/>
                <a:ea typeface="Arial" pitchFamily="34" charset="-122"/>
                <a:cs typeface="Arial" pitchFamily="34" charset="-120"/>
              </a:rPr>
              <a:t>WHO'S ON · THIS WEEK</a:t>
            </a:r>
            <a:endParaRPr lang="en-US" sz="1000" dirty="0"/>
          </a:p>
        </p:txBody>
      </p:sp>
      <p:sp>
        <p:nvSpPr>
          <p:cNvPr id="45" name="Text 43"/>
          <p:cNvSpPr txBox="1"/>
          <p:nvPr/>
        </p:nvSpPr>
        <p:spPr>
          <a:xfrm>
            <a:off x="2788920" y="5660136"/>
            <a:ext cx="4631253" cy="502920"/>
          </a:xfrm>
          <a:prstGeom prst="rect">
            <a:avLst/>
          </a:prstGeom>
          <a:noFill/>
          <a:ln/>
        </p:spPr>
        <p:txBody>
          <a:bodyPr wrap="square" lIns="0" tIns="0" rIns="0" bIns="0" rtlCol="0" anchor="ctr"/>
          <a:lstStyle/>
          <a:p>
            <a:pPr marL="0" indent="0">
              <a:buNone/>
            </a:pPr>
            <a:r>
              <a:rPr lang="en-US" sz="1100" dirty="0">
                <a:solidFill>
                  <a:srgbClr val="222222"/>
                </a:solidFill>
                <a:latin typeface="Arial" pitchFamily="34" charset="0"/>
                <a:ea typeface="Arial" pitchFamily="34" charset="-122"/>
                <a:cs typeface="Arial" pitchFamily="34" charset="-120"/>
              </a:rPr>
              <a:t>Days: Ortiz, Chen, Baker   ·   Nights: Lund, Diaz   ·   Vacation: Miller (through 9/12)   ·   Cross-trained on rewinder: 4 of 7</a:t>
            </a:r>
            <a:endParaRPr lang="en-US" sz="1100" dirty="0"/>
          </a:p>
        </p:txBody>
      </p:sp>
      <p:sp>
        <p:nvSpPr>
          <p:cNvPr id="46" name="Shape 44"/>
          <p:cNvSpPr/>
          <p:nvPr/>
        </p:nvSpPr>
        <p:spPr>
          <a:xfrm>
            <a:off x="7694493" y="5349240"/>
            <a:ext cx="1812889" cy="388620"/>
          </a:xfrm>
          <a:prstGeom prst="roundRect">
            <a:avLst>
              <a:gd name="adj" fmla="val 11765"/>
            </a:avLst>
          </a:prstGeom>
          <a:solidFill>
            <a:srgbClr val="2A7F7F"/>
          </a:solidFill>
          <a:ln/>
        </p:spPr>
        <p:txBody>
          <a:bodyPr/>
          <a:lstStyle/>
          <a:p>
            <a:endParaRPr lang="en-US"/>
          </a:p>
        </p:txBody>
      </p:sp>
      <p:sp>
        <p:nvSpPr>
          <p:cNvPr id="47" name="Text 45"/>
          <p:cNvSpPr txBox="1"/>
          <p:nvPr/>
        </p:nvSpPr>
        <p:spPr>
          <a:xfrm>
            <a:off x="7694493" y="5349240"/>
            <a:ext cx="1812889" cy="38862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Order part</a:t>
            </a:r>
            <a:endParaRPr lang="en-US" sz="1000" dirty="0"/>
          </a:p>
        </p:txBody>
      </p:sp>
      <p:sp>
        <p:nvSpPr>
          <p:cNvPr id="48" name="Shape 46"/>
          <p:cNvSpPr/>
          <p:nvPr/>
        </p:nvSpPr>
        <p:spPr>
          <a:xfrm>
            <a:off x="9598823" y="5349240"/>
            <a:ext cx="1812889" cy="388620"/>
          </a:xfrm>
          <a:prstGeom prst="roundRect">
            <a:avLst>
              <a:gd name="adj" fmla="val 11765"/>
            </a:avLst>
          </a:prstGeom>
          <a:solidFill>
            <a:srgbClr val="2A7F7F"/>
          </a:solidFill>
          <a:ln/>
        </p:spPr>
        <p:txBody>
          <a:bodyPr/>
          <a:lstStyle/>
          <a:p>
            <a:endParaRPr lang="en-US"/>
          </a:p>
        </p:txBody>
      </p:sp>
      <p:sp>
        <p:nvSpPr>
          <p:cNvPr id="49" name="Text 47"/>
          <p:cNvSpPr txBox="1"/>
          <p:nvPr/>
        </p:nvSpPr>
        <p:spPr>
          <a:xfrm>
            <a:off x="9598823" y="5349240"/>
            <a:ext cx="1812889" cy="38862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Schedule PM</a:t>
            </a:r>
            <a:endParaRPr lang="en-US" sz="1000" dirty="0"/>
          </a:p>
        </p:txBody>
      </p:sp>
      <p:sp>
        <p:nvSpPr>
          <p:cNvPr id="50" name="Shape 48"/>
          <p:cNvSpPr/>
          <p:nvPr/>
        </p:nvSpPr>
        <p:spPr>
          <a:xfrm>
            <a:off x="7694493" y="5829300"/>
            <a:ext cx="1812889" cy="388620"/>
          </a:xfrm>
          <a:prstGeom prst="roundRect">
            <a:avLst>
              <a:gd name="adj" fmla="val 11765"/>
            </a:avLst>
          </a:prstGeom>
          <a:solidFill>
            <a:srgbClr val="2A7F7F"/>
          </a:solidFill>
          <a:ln/>
        </p:spPr>
        <p:txBody>
          <a:bodyPr/>
          <a:lstStyle/>
          <a:p>
            <a:endParaRPr lang="en-US"/>
          </a:p>
        </p:txBody>
      </p:sp>
      <p:sp>
        <p:nvSpPr>
          <p:cNvPr id="51" name="Text 49"/>
          <p:cNvSpPr txBox="1"/>
          <p:nvPr/>
        </p:nvSpPr>
        <p:spPr>
          <a:xfrm>
            <a:off x="7694493" y="5829300"/>
            <a:ext cx="1812889" cy="38862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Assign tech</a:t>
            </a:r>
            <a:endParaRPr lang="en-US" sz="1000" dirty="0"/>
          </a:p>
        </p:txBody>
      </p:sp>
      <p:sp>
        <p:nvSpPr>
          <p:cNvPr id="52" name="Shape 50"/>
          <p:cNvSpPr/>
          <p:nvPr/>
        </p:nvSpPr>
        <p:spPr>
          <a:xfrm>
            <a:off x="9598823" y="5829300"/>
            <a:ext cx="1812889" cy="388620"/>
          </a:xfrm>
          <a:prstGeom prst="roundRect">
            <a:avLst>
              <a:gd name="adj" fmla="val 11765"/>
            </a:avLst>
          </a:prstGeom>
          <a:solidFill>
            <a:srgbClr val="C9A227"/>
          </a:solidFill>
          <a:ln/>
        </p:spPr>
        <p:txBody>
          <a:bodyPr/>
          <a:lstStyle/>
          <a:p>
            <a:endParaRPr lang="en-US"/>
          </a:p>
        </p:txBody>
      </p:sp>
      <p:sp>
        <p:nvSpPr>
          <p:cNvPr id="53" name="Text 51"/>
          <p:cNvSpPr txBox="1"/>
          <p:nvPr/>
        </p:nvSpPr>
        <p:spPr>
          <a:xfrm>
            <a:off x="9598823" y="5829300"/>
            <a:ext cx="1812889" cy="388620"/>
          </a:xfrm>
          <a:prstGeom prst="rect">
            <a:avLst/>
          </a:prstGeom>
          <a:noFill/>
          <a:ln/>
        </p:spPr>
        <p:txBody>
          <a:bodyPr wrap="square" lIns="0" tIns="0" rIns="0" bIns="0" rtlCol="0" anchor="ctr"/>
          <a:lstStyle/>
          <a:p>
            <a:pPr marL="0" indent="0" algn="ctr">
              <a:buNone/>
            </a:pPr>
            <a:r>
              <a:rPr lang="en-US" sz="1000" b="1" dirty="0">
                <a:solidFill>
                  <a:srgbClr val="16283F"/>
                </a:solidFill>
                <a:latin typeface="Arial" pitchFamily="34" charset="0"/>
                <a:ea typeface="Arial" pitchFamily="34" charset="-122"/>
                <a:cs typeface="Arial" pitchFamily="34" charset="-120"/>
              </a:rPr>
              <a:t>Show the math</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marL="0" indent="0" algn="l">
              <a:buNone/>
            </a:pPr>
            <a:r>
              <a:rPr lang="en-US" sz="2800" b="1" dirty="0">
                <a:solidFill>
                  <a:schemeClr val="accent1">
                    <a:lumMod val="75000"/>
                  </a:schemeClr>
                </a:solidFill>
                <a:latin typeface="Arial Nova" panose="020B0504020202020204" pitchFamily="34" charset="0"/>
                <a:ea typeface="Georgia" pitchFamily="34" charset="-122"/>
                <a:cs typeface="Georgia" pitchFamily="34" charset="-120"/>
              </a:rPr>
              <a:t>If your supply chain manager had AI at his fingertips</a:t>
            </a:r>
            <a:endParaRPr lang="en-US" sz="2800" dirty="0">
              <a:solidFill>
                <a:schemeClr val="accent1">
                  <a:lumMod val="75000"/>
                </a:schemeClr>
              </a:solidFill>
              <a:latin typeface="Arial Nova" panose="020B0504020202020204" pitchFamily="34" charset="0"/>
            </a:endParaRPr>
          </a:p>
        </p:txBody>
      </p:sp>
      <p:sp>
        <p:nvSpPr>
          <p:cNvPr id="3" name="Text 1"/>
          <p:cNvSpPr txBox="1"/>
          <p:nvPr/>
        </p:nvSpPr>
        <p:spPr>
          <a:xfrm>
            <a:off x="548640" y="6473952"/>
            <a:ext cx="11091672" cy="274320"/>
          </a:xfrm>
          <a:prstGeom prst="rect">
            <a:avLst/>
          </a:prstGeom>
          <a:noFill/>
          <a:ln/>
        </p:spPr>
        <p:txBody>
          <a:bodyPr wrap="square" lIns="0" tIns="0" rIns="0" bIns="0" rtlCol="0" anchor="ctr"/>
          <a:lstStyle/>
          <a:p>
            <a:pPr marL="0" indent="0" algn="l">
              <a:buNone/>
            </a:pPr>
            <a:r>
              <a:rPr lang="en-US" sz="900" dirty="0">
                <a:solidFill>
                  <a:srgbClr val="667085"/>
                </a:solidFill>
                <a:latin typeface="Arial" pitchFamily="34" charset="0"/>
                <a:ea typeface="Arial" pitchFamily="34" charset="-122"/>
                <a:cs typeface="Arial" pitchFamily="34" charset="-120"/>
              </a:rPr>
              <a:t>Shiftwork Solutions LLC  |  (415) 265-1621  |  www.shift-work.com</a:t>
            </a:r>
            <a:endParaRPr lang="en-US" sz="900" dirty="0"/>
          </a:p>
        </p:txBody>
      </p:sp>
      <p:sp>
        <p:nvSpPr>
          <p:cNvPr id="4" name="Shape 2"/>
          <p:cNvSpPr/>
          <p:nvPr/>
        </p:nvSpPr>
        <p:spPr>
          <a:xfrm>
            <a:off x="548640" y="1143000"/>
            <a:ext cx="11091672" cy="5257800"/>
          </a:xfrm>
          <a:prstGeom prst="roundRect">
            <a:avLst>
              <a:gd name="adj" fmla="val 1043"/>
            </a:avLst>
          </a:prstGeom>
          <a:solidFill>
            <a:srgbClr val="FFFFFF"/>
          </a:solidFill>
          <a:ln w="12700">
            <a:solidFill>
              <a:srgbClr val="CBD2DB"/>
            </a:solidFill>
            <a:prstDash val="solid"/>
          </a:ln>
        </p:spPr>
        <p:txBody>
          <a:bodyPr/>
          <a:lstStyle/>
          <a:p>
            <a:endParaRPr lang="en-US"/>
          </a:p>
        </p:txBody>
      </p:sp>
      <p:sp>
        <p:nvSpPr>
          <p:cNvPr id="5" name="Shape 3"/>
          <p:cNvSpPr/>
          <p:nvPr/>
        </p:nvSpPr>
        <p:spPr>
          <a:xfrm>
            <a:off x="548640" y="1143000"/>
            <a:ext cx="11091672" cy="384048"/>
          </a:xfrm>
          <a:prstGeom prst="roundRect">
            <a:avLst>
              <a:gd name="adj" fmla="val 14286"/>
            </a:avLst>
          </a:prstGeom>
          <a:solidFill>
            <a:srgbClr val="0F1C2E"/>
          </a:solidFill>
          <a:ln/>
        </p:spPr>
        <p:txBody>
          <a:bodyPr/>
          <a:lstStyle/>
          <a:p>
            <a:endParaRPr lang="en-US"/>
          </a:p>
        </p:txBody>
      </p:sp>
      <p:sp>
        <p:nvSpPr>
          <p:cNvPr id="6" name="Shape 4"/>
          <p:cNvSpPr/>
          <p:nvPr/>
        </p:nvSpPr>
        <p:spPr>
          <a:xfrm>
            <a:off x="548640" y="1335024"/>
            <a:ext cx="11091672" cy="192024"/>
          </a:xfrm>
          <a:prstGeom prst="rect">
            <a:avLst/>
          </a:prstGeom>
          <a:solidFill>
            <a:srgbClr val="0F1C2E"/>
          </a:solidFill>
          <a:ln/>
        </p:spPr>
        <p:txBody>
          <a:bodyPr/>
          <a:lstStyle/>
          <a:p>
            <a:endParaRPr lang="en-US"/>
          </a:p>
        </p:txBody>
      </p:sp>
      <p:sp>
        <p:nvSpPr>
          <p:cNvPr id="7" name="Shape 5"/>
          <p:cNvSpPr/>
          <p:nvPr/>
        </p:nvSpPr>
        <p:spPr>
          <a:xfrm>
            <a:off x="731520" y="1289304"/>
            <a:ext cx="91440" cy="91440"/>
          </a:xfrm>
          <a:prstGeom prst="ellipse">
            <a:avLst/>
          </a:prstGeom>
          <a:solidFill>
            <a:srgbClr val="5A6B85"/>
          </a:solidFill>
          <a:ln/>
        </p:spPr>
        <p:txBody>
          <a:bodyPr/>
          <a:lstStyle/>
          <a:p>
            <a:endParaRPr lang="en-US"/>
          </a:p>
        </p:txBody>
      </p:sp>
      <p:sp>
        <p:nvSpPr>
          <p:cNvPr id="8" name="Shape 6"/>
          <p:cNvSpPr/>
          <p:nvPr/>
        </p:nvSpPr>
        <p:spPr>
          <a:xfrm>
            <a:off x="932688" y="1289304"/>
            <a:ext cx="91440" cy="91440"/>
          </a:xfrm>
          <a:prstGeom prst="ellipse">
            <a:avLst/>
          </a:prstGeom>
          <a:solidFill>
            <a:srgbClr val="5A6B85"/>
          </a:solidFill>
          <a:ln/>
        </p:spPr>
        <p:txBody>
          <a:bodyPr/>
          <a:lstStyle/>
          <a:p>
            <a:endParaRPr lang="en-US"/>
          </a:p>
        </p:txBody>
      </p:sp>
      <p:sp>
        <p:nvSpPr>
          <p:cNvPr id="9" name="Shape 7"/>
          <p:cNvSpPr/>
          <p:nvPr/>
        </p:nvSpPr>
        <p:spPr>
          <a:xfrm>
            <a:off x="1133856" y="1289304"/>
            <a:ext cx="91440" cy="91440"/>
          </a:xfrm>
          <a:prstGeom prst="ellipse">
            <a:avLst/>
          </a:prstGeom>
          <a:solidFill>
            <a:srgbClr val="5A6B85"/>
          </a:solidFill>
          <a:ln/>
        </p:spPr>
        <p:txBody>
          <a:bodyPr/>
          <a:lstStyle/>
          <a:p>
            <a:endParaRPr lang="en-US"/>
          </a:p>
        </p:txBody>
      </p:sp>
      <p:sp>
        <p:nvSpPr>
          <p:cNvPr id="10" name="Text 8"/>
          <p:cNvSpPr txBox="1"/>
          <p:nvPr/>
        </p:nvSpPr>
        <p:spPr>
          <a:xfrm>
            <a:off x="1463040" y="1143000"/>
            <a:ext cx="9262872" cy="384048"/>
          </a:xfrm>
          <a:prstGeom prst="rect">
            <a:avLst/>
          </a:prstGeom>
          <a:noFill/>
          <a:ln/>
        </p:spPr>
        <p:txBody>
          <a:bodyPr wrap="square" lIns="0" tIns="0" rIns="0" bIns="0" rtlCol="0" anchor="ctr"/>
          <a:lstStyle/>
          <a:p>
            <a:pPr marL="0" indent="0" algn="ctr">
              <a:buNone/>
            </a:pPr>
            <a:r>
              <a:rPr lang="en-US" sz="1050" dirty="0">
                <a:solidFill>
                  <a:srgbClr val="C9D2DF"/>
                </a:solidFill>
                <a:latin typeface="Arial" pitchFamily="34" charset="0"/>
                <a:ea typeface="Arial" pitchFamily="34" charset="-122"/>
                <a:cs typeface="Arial" pitchFamily="34" charset="-120"/>
              </a:rPr>
              <a:t>Mill AI  ·  Supply Chain  ·  Fiber, chemicals, wires &amp; felts</a:t>
            </a:r>
            <a:endParaRPr lang="en-US" sz="1050" dirty="0"/>
          </a:p>
        </p:txBody>
      </p:sp>
      <p:sp>
        <p:nvSpPr>
          <p:cNvPr id="11" name="Text 9"/>
          <p:cNvSpPr txBox="1"/>
          <p:nvPr/>
        </p:nvSpPr>
        <p:spPr>
          <a:xfrm>
            <a:off x="10177272" y="1143000"/>
            <a:ext cx="1280160" cy="384048"/>
          </a:xfrm>
          <a:prstGeom prst="rect">
            <a:avLst/>
          </a:prstGeom>
          <a:noFill/>
          <a:ln/>
        </p:spPr>
        <p:txBody>
          <a:bodyPr wrap="square" lIns="0" tIns="0" rIns="0" bIns="0" rtlCol="0" anchor="ctr"/>
          <a:lstStyle/>
          <a:p>
            <a:pPr marL="0" indent="0" algn="r">
              <a:buNone/>
            </a:pPr>
            <a:r>
              <a:rPr lang="en-US" sz="1000" b="1" dirty="0">
                <a:solidFill>
                  <a:srgbClr val="C9A227"/>
                </a:solidFill>
                <a:latin typeface="Arial" pitchFamily="34" charset="0"/>
                <a:ea typeface="Arial" pitchFamily="34" charset="-122"/>
                <a:cs typeface="Arial" pitchFamily="34" charset="-120"/>
              </a:rPr>
              <a:t>Ask the AI  ▸</a:t>
            </a:r>
            <a:endParaRPr lang="en-US" sz="1000" dirty="0"/>
          </a:p>
        </p:txBody>
      </p:sp>
      <p:sp>
        <p:nvSpPr>
          <p:cNvPr id="12" name="Shape 10"/>
          <p:cNvSpPr/>
          <p:nvPr/>
        </p:nvSpPr>
        <p:spPr>
          <a:xfrm>
            <a:off x="548640" y="1527048"/>
            <a:ext cx="1874520" cy="4873752"/>
          </a:xfrm>
          <a:prstGeom prst="rect">
            <a:avLst/>
          </a:prstGeom>
          <a:solidFill>
            <a:srgbClr val="16283F"/>
          </a:solidFill>
          <a:ln/>
        </p:spPr>
        <p:txBody>
          <a:bodyPr/>
          <a:lstStyle/>
          <a:p>
            <a:endParaRPr lang="en-US"/>
          </a:p>
        </p:txBody>
      </p:sp>
      <p:sp>
        <p:nvSpPr>
          <p:cNvPr id="13" name="Text 11"/>
          <p:cNvSpPr txBox="1"/>
          <p:nvPr/>
        </p:nvSpPr>
        <p:spPr>
          <a:xfrm>
            <a:off x="749808" y="1691640"/>
            <a:ext cx="1508760" cy="329184"/>
          </a:xfrm>
          <a:prstGeom prst="rect">
            <a:avLst/>
          </a:prstGeom>
          <a:noFill/>
          <a:ln/>
        </p:spPr>
        <p:txBody>
          <a:bodyPr wrap="square" lIns="0" tIns="0" rIns="0" bIns="0" rtlCol="0" anchor="ctr"/>
          <a:lstStyle/>
          <a:p>
            <a:pPr marL="0" indent="0">
              <a:buNone/>
            </a:pPr>
            <a:r>
              <a:rPr lang="en-US" sz="1050" dirty="0">
                <a:solidFill>
                  <a:srgbClr val="C9D2DF"/>
                </a:solidFill>
                <a:latin typeface="Arial" pitchFamily="34" charset="0"/>
                <a:ea typeface="Arial" pitchFamily="34" charset="-122"/>
                <a:cs typeface="Arial" pitchFamily="34" charset="-120"/>
              </a:rPr>
              <a:t>    Overview</a:t>
            </a:r>
            <a:endParaRPr lang="en-US" sz="1050" dirty="0"/>
          </a:p>
        </p:txBody>
      </p:sp>
      <p:sp>
        <p:nvSpPr>
          <p:cNvPr id="14" name="Text 12"/>
          <p:cNvSpPr txBox="1"/>
          <p:nvPr/>
        </p:nvSpPr>
        <p:spPr>
          <a:xfrm>
            <a:off x="749808" y="2093976"/>
            <a:ext cx="1508760" cy="329184"/>
          </a:xfrm>
          <a:prstGeom prst="rect">
            <a:avLst/>
          </a:prstGeom>
          <a:noFill/>
          <a:ln/>
        </p:spPr>
        <p:txBody>
          <a:bodyPr wrap="square" lIns="0" tIns="0" rIns="0" bIns="0" rtlCol="0" anchor="ctr"/>
          <a:lstStyle/>
          <a:p>
            <a:pPr marL="0" indent="0">
              <a:buNone/>
            </a:pPr>
            <a:r>
              <a:rPr lang="en-US" sz="1050" dirty="0">
                <a:solidFill>
                  <a:srgbClr val="C9D2DF"/>
                </a:solidFill>
                <a:latin typeface="Arial" pitchFamily="34" charset="0"/>
                <a:ea typeface="Arial" pitchFamily="34" charset="-122"/>
                <a:cs typeface="Arial" pitchFamily="34" charset="-120"/>
              </a:rPr>
              <a:t>    Inbound</a:t>
            </a:r>
            <a:endParaRPr lang="en-US" sz="1050" dirty="0"/>
          </a:p>
        </p:txBody>
      </p:sp>
      <p:sp>
        <p:nvSpPr>
          <p:cNvPr id="15" name="Text 13"/>
          <p:cNvSpPr txBox="1"/>
          <p:nvPr/>
        </p:nvSpPr>
        <p:spPr>
          <a:xfrm>
            <a:off x="749808" y="2496312"/>
            <a:ext cx="1508760" cy="329184"/>
          </a:xfrm>
          <a:prstGeom prst="rect">
            <a:avLst/>
          </a:prstGeom>
          <a:noFill/>
          <a:ln/>
        </p:spPr>
        <p:txBody>
          <a:bodyPr wrap="square" lIns="0" tIns="0" rIns="0" bIns="0" rtlCol="0" anchor="ctr"/>
          <a:lstStyle/>
          <a:p>
            <a:pPr marL="0" indent="0">
              <a:buNone/>
            </a:pPr>
            <a:r>
              <a:rPr lang="en-US" sz="1050" dirty="0">
                <a:solidFill>
                  <a:srgbClr val="C9D2DF"/>
                </a:solidFill>
                <a:latin typeface="Arial" pitchFamily="34" charset="0"/>
                <a:ea typeface="Arial" pitchFamily="34" charset="-122"/>
                <a:cs typeface="Arial" pitchFamily="34" charset="-120"/>
              </a:rPr>
              <a:t>    Suppliers</a:t>
            </a:r>
            <a:endParaRPr lang="en-US" sz="1050" dirty="0"/>
          </a:p>
        </p:txBody>
      </p:sp>
      <p:sp>
        <p:nvSpPr>
          <p:cNvPr id="16" name="Shape 14"/>
          <p:cNvSpPr/>
          <p:nvPr/>
        </p:nvSpPr>
        <p:spPr>
          <a:xfrm>
            <a:off x="685800" y="2898648"/>
            <a:ext cx="1600200" cy="329184"/>
          </a:xfrm>
          <a:prstGeom prst="roundRect">
            <a:avLst>
              <a:gd name="adj" fmla="val 13889"/>
            </a:avLst>
          </a:prstGeom>
          <a:solidFill>
            <a:srgbClr val="2A7F7F"/>
          </a:solidFill>
          <a:ln/>
        </p:spPr>
        <p:txBody>
          <a:bodyPr/>
          <a:lstStyle/>
          <a:p>
            <a:endParaRPr lang="en-US"/>
          </a:p>
        </p:txBody>
      </p:sp>
      <p:sp>
        <p:nvSpPr>
          <p:cNvPr id="17" name="Text 15"/>
          <p:cNvSpPr txBox="1"/>
          <p:nvPr/>
        </p:nvSpPr>
        <p:spPr>
          <a:xfrm>
            <a:off x="749808" y="2898648"/>
            <a:ext cx="1508760" cy="329184"/>
          </a:xfrm>
          <a:prstGeom prst="rect">
            <a:avLst/>
          </a:prstGeom>
          <a:noFill/>
          <a:ln/>
        </p:spPr>
        <p:txBody>
          <a:bodyPr wrap="square" lIns="0" tIns="0" rIns="0" bIns="0" rtlCol="0" anchor="ctr"/>
          <a:lstStyle/>
          <a:p>
            <a:pPr marL="0" indent="0">
              <a:buNone/>
            </a:pPr>
            <a:r>
              <a:rPr lang="en-US" sz="1050" b="1" dirty="0">
                <a:solidFill>
                  <a:srgbClr val="FFFFFF"/>
                </a:solidFill>
                <a:latin typeface="Arial" pitchFamily="34" charset="0"/>
                <a:ea typeface="Arial" pitchFamily="34" charset="-122"/>
                <a:cs typeface="Arial" pitchFamily="34" charset="-120"/>
              </a:rPr>
              <a:t>▸  Risk</a:t>
            </a:r>
            <a:endParaRPr lang="en-US" sz="1050" dirty="0"/>
          </a:p>
        </p:txBody>
      </p:sp>
      <p:sp>
        <p:nvSpPr>
          <p:cNvPr id="18" name="Text 16"/>
          <p:cNvSpPr txBox="1"/>
          <p:nvPr/>
        </p:nvSpPr>
        <p:spPr>
          <a:xfrm>
            <a:off x="749808" y="3300984"/>
            <a:ext cx="1508760" cy="329184"/>
          </a:xfrm>
          <a:prstGeom prst="rect">
            <a:avLst/>
          </a:prstGeom>
          <a:noFill/>
          <a:ln/>
        </p:spPr>
        <p:txBody>
          <a:bodyPr wrap="square" lIns="0" tIns="0" rIns="0" bIns="0" rtlCol="0" anchor="ctr"/>
          <a:lstStyle/>
          <a:p>
            <a:pPr marL="0" indent="0">
              <a:buNone/>
            </a:pPr>
            <a:r>
              <a:rPr lang="en-US" sz="1050" dirty="0">
                <a:solidFill>
                  <a:srgbClr val="C9D2DF"/>
                </a:solidFill>
                <a:latin typeface="Arial" pitchFamily="34" charset="0"/>
                <a:ea typeface="Arial" pitchFamily="34" charset="-122"/>
                <a:cs typeface="Arial" pitchFamily="34" charset="-120"/>
              </a:rPr>
              <a:t>    Alternates</a:t>
            </a:r>
            <a:endParaRPr lang="en-US" sz="1050" dirty="0"/>
          </a:p>
        </p:txBody>
      </p:sp>
      <p:sp>
        <p:nvSpPr>
          <p:cNvPr id="19" name="Text 17"/>
          <p:cNvSpPr txBox="1"/>
          <p:nvPr/>
        </p:nvSpPr>
        <p:spPr>
          <a:xfrm>
            <a:off x="749808" y="3703320"/>
            <a:ext cx="1508760" cy="329184"/>
          </a:xfrm>
          <a:prstGeom prst="rect">
            <a:avLst/>
          </a:prstGeom>
          <a:noFill/>
          <a:ln/>
        </p:spPr>
        <p:txBody>
          <a:bodyPr wrap="square" lIns="0" tIns="0" rIns="0" bIns="0" rtlCol="0" anchor="ctr"/>
          <a:lstStyle/>
          <a:p>
            <a:pPr marL="0" indent="0">
              <a:buNone/>
            </a:pPr>
            <a:r>
              <a:rPr lang="en-US" sz="1050" dirty="0">
                <a:solidFill>
                  <a:srgbClr val="C9D2DF"/>
                </a:solidFill>
                <a:latin typeface="Arial" pitchFamily="34" charset="0"/>
                <a:ea typeface="Arial" pitchFamily="34" charset="-122"/>
                <a:cs typeface="Arial" pitchFamily="34" charset="-120"/>
              </a:rPr>
              <a:t>    Contracts</a:t>
            </a:r>
            <a:endParaRPr lang="en-US" sz="1050" dirty="0"/>
          </a:p>
        </p:txBody>
      </p:sp>
      <p:sp>
        <p:nvSpPr>
          <p:cNvPr id="20" name="Text 18"/>
          <p:cNvSpPr txBox="1"/>
          <p:nvPr/>
        </p:nvSpPr>
        <p:spPr>
          <a:xfrm>
            <a:off x="749808" y="4105656"/>
            <a:ext cx="1508760" cy="329184"/>
          </a:xfrm>
          <a:prstGeom prst="rect">
            <a:avLst/>
          </a:prstGeom>
          <a:noFill/>
          <a:ln/>
        </p:spPr>
        <p:txBody>
          <a:bodyPr wrap="square" lIns="0" tIns="0" rIns="0" bIns="0" rtlCol="0" anchor="ctr"/>
          <a:lstStyle/>
          <a:p>
            <a:pPr marL="0" indent="0">
              <a:buNone/>
            </a:pPr>
            <a:r>
              <a:rPr lang="en-US" sz="1050" dirty="0">
                <a:solidFill>
                  <a:srgbClr val="C9D2DF"/>
                </a:solidFill>
                <a:latin typeface="Arial" pitchFamily="34" charset="0"/>
                <a:ea typeface="Arial" pitchFamily="34" charset="-122"/>
                <a:cs typeface="Arial" pitchFamily="34" charset="-120"/>
              </a:rPr>
              <a:t>    Reports</a:t>
            </a:r>
            <a:endParaRPr lang="en-US" sz="1050" dirty="0"/>
          </a:p>
        </p:txBody>
      </p:sp>
      <p:sp>
        <p:nvSpPr>
          <p:cNvPr id="21" name="Shape 19"/>
          <p:cNvSpPr/>
          <p:nvPr/>
        </p:nvSpPr>
        <p:spPr>
          <a:xfrm>
            <a:off x="2651760" y="1728216"/>
            <a:ext cx="2087118" cy="868680"/>
          </a:xfrm>
          <a:prstGeom prst="roundRect">
            <a:avLst>
              <a:gd name="adj" fmla="val 5263"/>
            </a:avLst>
          </a:prstGeom>
          <a:solidFill>
            <a:srgbClr val="F2F5F8"/>
          </a:solidFill>
          <a:ln/>
        </p:spPr>
        <p:txBody>
          <a:bodyPr/>
          <a:lstStyle/>
          <a:p>
            <a:endParaRPr lang="en-US"/>
          </a:p>
        </p:txBody>
      </p:sp>
      <p:sp>
        <p:nvSpPr>
          <p:cNvPr id="22" name="Text 20"/>
          <p:cNvSpPr txBox="1"/>
          <p:nvPr/>
        </p:nvSpPr>
        <p:spPr>
          <a:xfrm>
            <a:off x="2788920" y="1783080"/>
            <a:ext cx="1812798" cy="411480"/>
          </a:xfrm>
          <a:prstGeom prst="rect">
            <a:avLst/>
          </a:prstGeom>
          <a:noFill/>
          <a:ln/>
        </p:spPr>
        <p:txBody>
          <a:bodyPr wrap="square" lIns="0" tIns="0" rIns="0" bIns="0" rtlCol="0" anchor="ctr"/>
          <a:lstStyle/>
          <a:p>
            <a:pPr marL="0" indent="0">
              <a:buNone/>
            </a:pPr>
            <a:r>
              <a:rPr lang="en-US" sz="2200" b="1" dirty="0">
                <a:solidFill>
                  <a:srgbClr val="16283F"/>
                </a:solidFill>
                <a:latin typeface="Georgia" pitchFamily="34" charset="0"/>
                <a:ea typeface="Georgia" pitchFamily="34" charset="-122"/>
                <a:cs typeface="Georgia" pitchFamily="34" charset="-120"/>
              </a:rPr>
              <a:t>41</a:t>
            </a:r>
            <a:endParaRPr lang="en-US" sz="2200" dirty="0"/>
          </a:p>
        </p:txBody>
      </p:sp>
      <p:sp>
        <p:nvSpPr>
          <p:cNvPr id="23" name="Text 21"/>
          <p:cNvSpPr txBox="1"/>
          <p:nvPr/>
        </p:nvSpPr>
        <p:spPr>
          <a:xfrm>
            <a:off x="2788920" y="2185416"/>
            <a:ext cx="1812798" cy="201168"/>
          </a:xfrm>
          <a:prstGeom prst="rect">
            <a:avLst/>
          </a:prstGeom>
          <a:noFill/>
          <a:ln/>
        </p:spPr>
        <p:txBody>
          <a:bodyPr wrap="square" lIns="0" tIns="0" rIns="0" bIns="0" rtlCol="0" anchor="ctr"/>
          <a:lstStyle/>
          <a:p>
            <a:pPr marL="0" indent="0">
              <a:buNone/>
            </a:pPr>
            <a:r>
              <a:rPr lang="en-US" sz="950" dirty="0">
                <a:solidFill>
                  <a:srgbClr val="667085"/>
                </a:solidFill>
                <a:latin typeface="Arial" pitchFamily="34" charset="0"/>
                <a:ea typeface="Arial" pitchFamily="34" charset="-122"/>
                <a:cs typeface="Arial" pitchFamily="34" charset="-120"/>
              </a:rPr>
              <a:t>Inbound POs</a:t>
            </a:r>
            <a:endParaRPr lang="en-US" sz="950" dirty="0"/>
          </a:p>
        </p:txBody>
      </p:sp>
      <p:sp>
        <p:nvSpPr>
          <p:cNvPr id="24" name="Text 22"/>
          <p:cNvSpPr txBox="1"/>
          <p:nvPr/>
        </p:nvSpPr>
        <p:spPr>
          <a:xfrm>
            <a:off x="2788920" y="2368296"/>
            <a:ext cx="1812798" cy="201168"/>
          </a:xfrm>
          <a:prstGeom prst="rect">
            <a:avLst/>
          </a:prstGeom>
          <a:noFill/>
          <a:ln/>
        </p:spPr>
        <p:txBody>
          <a:bodyPr wrap="square" lIns="0" tIns="0" rIns="0" bIns="0" rtlCol="0" anchor="ctr"/>
          <a:lstStyle/>
          <a:p>
            <a:pPr marL="0" indent="0">
              <a:buNone/>
            </a:pPr>
            <a:r>
              <a:rPr lang="en-US" sz="900" b="1" dirty="0">
                <a:solidFill>
                  <a:srgbClr val="B4531F"/>
                </a:solidFill>
                <a:latin typeface="Arial" pitchFamily="34" charset="0"/>
                <a:ea typeface="Arial" pitchFamily="34" charset="-122"/>
                <a:cs typeface="Arial" pitchFamily="34" charset="-120"/>
              </a:rPr>
              <a:t>3 late, 2 at risk</a:t>
            </a:r>
            <a:endParaRPr lang="en-US" sz="900" dirty="0"/>
          </a:p>
        </p:txBody>
      </p:sp>
      <p:sp>
        <p:nvSpPr>
          <p:cNvPr id="25" name="Shape 23"/>
          <p:cNvSpPr/>
          <p:nvPr/>
        </p:nvSpPr>
        <p:spPr>
          <a:xfrm>
            <a:off x="4876038" y="1728216"/>
            <a:ext cx="2087118" cy="868680"/>
          </a:xfrm>
          <a:prstGeom prst="roundRect">
            <a:avLst>
              <a:gd name="adj" fmla="val 5263"/>
            </a:avLst>
          </a:prstGeom>
          <a:solidFill>
            <a:srgbClr val="F2F5F8"/>
          </a:solidFill>
          <a:ln/>
        </p:spPr>
        <p:txBody>
          <a:bodyPr/>
          <a:lstStyle/>
          <a:p>
            <a:endParaRPr lang="en-US"/>
          </a:p>
        </p:txBody>
      </p:sp>
      <p:sp>
        <p:nvSpPr>
          <p:cNvPr id="26" name="Text 24"/>
          <p:cNvSpPr txBox="1"/>
          <p:nvPr/>
        </p:nvSpPr>
        <p:spPr>
          <a:xfrm>
            <a:off x="5013198" y="1783080"/>
            <a:ext cx="1812798" cy="411480"/>
          </a:xfrm>
          <a:prstGeom prst="rect">
            <a:avLst/>
          </a:prstGeom>
          <a:noFill/>
          <a:ln/>
        </p:spPr>
        <p:txBody>
          <a:bodyPr wrap="square" lIns="0" tIns="0" rIns="0" bIns="0" rtlCol="0" anchor="ctr"/>
          <a:lstStyle/>
          <a:p>
            <a:pPr marL="0" indent="0">
              <a:buNone/>
            </a:pPr>
            <a:r>
              <a:rPr lang="en-US" sz="2200" b="1" dirty="0">
                <a:solidFill>
                  <a:srgbClr val="16283F"/>
                </a:solidFill>
                <a:latin typeface="Georgia" pitchFamily="34" charset="0"/>
                <a:ea typeface="Georgia" pitchFamily="34" charset="-122"/>
                <a:cs typeface="Georgia" pitchFamily="34" charset="-120"/>
              </a:rPr>
              <a:t>9</a:t>
            </a:r>
            <a:endParaRPr lang="en-US" sz="2200" dirty="0"/>
          </a:p>
        </p:txBody>
      </p:sp>
      <p:sp>
        <p:nvSpPr>
          <p:cNvPr id="27" name="Text 25"/>
          <p:cNvSpPr txBox="1"/>
          <p:nvPr/>
        </p:nvSpPr>
        <p:spPr>
          <a:xfrm>
            <a:off x="5013198" y="2185416"/>
            <a:ext cx="1812798" cy="201168"/>
          </a:xfrm>
          <a:prstGeom prst="rect">
            <a:avLst/>
          </a:prstGeom>
          <a:noFill/>
          <a:ln/>
        </p:spPr>
        <p:txBody>
          <a:bodyPr wrap="square" lIns="0" tIns="0" rIns="0" bIns="0" rtlCol="0" anchor="ctr"/>
          <a:lstStyle/>
          <a:p>
            <a:pPr marL="0" indent="0">
              <a:buNone/>
            </a:pPr>
            <a:r>
              <a:rPr lang="en-US" sz="950" dirty="0">
                <a:solidFill>
                  <a:srgbClr val="667085"/>
                </a:solidFill>
                <a:latin typeface="Arial" pitchFamily="34" charset="0"/>
                <a:ea typeface="Arial" pitchFamily="34" charset="-122"/>
                <a:cs typeface="Arial" pitchFamily="34" charset="-120"/>
              </a:rPr>
              <a:t>Single-source items</a:t>
            </a:r>
            <a:endParaRPr lang="en-US" sz="950" dirty="0"/>
          </a:p>
        </p:txBody>
      </p:sp>
      <p:sp>
        <p:nvSpPr>
          <p:cNvPr id="28" name="Text 26"/>
          <p:cNvSpPr txBox="1"/>
          <p:nvPr/>
        </p:nvSpPr>
        <p:spPr>
          <a:xfrm>
            <a:off x="5013198" y="2368296"/>
            <a:ext cx="1812798" cy="201168"/>
          </a:xfrm>
          <a:prstGeom prst="rect">
            <a:avLst/>
          </a:prstGeom>
          <a:noFill/>
          <a:ln/>
        </p:spPr>
        <p:txBody>
          <a:bodyPr wrap="square" lIns="0" tIns="0" rIns="0" bIns="0" rtlCol="0" anchor="ctr"/>
          <a:lstStyle/>
          <a:p>
            <a:pPr marL="0" indent="0">
              <a:buNone/>
            </a:pPr>
            <a:r>
              <a:rPr lang="en-US" sz="900" b="1" dirty="0">
                <a:solidFill>
                  <a:srgbClr val="2A7F7F"/>
                </a:solidFill>
                <a:latin typeface="Arial" pitchFamily="34" charset="0"/>
                <a:ea typeface="Arial" pitchFamily="34" charset="-122"/>
                <a:cs typeface="Arial" pitchFamily="34" charset="-120"/>
              </a:rPr>
              <a:t>4 have alternates ready</a:t>
            </a:r>
            <a:endParaRPr lang="en-US" sz="900" dirty="0"/>
          </a:p>
        </p:txBody>
      </p:sp>
      <p:sp>
        <p:nvSpPr>
          <p:cNvPr id="29" name="Shape 27"/>
          <p:cNvSpPr/>
          <p:nvPr/>
        </p:nvSpPr>
        <p:spPr>
          <a:xfrm>
            <a:off x="7100316" y="1728216"/>
            <a:ext cx="2087118" cy="868680"/>
          </a:xfrm>
          <a:prstGeom prst="roundRect">
            <a:avLst>
              <a:gd name="adj" fmla="val 5263"/>
            </a:avLst>
          </a:prstGeom>
          <a:solidFill>
            <a:srgbClr val="F2F5F8"/>
          </a:solidFill>
          <a:ln/>
        </p:spPr>
        <p:txBody>
          <a:bodyPr/>
          <a:lstStyle/>
          <a:p>
            <a:endParaRPr lang="en-US"/>
          </a:p>
        </p:txBody>
      </p:sp>
      <p:sp>
        <p:nvSpPr>
          <p:cNvPr id="30" name="Text 28"/>
          <p:cNvSpPr txBox="1"/>
          <p:nvPr/>
        </p:nvSpPr>
        <p:spPr>
          <a:xfrm>
            <a:off x="7237476" y="1783080"/>
            <a:ext cx="1812798" cy="411480"/>
          </a:xfrm>
          <a:prstGeom prst="rect">
            <a:avLst/>
          </a:prstGeom>
          <a:noFill/>
          <a:ln/>
        </p:spPr>
        <p:txBody>
          <a:bodyPr wrap="square" lIns="0" tIns="0" rIns="0" bIns="0" rtlCol="0" anchor="ctr"/>
          <a:lstStyle/>
          <a:p>
            <a:pPr marL="0" indent="0">
              <a:buNone/>
            </a:pPr>
            <a:r>
              <a:rPr lang="en-US" sz="2200" b="1" dirty="0">
                <a:solidFill>
                  <a:srgbClr val="16283F"/>
                </a:solidFill>
                <a:latin typeface="Georgia" pitchFamily="34" charset="0"/>
                <a:ea typeface="Georgia" pitchFamily="34" charset="-122"/>
                <a:cs typeface="Georgia" pitchFamily="34" charset="-120"/>
              </a:rPr>
              <a:t>11</a:t>
            </a:r>
            <a:endParaRPr lang="en-US" sz="2200" dirty="0"/>
          </a:p>
        </p:txBody>
      </p:sp>
      <p:sp>
        <p:nvSpPr>
          <p:cNvPr id="31" name="Text 29"/>
          <p:cNvSpPr txBox="1"/>
          <p:nvPr/>
        </p:nvSpPr>
        <p:spPr>
          <a:xfrm>
            <a:off x="7237476" y="2185416"/>
            <a:ext cx="1812798" cy="201168"/>
          </a:xfrm>
          <a:prstGeom prst="rect">
            <a:avLst/>
          </a:prstGeom>
          <a:noFill/>
          <a:ln/>
        </p:spPr>
        <p:txBody>
          <a:bodyPr wrap="square" lIns="0" tIns="0" rIns="0" bIns="0" rtlCol="0" anchor="ctr"/>
          <a:lstStyle/>
          <a:p>
            <a:pPr marL="0" indent="0">
              <a:buNone/>
            </a:pPr>
            <a:r>
              <a:rPr lang="en-US" sz="950" dirty="0">
                <a:solidFill>
                  <a:srgbClr val="667085"/>
                </a:solidFill>
                <a:latin typeface="Arial" pitchFamily="34" charset="0"/>
                <a:ea typeface="Arial" pitchFamily="34" charset="-122"/>
                <a:cs typeface="Arial" pitchFamily="34" charset="-120"/>
              </a:rPr>
              <a:t>Days of fiber on hand</a:t>
            </a:r>
            <a:endParaRPr lang="en-US" sz="950" dirty="0"/>
          </a:p>
        </p:txBody>
      </p:sp>
      <p:sp>
        <p:nvSpPr>
          <p:cNvPr id="32" name="Text 30"/>
          <p:cNvSpPr txBox="1"/>
          <p:nvPr/>
        </p:nvSpPr>
        <p:spPr>
          <a:xfrm>
            <a:off x="7237476" y="2368296"/>
            <a:ext cx="1812798" cy="201168"/>
          </a:xfrm>
          <a:prstGeom prst="rect">
            <a:avLst/>
          </a:prstGeom>
          <a:noFill/>
          <a:ln/>
        </p:spPr>
        <p:txBody>
          <a:bodyPr wrap="square" lIns="0" tIns="0" rIns="0" bIns="0" rtlCol="0" anchor="ctr"/>
          <a:lstStyle/>
          <a:p>
            <a:pPr marL="0" indent="0">
              <a:buNone/>
            </a:pPr>
            <a:r>
              <a:rPr lang="en-US" sz="900" b="1" dirty="0">
                <a:solidFill>
                  <a:srgbClr val="B4531F"/>
                </a:solidFill>
                <a:latin typeface="Arial" pitchFamily="34" charset="0"/>
                <a:ea typeface="Arial" pitchFamily="34" charset="-122"/>
                <a:cs typeface="Arial" pitchFamily="34" charset="-120"/>
              </a:rPr>
              <a:t>target 14</a:t>
            </a:r>
            <a:endParaRPr lang="en-US" sz="900" dirty="0"/>
          </a:p>
        </p:txBody>
      </p:sp>
      <p:sp>
        <p:nvSpPr>
          <p:cNvPr id="33" name="Shape 31"/>
          <p:cNvSpPr/>
          <p:nvPr/>
        </p:nvSpPr>
        <p:spPr>
          <a:xfrm>
            <a:off x="9324594" y="1728216"/>
            <a:ext cx="2087118" cy="868680"/>
          </a:xfrm>
          <a:prstGeom prst="roundRect">
            <a:avLst>
              <a:gd name="adj" fmla="val 5263"/>
            </a:avLst>
          </a:prstGeom>
          <a:solidFill>
            <a:srgbClr val="F2F5F8"/>
          </a:solidFill>
          <a:ln/>
        </p:spPr>
        <p:txBody>
          <a:bodyPr/>
          <a:lstStyle/>
          <a:p>
            <a:endParaRPr lang="en-US"/>
          </a:p>
        </p:txBody>
      </p:sp>
      <p:sp>
        <p:nvSpPr>
          <p:cNvPr id="34" name="Text 32"/>
          <p:cNvSpPr txBox="1"/>
          <p:nvPr/>
        </p:nvSpPr>
        <p:spPr>
          <a:xfrm>
            <a:off x="9461754" y="1783080"/>
            <a:ext cx="1812798" cy="411480"/>
          </a:xfrm>
          <a:prstGeom prst="rect">
            <a:avLst/>
          </a:prstGeom>
          <a:noFill/>
          <a:ln/>
        </p:spPr>
        <p:txBody>
          <a:bodyPr wrap="square" lIns="0" tIns="0" rIns="0" bIns="0" rtlCol="0" anchor="ctr"/>
          <a:lstStyle/>
          <a:p>
            <a:pPr marL="0" indent="0">
              <a:buNone/>
            </a:pPr>
            <a:r>
              <a:rPr lang="en-US" sz="2200" b="1" dirty="0">
                <a:solidFill>
                  <a:srgbClr val="16283F"/>
                </a:solidFill>
                <a:latin typeface="Georgia" pitchFamily="34" charset="0"/>
                <a:ea typeface="Georgia" pitchFamily="34" charset="-122"/>
                <a:cs typeface="Georgia" pitchFamily="34" charset="-120"/>
              </a:rPr>
              <a:t>2</a:t>
            </a:r>
            <a:endParaRPr lang="en-US" sz="2200" dirty="0"/>
          </a:p>
        </p:txBody>
      </p:sp>
      <p:sp>
        <p:nvSpPr>
          <p:cNvPr id="35" name="Text 33"/>
          <p:cNvSpPr txBox="1"/>
          <p:nvPr/>
        </p:nvSpPr>
        <p:spPr>
          <a:xfrm>
            <a:off x="9461754" y="2185416"/>
            <a:ext cx="1812798" cy="201168"/>
          </a:xfrm>
          <a:prstGeom prst="rect">
            <a:avLst/>
          </a:prstGeom>
          <a:noFill/>
          <a:ln/>
        </p:spPr>
        <p:txBody>
          <a:bodyPr wrap="square" lIns="0" tIns="0" rIns="0" bIns="0" rtlCol="0" anchor="ctr"/>
          <a:lstStyle/>
          <a:p>
            <a:pPr marL="0" indent="0">
              <a:buNone/>
            </a:pPr>
            <a:r>
              <a:rPr lang="en-US" sz="950" dirty="0">
                <a:solidFill>
                  <a:srgbClr val="667085"/>
                </a:solidFill>
                <a:latin typeface="Arial" pitchFamily="34" charset="0"/>
                <a:ea typeface="Arial" pitchFamily="34" charset="-122"/>
                <a:cs typeface="Arial" pitchFamily="34" charset="-120"/>
              </a:rPr>
              <a:t>Price alerts</a:t>
            </a:r>
            <a:endParaRPr lang="en-US" sz="950" dirty="0"/>
          </a:p>
        </p:txBody>
      </p:sp>
      <p:sp>
        <p:nvSpPr>
          <p:cNvPr id="36" name="Text 34"/>
          <p:cNvSpPr txBox="1"/>
          <p:nvPr/>
        </p:nvSpPr>
        <p:spPr>
          <a:xfrm>
            <a:off x="9461754" y="2368296"/>
            <a:ext cx="1812798" cy="201168"/>
          </a:xfrm>
          <a:prstGeom prst="rect">
            <a:avLst/>
          </a:prstGeom>
          <a:noFill/>
          <a:ln/>
        </p:spPr>
        <p:txBody>
          <a:bodyPr wrap="square" lIns="0" tIns="0" rIns="0" bIns="0" rtlCol="0" anchor="ctr"/>
          <a:lstStyle/>
          <a:p>
            <a:pPr marL="0" indent="0">
              <a:buNone/>
            </a:pPr>
            <a:r>
              <a:rPr lang="en-US" sz="900" b="1" dirty="0">
                <a:solidFill>
                  <a:srgbClr val="2A7F7F"/>
                </a:solidFill>
                <a:latin typeface="Arial" pitchFamily="34" charset="0"/>
                <a:ea typeface="Arial" pitchFamily="34" charset="-122"/>
                <a:cs typeface="Arial" pitchFamily="34" charset="-120"/>
              </a:rPr>
              <a:t>softwood pulp, starch</a:t>
            </a:r>
            <a:endParaRPr lang="en-US" sz="900" dirty="0"/>
          </a:p>
        </p:txBody>
      </p:sp>
      <p:sp>
        <p:nvSpPr>
          <p:cNvPr id="37" name="Shape 35"/>
          <p:cNvSpPr/>
          <p:nvPr/>
        </p:nvSpPr>
        <p:spPr>
          <a:xfrm>
            <a:off x="2651760" y="2734056"/>
            <a:ext cx="4905573" cy="2478024"/>
          </a:xfrm>
          <a:prstGeom prst="roundRect">
            <a:avLst>
              <a:gd name="adj" fmla="val 1845"/>
            </a:avLst>
          </a:prstGeom>
          <a:solidFill>
            <a:srgbClr val="FFFFFF"/>
          </a:solidFill>
          <a:ln w="9525">
            <a:solidFill>
              <a:srgbClr val="E3E7ED"/>
            </a:solidFill>
            <a:prstDash val="solid"/>
          </a:ln>
        </p:spPr>
        <p:txBody>
          <a:bodyPr/>
          <a:lstStyle/>
          <a:p>
            <a:endParaRPr lang="en-US"/>
          </a:p>
        </p:txBody>
      </p:sp>
      <p:sp>
        <p:nvSpPr>
          <p:cNvPr id="38" name="Text 36"/>
          <p:cNvSpPr txBox="1"/>
          <p:nvPr/>
        </p:nvSpPr>
        <p:spPr>
          <a:xfrm>
            <a:off x="2788920" y="2825496"/>
            <a:ext cx="4631253" cy="256032"/>
          </a:xfrm>
          <a:prstGeom prst="rect">
            <a:avLst/>
          </a:prstGeom>
          <a:noFill/>
          <a:ln/>
        </p:spPr>
        <p:txBody>
          <a:bodyPr wrap="square" lIns="0" tIns="0" rIns="0" bIns="0" rtlCol="0" anchor="ctr"/>
          <a:lstStyle/>
          <a:p>
            <a:pPr marL="0" indent="0">
              <a:buNone/>
            </a:pPr>
            <a:r>
              <a:rPr lang="en-US" sz="1000" b="1" kern="0" spc="100" dirty="0">
                <a:solidFill>
                  <a:srgbClr val="16283F"/>
                </a:solidFill>
                <a:latin typeface="Arial" pitchFamily="34" charset="0"/>
                <a:ea typeface="Arial" pitchFamily="34" charset="-122"/>
                <a:cs typeface="Arial" pitchFamily="34" charset="-120"/>
              </a:rPr>
              <a:t>INBOUND · AT RISK</a:t>
            </a:r>
            <a:endParaRPr lang="en-US" sz="1000" dirty="0"/>
          </a:p>
        </p:txBody>
      </p:sp>
      <p:sp>
        <p:nvSpPr>
          <p:cNvPr id="39" name="Text 37"/>
          <p:cNvSpPr txBox="1"/>
          <p:nvPr/>
        </p:nvSpPr>
        <p:spPr>
          <a:xfrm>
            <a:off x="2788920" y="3118104"/>
            <a:ext cx="4631253" cy="2020824"/>
          </a:xfrm>
          <a:prstGeom prst="rect">
            <a:avLst/>
          </a:prstGeom>
          <a:noFill/>
          <a:ln/>
        </p:spPr>
        <p:txBody>
          <a:bodyPr wrap="square" lIns="0" tIns="0" rIns="0" bIns="0" rtlCol="0" anchor="t"/>
          <a:lstStyle/>
          <a:p>
            <a:pPr marL="0" indent="0">
              <a:spcAft>
                <a:spcPts val="1100"/>
              </a:spcAft>
              <a:buNone/>
            </a:pPr>
            <a:r>
              <a:rPr lang="en-US" sz="1150" dirty="0">
                <a:solidFill>
                  <a:srgbClr val="222222"/>
                </a:solidFill>
                <a:latin typeface="Arial" pitchFamily="34" charset="0"/>
                <a:ea typeface="Arial" pitchFamily="34" charset="-122"/>
                <a:cs typeface="Arial" pitchFamily="34" charset="-120"/>
              </a:rPr>
              <a:t>Softwood pulp — Canada — tariff change pending — ETA slips 6 days</a:t>
            </a:r>
            <a:endParaRPr lang="en-US" sz="1150" dirty="0"/>
          </a:p>
          <a:p>
            <a:pPr marL="0" indent="0">
              <a:spcAft>
                <a:spcPts val="1100"/>
              </a:spcAft>
              <a:buNone/>
            </a:pPr>
            <a:r>
              <a:rPr lang="en-US" sz="1150" dirty="0">
                <a:solidFill>
                  <a:srgbClr val="222222"/>
                </a:solidFill>
                <a:latin typeface="Arial" pitchFamily="34" charset="0"/>
                <a:ea typeface="Arial" pitchFamily="34" charset="-122"/>
                <a:cs typeface="Arial" pitchFamily="34" charset="-120"/>
              </a:rPr>
              <a:t>Starch — rail delay, western corridor — ETA +3 days</a:t>
            </a:r>
            <a:endParaRPr lang="en-US" sz="1150" dirty="0"/>
          </a:p>
          <a:p>
            <a:pPr marL="0" indent="0">
              <a:spcAft>
                <a:spcPts val="1100"/>
              </a:spcAft>
              <a:buNone/>
            </a:pPr>
            <a:r>
              <a:rPr lang="en-US" sz="1150" dirty="0">
                <a:solidFill>
                  <a:srgbClr val="222222"/>
                </a:solidFill>
                <a:latin typeface="Arial" pitchFamily="34" charset="0"/>
                <a:ea typeface="Arial" pitchFamily="34" charset="-122"/>
                <a:cs typeface="Arial" pitchFamily="34" charset="-120"/>
              </a:rPr>
              <a:t>Coatings — supplier capacity flag — 60% confidence on-time</a:t>
            </a:r>
            <a:endParaRPr lang="en-US" sz="1150" dirty="0"/>
          </a:p>
          <a:p>
            <a:pPr marL="0" indent="0">
              <a:spcAft>
                <a:spcPts val="1100"/>
              </a:spcAft>
              <a:buNone/>
            </a:pPr>
            <a:r>
              <a:rPr lang="en-US" sz="1150" dirty="0">
                <a:solidFill>
                  <a:srgbClr val="222222"/>
                </a:solidFill>
                <a:latin typeface="Arial" pitchFamily="34" charset="0"/>
                <a:ea typeface="Arial" pitchFamily="34" charset="-122"/>
                <a:cs typeface="Arial" pitchFamily="34" charset="-120"/>
              </a:rPr>
              <a:t>Wires &amp; felts — on schedule</a:t>
            </a:r>
            <a:endParaRPr lang="en-US" sz="1150" dirty="0"/>
          </a:p>
        </p:txBody>
      </p:sp>
      <p:sp>
        <p:nvSpPr>
          <p:cNvPr id="40" name="Shape 38"/>
          <p:cNvSpPr/>
          <p:nvPr/>
        </p:nvSpPr>
        <p:spPr>
          <a:xfrm>
            <a:off x="7694493" y="2734056"/>
            <a:ext cx="3717219" cy="2478024"/>
          </a:xfrm>
          <a:prstGeom prst="roundRect">
            <a:avLst>
              <a:gd name="adj" fmla="val 1845"/>
            </a:avLst>
          </a:prstGeom>
          <a:solidFill>
            <a:srgbClr val="0F1C2E"/>
          </a:solidFill>
          <a:ln w="9525">
            <a:solidFill>
              <a:srgbClr val="0F1C2E"/>
            </a:solidFill>
            <a:prstDash val="solid"/>
          </a:ln>
        </p:spPr>
        <p:txBody>
          <a:bodyPr/>
          <a:lstStyle/>
          <a:p>
            <a:endParaRPr lang="en-US"/>
          </a:p>
        </p:txBody>
      </p:sp>
      <p:sp>
        <p:nvSpPr>
          <p:cNvPr id="41" name="Text 39"/>
          <p:cNvSpPr txBox="1"/>
          <p:nvPr/>
        </p:nvSpPr>
        <p:spPr>
          <a:xfrm>
            <a:off x="7831653" y="2825496"/>
            <a:ext cx="3442899" cy="256032"/>
          </a:xfrm>
          <a:prstGeom prst="rect">
            <a:avLst/>
          </a:prstGeom>
          <a:noFill/>
          <a:ln/>
        </p:spPr>
        <p:txBody>
          <a:bodyPr wrap="square" lIns="0" tIns="0" rIns="0" bIns="0" rtlCol="0" anchor="ctr"/>
          <a:lstStyle/>
          <a:p>
            <a:pPr marL="0" indent="0">
              <a:buNone/>
            </a:pPr>
            <a:r>
              <a:rPr lang="en-US" sz="1000" b="1" kern="0" spc="100" dirty="0">
                <a:solidFill>
                  <a:srgbClr val="C9A227"/>
                </a:solidFill>
                <a:latin typeface="Arial" pitchFamily="34" charset="0"/>
                <a:ea typeface="Arial" pitchFamily="34" charset="-122"/>
                <a:cs typeface="Arial" pitchFamily="34" charset="-120"/>
              </a:rPr>
              <a:t>ALTERNATES · PRE-QUALIFIED</a:t>
            </a:r>
            <a:endParaRPr lang="en-US" sz="1000" dirty="0"/>
          </a:p>
        </p:txBody>
      </p:sp>
      <p:sp>
        <p:nvSpPr>
          <p:cNvPr id="42" name="Text 40"/>
          <p:cNvSpPr txBox="1"/>
          <p:nvPr/>
        </p:nvSpPr>
        <p:spPr>
          <a:xfrm>
            <a:off x="7831653" y="3118104"/>
            <a:ext cx="3442899" cy="2020824"/>
          </a:xfrm>
          <a:prstGeom prst="rect">
            <a:avLst/>
          </a:prstGeom>
          <a:noFill/>
          <a:ln/>
        </p:spPr>
        <p:txBody>
          <a:bodyPr wrap="square" lIns="0" tIns="0" rIns="0" bIns="0" rtlCol="0" anchor="t"/>
          <a:lstStyle/>
          <a:p>
            <a:pPr marL="0" indent="0">
              <a:spcAft>
                <a:spcPts val="1100"/>
              </a:spcAft>
              <a:buNone/>
            </a:pPr>
            <a:r>
              <a:rPr lang="en-US" sz="1150" dirty="0">
                <a:solidFill>
                  <a:srgbClr val="E6EBF2"/>
                </a:solidFill>
                <a:latin typeface="Arial" pitchFamily="34" charset="0"/>
                <a:ea typeface="Arial" pitchFamily="34" charset="-122"/>
                <a:cs typeface="Arial" pitchFamily="34" charset="-120"/>
              </a:rPr>
              <a:t>●  Pulp: 2 alternates, +4% cost, 9-day lead</a:t>
            </a:r>
            <a:endParaRPr lang="en-US" sz="1150" dirty="0"/>
          </a:p>
          <a:p>
            <a:pPr marL="0" indent="0">
              <a:spcAft>
                <a:spcPts val="1100"/>
              </a:spcAft>
              <a:buNone/>
            </a:pPr>
            <a:r>
              <a:rPr lang="en-US" sz="1150" dirty="0">
                <a:solidFill>
                  <a:srgbClr val="E6EBF2"/>
                </a:solidFill>
                <a:latin typeface="Arial" pitchFamily="34" charset="0"/>
                <a:ea typeface="Arial" pitchFamily="34" charset="-122"/>
                <a:cs typeface="Arial" pitchFamily="34" charset="-120"/>
              </a:rPr>
              <a:t>●  Starch: 1 alternate, domestic, +2%</a:t>
            </a:r>
            <a:endParaRPr lang="en-US" sz="1150" dirty="0"/>
          </a:p>
          <a:p>
            <a:pPr marL="0" indent="0">
              <a:spcAft>
                <a:spcPts val="1100"/>
              </a:spcAft>
              <a:buNone/>
            </a:pPr>
            <a:r>
              <a:rPr lang="en-US" sz="1150" dirty="0">
                <a:solidFill>
                  <a:srgbClr val="E6EBF2"/>
                </a:solidFill>
                <a:latin typeface="Arial" pitchFamily="34" charset="0"/>
                <a:ea typeface="Arial" pitchFamily="34" charset="-122"/>
                <a:cs typeface="Arial" pitchFamily="34" charset="-120"/>
              </a:rPr>
              <a:t>●  Coatings: none — flag for sourcing</a:t>
            </a:r>
            <a:endParaRPr lang="en-US" sz="1150" dirty="0"/>
          </a:p>
        </p:txBody>
      </p:sp>
      <p:sp>
        <p:nvSpPr>
          <p:cNvPr id="43" name="Shape 41"/>
          <p:cNvSpPr/>
          <p:nvPr/>
        </p:nvSpPr>
        <p:spPr>
          <a:xfrm>
            <a:off x="2651760" y="5349240"/>
            <a:ext cx="4905573" cy="868680"/>
          </a:xfrm>
          <a:prstGeom prst="roundRect">
            <a:avLst>
              <a:gd name="adj" fmla="val 5263"/>
            </a:avLst>
          </a:prstGeom>
          <a:solidFill>
            <a:srgbClr val="F2F5F8"/>
          </a:solidFill>
          <a:ln/>
        </p:spPr>
        <p:txBody>
          <a:bodyPr/>
          <a:lstStyle/>
          <a:p>
            <a:endParaRPr lang="en-US"/>
          </a:p>
        </p:txBody>
      </p:sp>
      <p:sp>
        <p:nvSpPr>
          <p:cNvPr id="44" name="Text 42"/>
          <p:cNvSpPr txBox="1"/>
          <p:nvPr/>
        </p:nvSpPr>
        <p:spPr>
          <a:xfrm>
            <a:off x="2788920" y="5422392"/>
            <a:ext cx="4631253" cy="228600"/>
          </a:xfrm>
          <a:prstGeom prst="rect">
            <a:avLst/>
          </a:prstGeom>
          <a:noFill/>
          <a:ln/>
        </p:spPr>
        <p:txBody>
          <a:bodyPr wrap="square" lIns="0" tIns="0" rIns="0" bIns="0" rtlCol="0" anchor="ctr"/>
          <a:lstStyle/>
          <a:p>
            <a:pPr marL="0" indent="0">
              <a:buNone/>
            </a:pPr>
            <a:r>
              <a:rPr lang="en-US" sz="1000" b="1" kern="0" spc="100" dirty="0">
                <a:solidFill>
                  <a:srgbClr val="16283F"/>
                </a:solidFill>
                <a:latin typeface="Arial" pitchFamily="34" charset="0"/>
                <a:ea typeface="Arial" pitchFamily="34" charset="-122"/>
                <a:cs typeface="Arial" pitchFamily="34" charset="-120"/>
              </a:rPr>
              <a:t>UPSTREAM WATCH</a:t>
            </a:r>
            <a:endParaRPr lang="en-US" sz="1000" dirty="0"/>
          </a:p>
        </p:txBody>
      </p:sp>
      <p:sp>
        <p:nvSpPr>
          <p:cNvPr id="45" name="Text 43"/>
          <p:cNvSpPr txBox="1"/>
          <p:nvPr/>
        </p:nvSpPr>
        <p:spPr>
          <a:xfrm>
            <a:off x="2788920" y="5660136"/>
            <a:ext cx="4631253" cy="502920"/>
          </a:xfrm>
          <a:prstGeom prst="rect">
            <a:avLst/>
          </a:prstGeom>
          <a:noFill/>
          <a:ln/>
        </p:spPr>
        <p:txBody>
          <a:bodyPr wrap="square" lIns="0" tIns="0" rIns="0" bIns="0" rtlCol="0" anchor="ctr"/>
          <a:lstStyle/>
          <a:p>
            <a:pPr marL="0" indent="0">
              <a:buNone/>
            </a:pPr>
            <a:r>
              <a:rPr lang="en-US" sz="1100" dirty="0">
                <a:solidFill>
                  <a:srgbClr val="222222"/>
                </a:solidFill>
                <a:latin typeface="Arial" pitchFamily="34" charset="0"/>
                <a:ea typeface="Arial" pitchFamily="34" charset="-122"/>
                <a:cs typeface="Arial" pitchFamily="34" charset="-120"/>
              </a:rPr>
              <a:t>Rail strike risk — western corridor (talks 9/15)   ·   Port congestion index ▲   ·   Softwood futures +6% / 30 days   ·   Two suppliers' credit ratings changed</a:t>
            </a:r>
            <a:endParaRPr lang="en-US" sz="1100" dirty="0"/>
          </a:p>
        </p:txBody>
      </p:sp>
      <p:sp>
        <p:nvSpPr>
          <p:cNvPr id="46" name="Shape 44"/>
          <p:cNvSpPr/>
          <p:nvPr/>
        </p:nvSpPr>
        <p:spPr>
          <a:xfrm>
            <a:off x="7694493" y="5349240"/>
            <a:ext cx="1812889" cy="388620"/>
          </a:xfrm>
          <a:prstGeom prst="roundRect">
            <a:avLst>
              <a:gd name="adj" fmla="val 11765"/>
            </a:avLst>
          </a:prstGeom>
          <a:solidFill>
            <a:srgbClr val="2A7F7F"/>
          </a:solidFill>
          <a:ln/>
        </p:spPr>
        <p:txBody>
          <a:bodyPr/>
          <a:lstStyle/>
          <a:p>
            <a:endParaRPr lang="en-US"/>
          </a:p>
        </p:txBody>
      </p:sp>
      <p:sp>
        <p:nvSpPr>
          <p:cNvPr id="47" name="Text 45"/>
          <p:cNvSpPr txBox="1"/>
          <p:nvPr/>
        </p:nvSpPr>
        <p:spPr>
          <a:xfrm>
            <a:off x="7694493" y="5349240"/>
            <a:ext cx="1812889" cy="38862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Expedite PO</a:t>
            </a:r>
            <a:endParaRPr lang="en-US" sz="1000" dirty="0"/>
          </a:p>
        </p:txBody>
      </p:sp>
      <p:sp>
        <p:nvSpPr>
          <p:cNvPr id="48" name="Shape 46"/>
          <p:cNvSpPr/>
          <p:nvPr/>
        </p:nvSpPr>
        <p:spPr>
          <a:xfrm>
            <a:off x="9598823" y="5349240"/>
            <a:ext cx="1812889" cy="388620"/>
          </a:xfrm>
          <a:prstGeom prst="roundRect">
            <a:avLst>
              <a:gd name="adj" fmla="val 11765"/>
            </a:avLst>
          </a:prstGeom>
          <a:solidFill>
            <a:srgbClr val="2A7F7F"/>
          </a:solidFill>
          <a:ln/>
        </p:spPr>
        <p:txBody>
          <a:bodyPr/>
          <a:lstStyle/>
          <a:p>
            <a:endParaRPr lang="en-US"/>
          </a:p>
        </p:txBody>
      </p:sp>
      <p:sp>
        <p:nvSpPr>
          <p:cNvPr id="49" name="Text 47"/>
          <p:cNvSpPr txBox="1"/>
          <p:nvPr/>
        </p:nvSpPr>
        <p:spPr>
          <a:xfrm>
            <a:off x="9598823" y="5349240"/>
            <a:ext cx="1812889" cy="38862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Switch supplier</a:t>
            </a:r>
            <a:endParaRPr lang="en-US" sz="1000" dirty="0"/>
          </a:p>
        </p:txBody>
      </p:sp>
      <p:sp>
        <p:nvSpPr>
          <p:cNvPr id="50" name="Shape 48"/>
          <p:cNvSpPr/>
          <p:nvPr/>
        </p:nvSpPr>
        <p:spPr>
          <a:xfrm>
            <a:off x="7694493" y="5829300"/>
            <a:ext cx="1812889" cy="388620"/>
          </a:xfrm>
          <a:prstGeom prst="roundRect">
            <a:avLst>
              <a:gd name="adj" fmla="val 11765"/>
            </a:avLst>
          </a:prstGeom>
          <a:solidFill>
            <a:srgbClr val="2A7F7F"/>
          </a:solidFill>
          <a:ln/>
        </p:spPr>
        <p:txBody>
          <a:bodyPr/>
          <a:lstStyle/>
          <a:p>
            <a:endParaRPr lang="en-US"/>
          </a:p>
        </p:txBody>
      </p:sp>
      <p:sp>
        <p:nvSpPr>
          <p:cNvPr id="51" name="Text 49"/>
          <p:cNvSpPr txBox="1"/>
          <p:nvPr/>
        </p:nvSpPr>
        <p:spPr>
          <a:xfrm>
            <a:off x="7694493" y="5829300"/>
            <a:ext cx="1812889" cy="38862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Re-run forecast</a:t>
            </a:r>
            <a:endParaRPr lang="en-US" sz="1000" dirty="0"/>
          </a:p>
        </p:txBody>
      </p:sp>
      <p:sp>
        <p:nvSpPr>
          <p:cNvPr id="52" name="Shape 50"/>
          <p:cNvSpPr/>
          <p:nvPr/>
        </p:nvSpPr>
        <p:spPr>
          <a:xfrm>
            <a:off x="9598823" y="5829300"/>
            <a:ext cx="1812889" cy="388620"/>
          </a:xfrm>
          <a:prstGeom prst="roundRect">
            <a:avLst>
              <a:gd name="adj" fmla="val 11765"/>
            </a:avLst>
          </a:prstGeom>
          <a:solidFill>
            <a:srgbClr val="C9A227"/>
          </a:solidFill>
          <a:ln/>
        </p:spPr>
        <p:txBody>
          <a:bodyPr/>
          <a:lstStyle/>
          <a:p>
            <a:endParaRPr lang="en-US"/>
          </a:p>
        </p:txBody>
      </p:sp>
      <p:sp>
        <p:nvSpPr>
          <p:cNvPr id="53" name="Text 51"/>
          <p:cNvSpPr txBox="1"/>
          <p:nvPr/>
        </p:nvSpPr>
        <p:spPr>
          <a:xfrm>
            <a:off x="9598823" y="5829300"/>
            <a:ext cx="1812889" cy="388620"/>
          </a:xfrm>
          <a:prstGeom prst="rect">
            <a:avLst/>
          </a:prstGeom>
          <a:noFill/>
          <a:ln/>
        </p:spPr>
        <p:txBody>
          <a:bodyPr wrap="square" lIns="0" tIns="0" rIns="0" bIns="0" rtlCol="0" anchor="ctr"/>
          <a:lstStyle/>
          <a:p>
            <a:pPr marL="0" indent="0" algn="ctr">
              <a:buNone/>
            </a:pPr>
            <a:r>
              <a:rPr lang="en-US" sz="1000" b="1" dirty="0">
                <a:solidFill>
                  <a:srgbClr val="16283F"/>
                </a:solidFill>
                <a:latin typeface="Arial" pitchFamily="34" charset="0"/>
                <a:ea typeface="Arial" pitchFamily="34" charset="-122"/>
                <a:cs typeface="Arial" pitchFamily="34" charset="-120"/>
              </a:rPr>
              <a:t>Show the math</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marL="0" indent="0" algn="l">
              <a:buNone/>
            </a:pPr>
            <a:r>
              <a:rPr lang="en-US" sz="2800" b="1" dirty="0">
                <a:solidFill>
                  <a:schemeClr val="accent1">
                    <a:lumMod val="75000"/>
                  </a:schemeClr>
                </a:solidFill>
                <a:latin typeface="Arial Nova" panose="020B0504020202020204" pitchFamily="34" charset="0"/>
                <a:ea typeface="Georgia" pitchFamily="34" charset="-122"/>
                <a:cs typeface="Georgia" pitchFamily="34" charset="-120"/>
              </a:rPr>
              <a:t>If your quality team had AI at their fingertips</a:t>
            </a:r>
            <a:endParaRPr lang="en-US" sz="2800" dirty="0">
              <a:solidFill>
                <a:schemeClr val="accent1">
                  <a:lumMod val="75000"/>
                </a:schemeClr>
              </a:solidFill>
              <a:latin typeface="Arial Nova" panose="020B0504020202020204" pitchFamily="34" charset="0"/>
            </a:endParaRPr>
          </a:p>
        </p:txBody>
      </p:sp>
      <p:sp>
        <p:nvSpPr>
          <p:cNvPr id="3" name="Text 1"/>
          <p:cNvSpPr txBox="1"/>
          <p:nvPr/>
        </p:nvSpPr>
        <p:spPr>
          <a:xfrm>
            <a:off x="548640" y="6473952"/>
            <a:ext cx="11091672" cy="274320"/>
          </a:xfrm>
          <a:prstGeom prst="rect">
            <a:avLst/>
          </a:prstGeom>
          <a:noFill/>
          <a:ln/>
        </p:spPr>
        <p:txBody>
          <a:bodyPr wrap="square" lIns="0" tIns="0" rIns="0" bIns="0" rtlCol="0" anchor="ctr"/>
          <a:lstStyle/>
          <a:p>
            <a:pPr marL="0" indent="0" algn="l">
              <a:buNone/>
            </a:pPr>
            <a:r>
              <a:rPr lang="en-US" sz="900" dirty="0">
                <a:solidFill>
                  <a:srgbClr val="667085"/>
                </a:solidFill>
                <a:latin typeface="Arial" pitchFamily="34" charset="0"/>
                <a:ea typeface="Arial" pitchFamily="34" charset="-122"/>
                <a:cs typeface="Arial" pitchFamily="34" charset="-120"/>
              </a:rPr>
              <a:t>Shiftwork Solutions LLC  |  (415) 265-1621  |  www.shift-work.com</a:t>
            </a:r>
            <a:endParaRPr lang="en-US" sz="900" dirty="0"/>
          </a:p>
        </p:txBody>
      </p:sp>
      <p:sp>
        <p:nvSpPr>
          <p:cNvPr id="4" name="Shape 2"/>
          <p:cNvSpPr/>
          <p:nvPr/>
        </p:nvSpPr>
        <p:spPr>
          <a:xfrm>
            <a:off x="548640" y="1143000"/>
            <a:ext cx="11091672" cy="5257800"/>
          </a:xfrm>
          <a:prstGeom prst="roundRect">
            <a:avLst>
              <a:gd name="adj" fmla="val 1043"/>
            </a:avLst>
          </a:prstGeom>
          <a:solidFill>
            <a:srgbClr val="FFFFFF"/>
          </a:solidFill>
          <a:ln w="12700">
            <a:solidFill>
              <a:srgbClr val="CBD2DB"/>
            </a:solidFill>
            <a:prstDash val="solid"/>
          </a:ln>
        </p:spPr>
        <p:txBody>
          <a:bodyPr/>
          <a:lstStyle/>
          <a:p>
            <a:endParaRPr lang="en-US"/>
          </a:p>
        </p:txBody>
      </p:sp>
      <p:sp>
        <p:nvSpPr>
          <p:cNvPr id="5" name="Shape 3"/>
          <p:cNvSpPr/>
          <p:nvPr/>
        </p:nvSpPr>
        <p:spPr>
          <a:xfrm>
            <a:off x="548640" y="1143000"/>
            <a:ext cx="11091672" cy="384048"/>
          </a:xfrm>
          <a:prstGeom prst="roundRect">
            <a:avLst>
              <a:gd name="adj" fmla="val 14286"/>
            </a:avLst>
          </a:prstGeom>
          <a:solidFill>
            <a:srgbClr val="0F1C2E"/>
          </a:solidFill>
          <a:ln/>
        </p:spPr>
        <p:txBody>
          <a:bodyPr/>
          <a:lstStyle/>
          <a:p>
            <a:endParaRPr lang="en-US"/>
          </a:p>
        </p:txBody>
      </p:sp>
      <p:sp>
        <p:nvSpPr>
          <p:cNvPr id="6" name="Shape 4"/>
          <p:cNvSpPr/>
          <p:nvPr/>
        </p:nvSpPr>
        <p:spPr>
          <a:xfrm>
            <a:off x="548640" y="1335024"/>
            <a:ext cx="11091672" cy="192024"/>
          </a:xfrm>
          <a:prstGeom prst="rect">
            <a:avLst/>
          </a:prstGeom>
          <a:solidFill>
            <a:srgbClr val="0F1C2E"/>
          </a:solidFill>
          <a:ln/>
        </p:spPr>
        <p:txBody>
          <a:bodyPr/>
          <a:lstStyle/>
          <a:p>
            <a:endParaRPr lang="en-US"/>
          </a:p>
        </p:txBody>
      </p:sp>
      <p:sp>
        <p:nvSpPr>
          <p:cNvPr id="7" name="Shape 5"/>
          <p:cNvSpPr/>
          <p:nvPr/>
        </p:nvSpPr>
        <p:spPr>
          <a:xfrm>
            <a:off x="731520" y="1289304"/>
            <a:ext cx="91440" cy="91440"/>
          </a:xfrm>
          <a:prstGeom prst="ellipse">
            <a:avLst/>
          </a:prstGeom>
          <a:solidFill>
            <a:srgbClr val="5A6B85"/>
          </a:solidFill>
          <a:ln/>
        </p:spPr>
        <p:txBody>
          <a:bodyPr/>
          <a:lstStyle/>
          <a:p>
            <a:endParaRPr lang="en-US"/>
          </a:p>
        </p:txBody>
      </p:sp>
      <p:sp>
        <p:nvSpPr>
          <p:cNvPr id="8" name="Shape 6"/>
          <p:cNvSpPr/>
          <p:nvPr/>
        </p:nvSpPr>
        <p:spPr>
          <a:xfrm>
            <a:off x="932688" y="1289304"/>
            <a:ext cx="91440" cy="91440"/>
          </a:xfrm>
          <a:prstGeom prst="ellipse">
            <a:avLst/>
          </a:prstGeom>
          <a:solidFill>
            <a:srgbClr val="5A6B85"/>
          </a:solidFill>
          <a:ln/>
        </p:spPr>
        <p:txBody>
          <a:bodyPr/>
          <a:lstStyle/>
          <a:p>
            <a:endParaRPr lang="en-US"/>
          </a:p>
        </p:txBody>
      </p:sp>
      <p:sp>
        <p:nvSpPr>
          <p:cNvPr id="9" name="Shape 7"/>
          <p:cNvSpPr/>
          <p:nvPr/>
        </p:nvSpPr>
        <p:spPr>
          <a:xfrm>
            <a:off x="1133856" y="1289304"/>
            <a:ext cx="91440" cy="91440"/>
          </a:xfrm>
          <a:prstGeom prst="ellipse">
            <a:avLst/>
          </a:prstGeom>
          <a:solidFill>
            <a:srgbClr val="5A6B85"/>
          </a:solidFill>
          <a:ln/>
        </p:spPr>
        <p:txBody>
          <a:bodyPr/>
          <a:lstStyle/>
          <a:p>
            <a:endParaRPr lang="en-US"/>
          </a:p>
        </p:txBody>
      </p:sp>
      <p:sp>
        <p:nvSpPr>
          <p:cNvPr id="10" name="Text 8"/>
          <p:cNvSpPr txBox="1"/>
          <p:nvPr/>
        </p:nvSpPr>
        <p:spPr>
          <a:xfrm>
            <a:off x="1463040" y="1143000"/>
            <a:ext cx="9262872" cy="384048"/>
          </a:xfrm>
          <a:prstGeom prst="rect">
            <a:avLst/>
          </a:prstGeom>
          <a:noFill/>
          <a:ln/>
        </p:spPr>
        <p:txBody>
          <a:bodyPr wrap="square" lIns="0" tIns="0" rIns="0" bIns="0" rtlCol="0" anchor="ctr"/>
          <a:lstStyle/>
          <a:p>
            <a:pPr marL="0" indent="0" algn="ctr">
              <a:buNone/>
            </a:pPr>
            <a:r>
              <a:rPr lang="en-US" sz="1050" dirty="0">
                <a:solidFill>
                  <a:srgbClr val="C9D2DF"/>
                </a:solidFill>
                <a:latin typeface="Arial" pitchFamily="34" charset="0"/>
                <a:ea typeface="Arial" pitchFamily="34" charset="-122"/>
                <a:cs typeface="Arial" pitchFamily="34" charset="-120"/>
              </a:rPr>
              <a:t>Mill AI  ·  Quality  ·  PM1 / PM2 / Winders</a:t>
            </a:r>
            <a:endParaRPr lang="en-US" sz="1050" dirty="0"/>
          </a:p>
        </p:txBody>
      </p:sp>
      <p:sp>
        <p:nvSpPr>
          <p:cNvPr id="11" name="Text 9"/>
          <p:cNvSpPr txBox="1"/>
          <p:nvPr/>
        </p:nvSpPr>
        <p:spPr>
          <a:xfrm>
            <a:off x="10177272" y="1143000"/>
            <a:ext cx="1280160" cy="384048"/>
          </a:xfrm>
          <a:prstGeom prst="rect">
            <a:avLst/>
          </a:prstGeom>
          <a:noFill/>
          <a:ln/>
        </p:spPr>
        <p:txBody>
          <a:bodyPr wrap="square" lIns="0" tIns="0" rIns="0" bIns="0" rtlCol="0" anchor="ctr"/>
          <a:lstStyle/>
          <a:p>
            <a:pPr marL="0" indent="0" algn="r">
              <a:buNone/>
            </a:pPr>
            <a:r>
              <a:rPr lang="en-US" sz="1000" b="1" dirty="0">
                <a:solidFill>
                  <a:srgbClr val="C9A227"/>
                </a:solidFill>
                <a:latin typeface="Arial" pitchFamily="34" charset="0"/>
                <a:ea typeface="Arial" pitchFamily="34" charset="-122"/>
                <a:cs typeface="Arial" pitchFamily="34" charset="-120"/>
              </a:rPr>
              <a:t>Ask the AI  ▸</a:t>
            </a:r>
            <a:endParaRPr lang="en-US" sz="1000" dirty="0"/>
          </a:p>
        </p:txBody>
      </p:sp>
      <p:sp>
        <p:nvSpPr>
          <p:cNvPr id="12" name="Shape 10"/>
          <p:cNvSpPr/>
          <p:nvPr/>
        </p:nvSpPr>
        <p:spPr>
          <a:xfrm>
            <a:off x="548640" y="1527048"/>
            <a:ext cx="1874520" cy="4873752"/>
          </a:xfrm>
          <a:prstGeom prst="rect">
            <a:avLst/>
          </a:prstGeom>
          <a:solidFill>
            <a:srgbClr val="16283F"/>
          </a:solidFill>
          <a:ln/>
        </p:spPr>
        <p:txBody>
          <a:bodyPr/>
          <a:lstStyle/>
          <a:p>
            <a:endParaRPr lang="en-US"/>
          </a:p>
        </p:txBody>
      </p:sp>
      <p:sp>
        <p:nvSpPr>
          <p:cNvPr id="13" name="Shape 11"/>
          <p:cNvSpPr/>
          <p:nvPr/>
        </p:nvSpPr>
        <p:spPr>
          <a:xfrm>
            <a:off x="685800" y="1691640"/>
            <a:ext cx="1600200" cy="329184"/>
          </a:xfrm>
          <a:prstGeom prst="roundRect">
            <a:avLst>
              <a:gd name="adj" fmla="val 13889"/>
            </a:avLst>
          </a:prstGeom>
          <a:solidFill>
            <a:srgbClr val="2A7F7F"/>
          </a:solidFill>
          <a:ln/>
        </p:spPr>
        <p:txBody>
          <a:bodyPr/>
          <a:lstStyle/>
          <a:p>
            <a:endParaRPr lang="en-US"/>
          </a:p>
        </p:txBody>
      </p:sp>
      <p:sp>
        <p:nvSpPr>
          <p:cNvPr id="14" name="Text 12"/>
          <p:cNvSpPr txBox="1"/>
          <p:nvPr/>
        </p:nvSpPr>
        <p:spPr>
          <a:xfrm>
            <a:off x="749808" y="1691640"/>
            <a:ext cx="1508760" cy="329184"/>
          </a:xfrm>
          <a:prstGeom prst="rect">
            <a:avLst/>
          </a:prstGeom>
          <a:noFill/>
          <a:ln/>
        </p:spPr>
        <p:txBody>
          <a:bodyPr wrap="square" lIns="0" tIns="0" rIns="0" bIns="0" rtlCol="0" anchor="ctr"/>
          <a:lstStyle/>
          <a:p>
            <a:pPr marL="0" indent="0">
              <a:buNone/>
            </a:pPr>
            <a:r>
              <a:rPr lang="en-US" sz="1050" b="1" dirty="0">
                <a:solidFill>
                  <a:srgbClr val="FFFFFF"/>
                </a:solidFill>
                <a:latin typeface="Arial" pitchFamily="34" charset="0"/>
                <a:ea typeface="Arial" pitchFamily="34" charset="-122"/>
                <a:cs typeface="Arial" pitchFamily="34" charset="-120"/>
              </a:rPr>
              <a:t>▸  Live</a:t>
            </a:r>
            <a:endParaRPr lang="en-US" sz="1050" dirty="0"/>
          </a:p>
        </p:txBody>
      </p:sp>
      <p:sp>
        <p:nvSpPr>
          <p:cNvPr id="15" name="Text 13"/>
          <p:cNvSpPr txBox="1"/>
          <p:nvPr/>
        </p:nvSpPr>
        <p:spPr>
          <a:xfrm>
            <a:off x="749808" y="2093976"/>
            <a:ext cx="1508760" cy="329184"/>
          </a:xfrm>
          <a:prstGeom prst="rect">
            <a:avLst/>
          </a:prstGeom>
          <a:noFill/>
          <a:ln/>
        </p:spPr>
        <p:txBody>
          <a:bodyPr wrap="square" lIns="0" tIns="0" rIns="0" bIns="0" rtlCol="0" anchor="ctr"/>
          <a:lstStyle/>
          <a:p>
            <a:pPr marL="0" indent="0">
              <a:buNone/>
            </a:pPr>
            <a:r>
              <a:rPr lang="en-US" sz="1050" dirty="0">
                <a:solidFill>
                  <a:srgbClr val="C9D2DF"/>
                </a:solidFill>
                <a:latin typeface="Arial" pitchFamily="34" charset="0"/>
                <a:ea typeface="Arial" pitchFamily="34" charset="-122"/>
                <a:cs typeface="Arial" pitchFamily="34" charset="-120"/>
              </a:rPr>
              <a:t>    Defects</a:t>
            </a:r>
            <a:endParaRPr lang="en-US" sz="1050" dirty="0"/>
          </a:p>
        </p:txBody>
      </p:sp>
      <p:sp>
        <p:nvSpPr>
          <p:cNvPr id="16" name="Text 14"/>
          <p:cNvSpPr txBox="1"/>
          <p:nvPr/>
        </p:nvSpPr>
        <p:spPr>
          <a:xfrm>
            <a:off x="749808" y="2496312"/>
            <a:ext cx="1508760" cy="329184"/>
          </a:xfrm>
          <a:prstGeom prst="rect">
            <a:avLst/>
          </a:prstGeom>
          <a:noFill/>
          <a:ln/>
        </p:spPr>
        <p:txBody>
          <a:bodyPr wrap="square" lIns="0" tIns="0" rIns="0" bIns="0" rtlCol="0" anchor="ctr"/>
          <a:lstStyle/>
          <a:p>
            <a:pPr marL="0" indent="0">
              <a:buNone/>
            </a:pPr>
            <a:r>
              <a:rPr lang="en-US" sz="1050" dirty="0">
                <a:solidFill>
                  <a:srgbClr val="C9D2DF"/>
                </a:solidFill>
                <a:latin typeface="Arial" pitchFamily="34" charset="0"/>
                <a:ea typeface="Arial" pitchFamily="34" charset="-122"/>
                <a:cs typeface="Arial" pitchFamily="34" charset="-120"/>
              </a:rPr>
              <a:t>    Trends</a:t>
            </a:r>
            <a:endParaRPr lang="en-US" sz="1050" dirty="0"/>
          </a:p>
        </p:txBody>
      </p:sp>
      <p:sp>
        <p:nvSpPr>
          <p:cNvPr id="17" name="Text 15"/>
          <p:cNvSpPr txBox="1"/>
          <p:nvPr/>
        </p:nvSpPr>
        <p:spPr>
          <a:xfrm>
            <a:off x="749808" y="2898648"/>
            <a:ext cx="1508760" cy="329184"/>
          </a:xfrm>
          <a:prstGeom prst="rect">
            <a:avLst/>
          </a:prstGeom>
          <a:noFill/>
          <a:ln/>
        </p:spPr>
        <p:txBody>
          <a:bodyPr wrap="square" lIns="0" tIns="0" rIns="0" bIns="0" rtlCol="0" anchor="ctr"/>
          <a:lstStyle/>
          <a:p>
            <a:pPr marL="0" indent="0">
              <a:buNone/>
            </a:pPr>
            <a:r>
              <a:rPr lang="en-US" sz="1050" dirty="0">
                <a:solidFill>
                  <a:srgbClr val="C9D2DF"/>
                </a:solidFill>
                <a:latin typeface="Arial" pitchFamily="34" charset="0"/>
                <a:ea typeface="Arial" pitchFamily="34" charset="-122"/>
                <a:cs typeface="Arial" pitchFamily="34" charset="-120"/>
              </a:rPr>
              <a:t>    Root cause</a:t>
            </a:r>
            <a:endParaRPr lang="en-US" sz="1050" dirty="0"/>
          </a:p>
        </p:txBody>
      </p:sp>
      <p:sp>
        <p:nvSpPr>
          <p:cNvPr id="18" name="Text 16"/>
          <p:cNvSpPr txBox="1"/>
          <p:nvPr/>
        </p:nvSpPr>
        <p:spPr>
          <a:xfrm>
            <a:off x="749808" y="3300984"/>
            <a:ext cx="1508760" cy="329184"/>
          </a:xfrm>
          <a:prstGeom prst="rect">
            <a:avLst/>
          </a:prstGeom>
          <a:noFill/>
          <a:ln/>
        </p:spPr>
        <p:txBody>
          <a:bodyPr wrap="square" lIns="0" tIns="0" rIns="0" bIns="0" rtlCol="0" anchor="ctr"/>
          <a:lstStyle/>
          <a:p>
            <a:pPr marL="0" indent="0">
              <a:buNone/>
            </a:pPr>
            <a:r>
              <a:rPr lang="en-US" sz="1050" dirty="0">
                <a:solidFill>
                  <a:srgbClr val="C9D2DF"/>
                </a:solidFill>
                <a:latin typeface="Arial" pitchFamily="34" charset="0"/>
                <a:ea typeface="Arial" pitchFamily="34" charset="-122"/>
                <a:cs typeface="Arial" pitchFamily="34" charset="-120"/>
              </a:rPr>
              <a:t>    Grades</a:t>
            </a:r>
            <a:endParaRPr lang="en-US" sz="1050" dirty="0"/>
          </a:p>
        </p:txBody>
      </p:sp>
      <p:sp>
        <p:nvSpPr>
          <p:cNvPr id="19" name="Text 17"/>
          <p:cNvSpPr txBox="1"/>
          <p:nvPr/>
        </p:nvSpPr>
        <p:spPr>
          <a:xfrm>
            <a:off x="749808" y="3703320"/>
            <a:ext cx="1508760" cy="329184"/>
          </a:xfrm>
          <a:prstGeom prst="rect">
            <a:avLst/>
          </a:prstGeom>
          <a:noFill/>
          <a:ln/>
        </p:spPr>
        <p:txBody>
          <a:bodyPr wrap="square" lIns="0" tIns="0" rIns="0" bIns="0" rtlCol="0" anchor="ctr"/>
          <a:lstStyle/>
          <a:p>
            <a:pPr marL="0" indent="0">
              <a:buNone/>
            </a:pPr>
            <a:r>
              <a:rPr lang="en-US" sz="1050" dirty="0">
                <a:solidFill>
                  <a:srgbClr val="C9D2DF"/>
                </a:solidFill>
                <a:latin typeface="Arial" pitchFamily="34" charset="0"/>
                <a:ea typeface="Arial" pitchFamily="34" charset="-122"/>
                <a:cs typeface="Arial" pitchFamily="34" charset="-120"/>
              </a:rPr>
              <a:t>    CAPAs</a:t>
            </a:r>
            <a:endParaRPr lang="en-US" sz="1050" dirty="0"/>
          </a:p>
        </p:txBody>
      </p:sp>
      <p:sp>
        <p:nvSpPr>
          <p:cNvPr id="20" name="Text 18"/>
          <p:cNvSpPr txBox="1"/>
          <p:nvPr/>
        </p:nvSpPr>
        <p:spPr>
          <a:xfrm>
            <a:off x="749808" y="4105656"/>
            <a:ext cx="1508760" cy="329184"/>
          </a:xfrm>
          <a:prstGeom prst="rect">
            <a:avLst/>
          </a:prstGeom>
          <a:noFill/>
          <a:ln/>
        </p:spPr>
        <p:txBody>
          <a:bodyPr wrap="square" lIns="0" tIns="0" rIns="0" bIns="0" rtlCol="0" anchor="ctr"/>
          <a:lstStyle/>
          <a:p>
            <a:pPr marL="0" indent="0">
              <a:buNone/>
            </a:pPr>
            <a:r>
              <a:rPr lang="en-US" sz="1050" dirty="0">
                <a:solidFill>
                  <a:srgbClr val="C9D2DF"/>
                </a:solidFill>
                <a:latin typeface="Arial" pitchFamily="34" charset="0"/>
                <a:ea typeface="Arial" pitchFamily="34" charset="-122"/>
                <a:cs typeface="Arial" pitchFamily="34" charset="-120"/>
              </a:rPr>
              <a:t>    Reports</a:t>
            </a:r>
            <a:endParaRPr lang="en-US" sz="1050" dirty="0"/>
          </a:p>
        </p:txBody>
      </p:sp>
      <p:sp>
        <p:nvSpPr>
          <p:cNvPr id="21" name="Shape 19"/>
          <p:cNvSpPr/>
          <p:nvPr/>
        </p:nvSpPr>
        <p:spPr>
          <a:xfrm>
            <a:off x="2651760" y="1728216"/>
            <a:ext cx="2087118" cy="868680"/>
          </a:xfrm>
          <a:prstGeom prst="roundRect">
            <a:avLst>
              <a:gd name="adj" fmla="val 5263"/>
            </a:avLst>
          </a:prstGeom>
          <a:solidFill>
            <a:srgbClr val="F2F5F8"/>
          </a:solidFill>
          <a:ln/>
        </p:spPr>
        <p:txBody>
          <a:bodyPr/>
          <a:lstStyle/>
          <a:p>
            <a:endParaRPr lang="en-US"/>
          </a:p>
        </p:txBody>
      </p:sp>
      <p:sp>
        <p:nvSpPr>
          <p:cNvPr id="22" name="Text 20"/>
          <p:cNvSpPr txBox="1"/>
          <p:nvPr/>
        </p:nvSpPr>
        <p:spPr>
          <a:xfrm>
            <a:off x="2788920" y="1783080"/>
            <a:ext cx="1812798" cy="411480"/>
          </a:xfrm>
          <a:prstGeom prst="rect">
            <a:avLst/>
          </a:prstGeom>
          <a:noFill/>
          <a:ln/>
        </p:spPr>
        <p:txBody>
          <a:bodyPr wrap="square" lIns="0" tIns="0" rIns="0" bIns="0" rtlCol="0" anchor="ctr"/>
          <a:lstStyle/>
          <a:p>
            <a:pPr marL="0" indent="0">
              <a:buNone/>
            </a:pPr>
            <a:r>
              <a:rPr lang="en-US" sz="2200" b="1" dirty="0">
                <a:solidFill>
                  <a:srgbClr val="16283F"/>
                </a:solidFill>
                <a:latin typeface="Georgia" pitchFamily="34" charset="0"/>
                <a:ea typeface="Georgia" pitchFamily="34" charset="-122"/>
                <a:cs typeface="Georgia" pitchFamily="34" charset="-120"/>
              </a:rPr>
              <a:t>0.8</a:t>
            </a:r>
            <a:endParaRPr lang="en-US" sz="2200" dirty="0"/>
          </a:p>
        </p:txBody>
      </p:sp>
      <p:sp>
        <p:nvSpPr>
          <p:cNvPr id="23" name="Text 21"/>
          <p:cNvSpPr txBox="1"/>
          <p:nvPr/>
        </p:nvSpPr>
        <p:spPr>
          <a:xfrm>
            <a:off x="2788920" y="2185416"/>
            <a:ext cx="1812798" cy="201168"/>
          </a:xfrm>
          <a:prstGeom prst="rect">
            <a:avLst/>
          </a:prstGeom>
          <a:noFill/>
          <a:ln/>
        </p:spPr>
        <p:txBody>
          <a:bodyPr wrap="square" lIns="0" tIns="0" rIns="0" bIns="0" rtlCol="0" anchor="ctr"/>
          <a:lstStyle/>
          <a:p>
            <a:pPr marL="0" indent="0">
              <a:buNone/>
            </a:pPr>
            <a:r>
              <a:rPr lang="en-US" sz="950" dirty="0">
                <a:solidFill>
                  <a:srgbClr val="667085"/>
                </a:solidFill>
                <a:latin typeface="Arial" pitchFamily="34" charset="0"/>
                <a:ea typeface="Arial" pitchFamily="34" charset="-122"/>
                <a:cs typeface="Arial" pitchFamily="34" charset="-120"/>
              </a:rPr>
              <a:t>Defects per hour</a:t>
            </a:r>
            <a:endParaRPr lang="en-US" sz="950" dirty="0"/>
          </a:p>
        </p:txBody>
      </p:sp>
      <p:sp>
        <p:nvSpPr>
          <p:cNvPr id="24" name="Text 22"/>
          <p:cNvSpPr txBox="1"/>
          <p:nvPr/>
        </p:nvSpPr>
        <p:spPr>
          <a:xfrm>
            <a:off x="2788920" y="2368296"/>
            <a:ext cx="1812798" cy="201168"/>
          </a:xfrm>
          <a:prstGeom prst="rect">
            <a:avLst/>
          </a:prstGeom>
          <a:noFill/>
          <a:ln/>
        </p:spPr>
        <p:txBody>
          <a:bodyPr wrap="square" lIns="0" tIns="0" rIns="0" bIns="0" rtlCol="0" anchor="ctr"/>
          <a:lstStyle/>
          <a:p>
            <a:pPr marL="0" indent="0">
              <a:buNone/>
            </a:pPr>
            <a:r>
              <a:rPr lang="en-US" sz="900" b="1" dirty="0">
                <a:solidFill>
                  <a:srgbClr val="2A7F7F"/>
                </a:solidFill>
                <a:latin typeface="Arial" pitchFamily="34" charset="0"/>
                <a:ea typeface="Arial" pitchFamily="34" charset="-122"/>
                <a:cs typeface="Arial" pitchFamily="34" charset="-120"/>
              </a:rPr>
              <a:t>▼ vs 1.3 avg</a:t>
            </a:r>
            <a:endParaRPr lang="en-US" sz="900" dirty="0"/>
          </a:p>
        </p:txBody>
      </p:sp>
      <p:sp>
        <p:nvSpPr>
          <p:cNvPr id="25" name="Shape 23"/>
          <p:cNvSpPr/>
          <p:nvPr/>
        </p:nvSpPr>
        <p:spPr>
          <a:xfrm>
            <a:off x="4876038" y="1728216"/>
            <a:ext cx="2087118" cy="868680"/>
          </a:xfrm>
          <a:prstGeom prst="roundRect">
            <a:avLst>
              <a:gd name="adj" fmla="val 5263"/>
            </a:avLst>
          </a:prstGeom>
          <a:solidFill>
            <a:srgbClr val="F2F5F8"/>
          </a:solidFill>
          <a:ln/>
        </p:spPr>
        <p:txBody>
          <a:bodyPr/>
          <a:lstStyle/>
          <a:p>
            <a:endParaRPr lang="en-US"/>
          </a:p>
        </p:txBody>
      </p:sp>
      <p:sp>
        <p:nvSpPr>
          <p:cNvPr id="26" name="Text 24"/>
          <p:cNvSpPr txBox="1"/>
          <p:nvPr/>
        </p:nvSpPr>
        <p:spPr>
          <a:xfrm>
            <a:off x="5013198" y="1783080"/>
            <a:ext cx="1812798" cy="411480"/>
          </a:xfrm>
          <a:prstGeom prst="rect">
            <a:avLst/>
          </a:prstGeom>
          <a:noFill/>
          <a:ln/>
        </p:spPr>
        <p:txBody>
          <a:bodyPr wrap="square" lIns="0" tIns="0" rIns="0" bIns="0" rtlCol="0" anchor="ctr"/>
          <a:lstStyle/>
          <a:p>
            <a:pPr marL="0" indent="0">
              <a:buNone/>
            </a:pPr>
            <a:r>
              <a:rPr lang="en-US" sz="2200" b="1" dirty="0">
                <a:solidFill>
                  <a:srgbClr val="16283F"/>
                </a:solidFill>
                <a:latin typeface="Georgia" pitchFamily="34" charset="0"/>
                <a:ea typeface="Georgia" pitchFamily="34" charset="-122"/>
                <a:cs typeface="Georgia" pitchFamily="34" charset="-120"/>
              </a:rPr>
              <a:t>1.1%</a:t>
            </a:r>
            <a:endParaRPr lang="en-US" sz="2200" dirty="0"/>
          </a:p>
        </p:txBody>
      </p:sp>
      <p:sp>
        <p:nvSpPr>
          <p:cNvPr id="27" name="Text 25"/>
          <p:cNvSpPr txBox="1"/>
          <p:nvPr/>
        </p:nvSpPr>
        <p:spPr>
          <a:xfrm>
            <a:off x="5013198" y="2185416"/>
            <a:ext cx="1812798" cy="201168"/>
          </a:xfrm>
          <a:prstGeom prst="rect">
            <a:avLst/>
          </a:prstGeom>
          <a:noFill/>
          <a:ln/>
        </p:spPr>
        <p:txBody>
          <a:bodyPr wrap="square" lIns="0" tIns="0" rIns="0" bIns="0" rtlCol="0" anchor="ctr"/>
          <a:lstStyle/>
          <a:p>
            <a:pPr marL="0" indent="0">
              <a:buNone/>
            </a:pPr>
            <a:r>
              <a:rPr lang="en-US" sz="950" dirty="0">
                <a:solidFill>
                  <a:srgbClr val="667085"/>
                </a:solidFill>
                <a:latin typeface="Arial" pitchFamily="34" charset="0"/>
                <a:ea typeface="Arial" pitchFamily="34" charset="-122"/>
                <a:cs typeface="Arial" pitchFamily="34" charset="-120"/>
              </a:rPr>
              <a:t>Reject rate · today</a:t>
            </a:r>
            <a:endParaRPr lang="en-US" sz="950" dirty="0"/>
          </a:p>
        </p:txBody>
      </p:sp>
      <p:sp>
        <p:nvSpPr>
          <p:cNvPr id="28" name="Text 26"/>
          <p:cNvSpPr txBox="1"/>
          <p:nvPr/>
        </p:nvSpPr>
        <p:spPr>
          <a:xfrm>
            <a:off x="5013198" y="2368296"/>
            <a:ext cx="1812798" cy="201168"/>
          </a:xfrm>
          <a:prstGeom prst="rect">
            <a:avLst/>
          </a:prstGeom>
          <a:noFill/>
          <a:ln/>
        </p:spPr>
        <p:txBody>
          <a:bodyPr wrap="square" lIns="0" tIns="0" rIns="0" bIns="0" rtlCol="0" anchor="ctr"/>
          <a:lstStyle/>
          <a:p>
            <a:pPr marL="0" indent="0">
              <a:buNone/>
            </a:pPr>
            <a:r>
              <a:rPr lang="en-US" sz="900" b="1" dirty="0">
                <a:solidFill>
                  <a:srgbClr val="2A7F7F"/>
                </a:solidFill>
                <a:latin typeface="Arial" pitchFamily="34" charset="0"/>
                <a:ea typeface="Arial" pitchFamily="34" charset="-122"/>
                <a:cs typeface="Arial" pitchFamily="34" charset="-120"/>
              </a:rPr>
              <a:t>target 1.5%</a:t>
            </a:r>
            <a:endParaRPr lang="en-US" sz="900" dirty="0"/>
          </a:p>
        </p:txBody>
      </p:sp>
      <p:sp>
        <p:nvSpPr>
          <p:cNvPr id="29" name="Shape 27"/>
          <p:cNvSpPr/>
          <p:nvPr/>
        </p:nvSpPr>
        <p:spPr>
          <a:xfrm>
            <a:off x="7100316" y="1728216"/>
            <a:ext cx="2087118" cy="868680"/>
          </a:xfrm>
          <a:prstGeom prst="roundRect">
            <a:avLst>
              <a:gd name="adj" fmla="val 5263"/>
            </a:avLst>
          </a:prstGeom>
          <a:solidFill>
            <a:srgbClr val="F2F5F8"/>
          </a:solidFill>
          <a:ln/>
        </p:spPr>
        <p:txBody>
          <a:bodyPr/>
          <a:lstStyle/>
          <a:p>
            <a:endParaRPr lang="en-US"/>
          </a:p>
        </p:txBody>
      </p:sp>
      <p:sp>
        <p:nvSpPr>
          <p:cNvPr id="30" name="Text 28"/>
          <p:cNvSpPr txBox="1"/>
          <p:nvPr/>
        </p:nvSpPr>
        <p:spPr>
          <a:xfrm>
            <a:off x="7237476" y="1783080"/>
            <a:ext cx="1812798" cy="411480"/>
          </a:xfrm>
          <a:prstGeom prst="rect">
            <a:avLst/>
          </a:prstGeom>
          <a:noFill/>
          <a:ln/>
        </p:spPr>
        <p:txBody>
          <a:bodyPr wrap="square" lIns="0" tIns="0" rIns="0" bIns="0" rtlCol="0" anchor="ctr"/>
          <a:lstStyle/>
          <a:p>
            <a:pPr marL="0" indent="0">
              <a:buNone/>
            </a:pPr>
            <a:r>
              <a:rPr lang="en-US" sz="2200" b="1" dirty="0">
                <a:solidFill>
                  <a:srgbClr val="16283F"/>
                </a:solidFill>
                <a:latin typeface="Georgia" pitchFamily="34" charset="0"/>
                <a:ea typeface="Georgia" pitchFamily="34" charset="-122"/>
                <a:cs typeface="Georgia" pitchFamily="34" charset="-120"/>
              </a:rPr>
              <a:t>3</a:t>
            </a:r>
            <a:endParaRPr lang="en-US" sz="2200" dirty="0"/>
          </a:p>
        </p:txBody>
      </p:sp>
      <p:sp>
        <p:nvSpPr>
          <p:cNvPr id="31" name="Text 29"/>
          <p:cNvSpPr txBox="1"/>
          <p:nvPr/>
        </p:nvSpPr>
        <p:spPr>
          <a:xfrm>
            <a:off x="7237476" y="2185416"/>
            <a:ext cx="1812798" cy="201168"/>
          </a:xfrm>
          <a:prstGeom prst="rect">
            <a:avLst/>
          </a:prstGeom>
          <a:noFill/>
          <a:ln/>
        </p:spPr>
        <p:txBody>
          <a:bodyPr wrap="square" lIns="0" tIns="0" rIns="0" bIns="0" rtlCol="0" anchor="ctr"/>
          <a:lstStyle/>
          <a:p>
            <a:pPr marL="0" indent="0">
              <a:buNone/>
            </a:pPr>
            <a:r>
              <a:rPr lang="en-US" sz="950" dirty="0">
                <a:solidFill>
                  <a:srgbClr val="667085"/>
                </a:solidFill>
                <a:latin typeface="Arial" pitchFamily="34" charset="0"/>
                <a:ea typeface="Arial" pitchFamily="34" charset="-122"/>
                <a:cs typeface="Arial" pitchFamily="34" charset="-120"/>
              </a:rPr>
              <a:t>Web breaks this week</a:t>
            </a:r>
            <a:endParaRPr lang="en-US" sz="950" dirty="0"/>
          </a:p>
        </p:txBody>
      </p:sp>
      <p:sp>
        <p:nvSpPr>
          <p:cNvPr id="32" name="Text 30"/>
          <p:cNvSpPr txBox="1"/>
          <p:nvPr/>
        </p:nvSpPr>
        <p:spPr>
          <a:xfrm>
            <a:off x="7237476" y="2368296"/>
            <a:ext cx="1812798" cy="201168"/>
          </a:xfrm>
          <a:prstGeom prst="rect">
            <a:avLst/>
          </a:prstGeom>
          <a:noFill/>
          <a:ln/>
        </p:spPr>
        <p:txBody>
          <a:bodyPr wrap="square" lIns="0" tIns="0" rIns="0" bIns="0" rtlCol="0" anchor="ctr"/>
          <a:lstStyle/>
          <a:p>
            <a:pPr marL="0" indent="0">
              <a:buNone/>
            </a:pPr>
            <a:r>
              <a:rPr lang="en-US" sz="900" b="1" dirty="0">
                <a:solidFill>
                  <a:srgbClr val="B4531F"/>
                </a:solidFill>
                <a:latin typeface="Arial" pitchFamily="34" charset="0"/>
                <a:ea typeface="Arial" pitchFamily="34" charset="-122"/>
                <a:cs typeface="Arial" pitchFamily="34" charset="-120"/>
              </a:rPr>
              <a:t>▲ 1 vs last week</a:t>
            </a:r>
            <a:endParaRPr lang="en-US" sz="900" dirty="0"/>
          </a:p>
        </p:txBody>
      </p:sp>
      <p:sp>
        <p:nvSpPr>
          <p:cNvPr id="33" name="Shape 31"/>
          <p:cNvSpPr/>
          <p:nvPr/>
        </p:nvSpPr>
        <p:spPr>
          <a:xfrm>
            <a:off x="9324594" y="1728216"/>
            <a:ext cx="2087118" cy="868680"/>
          </a:xfrm>
          <a:prstGeom prst="roundRect">
            <a:avLst>
              <a:gd name="adj" fmla="val 5263"/>
            </a:avLst>
          </a:prstGeom>
          <a:solidFill>
            <a:srgbClr val="F2F5F8"/>
          </a:solidFill>
          <a:ln/>
        </p:spPr>
        <p:txBody>
          <a:bodyPr/>
          <a:lstStyle/>
          <a:p>
            <a:endParaRPr lang="en-US"/>
          </a:p>
        </p:txBody>
      </p:sp>
      <p:sp>
        <p:nvSpPr>
          <p:cNvPr id="34" name="Text 32"/>
          <p:cNvSpPr txBox="1"/>
          <p:nvPr/>
        </p:nvSpPr>
        <p:spPr>
          <a:xfrm>
            <a:off x="9461754" y="1783080"/>
            <a:ext cx="1812798" cy="411480"/>
          </a:xfrm>
          <a:prstGeom prst="rect">
            <a:avLst/>
          </a:prstGeom>
          <a:noFill/>
          <a:ln/>
        </p:spPr>
        <p:txBody>
          <a:bodyPr wrap="square" lIns="0" tIns="0" rIns="0" bIns="0" rtlCol="0" anchor="ctr"/>
          <a:lstStyle/>
          <a:p>
            <a:pPr marL="0" indent="0">
              <a:buNone/>
            </a:pPr>
            <a:r>
              <a:rPr lang="en-US" sz="2200" b="1" dirty="0">
                <a:solidFill>
                  <a:srgbClr val="16283F"/>
                </a:solidFill>
                <a:latin typeface="Georgia" pitchFamily="34" charset="0"/>
                <a:ea typeface="Georgia" pitchFamily="34" charset="-122"/>
                <a:cs typeface="Georgia" pitchFamily="34" charset="-120"/>
              </a:rPr>
              <a:t>4</a:t>
            </a:r>
            <a:endParaRPr lang="en-US" sz="2200" dirty="0"/>
          </a:p>
        </p:txBody>
      </p:sp>
      <p:sp>
        <p:nvSpPr>
          <p:cNvPr id="35" name="Text 33"/>
          <p:cNvSpPr txBox="1"/>
          <p:nvPr/>
        </p:nvSpPr>
        <p:spPr>
          <a:xfrm>
            <a:off x="9461754" y="2185416"/>
            <a:ext cx="1812798" cy="201168"/>
          </a:xfrm>
          <a:prstGeom prst="rect">
            <a:avLst/>
          </a:prstGeom>
          <a:noFill/>
          <a:ln/>
        </p:spPr>
        <p:txBody>
          <a:bodyPr wrap="square" lIns="0" tIns="0" rIns="0" bIns="0" rtlCol="0" anchor="ctr"/>
          <a:lstStyle/>
          <a:p>
            <a:pPr marL="0" indent="0">
              <a:buNone/>
            </a:pPr>
            <a:r>
              <a:rPr lang="en-US" sz="950" dirty="0">
                <a:solidFill>
                  <a:srgbClr val="667085"/>
                </a:solidFill>
                <a:latin typeface="Arial" pitchFamily="34" charset="0"/>
                <a:ea typeface="Arial" pitchFamily="34" charset="-122"/>
                <a:cs typeface="Arial" pitchFamily="34" charset="-120"/>
              </a:rPr>
              <a:t>Open CAPAs</a:t>
            </a:r>
            <a:endParaRPr lang="en-US" sz="950" dirty="0"/>
          </a:p>
        </p:txBody>
      </p:sp>
      <p:sp>
        <p:nvSpPr>
          <p:cNvPr id="36" name="Text 34"/>
          <p:cNvSpPr txBox="1"/>
          <p:nvPr/>
        </p:nvSpPr>
        <p:spPr>
          <a:xfrm>
            <a:off x="9461754" y="2368296"/>
            <a:ext cx="1812798" cy="201168"/>
          </a:xfrm>
          <a:prstGeom prst="rect">
            <a:avLst/>
          </a:prstGeom>
          <a:noFill/>
          <a:ln/>
        </p:spPr>
        <p:txBody>
          <a:bodyPr wrap="square" lIns="0" tIns="0" rIns="0" bIns="0" rtlCol="0" anchor="ctr"/>
          <a:lstStyle/>
          <a:p>
            <a:pPr marL="0" indent="0">
              <a:buNone/>
            </a:pPr>
            <a:r>
              <a:rPr lang="en-US" sz="900" b="1" dirty="0">
                <a:solidFill>
                  <a:srgbClr val="B4531F"/>
                </a:solidFill>
                <a:latin typeface="Arial" pitchFamily="34" charset="0"/>
                <a:ea typeface="Arial" pitchFamily="34" charset="-122"/>
                <a:cs typeface="Arial" pitchFamily="34" charset="-120"/>
              </a:rPr>
              <a:t>1 overdue</a:t>
            </a:r>
            <a:endParaRPr lang="en-US" sz="900" dirty="0"/>
          </a:p>
        </p:txBody>
      </p:sp>
      <p:sp>
        <p:nvSpPr>
          <p:cNvPr id="37" name="Shape 35"/>
          <p:cNvSpPr/>
          <p:nvPr/>
        </p:nvSpPr>
        <p:spPr>
          <a:xfrm>
            <a:off x="2651760" y="2734056"/>
            <a:ext cx="4905573" cy="2478024"/>
          </a:xfrm>
          <a:prstGeom prst="roundRect">
            <a:avLst>
              <a:gd name="adj" fmla="val 1845"/>
            </a:avLst>
          </a:prstGeom>
          <a:solidFill>
            <a:srgbClr val="FFFFFF"/>
          </a:solidFill>
          <a:ln w="9525">
            <a:solidFill>
              <a:srgbClr val="E3E7ED"/>
            </a:solidFill>
            <a:prstDash val="solid"/>
          </a:ln>
        </p:spPr>
        <p:txBody>
          <a:bodyPr/>
          <a:lstStyle/>
          <a:p>
            <a:endParaRPr lang="en-US"/>
          </a:p>
        </p:txBody>
      </p:sp>
      <p:sp>
        <p:nvSpPr>
          <p:cNvPr id="38" name="Text 36"/>
          <p:cNvSpPr txBox="1"/>
          <p:nvPr/>
        </p:nvSpPr>
        <p:spPr>
          <a:xfrm>
            <a:off x="2788920" y="2825496"/>
            <a:ext cx="4631253" cy="256032"/>
          </a:xfrm>
          <a:prstGeom prst="rect">
            <a:avLst/>
          </a:prstGeom>
          <a:noFill/>
          <a:ln/>
        </p:spPr>
        <p:txBody>
          <a:bodyPr wrap="square" lIns="0" tIns="0" rIns="0" bIns="0" rtlCol="0" anchor="ctr"/>
          <a:lstStyle/>
          <a:p>
            <a:pPr marL="0" indent="0">
              <a:buNone/>
            </a:pPr>
            <a:r>
              <a:rPr lang="en-US" sz="1000" b="1" kern="0" spc="100" dirty="0">
                <a:solidFill>
                  <a:srgbClr val="16283F"/>
                </a:solidFill>
                <a:latin typeface="Arial" pitchFamily="34" charset="0"/>
                <a:ea typeface="Arial" pitchFamily="34" charset="-122"/>
                <a:cs typeface="Arial" pitchFamily="34" charset="-120"/>
              </a:rPr>
              <a:t>LIVE · LAST 60 MINUTES</a:t>
            </a:r>
            <a:endParaRPr lang="en-US" sz="1000" dirty="0"/>
          </a:p>
        </p:txBody>
      </p:sp>
      <p:sp>
        <p:nvSpPr>
          <p:cNvPr id="39" name="Text 37"/>
          <p:cNvSpPr txBox="1"/>
          <p:nvPr/>
        </p:nvSpPr>
        <p:spPr>
          <a:xfrm>
            <a:off x="2788920" y="3118104"/>
            <a:ext cx="4631253" cy="2020824"/>
          </a:xfrm>
          <a:prstGeom prst="rect">
            <a:avLst/>
          </a:prstGeom>
          <a:noFill/>
          <a:ln/>
        </p:spPr>
        <p:txBody>
          <a:bodyPr wrap="square" lIns="0" tIns="0" rIns="0" bIns="0" rtlCol="0" anchor="t"/>
          <a:lstStyle/>
          <a:p>
            <a:pPr marL="0" indent="0">
              <a:spcAft>
                <a:spcPts val="1100"/>
              </a:spcAft>
              <a:buNone/>
            </a:pPr>
            <a:r>
              <a:rPr lang="en-US" sz="1150" dirty="0">
                <a:solidFill>
                  <a:srgbClr val="222222"/>
                </a:solidFill>
                <a:latin typeface="Arial" pitchFamily="34" charset="0"/>
                <a:ea typeface="Arial" pitchFamily="34" charset="-122"/>
                <a:cs typeface="Arial" pitchFamily="34" charset="-120"/>
              </a:rPr>
              <a:t>10:42  PM2  Edge crack — flagged before winder — roll held</a:t>
            </a:r>
            <a:endParaRPr lang="en-US" sz="1150" dirty="0"/>
          </a:p>
          <a:p>
            <a:pPr marL="0" indent="0">
              <a:spcAft>
                <a:spcPts val="1100"/>
              </a:spcAft>
              <a:buNone/>
            </a:pPr>
            <a:r>
              <a:rPr lang="en-US" sz="1150" dirty="0">
                <a:solidFill>
                  <a:srgbClr val="222222"/>
                </a:solidFill>
                <a:latin typeface="Arial" pitchFamily="34" charset="0"/>
                <a:ea typeface="Arial" pitchFamily="34" charset="-122"/>
                <a:cs typeface="Arial" pitchFamily="34" charset="-120"/>
              </a:rPr>
              <a:t>10:31  PM1  Moisture drift — auto-corrected, no action</a:t>
            </a:r>
            <a:endParaRPr lang="en-US" sz="1150" dirty="0"/>
          </a:p>
          <a:p>
            <a:pPr marL="0" indent="0">
              <a:spcAft>
                <a:spcPts val="1100"/>
              </a:spcAft>
              <a:buNone/>
            </a:pPr>
            <a:r>
              <a:rPr lang="en-US" sz="1150" dirty="0">
                <a:solidFill>
                  <a:srgbClr val="222222"/>
                </a:solidFill>
                <a:latin typeface="Arial" pitchFamily="34" charset="0"/>
                <a:ea typeface="Arial" pitchFamily="34" charset="-122"/>
                <a:cs typeface="Arial" pitchFamily="34" charset="-120"/>
              </a:rPr>
              <a:t>10:12  PM2  Streak — cleared, cause: doctor blade</a:t>
            </a:r>
            <a:endParaRPr lang="en-US" sz="1150" dirty="0"/>
          </a:p>
          <a:p>
            <a:pPr marL="0" indent="0">
              <a:spcAft>
                <a:spcPts val="1100"/>
              </a:spcAft>
              <a:buNone/>
            </a:pPr>
            <a:r>
              <a:rPr lang="en-US" sz="1150" dirty="0">
                <a:solidFill>
                  <a:srgbClr val="222222"/>
                </a:solidFill>
                <a:latin typeface="Arial" pitchFamily="34" charset="0"/>
                <a:ea typeface="Arial" pitchFamily="34" charset="-122"/>
                <a:cs typeface="Arial" pitchFamily="34" charset="-120"/>
              </a:rPr>
              <a:t>09:58  PM1  Caliper variance — within limits, watching</a:t>
            </a:r>
            <a:endParaRPr lang="en-US" sz="1150" dirty="0"/>
          </a:p>
        </p:txBody>
      </p:sp>
      <p:sp>
        <p:nvSpPr>
          <p:cNvPr id="40" name="Shape 38"/>
          <p:cNvSpPr/>
          <p:nvPr/>
        </p:nvSpPr>
        <p:spPr>
          <a:xfrm>
            <a:off x="7694493" y="2734056"/>
            <a:ext cx="3717219" cy="2478024"/>
          </a:xfrm>
          <a:prstGeom prst="roundRect">
            <a:avLst>
              <a:gd name="adj" fmla="val 1845"/>
            </a:avLst>
          </a:prstGeom>
          <a:solidFill>
            <a:srgbClr val="0F1C2E"/>
          </a:solidFill>
          <a:ln w="9525">
            <a:solidFill>
              <a:srgbClr val="0F1C2E"/>
            </a:solidFill>
            <a:prstDash val="solid"/>
          </a:ln>
        </p:spPr>
        <p:txBody>
          <a:bodyPr/>
          <a:lstStyle/>
          <a:p>
            <a:endParaRPr lang="en-US"/>
          </a:p>
        </p:txBody>
      </p:sp>
      <p:sp>
        <p:nvSpPr>
          <p:cNvPr id="41" name="Text 39"/>
          <p:cNvSpPr txBox="1"/>
          <p:nvPr/>
        </p:nvSpPr>
        <p:spPr>
          <a:xfrm>
            <a:off x="7831653" y="2825496"/>
            <a:ext cx="3442899" cy="256032"/>
          </a:xfrm>
          <a:prstGeom prst="rect">
            <a:avLst/>
          </a:prstGeom>
          <a:noFill/>
          <a:ln/>
        </p:spPr>
        <p:txBody>
          <a:bodyPr wrap="square" lIns="0" tIns="0" rIns="0" bIns="0" rtlCol="0" anchor="ctr"/>
          <a:lstStyle/>
          <a:p>
            <a:pPr marL="0" indent="0">
              <a:buNone/>
            </a:pPr>
            <a:r>
              <a:rPr lang="en-US" sz="1000" b="1" kern="0" spc="100" dirty="0">
                <a:solidFill>
                  <a:srgbClr val="C9A227"/>
                </a:solidFill>
                <a:latin typeface="Arial" pitchFamily="34" charset="0"/>
                <a:ea typeface="Arial" pitchFamily="34" charset="-122"/>
                <a:cs typeface="Arial" pitchFamily="34" charset="-120"/>
              </a:rPr>
              <a:t>TREND FLAGS</a:t>
            </a:r>
            <a:endParaRPr lang="en-US" sz="1000" dirty="0"/>
          </a:p>
        </p:txBody>
      </p:sp>
      <p:sp>
        <p:nvSpPr>
          <p:cNvPr id="42" name="Text 40"/>
          <p:cNvSpPr txBox="1"/>
          <p:nvPr/>
        </p:nvSpPr>
        <p:spPr>
          <a:xfrm>
            <a:off x="7831653" y="3118104"/>
            <a:ext cx="3442899" cy="2020824"/>
          </a:xfrm>
          <a:prstGeom prst="rect">
            <a:avLst/>
          </a:prstGeom>
          <a:noFill/>
          <a:ln/>
        </p:spPr>
        <p:txBody>
          <a:bodyPr wrap="square" lIns="0" tIns="0" rIns="0" bIns="0" rtlCol="0" anchor="t"/>
          <a:lstStyle/>
          <a:p>
            <a:pPr marL="0" indent="0">
              <a:spcAft>
                <a:spcPts val="1100"/>
              </a:spcAft>
              <a:buNone/>
            </a:pPr>
            <a:r>
              <a:rPr lang="en-US" sz="1150" dirty="0">
                <a:solidFill>
                  <a:srgbClr val="E6EBF2"/>
                </a:solidFill>
                <a:latin typeface="Arial" pitchFamily="34" charset="0"/>
                <a:ea typeface="Arial" pitchFamily="34" charset="-122"/>
                <a:cs typeface="Arial" pitchFamily="34" charset="-120"/>
              </a:rPr>
              <a:t>●  Nights · crew C · 42# — reject rate 2× days</a:t>
            </a:r>
            <a:endParaRPr lang="en-US" sz="1150" dirty="0"/>
          </a:p>
          <a:p>
            <a:pPr marL="0" indent="0">
              <a:spcAft>
                <a:spcPts val="1100"/>
              </a:spcAft>
              <a:buNone/>
            </a:pPr>
            <a:r>
              <a:rPr lang="en-US" sz="1150" dirty="0">
                <a:solidFill>
                  <a:srgbClr val="E6EBF2"/>
                </a:solidFill>
                <a:latin typeface="Arial" pitchFamily="34" charset="0"/>
                <a:ea typeface="Arial" pitchFamily="34" charset="-122"/>
                <a:cs typeface="Arial" pitchFamily="34" charset="-120"/>
              </a:rPr>
              <a:t>●  PM2 first 20 min after grade change — elevated</a:t>
            </a:r>
            <a:endParaRPr lang="en-US" sz="1150" dirty="0"/>
          </a:p>
          <a:p>
            <a:pPr marL="0" indent="0">
              <a:spcAft>
                <a:spcPts val="1100"/>
              </a:spcAft>
              <a:buNone/>
            </a:pPr>
            <a:r>
              <a:rPr lang="en-US" sz="1150" dirty="0">
                <a:solidFill>
                  <a:srgbClr val="E6EBF2"/>
                </a:solidFill>
                <a:latin typeface="Arial" pitchFamily="34" charset="0"/>
                <a:ea typeface="Arial" pitchFamily="34" charset="-122"/>
                <a:cs typeface="Arial" pitchFamily="34" charset="-120"/>
              </a:rPr>
              <a:t>●  Raw lot 8841 correlates with 3 of 5 streaks</a:t>
            </a:r>
            <a:endParaRPr lang="en-US" sz="1150" dirty="0"/>
          </a:p>
        </p:txBody>
      </p:sp>
      <p:sp>
        <p:nvSpPr>
          <p:cNvPr id="43" name="Shape 41"/>
          <p:cNvSpPr/>
          <p:nvPr/>
        </p:nvSpPr>
        <p:spPr>
          <a:xfrm>
            <a:off x="2651760" y="5349240"/>
            <a:ext cx="4905573" cy="868680"/>
          </a:xfrm>
          <a:prstGeom prst="roundRect">
            <a:avLst>
              <a:gd name="adj" fmla="val 5263"/>
            </a:avLst>
          </a:prstGeom>
          <a:solidFill>
            <a:srgbClr val="F2F5F8"/>
          </a:solidFill>
          <a:ln/>
        </p:spPr>
        <p:txBody>
          <a:bodyPr/>
          <a:lstStyle/>
          <a:p>
            <a:endParaRPr lang="en-US"/>
          </a:p>
        </p:txBody>
      </p:sp>
      <p:sp>
        <p:nvSpPr>
          <p:cNvPr id="44" name="Text 42"/>
          <p:cNvSpPr txBox="1"/>
          <p:nvPr/>
        </p:nvSpPr>
        <p:spPr>
          <a:xfrm>
            <a:off x="2788920" y="5422392"/>
            <a:ext cx="4631253" cy="228600"/>
          </a:xfrm>
          <a:prstGeom prst="rect">
            <a:avLst/>
          </a:prstGeom>
          <a:noFill/>
          <a:ln/>
        </p:spPr>
        <p:txBody>
          <a:bodyPr wrap="square" lIns="0" tIns="0" rIns="0" bIns="0" rtlCol="0" anchor="ctr"/>
          <a:lstStyle/>
          <a:p>
            <a:pPr marL="0" indent="0">
              <a:buNone/>
            </a:pPr>
            <a:r>
              <a:rPr lang="en-US" sz="1000" b="1" kern="0" spc="100" dirty="0">
                <a:solidFill>
                  <a:srgbClr val="16283F"/>
                </a:solidFill>
                <a:latin typeface="Arial" pitchFamily="34" charset="0"/>
                <a:ea typeface="Arial" pitchFamily="34" charset="-122"/>
                <a:cs typeface="Arial" pitchFamily="34" charset="-120"/>
              </a:rPr>
              <a:t>ROOT-CAUSE CANDIDATES · AUTO-CORRELATED</a:t>
            </a:r>
            <a:endParaRPr lang="en-US" sz="1000" dirty="0"/>
          </a:p>
        </p:txBody>
      </p:sp>
      <p:sp>
        <p:nvSpPr>
          <p:cNvPr id="45" name="Text 43"/>
          <p:cNvSpPr txBox="1"/>
          <p:nvPr/>
        </p:nvSpPr>
        <p:spPr>
          <a:xfrm>
            <a:off x="2788920" y="5660136"/>
            <a:ext cx="4631253" cy="502920"/>
          </a:xfrm>
          <a:prstGeom prst="rect">
            <a:avLst/>
          </a:prstGeom>
          <a:noFill/>
          <a:ln/>
        </p:spPr>
        <p:txBody>
          <a:bodyPr wrap="square" lIns="0" tIns="0" rIns="0" bIns="0" rtlCol="0" anchor="ctr"/>
          <a:lstStyle/>
          <a:p>
            <a:pPr marL="0" indent="0">
              <a:buNone/>
            </a:pPr>
            <a:r>
              <a:rPr lang="en-US" sz="1100" dirty="0">
                <a:solidFill>
                  <a:srgbClr val="222222"/>
                </a:solidFill>
                <a:latin typeface="Arial" pitchFamily="34" charset="0"/>
                <a:ea typeface="Arial" pitchFamily="34" charset="-122"/>
                <a:cs typeface="Arial" pitchFamily="34" charset="-120"/>
              </a:rPr>
              <a:t>Dryer section PM overdue 6 days   ·   Raw material lot 8841   ·   Crew C — one operator under 90 days   ·   Ambient humidity ▲ since Tuesday</a:t>
            </a:r>
            <a:endParaRPr lang="en-US" sz="1100" dirty="0"/>
          </a:p>
        </p:txBody>
      </p:sp>
      <p:sp>
        <p:nvSpPr>
          <p:cNvPr id="46" name="Shape 44"/>
          <p:cNvSpPr/>
          <p:nvPr/>
        </p:nvSpPr>
        <p:spPr>
          <a:xfrm>
            <a:off x="7694493" y="5349240"/>
            <a:ext cx="1812889" cy="388620"/>
          </a:xfrm>
          <a:prstGeom prst="roundRect">
            <a:avLst>
              <a:gd name="adj" fmla="val 11765"/>
            </a:avLst>
          </a:prstGeom>
          <a:solidFill>
            <a:srgbClr val="2A7F7F"/>
          </a:solidFill>
          <a:ln/>
        </p:spPr>
        <p:txBody>
          <a:bodyPr/>
          <a:lstStyle/>
          <a:p>
            <a:endParaRPr lang="en-US"/>
          </a:p>
        </p:txBody>
      </p:sp>
      <p:sp>
        <p:nvSpPr>
          <p:cNvPr id="47" name="Text 45"/>
          <p:cNvSpPr txBox="1"/>
          <p:nvPr/>
        </p:nvSpPr>
        <p:spPr>
          <a:xfrm>
            <a:off x="7694493" y="5349240"/>
            <a:ext cx="1812889" cy="38862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Hold roll</a:t>
            </a:r>
            <a:endParaRPr lang="en-US" sz="1000" dirty="0"/>
          </a:p>
        </p:txBody>
      </p:sp>
      <p:sp>
        <p:nvSpPr>
          <p:cNvPr id="48" name="Shape 46"/>
          <p:cNvSpPr/>
          <p:nvPr/>
        </p:nvSpPr>
        <p:spPr>
          <a:xfrm>
            <a:off x="9598823" y="5349240"/>
            <a:ext cx="1812889" cy="388620"/>
          </a:xfrm>
          <a:prstGeom prst="roundRect">
            <a:avLst>
              <a:gd name="adj" fmla="val 11765"/>
            </a:avLst>
          </a:prstGeom>
          <a:solidFill>
            <a:srgbClr val="2A7F7F"/>
          </a:solidFill>
          <a:ln/>
        </p:spPr>
        <p:txBody>
          <a:bodyPr/>
          <a:lstStyle/>
          <a:p>
            <a:endParaRPr lang="en-US"/>
          </a:p>
        </p:txBody>
      </p:sp>
      <p:sp>
        <p:nvSpPr>
          <p:cNvPr id="49" name="Text 47"/>
          <p:cNvSpPr txBox="1"/>
          <p:nvPr/>
        </p:nvSpPr>
        <p:spPr>
          <a:xfrm>
            <a:off x="9598823" y="5349240"/>
            <a:ext cx="1812889" cy="38862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Open CAPA</a:t>
            </a:r>
            <a:endParaRPr lang="en-US" sz="1000" dirty="0"/>
          </a:p>
        </p:txBody>
      </p:sp>
      <p:sp>
        <p:nvSpPr>
          <p:cNvPr id="50" name="Shape 48"/>
          <p:cNvSpPr/>
          <p:nvPr/>
        </p:nvSpPr>
        <p:spPr>
          <a:xfrm>
            <a:off x="7694493" y="5829300"/>
            <a:ext cx="1812889" cy="388620"/>
          </a:xfrm>
          <a:prstGeom prst="roundRect">
            <a:avLst>
              <a:gd name="adj" fmla="val 11765"/>
            </a:avLst>
          </a:prstGeom>
          <a:solidFill>
            <a:srgbClr val="2A7F7F"/>
          </a:solidFill>
          <a:ln/>
        </p:spPr>
        <p:txBody>
          <a:bodyPr/>
          <a:lstStyle/>
          <a:p>
            <a:endParaRPr lang="en-US"/>
          </a:p>
        </p:txBody>
      </p:sp>
      <p:sp>
        <p:nvSpPr>
          <p:cNvPr id="51" name="Text 49"/>
          <p:cNvSpPr txBox="1"/>
          <p:nvPr/>
        </p:nvSpPr>
        <p:spPr>
          <a:xfrm>
            <a:off x="7694493" y="5829300"/>
            <a:ext cx="1812889" cy="38862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Notify shift lead</a:t>
            </a:r>
            <a:endParaRPr lang="en-US" sz="1000" dirty="0"/>
          </a:p>
        </p:txBody>
      </p:sp>
      <p:sp>
        <p:nvSpPr>
          <p:cNvPr id="52" name="Shape 50"/>
          <p:cNvSpPr/>
          <p:nvPr/>
        </p:nvSpPr>
        <p:spPr>
          <a:xfrm>
            <a:off x="9598823" y="5829300"/>
            <a:ext cx="1812889" cy="388620"/>
          </a:xfrm>
          <a:prstGeom prst="roundRect">
            <a:avLst>
              <a:gd name="adj" fmla="val 11765"/>
            </a:avLst>
          </a:prstGeom>
          <a:solidFill>
            <a:srgbClr val="C9A227"/>
          </a:solidFill>
          <a:ln/>
        </p:spPr>
        <p:txBody>
          <a:bodyPr/>
          <a:lstStyle/>
          <a:p>
            <a:endParaRPr lang="en-US"/>
          </a:p>
        </p:txBody>
      </p:sp>
      <p:sp>
        <p:nvSpPr>
          <p:cNvPr id="53" name="Text 51"/>
          <p:cNvSpPr txBox="1"/>
          <p:nvPr/>
        </p:nvSpPr>
        <p:spPr>
          <a:xfrm>
            <a:off x="9598823" y="5829300"/>
            <a:ext cx="1812889" cy="388620"/>
          </a:xfrm>
          <a:prstGeom prst="rect">
            <a:avLst/>
          </a:prstGeom>
          <a:noFill/>
          <a:ln/>
        </p:spPr>
        <p:txBody>
          <a:bodyPr wrap="square" lIns="0" tIns="0" rIns="0" bIns="0" rtlCol="0" anchor="ctr"/>
          <a:lstStyle/>
          <a:p>
            <a:pPr marL="0" indent="0" algn="ctr">
              <a:buNone/>
            </a:pPr>
            <a:r>
              <a:rPr lang="en-US" sz="1000" b="1" dirty="0">
                <a:solidFill>
                  <a:srgbClr val="16283F"/>
                </a:solidFill>
                <a:latin typeface="Arial" pitchFamily="34" charset="0"/>
                <a:ea typeface="Arial" pitchFamily="34" charset="-122"/>
                <a:cs typeface="Arial" pitchFamily="34" charset="-120"/>
              </a:rPr>
              <a:t>Show the math</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marL="0" indent="0" algn="l">
              <a:buNone/>
            </a:pPr>
            <a:r>
              <a:rPr lang="en-US" sz="2800" b="1" dirty="0">
                <a:solidFill>
                  <a:schemeClr val="accent1">
                    <a:lumMod val="75000"/>
                  </a:schemeClr>
                </a:solidFill>
                <a:latin typeface="Arial Nova" panose="020B0504020202020204" pitchFamily="34" charset="0"/>
                <a:ea typeface="Georgia" pitchFamily="34" charset="-122"/>
                <a:cs typeface="Georgia" pitchFamily="34" charset="-120"/>
              </a:rPr>
              <a:t>If your HR manager had AI at her fingertips</a:t>
            </a:r>
            <a:endParaRPr lang="en-US" sz="2800" dirty="0">
              <a:solidFill>
                <a:schemeClr val="accent1">
                  <a:lumMod val="75000"/>
                </a:schemeClr>
              </a:solidFill>
              <a:latin typeface="Arial Nova" panose="020B0504020202020204" pitchFamily="34" charset="0"/>
            </a:endParaRPr>
          </a:p>
        </p:txBody>
      </p:sp>
      <p:sp>
        <p:nvSpPr>
          <p:cNvPr id="3" name="Text 1"/>
          <p:cNvSpPr txBox="1"/>
          <p:nvPr/>
        </p:nvSpPr>
        <p:spPr>
          <a:xfrm>
            <a:off x="548640" y="6473952"/>
            <a:ext cx="11091672" cy="274320"/>
          </a:xfrm>
          <a:prstGeom prst="rect">
            <a:avLst/>
          </a:prstGeom>
          <a:noFill/>
          <a:ln/>
        </p:spPr>
        <p:txBody>
          <a:bodyPr wrap="square" lIns="0" tIns="0" rIns="0" bIns="0" rtlCol="0" anchor="ctr"/>
          <a:lstStyle/>
          <a:p>
            <a:pPr marL="0" indent="0" algn="l">
              <a:buNone/>
            </a:pPr>
            <a:r>
              <a:rPr lang="en-US" sz="900" dirty="0">
                <a:solidFill>
                  <a:srgbClr val="667085"/>
                </a:solidFill>
                <a:latin typeface="Arial" pitchFamily="34" charset="0"/>
                <a:ea typeface="Arial" pitchFamily="34" charset="-122"/>
                <a:cs typeface="Arial" pitchFamily="34" charset="-120"/>
              </a:rPr>
              <a:t>Shiftwork Solutions LLC  |  (415) 265-1621  |  www.shift-work.com</a:t>
            </a:r>
            <a:endParaRPr lang="en-US" sz="900" dirty="0"/>
          </a:p>
        </p:txBody>
      </p:sp>
      <p:sp>
        <p:nvSpPr>
          <p:cNvPr id="4" name="Shape 2"/>
          <p:cNvSpPr/>
          <p:nvPr/>
        </p:nvSpPr>
        <p:spPr>
          <a:xfrm>
            <a:off x="548640" y="1143000"/>
            <a:ext cx="11091672" cy="5257800"/>
          </a:xfrm>
          <a:prstGeom prst="roundRect">
            <a:avLst>
              <a:gd name="adj" fmla="val 1043"/>
            </a:avLst>
          </a:prstGeom>
          <a:solidFill>
            <a:srgbClr val="FFFFFF"/>
          </a:solidFill>
          <a:ln w="12700">
            <a:solidFill>
              <a:srgbClr val="CBD2DB"/>
            </a:solidFill>
            <a:prstDash val="solid"/>
          </a:ln>
        </p:spPr>
        <p:txBody>
          <a:bodyPr/>
          <a:lstStyle/>
          <a:p>
            <a:endParaRPr lang="en-US"/>
          </a:p>
        </p:txBody>
      </p:sp>
      <p:sp>
        <p:nvSpPr>
          <p:cNvPr id="5" name="Shape 3"/>
          <p:cNvSpPr/>
          <p:nvPr/>
        </p:nvSpPr>
        <p:spPr>
          <a:xfrm>
            <a:off x="548640" y="1143000"/>
            <a:ext cx="11091672" cy="384048"/>
          </a:xfrm>
          <a:prstGeom prst="roundRect">
            <a:avLst>
              <a:gd name="adj" fmla="val 14286"/>
            </a:avLst>
          </a:prstGeom>
          <a:solidFill>
            <a:srgbClr val="0F1C2E"/>
          </a:solidFill>
          <a:ln/>
        </p:spPr>
        <p:txBody>
          <a:bodyPr/>
          <a:lstStyle/>
          <a:p>
            <a:endParaRPr lang="en-US"/>
          </a:p>
        </p:txBody>
      </p:sp>
      <p:sp>
        <p:nvSpPr>
          <p:cNvPr id="6" name="Shape 4"/>
          <p:cNvSpPr/>
          <p:nvPr/>
        </p:nvSpPr>
        <p:spPr>
          <a:xfrm>
            <a:off x="548640" y="1335024"/>
            <a:ext cx="11091672" cy="192024"/>
          </a:xfrm>
          <a:prstGeom prst="rect">
            <a:avLst/>
          </a:prstGeom>
          <a:solidFill>
            <a:srgbClr val="0F1C2E"/>
          </a:solidFill>
          <a:ln/>
        </p:spPr>
        <p:txBody>
          <a:bodyPr/>
          <a:lstStyle/>
          <a:p>
            <a:endParaRPr lang="en-US"/>
          </a:p>
        </p:txBody>
      </p:sp>
      <p:sp>
        <p:nvSpPr>
          <p:cNvPr id="7" name="Shape 5"/>
          <p:cNvSpPr/>
          <p:nvPr/>
        </p:nvSpPr>
        <p:spPr>
          <a:xfrm>
            <a:off x="731520" y="1289304"/>
            <a:ext cx="91440" cy="91440"/>
          </a:xfrm>
          <a:prstGeom prst="ellipse">
            <a:avLst/>
          </a:prstGeom>
          <a:solidFill>
            <a:srgbClr val="5A6B85"/>
          </a:solidFill>
          <a:ln/>
        </p:spPr>
        <p:txBody>
          <a:bodyPr/>
          <a:lstStyle/>
          <a:p>
            <a:endParaRPr lang="en-US"/>
          </a:p>
        </p:txBody>
      </p:sp>
      <p:sp>
        <p:nvSpPr>
          <p:cNvPr id="8" name="Shape 6"/>
          <p:cNvSpPr/>
          <p:nvPr/>
        </p:nvSpPr>
        <p:spPr>
          <a:xfrm>
            <a:off x="932688" y="1289304"/>
            <a:ext cx="91440" cy="91440"/>
          </a:xfrm>
          <a:prstGeom prst="ellipse">
            <a:avLst/>
          </a:prstGeom>
          <a:solidFill>
            <a:srgbClr val="5A6B85"/>
          </a:solidFill>
          <a:ln/>
        </p:spPr>
        <p:txBody>
          <a:bodyPr/>
          <a:lstStyle/>
          <a:p>
            <a:endParaRPr lang="en-US"/>
          </a:p>
        </p:txBody>
      </p:sp>
      <p:sp>
        <p:nvSpPr>
          <p:cNvPr id="9" name="Shape 7"/>
          <p:cNvSpPr/>
          <p:nvPr/>
        </p:nvSpPr>
        <p:spPr>
          <a:xfrm>
            <a:off x="1133856" y="1289304"/>
            <a:ext cx="91440" cy="91440"/>
          </a:xfrm>
          <a:prstGeom prst="ellipse">
            <a:avLst/>
          </a:prstGeom>
          <a:solidFill>
            <a:srgbClr val="5A6B85"/>
          </a:solidFill>
          <a:ln/>
        </p:spPr>
        <p:txBody>
          <a:bodyPr/>
          <a:lstStyle/>
          <a:p>
            <a:endParaRPr lang="en-US"/>
          </a:p>
        </p:txBody>
      </p:sp>
      <p:sp>
        <p:nvSpPr>
          <p:cNvPr id="10" name="Text 8"/>
          <p:cNvSpPr txBox="1"/>
          <p:nvPr/>
        </p:nvSpPr>
        <p:spPr>
          <a:xfrm>
            <a:off x="1463040" y="1143000"/>
            <a:ext cx="9262872" cy="384048"/>
          </a:xfrm>
          <a:prstGeom prst="rect">
            <a:avLst/>
          </a:prstGeom>
          <a:noFill/>
          <a:ln/>
        </p:spPr>
        <p:txBody>
          <a:bodyPr wrap="square" lIns="0" tIns="0" rIns="0" bIns="0" rtlCol="0" anchor="ctr"/>
          <a:lstStyle/>
          <a:p>
            <a:pPr marL="0" indent="0" algn="ctr">
              <a:buNone/>
            </a:pPr>
            <a:r>
              <a:rPr lang="en-US" sz="1050" dirty="0">
                <a:solidFill>
                  <a:srgbClr val="C9D2DF"/>
                </a:solidFill>
                <a:latin typeface="Arial" pitchFamily="34" charset="0"/>
                <a:ea typeface="Arial" pitchFamily="34" charset="-122"/>
                <a:cs typeface="Arial" pitchFamily="34" charset="-120"/>
              </a:rPr>
              <a:t>Mill AI  ·  People &amp; Scheduling  ·  402 people / 4 crews</a:t>
            </a:r>
            <a:endParaRPr lang="en-US" sz="1050" dirty="0"/>
          </a:p>
        </p:txBody>
      </p:sp>
      <p:sp>
        <p:nvSpPr>
          <p:cNvPr id="11" name="Text 9"/>
          <p:cNvSpPr txBox="1"/>
          <p:nvPr/>
        </p:nvSpPr>
        <p:spPr>
          <a:xfrm>
            <a:off x="10177272" y="1143000"/>
            <a:ext cx="1280160" cy="384048"/>
          </a:xfrm>
          <a:prstGeom prst="rect">
            <a:avLst/>
          </a:prstGeom>
          <a:noFill/>
          <a:ln/>
        </p:spPr>
        <p:txBody>
          <a:bodyPr wrap="square" lIns="0" tIns="0" rIns="0" bIns="0" rtlCol="0" anchor="ctr"/>
          <a:lstStyle/>
          <a:p>
            <a:pPr marL="0" indent="0" algn="r">
              <a:buNone/>
            </a:pPr>
            <a:r>
              <a:rPr lang="en-US" sz="1000" b="1" dirty="0">
                <a:solidFill>
                  <a:srgbClr val="C9A227"/>
                </a:solidFill>
                <a:latin typeface="Arial" pitchFamily="34" charset="0"/>
                <a:ea typeface="Arial" pitchFamily="34" charset="-122"/>
                <a:cs typeface="Arial" pitchFamily="34" charset="-120"/>
              </a:rPr>
              <a:t>Ask the AI  ▸</a:t>
            </a:r>
            <a:endParaRPr lang="en-US" sz="1000" dirty="0"/>
          </a:p>
        </p:txBody>
      </p:sp>
      <p:sp>
        <p:nvSpPr>
          <p:cNvPr id="12" name="Shape 10"/>
          <p:cNvSpPr/>
          <p:nvPr/>
        </p:nvSpPr>
        <p:spPr>
          <a:xfrm>
            <a:off x="548640" y="1527048"/>
            <a:ext cx="1874520" cy="4873752"/>
          </a:xfrm>
          <a:prstGeom prst="rect">
            <a:avLst/>
          </a:prstGeom>
          <a:solidFill>
            <a:srgbClr val="16283F"/>
          </a:solidFill>
          <a:ln/>
        </p:spPr>
        <p:txBody>
          <a:bodyPr/>
          <a:lstStyle/>
          <a:p>
            <a:endParaRPr lang="en-US"/>
          </a:p>
        </p:txBody>
      </p:sp>
      <p:sp>
        <p:nvSpPr>
          <p:cNvPr id="13" name="Shape 11"/>
          <p:cNvSpPr/>
          <p:nvPr/>
        </p:nvSpPr>
        <p:spPr>
          <a:xfrm>
            <a:off x="685800" y="1691640"/>
            <a:ext cx="1600200" cy="329184"/>
          </a:xfrm>
          <a:prstGeom prst="roundRect">
            <a:avLst>
              <a:gd name="adj" fmla="val 13889"/>
            </a:avLst>
          </a:prstGeom>
          <a:solidFill>
            <a:srgbClr val="2A7F7F"/>
          </a:solidFill>
          <a:ln/>
        </p:spPr>
        <p:txBody>
          <a:bodyPr/>
          <a:lstStyle/>
          <a:p>
            <a:endParaRPr lang="en-US"/>
          </a:p>
        </p:txBody>
      </p:sp>
      <p:sp>
        <p:nvSpPr>
          <p:cNvPr id="14" name="Text 12"/>
          <p:cNvSpPr txBox="1"/>
          <p:nvPr/>
        </p:nvSpPr>
        <p:spPr>
          <a:xfrm>
            <a:off x="749808" y="1691640"/>
            <a:ext cx="1508760" cy="329184"/>
          </a:xfrm>
          <a:prstGeom prst="rect">
            <a:avLst/>
          </a:prstGeom>
          <a:noFill/>
          <a:ln/>
        </p:spPr>
        <p:txBody>
          <a:bodyPr wrap="square" lIns="0" tIns="0" rIns="0" bIns="0" rtlCol="0" anchor="ctr"/>
          <a:lstStyle/>
          <a:p>
            <a:pPr marL="0" indent="0">
              <a:buNone/>
            </a:pPr>
            <a:r>
              <a:rPr lang="en-US" sz="1050" b="1" dirty="0">
                <a:solidFill>
                  <a:srgbClr val="FFFFFF"/>
                </a:solidFill>
                <a:latin typeface="Arial" pitchFamily="34" charset="0"/>
                <a:ea typeface="Arial" pitchFamily="34" charset="-122"/>
                <a:cs typeface="Arial" pitchFamily="34" charset="-120"/>
              </a:rPr>
              <a:t>▸  Overview</a:t>
            </a:r>
            <a:endParaRPr lang="en-US" sz="1050" dirty="0"/>
          </a:p>
        </p:txBody>
      </p:sp>
      <p:sp>
        <p:nvSpPr>
          <p:cNvPr id="15" name="Text 13"/>
          <p:cNvSpPr txBox="1"/>
          <p:nvPr/>
        </p:nvSpPr>
        <p:spPr>
          <a:xfrm>
            <a:off x="749808" y="2093976"/>
            <a:ext cx="1508760" cy="329184"/>
          </a:xfrm>
          <a:prstGeom prst="rect">
            <a:avLst/>
          </a:prstGeom>
          <a:noFill/>
          <a:ln/>
        </p:spPr>
        <p:txBody>
          <a:bodyPr wrap="square" lIns="0" tIns="0" rIns="0" bIns="0" rtlCol="0" anchor="ctr"/>
          <a:lstStyle/>
          <a:p>
            <a:pPr marL="0" indent="0">
              <a:buNone/>
            </a:pPr>
            <a:r>
              <a:rPr lang="en-US" sz="1050" dirty="0">
                <a:solidFill>
                  <a:srgbClr val="C9D2DF"/>
                </a:solidFill>
                <a:latin typeface="Arial" pitchFamily="34" charset="0"/>
                <a:ea typeface="Arial" pitchFamily="34" charset="-122"/>
                <a:cs typeface="Arial" pitchFamily="34" charset="-120"/>
              </a:rPr>
              <a:t>    Coverage</a:t>
            </a:r>
            <a:endParaRPr lang="en-US" sz="1050" dirty="0"/>
          </a:p>
        </p:txBody>
      </p:sp>
      <p:sp>
        <p:nvSpPr>
          <p:cNvPr id="16" name="Text 14"/>
          <p:cNvSpPr txBox="1"/>
          <p:nvPr/>
        </p:nvSpPr>
        <p:spPr>
          <a:xfrm>
            <a:off x="749808" y="2496312"/>
            <a:ext cx="1508760" cy="329184"/>
          </a:xfrm>
          <a:prstGeom prst="rect">
            <a:avLst/>
          </a:prstGeom>
          <a:noFill/>
          <a:ln/>
        </p:spPr>
        <p:txBody>
          <a:bodyPr wrap="square" lIns="0" tIns="0" rIns="0" bIns="0" rtlCol="0" anchor="ctr"/>
          <a:lstStyle/>
          <a:p>
            <a:pPr marL="0" indent="0">
              <a:buNone/>
            </a:pPr>
            <a:r>
              <a:rPr lang="en-US" sz="1050" dirty="0">
                <a:solidFill>
                  <a:srgbClr val="C9D2DF"/>
                </a:solidFill>
                <a:latin typeface="Arial" pitchFamily="34" charset="0"/>
                <a:ea typeface="Arial" pitchFamily="34" charset="-122"/>
                <a:cs typeface="Arial" pitchFamily="34" charset="-120"/>
              </a:rPr>
              <a:t>    People</a:t>
            </a:r>
            <a:endParaRPr lang="en-US" sz="1050" dirty="0"/>
          </a:p>
        </p:txBody>
      </p:sp>
      <p:sp>
        <p:nvSpPr>
          <p:cNvPr id="17" name="Text 15"/>
          <p:cNvSpPr txBox="1"/>
          <p:nvPr/>
        </p:nvSpPr>
        <p:spPr>
          <a:xfrm>
            <a:off x="749808" y="2898648"/>
            <a:ext cx="1508760" cy="329184"/>
          </a:xfrm>
          <a:prstGeom prst="rect">
            <a:avLst/>
          </a:prstGeom>
          <a:noFill/>
          <a:ln/>
        </p:spPr>
        <p:txBody>
          <a:bodyPr wrap="square" lIns="0" tIns="0" rIns="0" bIns="0" rtlCol="0" anchor="ctr"/>
          <a:lstStyle/>
          <a:p>
            <a:pPr marL="0" indent="0">
              <a:buNone/>
            </a:pPr>
            <a:r>
              <a:rPr lang="en-US" sz="1050" dirty="0">
                <a:solidFill>
                  <a:srgbClr val="C9D2DF"/>
                </a:solidFill>
                <a:latin typeface="Arial" pitchFamily="34" charset="0"/>
                <a:ea typeface="Arial" pitchFamily="34" charset="-122"/>
                <a:cs typeface="Arial" pitchFamily="34" charset="-120"/>
              </a:rPr>
              <a:t>    Retirements</a:t>
            </a:r>
            <a:endParaRPr lang="en-US" sz="1050" dirty="0"/>
          </a:p>
        </p:txBody>
      </p:sp>
      <p:sp>
        <p:nvSpPr>
          <p:cNvPr id="18" name="Text 16"/>
          <p:cNvSpPr txBox="1"/>
          <p:nvPr/>
        </p:nvSpPr>
        <p:spPr>
          <a:xfrm>
            <a:off x="749808" y="3300984"/>
            <a:ext cx="1508760" cy="329184"/>
          </a:xfrm>
          <a:prstGeom prst="rect">
            <a:avLst/>
          </a:prstGeom>
          <a:noFill/>
          <a:ln/>
        </p:spPr>
        <p:txBody>
          <a:bodyPr wrap="square" lIns="0" tIns="0" rIns="0" bIns="0" rtlCol="0" anchor="ctr"/>
          <a:lstStyle/>
          <a:p>
            <a:pPr marL="0" indent="0">
              <a:buNone/>
            </a:pPr>
            <a:r>
              <a:rPr lang="en-US" sz="1050" dirty="0">
                <a:solidFill>
                  <a:srgbClr val="C9D2DF"/>
                </a:solidFill>
                <a:latin typeface="Arial" pitchFamily="34" charset="0"/>
                <a:ea typeface="Arial" pitchFamily="34" charset="-122"/>
                <a:cs typeface="Arial" pitchFamily="34" charset="-120"/>
              </a:rPr>
              <a:t>    Training</a:t>
            </a:r>
            <a:endParaRPr lang="en-US" sz="1050" dirty="0"/>
          </a:p>
        </p:txBody>
      </p:sp>
      <p:sp>
        <p:nvSpPr>
          <p:cNvPr id="19" name="Text 17"/>
          <p:cNvSpPr txBox="1"/>
          <p:nvPr/>
        </p:nvSpPr>
        <p:spPr>
          <a:xfrm>
            <a:off x="749808" y="3703320"/>
            <a:ext cx="1508760" cy="329184"/>
          </a:xfrm>
          <a:prstGeom prst="rect">
            <a:avLst/>
          </a:prstGeom>
          <a:noFill/>
          <a:ln/>
        </p:spPr>
        <p:txBody>
          <a:bodyPr wrap="square" lIns="0" tIns="0" rIns="0" bIns="0" rtlCol="0" anchor="ctr"/>
          <a:lstStyle/>
          <a:p>
            <a:pPr marL="0" indent="0">
              <a:buNone/>
            </a:pPr>
            <a:r>
              <a:rPr lang="en-US" sz="1050" dirty="0">
                <a:solidFill>
                  <a:srgbClr val="C9D2DF"/>
                </a:solidFill>
                <a:latin typeface="Arial" pitchFamily="34" charset="0"/>
                <a:ea typeface="Arial" pitchFamily="34" charset="-122"/>
                <a:cs typeface="Arial" pitchFamily="34" charset="-120"/>
              </a:rPr>
              <a:t>    Hiring</a:t>
            </a:r>
            <a:endParaRPr lang="en-US" sz="1050" dirty="0"/>
          </a:p>
        </p:txBody>
      </p:sp>
      <p:sp>
        <p:nvSpPr>
          <p:cNvPr id="20" name="Text 18"/>
          <p:cNvSpPr txBox="1"/>
          <p:nvPr/>
        </p:nvSpPr>
        <p:spPr>
          <a:xfrm>
            <a:off x="749808" y="4105656"/>
            <a:ext cx="1508760" cy="329184"/>
          </a:xfrm>
          <a:prstGeom prst="rect">
            <a:avLst/>
          </a:prstGeom>
          <a:noFill/>
          <a:ln/>
        </p:spPr>
        <p:txBody>
          <a:bodyPr wrap="square" lIns="0" tIns="0" rIns="0" bIns="0" rtlCol="0" anchor="ctr"/>
          <a:lstStyle/>
          <a:p>
            <a:pPr marL="0" indent="0">
              <a:buNone/>
            </a:pPr>
            <a:r>
              <a:rPr lang="en-US" sz="1050" dirty="0">
                <a:solidFill>
                  <a:srgbClr val="C9D2DF"/>
                </a:solidFill>
                <a:latin typeface="Arial" pitchFamily="34" charset="0"/>
                <a:ea typeface="Arial" pitchFamily="34" charset="-122"/>
                <a:cs typeface="Arial" pitchFamily="34" charset="-120"/>
              </a:rPr>
              <a:t>    Reports</a:t>
            </a:r>
            <a:endParaRPr lang="en-US" sz="1050" dirty="0"/>
          </a:p>
        </p:txBody>
      </p:sp>
      <p:sp>
        <p:nvSpPr>
          <p:cNvPr id="21" name="Shape 19"/>
          <p:cNvSpPr/>
          <p:nvPr/>
        </p:nvSpPr>
        <p:spPr>
          <a:xfrm>
            <a:off x="2651760" y="1728216"/>
            <a:ext cx="2087118" cy="868680"/>
          </a:xfrm>
          <a:prstGeom prst="roundRect">
            <a:avLst>
              <a:gd name="adj" fmla="val 5263"/>
            </a:avLst>
          </a:prstGeom>
          <a:solidFill>
            <a:srgbClr val="F2F5F8"/>
          </a:solidFill>
          <a:ln/>
        </p:spPr>
        <p:txBody>
          <a:bodyPr/>
          <a:lstStyle/>
          <a:p>
            <a:endParaRPr lang="en-US"/>
          </a:p>
        </p:txBody>
      </p:sp>
      <p:sp>
        <p:nvSpPr>
          <p:cNvPr id="22" name="Text 20"/>
          <p:cNvSpPr txBox="1"/>
          <p:nvPr/>
        </p:nvSpPr>
        <p:spPr>
          <a:xfrm>
            <a:off x="2788920" y="1783080"/>
            <a:ext cx="1812798" cy="411480"/>
          </a:xfrm>
          <a:prstGeom prst="rect">
            <a:avLst/>
          </a:prstGeom>
          <a:noFill/>
          <a:ln/>
        </p:spPr>
        <p:txBody>
          <a:bodyPr wrap="square" lIns="0" tIns="0" rIns="0" bIns="0" rtlCol="0" anchor="ctr"/>
          <a:lstStyle/>
          <a:p>
            <a:pPr marL="0" indent="0">
              <a:buNone/>
            </a:pPr>
            <a:r>
              <a:rPr lang="en-US" sz="2200" b="1" dirty="0">
                <a:solidFill>
                  <a:srgbClr val="16283F"/>
                </a:solidFill>
                <a:latin typeface="Georgia" pitchFamily="34" charset="0"/>
                <a:ea typeface="Georgia" pitchFamily="34" charset="-122"/>
                <a:cs typeface="Georgia" pitchFamily="34" charset="-120"/>
              </a:rPr>
              <a:t>4</a:t>
            </a:r>
            <a:endParaRPr lang="en-US" sz="2200" dirty="0"/>
          </a:p>
        </p:txBody>
      </p:sp>
      <p:sp>
        <p:nvSpPr>
          <p:cNvPr id="23" name="Text 21"/>
          <p:cNvSpPr txBox="1"/>
          <p:nvPr/>
        </p:nvSpPr>
        <p:spPr>
          <a:xfrm>
            <a:off x="2788920" y="2185416"/>
            <a:ext cx="1812798" cy="201168"/>
          </a:xfrm>
          <a:prstGeom prst="rect">
            <a:avLst/>
          </a:prstGeom>
          <a:noFill/>
          <a:ln/>
        </p:spPr>
        <p:txBody>
          <a:bodyPr wrap="square" lIns="0" tIns="0" rIns="0" bIns="0" rtlCol="0" anchor="ctr"/>
          <a:lstStyle/>
          <a:p>
            <a:pPr marL="0" indent="0">
              <a:buNone/>
            </a:pPr>
            <a:r>
              <a:rPr lang="en-US" sz="950" dirty="0">
                <a:solidFill>
                  <a:srgbClr val="667085"/>
                </a:solidFill>
                <a:latin typeface="Arial" pitchFamily="34" charset="0"/>
                <a:ea typeface="Arial" pitchFamily="34" charset="-122"/>
                <a:cs typeface="Arial" pitchFamily="34" charset="-120"/>
              </a:rPr>
              <a:t>Open shifts · next 21 days</a:t>
            </a:r>
            <a:endParaRPr lang="en-US" sz="950" dirty="0"/>
          </a:p>
        </p:txBody>
      </p:sp>
      <p:sp>
        <p:nvSpPr>
          <p:cNvPr id="24" name="Text 22"/>
          <p:cNvSpPr txBox="1"/>
          <p:nvPr/>
        </p:nvSpPr>
        <p:spPr>
          <a:xfrm>
            <a:off x="2788920" y="2368296"/>
            <a:ext cx="1812798" cy="201168"/>
          </a:xfrm>
          <a:prstGeom prst="rect">
            <a:avLst/>
          </a:prstGeom>
          <a:noFill/>
          <a:ln/>
        </p:spPr>
        <p:txBody>
          <a:bodyPr wrap="square" lIns="0" tIns="0" rIns="0" bIns="0" rtlCol="0" anchor="ctr"/>
          <a:lstStyle/>
          <a:p>
            <a:pPr marL="0" indent="0">
              <a:buNone/>
            </a:pPr>
            <a:r>
              <a:rPr lang="en-US" sz="900" b="1" dirty="0">
                <a:solidFill>
                  <a:srgbClr val="2A7F7F"/>
                </a:solidFill>
                <a:latin typeface="Arial" pitchFamily="34" charset="0"/>
                <a:ea typeface="Arial" pitchFamily="34" charset="-122"/>
                <a:cs typeface="Arial" pitchFamily="34" charset="-120"/>
              </a:rPr>
              <a:t>2 already have offers out</a:t>
            </a:r>
            <a:endParaRPr lang="en-US" sz="900" dirty="0"/>
          </a:p>
        </p:txBody>
      </p:sp>
      <p:sp>
        <p:nvSpPr>
          <p:cNvPr id="25" name="Shape 23"/>
          <p:cNvSpPr/>
          <p:nvPr/>
        </p:nvSpPr>
        <p:spPr>
          <a:xfrm>
            <a:off x="4876038" y="1728216"/>
            <a:ext cx="2087118" cy="868680"/>
          </a:xfrm>
          <a:prstGeom prst="roundRect">
            <a:avLst>
              <a:gd name="adj" fmla="val 5263"/>
            </a:avLst>
          </a:prstGeom>
          <a:solidFill>
            <a:srgbClr val="F2F5F8"/>
          </a:solidFill>
          <a:ln/>
        </p:spPr>
        <p:txBody>
          <a:bodyPr/>
          <a:lstStyle/>
          <a:p>
            <a:endParaRPr lang="en-US"/>
          </a:p>
        </p:txBody>
      </p:sp>
      <p:sp>
        <p:nvSpPr>
          <p:cNvPr id="26" name="Text 24"/>
          <p:cNvSpPr txBox="1"/>
          <p:nvPr/>
        </p:nvSpPr>
        <p:spPr>
          <a:xfrm>
            <a:off x="5013198" y="1783080"/>
            <a:ext cx="1812798" cy="411480"/>
          </a:xfrm>
          <a:prstGeom prst="rect">
            <a:avLst/>
          </a:prstGeom>
          <a:noFill/>
          <a:ln/>
        </p:spPr>
        <p:txBody>
          <a:bodyPr wrap="square" lIns="0" tIns="0" rIns="0" bIns="0" rtlCol="0" anchor="ctr"/>
          <a:lstStyle/>
          <a:p>
            <a:pPr marL="0" indent="0">
              <a:buNone/>
            </a:pPr>
            <a:r>
              <a:rPr lang="en-US" sz="2200" b="1" dirty="0">
                <a:solidFill>
                  <a:srgbClr val="16283F"/>
                </a:solidFill>
                <a:latin typeface="Georgia" pitchFamily="34" charset="0"/>
                <a:ea typeface="Georgia" pitchFamily="34" charset="-122"/>
                <a:cs typeface="Georgia" pitchFamily="34" charset="-120"/>
              </a:rPr>
              <a:t>6.8%</a:t>
            </a:r>
            <a:endParaRPr lang="en-US" sz="2200" dirty="0"/>
          </a:p>
        </p:txBody>
      </p:sp>
      <p:sp>
        <p:nvSpPr>
          <p:cNvPr id="27" name="Text 25"/>
          <p:cNvSpPr txBox="1"/>
          <p:nvPr/>
        </p:nvSpPr>
        <p:spPr>
          <a:xfrm>
            <a:off x="5013198" y="2185416"/>
            <a:ext cx="1812798" cy="201168"/>
          </a:xfrm>
          <a:prstGeom prst="rect">
            <a:avLst/>
          </a:prstGeom>
          <a:noFill/>
          <a:ln/>
        </p:spPr>
        <p:txBody>
          <a:bodyPr wrap="square" lIns="0" tIns="0" rIns="0" bIns="0" rtlCol="0" anchor="ctr"/>
          <a:lstStyle/>
          <a:p>
            <a:pPr marL="0" indent="0">
              <a:buNone/>
            </a:pPr>
            <a:r>
              <a:rPr lang="en-US" sz="950" dirty="0">
                <a:solidFill>
                  <a:srgbClr val="667085"/>
                </a:solidFill>
                <a:latin typeface="Arial" pitchFamily="34" charset="0"/>
                <a:ea typeface="Arial" pitchFamily="34" charset="-122"/>
                <a:cs typeface="Arial" pitchFamily="34" charset="-120"/>
              </a:rPr>
              <a:t>Overtime this quarter</a:t>
            </a:r>
            <a:endParaRPr lang="en-US" sz="950" dirty="0"/>
          </a:p>
        </p:txBody>
      </p:sp>
      <p:sp>
        <p:nvSpPr>
          <p:cNvPr id="28" name="Text 26"/>
          <p:cNvSpPr txBox="1"/>
          <p:nvPr/>
        </p:nvSpPr>
        <p:spPr>
          <a:xfrm>
            <a:off x="5013198" y="2368296"/>
            <a:ext cx="1812798" cy="201168"/>
          </a:xfrm>
          <a:prstGeom prst="rect">
            <a:avLst/>
          </a:prstGeom>
          <a:noFill/>
          <a:ln/>
        </p:spPr>
        <p:txBody>
          <a:bodyPr wrap="square" lIns="0" tIns="0" rIns="0" bIns="0" rtlCol="0" anchor="ctr"/>
          <a:lstStyle/>
          <a:p>
            <a:pPr marL="0" indent="0">
              <a:buNone/>
            </a:pPr>
            <a:r>
              <a:rPr lang="en-US" sz="900" b="1" dirty="0">
                <a:solidFill>
                  <a:srgbClr val="2A7F7F"/>
                </a:solidFill>
                <a:latin typeface="Arial" pitchFamily="34" charset="0"/>
                <a:ea typeface="Arial" pitchFamily="34" charset="-122"/>
                <a:cs typeface="Arial" pitchFamily="34" charset="-120"/>
              </a:rPr>
              <a:t>target 7.0%</a:t>
            </a:r>
            <a:endParaRPr lang="en-US" sz="900" dirty="0"/>
          </a:p>
        </p:txBody>
      </p:sp>
      <p:sp>
        <p:nvSpPr>
          <p:cNvPr id="29" name="Shape 27"/>
          <p:cNvSpPr/>
          <p:nvPr/>
        </p:nvSpPr>
        <p:spPr>
          <a:xfrm>
            <a:off x="7100316" y="1728216"/>
            <a:ext cx="2087118" cy="868680"/>
          </a:xfrm>
          <a:prstGeom prst="roundRect">
            <a:avLst>
              <a:gd name="adj" fmla="val 5263"/>
            </a:avLst>
          </a:prstGeom>
          <a:solidFill>
            <a:srgbClr val="F2F5F8"/>
          </a:solidFill>
          <a:ln/>
        </p:spPr>
        <p:txBody>
          <a:bodyPr/>
          <a:lstStyle/>
          <a:p>
            <a:endParaRPr lang="en-US"/>
          </a:p>
        </p:txBody>
      </p:sp>
      <p:sp>
        <p:nvSpPr>
          <p:cNvPr id="30" name="Text 28"/>
          <p:cNvSpPr txBox="1"/>
          <p:nvPr/>
        </p:nvSpPr>
        <p:spPr>
          <a:xfrm>
            <a:off x="7237476" y="1783080"/>
            <a:ext cx="1812798" cy="411480"/>
          </a:xfrm>
          <a:prstGeom prst="rect">
            <a:avLst/>
          </a:prstGeom>
          <a:noFill/>
          <a:ln/>
        </p:spPr>
        <p:txBody>
          <a:bodyPr wrap="square" lIns="0" tIns="0" rIns="0" bIns="0" rtlCol="0" anchor="ctr"/>
          <a:lstStyle/>
          <a:p>
            <a:pPr marL="0" indent="0">
              <a:buNone/>
            </a:pPr>
            <a:r>
              <a:rPr lang="en-US" sz="2200" b="1" dirty="0">
                <a:solidFill>
                  <a:srgbClr val="16283F"/>
                </a:solidFill>
                <a:latin typeface="Georgia" pitchFamily="34" charset="0"/>
                <a:ea typeface="Georgia" pitchFamily="34" charset="-122"/>
                <a:cs typeface="Georgia" pitchFamily="34" charset="-120"/>
              </a:rPr>
              <a:t>31</a:t>
            </a:r>
            <a:endParaRPr lang="en-US" sz="2200" dirty="0"/>
          </a:p>
        </p:txBody>
      </p:sp>
      <p:sp>
        <p:nvSpPr>
          <p:cNvPr id="31" name="Text 29"/>
          <p:cNvSpPr txBox="1"/>
          <p:nvPr/>
        </p:nvSpPr>
        <p:spPr>
          <a:xfrm>
            <a:off x="7237476" y="2185416"/>
            <a:ext cx="1812798" cy="201168"/>
          </a:xfrm>
          <a:prstGeom prst="rect">
            <a:avLst/>
          </a:prstGeom>
          <a:noFill/>
          <a:ln/>
        </p:spPr>
        <p:txBody>
          <a:bodyPr wrap="square" lIns="0" tIns="0" rIns="0" bIns="0" rtlCol="0" anchor="ctr"/>
          <a:lstStyle/>
          <a:p>
            <a:pPr marL="0" indent="0">
              <a:buNone/>
            </a:pPr>
            <a:r>
              <a:rPr lang="en-US" sz="950" dirty="0">
                <a:solidFill>
                  <a:srgbClr val="667085"/>
                </a:solidFill>
                <a:latin typeface="Arial" pitchFamily="34" charset="0"/>
                <a:ea typeface="Arial" pitchFamily="34" charset="-122"/>
                <a:cs typeface="Arial" pitchFamily="34" charset="-120"/>
              </a:rPr>
              <a:t>Retirement-eligible · 24 months</a:t>
            </a:r>
            <a:endParaRPr lang="en-US" sz="950" dirty="0"/>
          </a:p>
        </p:txBody>
      </p:sp>
      <p:sp>
        <p:nvSpPr>
          <p:cNvPr id="32" name="Text 30"/>
          <p:cNvSpPr txBox="1"/>
          <p:nvPr/>
        </p:nvSpPr>
        <p:spPr>
          <a:xfrm>
            <a:off x="7237476" y="2368296"/>
            <a:ext cx="1812798" cy="201168"/>
          </a:xfrm>
          <a:prstGeom prst="rect">
            <a:avLst/>
          </a:prstGeom>
          <a:noFill/>
          <a:ln/>
        </p:spPr>
        <p:txBody>
          <a:bodyPr wrap="square" lIns="0" tIns="0" rIns="0" bIns="0" rtlCol="0" anchor="ctr"/>
          <a:lstStyle/>
          <a:p>
            <a:pPr marL="0" indent="0">
              <a:buNone/>
            </a:pPr>
            <a:r>
              <a:rPr lang="en-US" sz="900" b="1" dirty="0">
                <a:solidFill>
                  <a:srgbClr val="B4531F"/>
                </a:solidFill>
                <a:latin typeface="Arial" pitchFamily="34" charset="0"/>
                <a:ea typeface="Arial" pitchFamily="34" charset="-122"/>
                <a:cs typeface="Arial" pitchFamily="34" charset="-120"/>
              </a:rPr>
              <a:t>12 in critical roles</a:t>
            </a:r>
            <a:endParaRPr lang="en-US" sz="900" dirty="0"/>
          </a:p>
        </p:txBody>
      </p:sp>
      <p:sp>
        <p:nvSpPr>
          <p:cNvPr id="33" name="Shape 31"/>
          <p:cNvSpPr/>
          <p:nvPr/>
        </p:nvSpPr>
        <p:spPr>
          <a:xfrm>
            <a:off x="9324594" y="1728216"/>
            <a:ext cx="2087118" cy="868680"/>
          </a:xfrm>
          <a:prstGeom prst="roundRect">
            <a:avLst>
              <a:gd name="adj" fmla="val 5263"/>
            </a:avLst>
          </a:prstGeom>
          <a:solidFill>
            <a:srgbClr val="F2F5F8"/>
          </a:solidFill>
          <a:ln/>
        </p:spPr>
        <p:txBody>
          <a:bodyPr/>
          <a:lstStyle/>
          <a:p>
            <a:endParaRPr lang="en-US"/>
          </a:p>
        </p:txBody>
      </p:sp>
      <p:sp>
        <p:nvSpPr>
          <p:cNvPr id="34" name="Text 32"/>
          <p:cNvSpPr txBox="1"/>
          <p:nvPr/>
        </p:nvSpPr>
        <p:spPr>
          <a:xfrm>
            <a:off x="9461754" y="1783080"/>
            <a:ext cx="1812798" cy="411480"/>
          </a:xfrm>
          <a:prstGeom prst="rect">
            <a:avLst/>
          </a:prstGeom>
          <a:noFill/>
          <a:ln/>
        </p:spPr>
        <p:txBody>
          <a:bodyPr wrap="square" lIns="0" tIns="0" rIns="0" bIns="0" rtlCol="0" anchor="ctr"/>
          <a:lstStyle/>
          <a:p>
            <a:pPr marL="0" indent="0">
              <a:buNone/>
            </a:pPr>
            <a:r>
              <a:rPr lang="en-US" sz="2200" b="1" dirty="0">
                <a:solidFill>
                  <a:srgbClr val="16283F"/>
                </a:solidFill>
                <a:latin typeface="Georgia" pitchFamily="34" charset="0"/>
                <a:ea typeface="Georgia" pitchFamily="34" charset="-122"/>
                <a:cs typeface="Georgia" pitchFamily="34" charset="-120"/>
              </a:rPr>
              <a:t>402</a:t>
            </a:r>
            <a:endParaRPr lang="en-US" sz="2200" dirty="0"/>
          </a:p>
        </p:txBody>
      </p:sp>
      <p:sp>
        <p:nvSpPr>
          <p:cNvPr id="35" name="Text 33"/>
          <p:cNvSpPr txBox="1"/>
          <p:nvPr/>
        </p:nvSpPr>
        <p:spPr>
          <a:xfrm>
            <a:off x="9461754" y="2185416"/>
            <a:ext cx="1812798" cy="201168"/>
          </a:xfrm>
          <a:prstGeom prst="rect">
            <a:avLst/>
          </a:prstGeom>
          <a:noFill/>
          <a:ln/>
        </p:spPr>
        <p:txBody>
          <a:bodyPr wrap="square" lIns="0" tIns="0" rIns="0" bIns="0" rtlCol="0" anchor="ctr"/>
          <a:lstStyle/>
          <a:p>
            <a:pPr marL="0" indent="0">
              <a:buNone/>
            </a:pPr>
            <a:r>
              <a:rPr lang="en-US" sz="950" dirty="0">
                <a:solidFill>
                  <a:srgbClr val="667085"/>
                </a:solidFill>
                <a:latin typeface="Arial" pitchFamily="34" charset="0"/>
                <a:ea typeface="Arial" pitchFamily="34" charset="-122"/>
                <a:cs typeface="Arial" pitchFamily="34" charset="-120"/>
              </a:rPr>
              <a:t>Headcount</a:t>
            </a:r>
            <a:endParaRPr lang="en-US" sz="950" dirty="0"/>
          </a:p>
        </p:txBody>
      </p:sp>
      <p:sp>
        <p:nvSpPr>
          <p:cNvPr id="36" name="Text 34"/>
          <p:cNvSpPr txBox="1"/>
          <p:nvPr/>
        </p:nvSpPr>
        <p:spPr>
          <a:xfrm>
            <a:off x="9461754" y="2368296"/>
            <a:ext cx="1812798" cy="201168"/>
          </a:xfrm>
          <a:prstGeom prst="rect">
            <a:avLst/>
          </a:prstGeom>
          <a:noFill/>
          <a:ln/>
        </p:spPr>
        <p:txBody>
          <a:bodyPr wrap="square" lIns="0" tIns="0" rIns="0" bIns="0" rtlCol="0" anchor="ctr"/>
          <a:lstStyle/>
          <a:p>
            <a:pPr marL="0" indent="0">
              <a:buNone/>
            </a:pPr>
            <a:r>
              <a:rPr lang="en-US" sz="900" b="1" dirty="0">
                <a:solidFill>
                  <a:srgbClr val="B4531F"/>
                </a:solidFill>
                <a:latin typeface="Arial" pitchFamily="34" charset="0"/>
                <a:ea typeface="Arial" pitchFamily="34" charset="-122"/>
                <a:cs typeface="Arial" pitchFamily="34" charset="-120"/>
              </a:rPr>
              <a:t>target 410 · 6 reqs open</a:t>
            </a:r>
            <a:endParaRPr lang="en-US" sz="900" dirty="0"/>
          </a:p>
        </p:txBody>
      </p:sp>
      <p:sp>
        <p:nvSpPr>
          <p:cNvPr id="37" name="Shape 35"/>
          <p:cNvSpPr/>
          <p:nvPr/>
        </p:nvSpPr>
        <p:spPr>
          <a:xfrm>
            <a:off x="2651760" y="2734056"/>
            <a:ext cx="4905573" cy="2478024"/>
          </a:xfrm>
          <a:prstGeom prst="roundRect">
            <a:avLst>
              <a:gd name="adj" fmla="val 1845"/>
            </a:avLst>
          </a:prstGeom>
          <a:solidFill>
            <a:srgbClr val="FFFFFF"/>
          </a:solidFill>
          <a:ln w="9525">
            <a:solidFill>
              <a:srgbClr val="E3E7ED"/>
            </a:solidFill>
            <a:prstDash val="solid"/>
          </a:ln>
        </p:spPr>
        <p:txBody>
          <a:bodyPr/>
          <a:lstStyle/>
          <a:p>
            <a:endParaRPr lang="en-US"/>
          </a:p>
        </p:txBody>
      </p:sp>
      <p:sp>
        <p:nvSpPr>
          <p:cNvPr id="38" name="Text 36"/>
          <p:cNvSpPr txBox="1"/>
          <p:nvPr/>
        </p:nvSpPr>
        <p:spPr>
          <a:xfrm>
            <a:off x="2788920" y="2825496"/>
            <a:ext cx="4631253" cy="256032"/>
          </a:xfrm>
          <a:prstGeom prst="rect">
            <a:avLst/>
          </a:prstGeom>
          <a:noFill/>
          <a:ln/>
        </p:spPr>
        <p:txBody>
          <a:bodyPr wrap="square" lIns="0" tIns="0" rIns="0" bIns="0" rtlCol="0" anchor="ctr"/>
          <a:lstStyle/>
          <a:p>
            <a:pPr marL="0" indent="0">
              <a:buNone/>
            </a:pPr>
            <a:r>
              <a:rPr lang="en-US" sz="1000" b="1" kern="0" spc="100" dirty="0">
                <a:solidFill>
                  <a:srgbClr val="16283F"/>
                </a:solidFill>
                <a:latin typeface="Arial" pitchFamily="34" charset="0"/>
                <a:ea typeface="Arial" pitchFamily="34" charset="-122"/>
                <a:cs typeface="Arial" pitchFamily="34" charset="-120"/>
              </a:rPr>
              <a:t>COVERAGE · NEXT 7 DAYS</a:t>
            </a:r>
            <a:endParaRPr lang="en-US" sz="1000" dirty="0"/>
          </a:p>
        </p:txBody>
      </p:sp>
      <p:sp>
        <p:nvSpPr>
          <p:cNvPr id="39" name="Text 37"/>
          <p:cNvSpPr txBox="1"/>
          <p:nvPr/>
        </p:nvSpPr>
        <p:spPr>
          <a:xfrm>
            <a:off x="2788920" y="3118104"/>
            <a:ext cx="4631253" cy="2020824"/>
          </a:xfrm>
          <a:prstGeom prst="rect">
            <a:avLst/>
          </a:prstGeom>
          <a:noFill/>
          <a:ln/>
        </p:spPr>
        <p:txBody>
          <a:bodyPr wrap="square" lIns="0" tIns="0" rIns="0" bIns="0" rtlCol="0" anchor="t"/>
          <a:lstStyle/>
          <a:p>
            <a:pPr marL="0" indent="0">
              <a:spcAft>
                <a:spcPts val="1100"/>
              </a:spcAft>
              <a:buNone/>
            </a:pPr>
            <a:r>
              <a:rPr lang="en-US" sz="1150" dirty="0">
                <a:solidFill>
                  <a:srgbClr val="222222"/>
                </a:solidFill>
                <a:latin typeface="Arial" pitchFamily="34" charset="0"/>
                <a:ea typeface="Arial" pitchFamily="34" charset="-122"/>
                <a:cs typeface="Arial" pitchFamily="34" charset="-120"/>
              </a:rPr>
              <a:t>Mon–Tue  A Full   B Full   C Full   D Full</a:t>
            </a:r>
            <a:endParaRPr lang="en-US" sz="1150" dirty="0"/>
          </a:p>
          <a:p>
            <a:pPr marL="0" indent="0">
              <a:spcAft>
                <a:spcPts val="1100"/>
              </a:spcAft>
              <a:buNone/>
            </a:pPr>
            <a:r>
              <a:rPr lang="en-US" sz="1150" dirty="0">
                <a:solidFill>
                  <a:srgbClr val="222222"/>
                </a:solidFill>
                <a:latin typeface="Arial" pitchFamily="34" charset="0"/>
                <a:ea typeface="Arial" pitchFamily="34" charset="-122"/>
                <a:cs typeface="Arial" pitchFamily="34" charset="-120"/>
              </a:rPr>
              <a:t>Wed  C Short 1 — nights ⚠</a:t>
            </a:r>
            <a:endParaRPr lang="en-US" sz="1150" dirty="0"/>
          </a:p>
          <a:p>
            <a:pPr marL="0" indent="0">
              <a:spcAft>
                <a:spcPts val="1100"/>
              </a:spcAft>
              <a:buNone/>
            </a:pPr>
            <a:r>
              <a:rPr lang="en-US" sz="1150" dirty="0">
                <a:solidFill>
                  <a:srgbClr val="222222"/>
                </a:solidFill>
                <a:latin typeface="Arial" pitchFamily="34" charset="0"/>
                <a:ea typeface="Arial" pitchFamily="34" charset="-122"/>
                <a:cs typeface="Arial" pitchFamily="34" charset="-120"/>
              </a:rPr>
              <a:t>Thu  B Short 1 — days ⚠</a:t>
            </a:r>
            <a:endParaRPr lang="en-US" sz="1150" dirty="0"/>
          </a:p>
          <a:p>
            <a:pPr marL="0" indent="0">
              <a:spcAft>
                <a:spcPts val="1100"/>
              </a:spcAft>
              <a:buNone/>
            </a:pPr>
            <a:r>
              <a:rPr lang="en-US" sz="1150" dirty="0">
                <a:solidFill>
                  <a:srgbClr val="222222"/>
                </a:solidFill>
                <a:latin typeface="Arial" pitchFamily="34" charset="0"/>
                <a:ea typeface="Arial" pitchFamily="34" charset="-122"/>
                <a:cs typeface="Arial" pitchFamily="34" charset="-120"/>
              </a:rPr>
              <a:t>Fri–Sun  all crews full</a:t>
            </a:r>
            <a:endParaRPr lang="en-US" sz="1150" dirty="0"/>
          </a:p>
          <a:p>
            <a:pPr marL="0" indent="0">
              <a:spcAft>
                <a:spcPts val="1100"/>
              </a:spcAft>
              <a:buNone/>
            </a:pPr>
            <a:r>
              <a:rPr lang="en-US" sz="1150" dirty="0">
                <a:solidFill>
                  <a:srgbClr val="222222"/>
                </a:solidFill>
                <a:latin typeface="Arial" pitchFamily="34" charset="0"/>
                <a:ea typeface="Arial" pitchFamily="34" charset="-122"/>
                <a:cs typeface="Arial" pitchFamily="34" charset="-120"/>
              </a:rPr>
              <a:t>2 call-offs today — both covered by 05:40</a:t>
            </a:r>
            <a:endParaRPr lang="en-US" sz="1150" dirty="0"/>
          </a:p>
        </p:txBody>
      </p:sp>
      <p:sp>
        <p:nvSpPr>
          <p:cNvPr id="40" name="Shape 38"/>
          <p:cNvSpPr/>
          <p:nvPr/>
        </p:nvSpPr>
        <p:spPr>
          <a:xfrm>
            <a:off x="7694493" y="2734056"/>
            <a:ext cx="3717219" cy="2478024"/>
          </a:xfrm>
          <a:prstGeom prst="roundRect">
            <a:avLst>
              <a:gd name="adj" fmla="val 1845"/>
            </a:avLst>
          </a:prstGeom>
          <a:solidFill>
            <a:srgbClr val="0F1C2E"/>
          </a:solidFill>
          <a:ln w="9525">
            <a:solidFill>
              <a:srgbClr val="0F1C2E"/>
            </a:solidFill>
            <a:prstDash val="solid"/>
          </a:ln>
        </p:spPr>
        <p:txBody>
          <a:bodyPr/>
          <a:lstStyle/>
          <a:p>
            <a:endParaRPr lang="en-US"/>
          </a:p>
        </p:txBody>
      </p:sp>
      <p:sp>
        <p:nvSpPr>
          <p:cNvPr id="41" name="Text 39"/>
          <p:cNvSpPr txBox="1"/>
          <p:nvPr/>
        </p:nvSpPr>
        <p:spPr>
          <a:xfrm>
            <a:off x="7831653" y="2825496"/>
            <a:ext cx="3442899" cy="256032"/>
          </a:xfrm>
          <a:prstGeom prst="rect">
            <a:avLst/>
          </a:prstGeom>
          <a:noFill/>
          <a:ln/>
        </p:spPr>
        <p:txBody>
          <a:bodyPr wrap="square" lIns="0" tIns="0" rIns="0" bIns="0" rtlCol="0" anchor="ctr"/>
          <a:lstStyle/>
          <a:p>
            <a:pPr marL="0" indent="0">
              <a:buNone/>
            </a:pPr>
            <a:r>
              <a:rPr lang="en-US" sz="1000" b="1" kern="0" spc="100" dirty="0">
                <a:solidFill>
                  <a:srgbClr val="C9A227"/>
                </a:solidFill>
                <a:latin typeface="Arial" pitchFamily="34" charset="0"/>
                <a:ea typeface="Arial" pitchFamily="34" charset="-122"/>
                <a:cs typeface="Arial" pitchFamily="34" charset="-120"/>
              </a:rPr>
              <a:t>FILL WED NIGHT · RANKED</a:t>
            </a:r>
            <a:endParaRPr lang="en-US" sz="1000" dirty="0"/>
          </a:p>
        </p:txBody>
      </p:sp>
      <p:sp>
        <p:nvSpPr>
          <p:cNvPr id="42" name="Text 40"/>
          <p:cNvSpPr txBox="1"/>
          <p:nvPr/>
        </p:nvSpPr>
        <p:spPr>
          <a:xfrm>
            <a:off x="7831653" y="3118104"/>
            <a:ext cx="3442899" cy="2020824"/>
          </a:xfrm>
          <a:prstGeom prst="rect">
            <a:avLst/>
          </a:prstGeom>
          <a:noFill/>
          <a:ln/>
        </p:spPr>
        <p:txBody>
          <a:bodyPr wrap="square" lIns="0" tIns="0" rIns="0" bIns="0" rtlCol="0" anchor="t"/>
          <a:lstStyle/>
          <a:p>
            <a:pPr marL="0" indent="0">
              <a:spcAft>
                <a:spcPts val="1100"/>
              </a:spcAft>
              <a:buNone/>
            </a:pPr>
            <a:r>
              <a:rPr lang="en-US" sz="1150" dirty="0">
                <a:solidFill>
                  <a:srgbClr val="E6EBF2"/>
                </a:solidFill>
                <a:latin typeface="Arial" pitchFamily="34" charset="0"/>
                <a:ea typeface="Arial" pitchFamily="34" charset="-122"/>
                <a:cs typeface="Arial" pitchFamily="34" charset="-120"/>
              </a:rPr>
              <a:t>●  Ramos — qualified, 4 hrs OT this week</a:t>
            </a:r>
            <a:endParaRPr lang="en-US" sz="1150" dirty="0"/>
          </a:p>
          <a:p>
            <a:pPr marL="0" indent="0">
              <a:spcAft>
                <a:spcPts val="1100"/>
              </a:spcAft>
              <a:buNone/>
            </a:pPr>
            <a:r>
              <a:rPr lang="en-US" sz="1150" dirty="0">
                <a:solidFill>
                  <a:srgbClr val="E6EBF2"/>
                </a:solidFill>
                <a:latin typeface="Arial" pitchFamily="34" charset="0"/>
                <a:ea typeface="Arial" pitchFamily="34" charset="-122"/>
                <a:cs typeface="Arial" pitchFamily="34" charset="-120"/>
              </a:rPr>
              <a:t>●  Patel — qualified, 12 hrs OT</a:t>
            </a:r>
            <a:endParaRPr lang="en-US" sz="1150" dirty="0"/>
          </a:p>
          <a:p>
            <a:pPr marL="0" indent="0">
              <a:spcAft>
                <a:spcPts val="1100"/>
              </a:spcAft>
              <a:buNone/>
            </a:pPr>
            <a:r>
              <a:rPr lang="en-US" sz="1150" dirty="0">
                <a:solidFill>
                  <a:srgbClr val="E6EBF2"/>
                </a:solidFill>
                <a:latin typeface="Arial" pitchFamily="34" charset="0"/>
                <a:ea typeface="Arial" pitchFamily="34" charset="-122"/>
                <a:cs typeface="Arial" pitchFamily="34" charset="-120"/>
              </a:rPr>
              <a:t>●  Kim — qualified, 6th consecutive day ⚠</a:t>
            </a:r>
            <a:endParaRPr lang="en-US" sz="1150" dirty="0"/>
          </a:p>
          <a:p>
            <a:pPr marL="0" indent="0">
              <a:spcAft>
                <a:spcPts val="1100"/>
              </a:spcAft>
              <a:buNone/>
            </a:pPr>
            <a:r>
              <a:rPr lang="en-US" sz="1150" dirty="0">
                <a:solidFill>
                  <a:srgbClr val="E6EBF2"/>
                </a:solidFill>
                <a:latin typeface="Arial" pitchFamily="34" charset="0"/>
                <a:ea typeface="Arial" pitchFamily="34" charset="-122"/>
                <a:cs typeface="Arial" pitchFamily="34" charset="-120"/>
              </a:rPr>
              <a:t>●  Robot R-2 — entry job, closet, charged</a:t>
            </a:r>
            <a:endParaRPr lang="en-US" sz="1150" dirty="0"/>
          </a:p>
        </p:txBody>
      </p:sp>
      <p:sp>
        <p:nvSpPr>
          <p:cNvPr id="43" name="Shape 41"/>
          <p:cNvSpPr/>
          <p:nvPr/>
        </p:nvSpPr>
        <p:spPr>
          <a:xfrm>
            <a:off x="2651760" y="5349240"/>
            <a:ext cx="4905573" cy="868680"/>
          </a:xfrm>
          <a:prstGeom prst="roundRect">
            <a:avLst>
              <a:gd name="adj" fmla="val 5263"/>
            </a:avLst>
          </a:prstGeom>
          <a:solidFill>
            <a:srgbClr val="F2F5F8"/>
          </a:solidFill>
          <a:ln/>
        </p:spPr>
        <p:txBody>
          <a:bodyPr/>
          <a:lstStyle/>
          <a:p>
            <a:endParaRPr lang="en-US"/>
          </a:p>
        </p:txBody>
      </p:sp>
      <p:sp>
        <p:nvSpPr>
          <p:cNvPr id="44" name="Text 42"/>
          <p:cNvSpPr txBox="1"/>
          <p:nvPr/>
        </p:nvSpPr>
        <p:spPr>
          <a:xfrm>
            <a:off x="2788920" y="5422392"/>
            <a:ext cx="4631253" cy="228600"/>
          </a:xfrm>
          <a:prstGeom prst="rect">
            <a:avLst/>
          </a:prstGeom>
          <a:noFill/>
          <a:ln/>
        </p:spPr>
        <p:txBody>
          <a:bodyPr wrap="square" lIns="0" tIns="0" rIns="0" bIns="0" rtlCol="0" anchor="ctr"/>
          <a:lstStyle/>
          <a:p>
            <a:pPr marL="0" indent="0">
              <a:buNone/>
            </a:pPr>
            <a:r>
              <a:rPr lang="en-US" sz="1000" b="1" kern="0" spc="100" dirty="0">
                <a:solidFill>
                  <a:srgbClr val="16283F"/>
                </a:solidFill>
                <a:latin typeface="Arial" pitchFamily="34" charset="0"/>
                <a:ea typeface="Arial" pitchFamily="34" charset="-122"/>
                <a:cs typeface="Arial" pitchFamily="34" charset="-120"/>
              </a:rPr>
              <a:t>RETIREMENTS, TRAINING &amp; HIRING</a:t>
            </a:r>
            <a:endParaRPr lang="en-US" sz="1000" dirty="0"/>
          </a:p>
        </p:txBody>
      </p:sp>
      <p:sp>
        <p:nvSpPr>
          <p:cNvPr id="45" name="Text 43"/>
          <p:cNvSpPr txBox="1"/>
          <p:nvPr/>
        </p:nvSpPr>
        <p:spPr>
          <a:xfrm>
            <a:off x="2788920" y="5660136"/>
            <a:ext cx="4631253" cy="502920"/>
          </a:xfrm>
          <a:prstGeom prst="rect">
            <a:avLst/>
          </a:prstGeom>
          <a:noFill/>
          <a:ln/>
        </p:spPr>
        <p:txBody>
          <a:bodyPr wrap="square" lIns="0" tIns="0" rIns="0" bIns="0" rtlCol="0" anchor="ctr"/>
          <a:lstStyle/>
          <a:p>
            <a:pPr marL="0" indent="0">
              <a:buNone/>
            </a:pPr>
            <a:r>
              <a:rPr lang="en-US" sz="1100" dirty="0">
                <a:solidFill>
                  <a:srgbClr val="222222"/>
                </a:solidFill>
                <a:latin typeface="Arial" pitchFamily="34" charset="0"/>
                <a:ea typeface="Arial" pitchFamily="34" charset="-122"/>
                <a:cs typeface="Arial" pitchFamily="34" charset="-120"/>
              </a:rPr>
              <a:t>Maintenance techs — 4 eligible, 0 of 4 knowledge interviews done ⚠   ·   Wet-end operators — 6 eligible, 2 of 6 done   ·   Cross-qualified on 2+ jobs: 58% (goal 75%)   ·   Post 2 operator reqs now → trained by January → covers the 3 February retirements with no gap</a:t>
            </a:r>
            <a:endParaRPr lang="en-US" sz="1100" dirty="0"/>
          </a:p>
        </p:txBody>
      </p:sp>
      <p:sp>
        <p:nvSpPr>
          <p:cNvPr id="46" name="Shape 44"/>
          <p:cNvSpPr/>
          <p:nvPr/>
        </p:nvSpPr>
        <p:spPr>
          <a:xfrm>
            <a:off x="7694493" y="5349240"/>
            <a:ext cx="1812889" cy="388620"/>
          </a:xfrm>
          <a:prstGeom prst="roundRect">
            <a:avLst>
              <a:gd name="adj" fmla="val 11765"/>
            </a:avLst>
          </a:prstGeom>
          <a:solidFill>
            <a:srgbClr val="2A7F7F"/>
          </a:solidFill>
          <a:ln/>
        </p:spPr>
        <p:txBody>
          <a:bodyPr/>
          <a:lstStyle/>
          <a:p>
            <a:endParaRPr lang="en-US"/>
          </a:p>
        </p:txBody>
      </p:sp>
      <p:sp>
        <p:nvSpPr>
          <p:cNvPr id="47" name="Text 45"/>
          <p:cNvSpPr txBox="1"/>
          <p:nvPr/>
        </p:nvSpPr>
        <p:spPr>
          <a:xfrm>
            <a:off x="7694493" y="5349240"/>
            <a:ext cx="1812889" cy="38862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Send offer texts</a:t>
            </a:r>
            <a:endParaRPr lang="en-US" sz="1000" dirty="0"/>
          </a:p>
        </p:txBody>
      </p:sp>
      <p:sp>
        <p:nvSpPr>
          <p:cNvPr id="48" name="Shape 46"/>
          <p:cNvSpPr/>
          <p:nvPr/>
        </p:nvSpPr>
        <p:spPr>
          <a:xfrm>
            <a:off x="9598823" y="5349240"/>
            <a:ext cx="1812889" cy="388620"/>
          </a:xfrm>
          <a:prstGeom prst="roundRect">
            <a:avLst>
              <a:gd name="adj" fmla="val 11765"/>
            </a:avLst>
          </a:prstGeom>
          <a:solidFill>
            <a:srgbClr val="2A7F7F"/>
          </a:solidFill>
          <a:ln/>
        </p:spPr>
        <p:txBody>
          <a:bodyPr/>
          <a:lstStyle/>
          <a:p>
            <a:endParaRPr lang="en-US"/>
          </a:p>
        </p:txBody>
      </p:sp>
      <p:sp>
        <p:nvSpPr>
          <p:cNvPr id="49" name="Text 47"/>
          <p:cNvSpPr txBox="1"/>
          <p:nvPr/>
        </p:nvSpPr>
        <p:spPr>
          <a:xfrm>
            <a:off x="9598823" y="5349240"/>
            <a:ext cx="1812889" cy="38862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Post requisition</a:t>
            </a:r>
            <a:endParaRPr lang="en-US" sz="1000" dirty="0"/>
          </a:p>
        </p:txBody>
      </p:sp>
      <p:sp>
        <p:nvSpPr>
          <p:cNvPr id="50" name="Shape 48"/>
          <p:cNvSpPr/>
          <p:nvPr/>
        </p:nvSpPr>
        <p:spPr>
          <a:xfrm>
            <a:off x="7694493" y="5829300"/>
            <a:ext cx="1812889" cy="388620"/>
          </a:xfrm>
          <a:prstGeom prst="roundRect">
            <a:avLst>
              <a:gd name="adj" fmla="val 11765"/>
            </a:avLst>
          </a:prstGeom>
          <a:solidFill>
            <a:srgbClr val="2A7F7F"/>
          </a:solidFill>
          <a:ln/>
        </p:spPr>
        <p:txBody>
          <a:bodyPr/>
          <a:lstStyle/>
          <a:p>
            <a:endParaRPr lang="en-US"/>
          </a:p>
        </p:txBody>
      </p:sp>
      <p:sp>
        <p:nvSpPr>
          <p:cNvPr id="51" name="Text 49"/>
          <p:cNvSpPr txBox="1"/>
          <p:nvPr/>
        </p:nvSpPr>
        <p:spPr>
          <a:xfrm>
            <a:off x="7694493" y="5829300"/>
            <a:ext cx="1812889" cy="38862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Start knowledge interview</a:t>
            </a:r>
            <a:endParaRPr lang="en-US" sz="1000" dirty="0"/>
          </a:p>
        </p:txBody>
      </p:sp>
      <p:sp>
        <p:nvSpPr>
          <p:cNvPr id="52" name="Shape 50"/>
          <p:cNvSpPr/>
          <p:nvPr/>
        </p:nvSpPr>
        <p:spPr>
          <a:xfrm>
            <a:off x="9598823" y="5829300"/>
            <a:ext cx="1812889" cy="388620"/>
          </a:xfrm>
          <a:prstGeom prst="roundRect">
            <a:avLst>
              <a:gd name="adj" fmla="val 11765"/>
            </a:avLst>
          </a:prstGeom>
          <a:solidFill>
            <a:srgbClr val="C9A227"/>
          </a:solidFill>
          <a:ln/>
        </p:spPr>
        <p:txBody>
          <a:bodyPr/>
          <a:lstStyle/>
          <a:p>
            <a:endParaRPr lang="en-US"/>
          </a:p>
        </p:txBody>
      </p:sp>
      <p:sp>
        <p:nvSpPr>
          <p:cNvPr id="53" name="Text 51"/>
          <p:cNvSpPr txBox="1"/>
          <p:nvPr/>
        </p:nvSpPr>
        <p:spPr>
          <a:xfrm>
            <a:off x="9598823" y="5829300"/>
            <a:ext cx="1812889" cy="388620"/>
          </a:xfrm>
          <a:prstGeom prst="rect">
            <a:avLst/>
          </a:prstGeom>
          <a:noFill/>
          <a:ln/>
        </p:spPr>
        <p:txBody>
          <a:bodyPr wrap="square" lIns="0" tIns="0" rIns="0" bIns="0" rtlCol="0" anchor="ctr"/>
          <a:lstStyle/>
          <a:p>
            <a:pPr marL="0" indent="0" algn="ctr">
              <a:buNone/>
            </a:pPr>
            <a:r>
              <a:rPr lang="en-US" sz="1000" b="1" dirty="0">
                <a:solidFill>
                  <a:srgbClr val="16283F"/>
                </a:solidFill>
                <a:latin typeface="Arial" pitchFamily="34" charset="0"/>
                <a:ea typeface="Arial" pitchFamily="34" charset="-122"/>
                <a:cs typeface="Arial" pitchFamily="34" charset="-120"/>
              </a:rPr>
              <a:t>Show the math</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6283F"/>
        </a:solidFill>
        <a:effectLst/>
      </p:bgPr>
    </p:bg>
    <p:spTree>
      <p:nvGrpSpPr>
        <p:cNvPr id="1" name="">
          <a:extLst>
            <a:ext uri="{FF2B5EF4-FFF2-40B4-BE49-F238E27FC236}">
              <a16:creationId xmlns:a16="http://schemas.microsoft.com/office/drawing/2014/main" id="{95DF8B65-6E08-CD78-B8CB-C2A9280A6E1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29FA432-3706-A824-9A1F-CC91138B383B}"/>
              </a:ext>
            </a:extLst>
          </p:cNvPr>
          <p:cNvSpPr txBox="1"/>
          <p:nvPr/>
        </p:nvSpPr>
        <p:spPr>
          <a:xfrm>
            <a:off x="1495168" y="6435892"/>
            <a:ext cx="6618279"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FA1B8"/>
                </a:solidFill>
                <a:effectLst/>
                <a:uLnTx/>
                <a:uFillTx/>
                <a:latin typeface="Arial" pitchFamily="34" charset="0"/>
                <a:ea typeface="Arial" pitchFamily="34" charset="-122"/>
                <a:cs typeface="Arial" pitchFamily="34" charset="-120"/>
              </a:rPr>
              <a:t>Shiftwork Solutions LLC  |  (415) 265-1621  |  www.shift-work.com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E54050EB-110B-B306-A685-3BECBA9431A6}"/>
              </a:ext>
            </a:extLst>
          </p:cNvPr>
          <p:cNvSpPr txBox="1"/>
          <p:nvPr/>
        </p:nvSpPr>
        <p:spPr>
          <a:xfrm>
            <a:off x="822960" y="2331720"/>
            <a:ext cx="10515600" cy="10972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Arial Nova" panose="020B0504020202020204" pitchFamily="34" charset="0"/>
                <a:ea typeface="Georgia" pitchFamily="34" charset="-122"/>
                <a:cs typeface="Georgia" pitchFamily="34" charset="-120"/>
              </a:rPr>
              <a:t>People and AI</a:t>
            </a:r>
            <a:endParaRPr kumimoji="0" lang="en-US" sz="4000" b="0" i="0" u="none" strike="noStrike" kern="1200" cap="none" spc="0" normalizeH="0" baseline="0" noProof="0" dirty="0">
              <a:ln>
                <a:noFill/>
              </a:ln>
              <a:solidFill>
                <a:prstClr val="black"/>
              </a:solidFill>
              <a:effectLst/>
              <a:uLnTx/>
              <a:uFillTx/>
              <a:latin typeface="Arial Nova" panose="020B0504020202020204" pitchFamily="34" charset="0"/>
            </a:endParaRPr>
          </a:p>
        </p:txBody>
      </p:sp>
      <p:sp>
        <p:nvSpPr>
          <p:cNvPr id="4" name="Text 2">
            <a:extLst>
              <a:ext uri="{FF2B5EF4-FFF2-40B4-BE49-F238E27FC236}">
                <a16:creationId xmlns:a16="http://schemas.microsoft.com/office/drawing/2014/main" id="{CF36C2C2-48B5-BF7D-F1C2-E65E4C10264A}"/>
              </a:ext>
            </a:extLst>
          </p:cNvPr>
          <p:cNvSpPr txBox="1"/>
          <p:nvPr/>
        </p:nvSpPr>
        <p:spPr>
          <a:xfrm>
            <a:off x="822960" y="3299256"/>
            <a:ext cx="5824975"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u="none" strike="noStrike" kern="1200" cap="none" spc="0" normalizeH="0" baseline="0" noProof="0" dirty="0">
                <a:ln>
                  <a:noFill/>
                </a:ln>
                <a:solidFill>
                  <a:schemeClr val="accent4"/>
                </a:solidFill>
                <a:effectLst/>
                <a:uLnTx/>
                <a:uFillTx/>
                <a:latin typeface="Arial Nova" panose="020B0504020202020204" pitchFamily="34" charset="0"/>
                <a:ea typeface="Arial" pitchFamily="34" charset="-122"/>
                <a:cs typeface="Arial" pitchFamily="34" charset="-120"/>
              </a:rPr>
              <a:t>The honest conversation about jobs</a:t>
            </a:r>
            <a:endParaRPr kumimoji="0" lang="en-US" sz="1600" b="0" u="none" strike="noStrike" kern="1200" cap="none" spc="0" normalizeH="0" baseline="0" noProof="0" dirty="0">
              <a:ln>
                <a:noFill/>
              </a:ln>
              <a:solidFill>
                <a:schemeClr val="accent4"/>
              </a:solidFill>
              <a:effectLst/>
              <a:uLnTx/>
              <a:uFillTx/>
              <a:latin typeface="Arial Nova" panose="020B0504020202020204" pitchFamily="34" charset="0"/>
            </a:endParaRPr>
          </a:p>
        </p:txBody>
      </p:sp>
      <p:pic>
        <p:nvPicPr>
          <p:cNvPr id="5" name="Picture 4">
            <a:extLst>
              <a:ext uri="{FF2B5EF4-FFF2-40B4-BE49-F238E27FC236}">
                <a16:creationId xmlns:a16="http://schemas.microsoft.com/office/drawing/2014/main" id="{59F781FC-13E4-9665-9BC3-276410F2DFB7}"/>
              </a:ext>
            </a:extLst>
          </p:cNvPr>
          <p:cNvPicPr>
            <a:picLocks noChangeAspect="1"/>
          </p:cNvPicPr>
          <p:nvPr/>
        </p:nvPicPr>
        <p:blipFill>
          <a:blip r:embed="rId3"/>
          <a:stretch>
            <a:fillRect/>
          </a:stretch>
        </p:blipFill>
        <p:spPr>
          <a:xfrm>
            <a:off x="822960" y="6075075"/>
            <a:ext cx="672208" cy="672208"/>
          </a:xfrm>
          <a:prstGeom prst="rect">
            <a:avLst/>
          </a:prstGeom>
        </p:spPr>
      </p:pic>
    </p:spTree>
    <p:extLst>
      <p:ext uri="{BB962C8B-B14F-4D97-AF65-F5344CB8AC3E}">
        <p14:creationId xmlns:p14="http://schemas.microsoft.com/office/powerpoint/2010/main" val="4299271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marL="0" indent="0" algn="l">
              <a:buNone/>
            </a:pPr>
            <a:r>
              <a:rPr lang="en-US" sz="2800" b="1" dirty="0">
                <a:solidFill>
                  <a:schemeClr val="accent1">
                    <a:lumMod val="75000"/>
                  </a:schemeClr>
                </a:solidFill>
                <a:latin typeface="Arial Nova" panose="020B0504020202020204" pitchFamily="34" charset="0"/>
                <a:ea typeface="Georgia" pitchFamily="34" charset="-122"/>
                <a:cs typeface="Georgia" pitchFamily="34" charset="-120"/>
              </a:rPr>
              <a:t>We have done this before</a:t>
            </a:r>
            <a:endParaRPr lang="en-US" sz="2800" dirty="0">
              <a:solidFill>
                <a:schemeClr val="accent1">
                  <a:lumMod val="75000"/>
                </a:schemeClr>
              </a:solidFill>
              <a:latin typeface="Arial Nova" panose="020B0504020202020204" pitchFamily="34" charset="0"/>
            </a:endParaRPr>
          </a:p>
        </p:txBody>
      </p:sp>
      <p:sp>
        <p:nvSpPr>
          <p:cNvPr id="3" name="Text 1"/>
          <p:cNvSpPr txBox="1"/>
          <p:nvPr/>
        </p:nvSpPr>
        <p:spPr>
          <a:xfrm>
            <a:off x="548640" y="6473952"/>
            <a:ext cx="11091672" cy="274320"/>
          </a:xfrm>
          <a:prstGeom prst="rect">
            <a:avLst/>
          </a:prstGeom>
          <a:noFill/>
          <a:ln/>
        </p:spPr>
        <p:txBody>
          <a:bodyPr wrap="square" lIns="0" tIns="0" rIns="0" bIns="0" rtlCol="0" anchor="ctr"/>
          <a:lstStyle/>
          <a:p>
            <a:pPr marL="0" indent="0" algn="l">
              <a:buNone/>
            </a:pPr>
            <a:r>
              <a:rPr lang="en-US" sz="900" dirty="0">
                <a:solidFill>
                  <a:srgbClr val="667085"/>
                </a:solidFill>
                <a:latin typeface="Arial" pitchFamily="34" charset="0"/>
                <a:ea typeface="Arial" pitchFamily="34" charset="-122"/>
                <a:cs typeface="Arial" pitchFamily="34" charset="-120"/>
              </a:rPr>
              <a:t>Shiftwork Solutions LLC  |  (415) 265-1621  |  www.shift-work.com</a:t>
            </a:r>
            <a:endParaRPr lang="en-US" sz="900" dirty="0"/>
          </a:p>
        </p:txBody>
      </p:sp>
      <p:sp>
        <p:nvSpPr>
          <p:cNvPr id="4" name="Shape 2"/>
          <p:cNvSpPr/>
          <p:nvPr/>
        </p:nvSpPr>
        <p:spPr>
          <a:xfrm>
            <a:off x="548640" y="1234440"/>
            <a:ext cx="2679192" cy="1417320"/>
          </a:xfrm>
          <a:prstGeom prst="roundRect">
            <a:avLst>
              <a:gd name="adj" fmla="val 4516"/>
            </a:avLst>
          </a:prstGeom>
          <a:solidFill>
            <a:srgbClr val="F2F5F8"/>
          </a:solidFill>
          <a:ln/>
        </p:spPr>
        <p:txBody>
          <a:bodyPr/>
          <a:lstStyle/>
          <a:p>
            <a:endParaRPr lang="en-US" dirty="0">
              <a:latin typeface="Arial Nova" panose="020B0504020202020204" pitchFamily="34" charset="0"/>
            </a:endParaRPr>
          </a:p>
        </p:txBody>
      </p:sp>
      <p:sp>
        <p:nvSpPr>
          <p:cNvPr id="5" name="Text 3"/>
          <p:cNvSpPr txBox="1"/>
          <p:nvPr/>
        </p:nvSpPr>
        <p:spPr>
          <a:xfrm>
            <a:off x="822960" y="1435608"/>
            <a:ext cx="2130552" cy="320040"/>
          </a:xfrm>
          <a:prstGeom prst="rect">
            <a:avLst/>
          </a:prstGeom>
          <a:noFill/>
          <a:ln/>
        </p:spPr>
        <p:txBody>
          <a:bodyPr wrap="square" lIns="0" tIns="0" rIns="0" bIns="0" rtlCol="0" anchor="ctr"/>
          <a:lstStyle/>
          <a:p>
            <a:pPr marL="0" indent="0">
              <a:buNone/>
            </a:pPr>
            <a:r>
              <a:rPr lang="en-US" sz="1300" b="1" kern="0" spc="200" dirty="0">
                <a:solidFill>
                  <a:srgbClr val="2A7F7F"/>
                </a:solidFill>
                <a:latin typeface="Arial Nova" panose="020B0504020202020204" pitchFamily="34" charset="0"/>
                <a:ea typeface="Arial" pitchFamily="34" charset="-122"/>
                <a:cs typeface="Arial" pitchFamily="34" charset="-120"/>
              </a:rPr>
              <a:t>FORKLIFTS</a:t>
            </a:r>
            <a:endParaRPr lang="en-US" sz="1300" dirty="0">
              <a:latin typeface="Arial Nova" panose="020B0504020202020204" pitchFamily="34" charset="0"/>
            </a:endParaRPr>
          </a:p>
        </p:txBody>
      </p:sp>
      <p:sp>
        <p:nvSpPr>
          <p:cNvPr id="6" name="Text 4"/>
          <p:cNvSpPr txBox="1"/>
          <p:nvPr/>
        </p:nvSpPr>
        <p:spPr>
          <a:xfrm>
            <a:off x="822960" y="1801368"/>
            <a:ext cx="2130552" cy="667512"/>
          </a:xfrm>
          <a:prstGeom prst="rect">
            <a:avLst/>
          </a:prstGeom>
          <a:noFill/>
          <a:ln/>
        </p:spPr>
        <p:txBody>
          <a:bodyPr wrap="square" lIns="0" tIns="0" rIns="0" bIns="0" rtlCol="0" anchor="t"/>
          <a:lstStyle/>
          <a:p>
            <a:pPr marL="342900" indent="-342900">
              <a:buSzPct val="100000"/>
              <a:buChar char="•"/>
            </a:pPr>
            <a:r>
              <a:rPr lang="en-US" sz="1300" dirty="0">
                <a:solidFill>
                  <a:srgbClr val="222222"/>
                </a:solidFill>
                <a:latin typeface="Arial" pitchFamily="34" charset="0"/>
                <a:ea typeface="Arial" pitchFamily="34" charset="-122"/>
                <a:cs typeface="Arial" pitchFamily="34" charset="-120"/>
              </a:rPr>
              <a:t>replaced the gang of laborers on the dock</a:t>
            </a:r>
            <a:endParaRPr lang="en-US" sz="1300" dirty="0"/>
          </a:p>
        </p:txBody>
      </p:sp>
      <p:sp>
        <p:nvSpPr>
          <p:cNvPr id="7" name="Shape 5"/>
          <p:cNvSpPr/>
          <p:nvPr/>
        </p:nvSpPr>
        <p:spPr>
          <a:xfrm>
            <a:off x="3364992" y="1234440"/>
            <a:ext cx="2679192" cy="1417320"/>
          </a:xfrm>
          <a:prstGeom prst="roundRect">
            <a:avLst>
              <a:gd name="adj" fmla="val 4516"/>
            </a:avLst>
          </a:prstGeom>
          <a:solidFill>
            <a:srgbClr val="F2F5F8"/>
          </a:solidFill>
          <a:ln/>
        </p:spPr>
        <p:txBody>
          <a:bodyPr/>
          <a:lstStyle/>
          <a:p>
            <a:endParaRPr lang="en-US"/>
          </a:p>
        </p:txBody>
      </p:sp>
      <p:sp>
        <p:nvSpPr>
          <p:cNvPr id="8" name="Text 6"/>
          <p:cNvSpPr txBox="1"/>
          <p:nvPr/>
        </p:nvSpPr>
        <p:spPr>
          <a:xfrm>
            <a:off x="3639312" y="1435608"/>
            <a:ext cx="2130552" cy="320040"/>
          </a:xfrm>
          <a:prstGeom prst="rect">
            <a:avLst/>
          </a:prstGeom>
          <a:noFill/>
          <a:ln/>
        </p:spPr>
        <p:txBody>
          <a:bodyPr wrap="square" lIns="0" tIns="0" rIns="0" bIns="0" rtlCol="0" anchor="ctr"/>
          <a:lstStyle/>
          <a:p>
            <a:pPr marL="0" indent="0">
              <a:buNone/>
            </a:pPr>
            <a:r>
              <a:rPr lang="en-US" sz="1300" b="1" kern="0" spc="200" dirty="0">
                <a:solidFill>
                  <a:srgbClr val="2A7F7F"/>
                </a:solidFill>
                <a:latin typeface="Arial Nova" panose="020B0504020202020204" pitchFamily="34" charset="0"/>
                <a:ea typeface="Arial" pitchFamily="34" charset="-122"/>
                <a:cs typeface="Arial" pitchFamily="34" charset="-120"/>
              </a:rPr>
              <a:t>CONVEYORS</a:t>
            </a:r>
            <a:endParaRPr lang="en-US" sz="1300" dirty="0">
              <a:latin typeface="Arial Nova" panose="020B0504020202020204" pitchFamily="34" charset="0"/>
            </a:endParaRPr>
          </a:p>
        </p:txBody>
      </p:sp>
      <p:sp>
        <p:nvSpPr>
          <p:cNvPr id="9" name="Text 7"/>
          <p:cNvSpPr txBox="1"/>
          <p:nvPr/>
        </p:nvSpPr>
        <p:spPr>
          <a:xfrm>
            <a:off x="3639312" y="1801368"/>
            <a:ext cx="2130552" cy="667512"/>
          </a:xfrm>
          <a:prstGeom prst="rect">
            <a:avLst/>
          </a:prstGeom>
          <a:noFill/>
          <a:ln/>
        </p:spPr>
        <p:txBody>
          <a:bodyPr wrap="square" lIns="0" tIns="0" rIns="0" bIns="0" rtlCol="0" anchor="t"/>
          <a:lstStyle/>
          <a:p>
            <a:pPr marL="342900" indent="-342900">
              <a:buSzPct val="100000"/>
              <a:buChar char="•"/>
            </a:pPr>
            <a:r>
              <a:rPr lang="en-US" sz="1300" dirty="0">
                <a:solidFill>
                  <a:srgbClr val="222222"/>
                </a:solidFill>
                <a:latin typeface="Arial Nova" panose="020B0504020202020204" pitchFamily="34" charset="0"/>
                <a:ea typeface="Arial" pitchFamily="34" charset="-122"/>
                <a:cs typeface="Arial" pitchFamily="34" charset="-120"/>
              </a:rPr>
              <a:t>replaced the hand-carry line</a:t>
            </a:r>
            <a:endParaRPr lang="en-US" sz="1300" dirty="0">
              <a:latin typeface="Arial Nova" panose="020B0504020202020204" pitchFamily="34" charset="0"/>
            </a:endParaRPr>
          </a:p>
        </p:txBody>
      </p:sp>
      <p:sp>
        <p:nvSpPr>
          <p:cNvPr id="10" name="Shape 8"/>
          <p:cNvSpPr/>
          <p:nvPr/>
        </p:nvSpPr>
        <p:spPr>
          <a:xfrm>
            <a:off x="6181344" y="1234440"/>
            <a:ext cx="2679192" cy="1417320"/>
          </a:xfrm>
          <a:prstGeom prst="roundRect">
            <a:avLst>
              <a:gd name="adj" fmla="val 4516"/>
            </a:avLst>
          </a:prstGeom>
          <a:solidFill>
            <a:srgbClr val="F2F5F8"/>
          </a:solidFill>
          <a:ln/>
        </p:spPr>
        <p:txBody>
          <a:bodyPr/>
          <a:lstStyle/>
          <a:p>
            <a:endParaRPr lang="en-US"/>
          </a:p>
        </p:txBody>
      </p:sp>
      <p:sp>
        <p:nvSpPr>
          <p:cNvPr id="11" name="Text 9"/>
          <p:cNvSpPr txBox="1"/>
          <p:nvPr/>
        </p:nvSpPr>
        <p:spPr>
          <a:xfrm>
            <a:off x="6455664" y="1435608"/>
            <a:ext cx="2130552" cy="320040"/>
          </a:xfrm>
          <a:prstGeom prst="rect">
            <a:avLst/>
          </a:prstGeom>
          <a:noFill/>
          <a:ln/>
        </p:spPr>
        <p:txBody>
          <a:bodyPr wrap="square" lIns="0" tIns="0" rIns="0" bIns="0" rtlCol="0" anchor="ctr"/>
          <a:lstStyle/>
          <a:p>
            <a:pPr marL="0" indent="0">
              <a:buNone/>
            </a:pPr>
            <a:r>
              <a:rPr lang="en-US" sz="1300" b="1" kern="0" spc="200" dirty="0">
                <a:solidFill>
                  <a:srgbClr val="2A7F7F"/>
                </a:solidFill>
                <a:latin typeface="Arial Nova" panose="020B0504020202020204" pitchFamily="34" charset="0"/>
                <a:ea typeface="Arial" pitchFamily="34" charset="-122"/>
                <a:cs typeface="Arial" pitchFamily="34" charset="-120"/>
              </a:rPr>
              <a:t>MODERNIZATION</a:t>
            </a:r>
            <a:endParaRPr lang="en-US" sz="1300" dirty="0">
              <a:latin typeface="Arial Nova" panose="020B0504020202020204" pitchFamily="34" charset="0"/>
            </a:endParaRPr>
          </a:p>
        </p:txBody>
      </p:sp>
      <p:sp>
        <p:nvSpPr>
          <p:cNvPr id="12" name="Text 10"/>
          <p:cNvSpPr txBox="1"/>
          <p:nvPr/>
        </p:nvSpPr>
        <p:spPr>
          <a:xfrm>
            <a:off x="6455664" y="1801368"/>
            <a:ext cx="2130552" cy="667512"/>
          </a:xfrm>
          <a:prstGeom prst="rect">
            <a:avLst/>
          </a:prstGeom>
          <a:noFill/>
          <a:ln/>
        </p:spPr>
        <p:txBody>
          <a:bodyPr wrap="square" lIns="0" tIns="0" rIns="0" bIns="0" rtlCol="0" anchor="t"/>
          <a:lstStyle/>
          <a:p>
            <a:pPr marL="342900" indent="-342900">
              <a:buSzPct val="100000"/>
              <a:buChar char="•"/>
            </a:pPr>
            <a:r>
              <a:rPr lang="en-US" sz="1300" dirty="0">
                <a:solidFill>
                  <a:srgbClr val="222222"/>
                </a:solidFill>
                <a:latin typeface="Arial Nova" panose="020B0504020202020204" pitchFamily="34" charset="0"/>
                <a:ea typeface="Arial" pitchFamily="34" charset="-122"/>
                <a:cs typeface="Arial" pitchFamily="34" charset="-120"/>
              </a:rPr>
              <a:t>replaced three operators with one control room</a:t>
            </a:r>
            <a:endParaRPr lang="en-US" sz="1300" dirty="0">
              <a:latin typeface="Arial Nova" panose="020B0504020202020204" pitchFamily="34" charset="0"/>
            </a:endParaRPr>
          </a:p>
        </p:txBody>
      </p:sp>
      <p:sp>
        <p:nvSpPr>
          <p:cNvPr id="13" name="Shape 11"/>
          <p:cNvSpPr/>
          <p:nvPr/>
        </p:nvSpPr>
        <p:spPr>
          <a:xfrm>
            <a:off x="8997696" y="1234440"/>
            <a:ext cx="2679192" cy="1417320"/>
          </a:xfrm>
          <a:prstGeom prst="roundRect">
            <a:avLst>
              <a:gd name="adj" fmla="val 4516"/>
            </a:avLst>
          </a:prstGeom>
          <a:solidFill>
            <a:srgbClr val="F2F5F8"/>
          </a:solidFill>
          <a:ln/>
        </p:spPr>
        <p:txBody>
          <a:bodyPr/>
          <a:lstStyle/>
          <a:p>
            <a:endParaRPr lang="en-US"/>
          </a:p>
        </p:txBody>
      </p:sp>
      <p:sp>
        <p:nvSpPr>
          <p:cNvPr id="14" name="Text 12"/>
          <p:cNvSpPr txBox="1"/>
          <p:nvPr/>
        </p:nvSpPr>
        <p:spPr>
          <a:xfrm>
            <a:off x="9272016" y="1435608"/>
            <a:ext cx="2130552" cy="320040"/>
          </a:xfrm>
          <a:prstGeom prst="rect">
            <a:avLst/>
          </a:prstGeom>
          <a:noFill/>
          <a:ln/>
        </p:spPr>
        <p:txBody>
          <a:bodyPr wrap="square" lIns="0" tIns="0" rIns="0" bIns="0" rtlCol="0" anchor="ctr"/>
          <a:lstStyle/>
          <a:p>
            <a:pPr marL="0" indent="0">
              <a:buNone/>
            </a:pPr>
            <a:r>
              <a:rPr lang="en-US" sz="1300" b="1" kern="0" spc="200" dirty="0">
                <a:solidFill>
                  <a:srgbClr val="2A7F7F"/>
                </a:solidFill>
                <a:latin typeface="Arial Nova" panose="020B0504020202020204" pitchFamily="34" charset="0"/>
                <a:ea typeface="Arial" pitchFamily="34" charset="-122"/>
                <a:cs typeface="Arial" pitchFamily="34" charset="-120"/>
              </a:rPr>
              <a:t>COMPUTERS</a:t>
            </a:r>
            <a:endParaRPr lang="en-US" sz="1300" dirty="0">
              <a:latin typeface="Arial Nova" panose="020B0504020202020204" pitchFamily="34" charset="0"/>
            </a:endParaRPr>
          </a:p>
        </p:txBody>
      </p:sp>
      <p:sp>
        <p:nvSpPr>
          <p:cNvPr id="15" name="Text 13"/>
          <p:cNvSpPr txBox="1"/>
          <p:nvPr/>
        </p:nvSpPr>
        <p:spPr>
          <a:xfrm>
            <a:off x="9272016" y="1801368"/>
            <a:ext cx="2130552" cy="667512"/>
          </a:xfrm>
          <a:prstGeom prst="rect">
            <a:avLst/>
          </a:prstGeom>
          <a:noFill/>
          <a:ln/>
        </p:spPr>
        <p:txBody>
          <a:bodyPr wrap="square" lIns="0" tIns="0" rIns="0" bIns="0" rtlCol="0" anchor="t"/>
          <a:lstStyle/>
          <a:p>
            <a:pPr marL="342900" indent="-342900">
              <a:buSzPct val="100000"/>
              <a:buChar char="•"/>
            </a:pPr>
            <a:r>
              <a:rPr lang="en-US" sz="1300" dirty="0">
                <a:solidFill>
                  <a:srgbClr val="222222"/>
                </a:solidFill>
                <a:latin typeface="Arial Nova" panose="020B0504020202020204" pitchFamily="34" charset="0"/>
                <a:ea typeface="Arial" pitchFamily="34" charset="-122"/>
                <a:cs typeface="Arial" pitchFamily="34" charset="-120"/>
              </a:rPr>
              <a:t>replaced the paper office</a:t>
            </a:r>
            <a:endParaRPr lang="en-US" sz="1300" dirty="0">
              <a:latin typeface="Arial Nova" panose="020B0504020202020204" pitchFamily="34" charset="0"/>
            </a:endParaRPr>
          </a:p>
        </p:txBody>
      </p:sp>
      <p:sp>
        <p:nvSpPr>
          <p:cNvPr id="16" name="Shape 14"/>
          <p:cNvSpPr/>
          <p:nvPr/>
        </p:nvSpPr>
        <p:spPr>
          <a:xfrm>
            <a:off x="548640" y="2834640"/>
            <a:ext cx="11091672" cy="2514600"/>
          </a:xfrm>
          <a:prstGeom prst="roundRect">
            <a:avLst>
              <a:gd name="adj" fmla="val 2545"/>
            </a:avLst>
          </a:prstGeom>
          <a:solidFill>
            <a:srgbClr val="16283F"/>
          </a:solidFill>
          <a:ln/>
        </p:spPr>
        <p:txBody>
          <a:bodyPr/>
          <a:lstStyle/>
          <a:p>
            <a:endParaRPr lang="en-US"/>
          </a:p>
        </p:txBody>
      </p:sp>
      <p:sp>
        <p:nvSpPr>
          <p:cNvPr id="17" name="Text 15"/>
          <p:cNvSpPr txBox="1"/>
          <p:nvPr/>
        </p:nvSpPr>
        <p:spPr>
          <a:xfrm>
            <a:off x="822960" y="3035808"/>
            <a:ext cx="10543032" cy="320040"/>
          </a:xfrm>
          <a:prstGeom prst="rect">
            <a:avLst/>
          </a:prstGeom>
          <a:noFill/>
          <a:ln/>
        </p:spPr>
        <p:txBody>
          <a:bodyPr wrap="square" lIns="0" tIns="0" rIns="0" bIns="0" rtlCol="0" anchor="ctr"/>
          <a:lstStyle/>
          <a:p>
            <a:pPr marL="0" indent="0">
              <a:buNone/>
            </a:pPr>
            <a:r>
              <a:rPr lang="en-US" sz="1300" b="1" kern="0" spc="200" dirty="0">
                <a:solidFill>
                  <a:srgbClr val="C9A227"/>
                </a:solidFill>
                <a:latin typeface="Arial Nova" panose="020B0504020202020204" pitchFamily="34" charset="0"/>
                <a:ea typeface="Arial" pitchFamily="34" charset="-122"/>
                <a:cs typeface="Arial" pitchFamily="34" charset="-120"/>
              </a:rPr>
              <a:t>THE PATTERN</a:t>
            </a:r>
            <a:endParaRPr lang="en-US" sz="1300" dirty="0">
              <a:latin typeface="Arial Nova" panose="020B0504020202020204" pitchFamily="34" charset="0"/>
            </a:endParaRPr>
          </a:p>
        </p:txBody>
      </p:sp>
      <p:sp>
        <p:nvSpPr>
          <p:cNvPr id="18" name="Text 16"/>
          <p:cNvSpPr txBox="1"/>
          <p:nvPr/>
        </p:nvSpPr>
        <p:spPr>
          <a:xfrm>
            <a:off x="822960" y="3401568"/>
            <a:ext cx="10543032" cy="1764792"/>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E6EBF2"/>
                </a:solidFill>
                <a:latin typeface="Arial Nova" panose="020B0504020202020204" pitchFamily="34" charset="0"/>
                <a:ea typeface="Arial" pitchFamily="34" charset="-122"/>
                <a:cs typeface="Arial" pitchFamily="34" charset="-120"/>
              </a:rPr>
              <a:t>We have been eliminating jobs with technology for as long as anyone in this room has been working.</a:t>
            </a:r>
            <a:endParaRPr lang="en-US" sz="1600" dirty="0">
              <a:latin typeface="Arial Nova" panose="020B0504020202020204" pitchFamily="34" charset="0"/>
            </a:endParaRPr>
          </a:p>
          <a:p>
            <a:pPr marL="342900" indent="-342900">
              <a:spcAft>
                <a:spcPts val="1000"/>
              </a:spcAft>
              <a:buSzPct val="100000"/>
              <a:buChar char="•"/>
            </a:pPr>
            <a:r>
              <a:rPr lang="en-US" sz="1600" dirty="0">
                <a:solidFill>
                  <a:srgbClr val="E6EBF2"/>
                </a:solidFill>
                <a:latin typeface="Arial Nova" panose="020B0504020202020204" pitchFamily="34" charset="0"/>
                <a:ea typeface="Arial" pitchFamily="34" charset="-122"/>
                <a:cs typeface="Arial" pitchFamily="34" charset="-120"/>
              </a:rPr>
              <a:t>Not because companies are heartless. Because it makes a better product — faster, and at lower cost.</a:t>
            </a:r>
            <a:endParaRPr lang="en-US" sz="1600" dirty="0">
              <a:latin typeface="Arial Nova" panose="020B0504020202020204" pitchFamily="34" charset="0"/>
            </a:endParaRPr>
          </a:p>
          <a:p>
            <a:pPr marL="342900" indent="-342900">
              <a:spcAft>
                <a:spcPts val="1000"/>
              </a:spcAft>
              <a:buSzPct val="100000"/>
              <a:buChar char="•"/>
            </a:pPr>
            <a:r>
              <a:rPr lang="en-US" sz="1600" dirty="0">
                <a:solidFill>
                  <a:srgbClr val="E6EBF2"/>
                </a:solidFill>
                <a:latin typeface="Arial Nova" panose="020B0504020202020204" pitchFamily="34" charset="0"/>
                <a:ea typeface="Arial" pitchFamily="34" charset="-122"/>
                <a:cs typeface="Arial" pitchFamily="34" charset="-120"/>
              </a:rPr>
              <a:t>And not really by choice. If you don't adopt the improvement, your competitor will — and then the jobs at stake are all of them.</a:t>
            </a:r>
            <a:endParaRPr lang="en-US" sz="1600" dirty="0">
              <a:latin typeface="Arial Nova" panose="020B0504020202020204" pitchFamily="34" charset="0"/>
            </a:endParaRPr>
          </a:p>
        </p:txBody>
      </p:sp>
      <p:sp>
        <p:nvSpPr>
          <p:cNvPr id="19" name="Shape 17"/>
          <p:cNvSpPr/>
          <p:nvPr/>
        </p:nvSpPr>
        <p:spPr>
          <a:xfrm>
            <a:off x="548640" y="5833872"/>
            <a:ext cx="11091672" cy="548640"/>
          </a:xfrm>
          <a:prstGeom prst="roundRect">
            <a:avLst>
              <a:gd name="adj" fmla="val 10000"/>
            </a:avLst>
          </a:prstGeom>
          <a:solidFill>
            <a:srgbClr val="16283F"/>
          </a:solidFill>
          <a:ln/>
        </p:spPr>
        <p:txBody>
          <a:bodyPr/>
          <a:lstStyle/>
          <a:p>
            <a:endParaRPr lang="en-US"/>
          </a:p>
        </p:txBody>
      </p:sp>
      <p:sp>
        <p:nvSpPr>
          <p:cNvPr id="20" name="Text 18"/>
          <p:cNvSpPr txBox="1"/>
          <p:nvPr/>
        </p:nvSpPr>
        <p:spPr>
          <a:xfrm>
            <a:off x="777240" y="5833872"/>
            <a:ext cx="10652760" cy="548640"/>
          </a:xfrm>
          <a:prstGeom prst="rect">
            <a:avLst/>
          </a:prstGeom>
          <a:noFill/>
          <a:ln/>
        </p:spPr>
        <p:txBody>
          <a:bodyPr wrap="square" lIns="0" tIns="0" rIns="0" bIns="0" rtlCol="0" anchor="ctr"/>
          <a:lstStyle/>
          <a:p>
            <a:pPr marL="0" indent="0">
              <a:buNone/>
            </a:pPr>
            <a:r>
              <a:rPr lang="en-US" sz="1500" dirty="0">
                <a:solidFill>
                  <a:srgbClr val="FFFFFF"/>
                </a:solidFill>
                <a:latin typeface="Calibri Light" panose="020F0302020204030204" pitchFamily="34" charset="0"/>
                <a:ea typeface="Calibri Light" panose="020F0302020204030204" pitchFamily="34" charset="0"/>
                <a:cs typeface="Calibri Light" panose="020F0302020204030204" pitchFamily="34" charset="0"/>
              </a:rPr>
              <a:t>AI is the next one in that line. Not a new moral question — the same old competitive one, moving faster.</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19D32-3C5C-9EC9-113A-70673BF9D744}"/>
            </a:ext>
          </a:extLst>
        </p:cNvPr>
        <p:cNvGrpSpPr/>
        <p:nvPr/>
      </p:nvGrpSpPr>
      <p:grpSpPr>
        <a:xfrm>
          <a:off x="0" y="0"/>
          <a:ext cx="0" cy="0"/>
          <a:chOff x="0" y="0"/>
          <a:chExt cx="0" cy="0"/>
        </a:xfrm>
      </p:grpSpPr>
      <p:sp>
        <p:nvSpPr>
          <p:cNvPr id="21" name="Shape 2">
            <a:extLst>
              <a:ext uri="{FF2B5EF4-FFF2-40B4-BE49-F238E27FC236}">
                <a16:creationId xmlns:a16="http://schemas.microsoft.com/office/drawing/2014/main" id="{D12C9C51-25B8-BA8A-9FFD-75BA28EBFCED}"/>
              </a:ext>
            </a:extLst>
          </p:cNvPr>
          <p:cNvSpPr/>
          <p:nvPr/>
        </p:nvSpPr>
        <p:spPr>
          <a:xfrm>
            <a:off x="643129" y="1234440"/>
            <a:ext cx="6039827" cy="3205619"/>
          </a:xfrm>
          <a:prstGeom prst="roundRect">
            <a:avLst>
              <a:gd name="adj" fmla="val 1772"/>
            </a:avLst>
          </a:prstGeom>
          <a:solidFill>
            <a:schemeClr val="bg1"/>
          </a:solidFill>
          <a:ln>
            <a:solidFill>
              <a:schemeClr val="tx1">
                <a:lumMod val="50000"/>
                <a:lumOff val="50000"/>
              </a:scheme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9" name="Picture 18">
            <a:extLst>
              <a:ext uri="{FF2B5EF4-FFF2-40B4-BE49-F238E27FC236}">
                <a16:creationId xmlns:a16="http://schemas.microsoft.com/office/drawing/2014/main" id="{78F919F3-EF5C-9400-28DA-051099B8AED1}"/>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904818" y="1342808"/>
            <a:ext cx="607791" cy="320040"/>
          </a:xfrm>
          <a:prstGeom prst="rect">
            <a:avLst/>
          </a:prstGeom>
          <a:gradFill flip="none" rotWithShape="1">
            <a:gsLst>
              <a:gs pos="0">
                <a:schemeClr val="bg1"/>
              </a:gs>
              <a:gs pos="50000">
                <a:schemeClr val="accent1">
                  <a:tint val="44500"/>
                  <a:satMod val="160000"/>
                </a:schemeClr>
              </a:gs>
              <a:gs pos="100000">
                <a:schemeClr val="accent1">
                  <a:tint val="23500"/>
                  <a:satMod val="160000"/>
                </a:schemeClr>
              </a:gs>
            </a:gsLst>
            <a:lin ang="0" scaled="1"/>
            <a:tileRect/>
          </a:gradFill>
        </p:spPr>
      </p:pic>
      <p:sp>
        <p:nvSpPr>
          <p:cNvPr id="16" name="Shape 2">
            <a:extLst>
              <a:ext uri="{FF2B5EF4-FFF2-40B4-BE49-F238E27FC236}">
                <a16:creationId xmlns:a16="http://schemas.microsoft.com/office/drawing/2014/main" id="{46DEE908-60DC-6665-4C96-421D82A630F5}"/>
              </a:ext>
            </a:extLst>
          </p:cNvPr>
          <p:cNvSpPr/>
          <p:nvPr/>
        </p:nvSpPr>
        <p:spPr>
          <a:xfrm>
            <a:off x="7691465" y="1234440"/>
            <a:ext cx="2754568" cy="3228750"/>
          </a:xfrm>
          <a:prstGeom prst="roundRect">
            <a:avLst>
              <a:gd name="adj" fmla="val 1772"/>
            </a:avLst>
          </a:prstGeom>
          <a:solidFill>
            <a:schemeClr val="bg1"/>
          </a:solidFill>
          <a:ln>
            <a:solidFill>
              <a:schemeClr val="tx1">
                <a:lumMod val="50000"/>
                <a:lumOff val="50000"/>
              </a:scheme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ext 0">
            <a:extLst>
              <a:ext uri="{FF2B5EF4-FFF2-40B4-BE49-F238E27FC236}">
                <a16:creationId xmlns:a16="http://schemas.microsoft.com/office/drawing/2014/main" id="{295D07F2-648A-8A02-4324-C5AF3DD95F8C}"/>
              </a:ext>
            </a:extLst>
          </p:cNvPr>
          <p:cNvSpPr txBox="1"/>
          <p:nvPr/>
        </p:nvSpPr>
        <p:spPr>
          <a:xfrm>
            <a:off x="548640" y="384048"/>
            <a:ext cx="11091672"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chemeClr val="accent1">
                    <a:lumMod val="75000"/>
                  </a:schemeClr>
                </a:solidFill>
                <a:effectLst/>
                <a:uLnTx/>
                <a:uFillTx/>
                <a:latin typeface="Arial Nova" panose="020B0504020202020204" pitchFamily="34" charset="0"/>
                <a:ea typeface="Georgia" pitchFamily="34" charset="-122"/>
                <a:cs typeface="Georgia" pitchFamily="34" charset="-120"/>
              </a:rPr>
              <a:t>What's actually happening with jobs</a:t>
            </a:r>
            <a:endParaRPr kumimoji="0" lang="en-US" sz="2800" b="0" i="0" u="none" strike="noStrike" kern="1200" cap="none" spc="0" normalizeH="0" baseline="0" noProof="0" dirty="0">
              <a:ln>
                <a:noFill/>
              </a:ln>
              <a:solidFill>
                <a:schemeClr val="accent1">
                  <a:lumMod val="75000"/>
                </a:schemeClr>
              </a:solidFill>
              <a:effectLst/>
              <a:uLnTx/>
              <a:uFillTx/>
              <a:latin typeface="Arial Nova" panose="020B0504020202020204" pitchFamily="34" charset="0"/>
            </a:endParaRPr>
          </a:p>
        </p:txBody>
      </p:sp>
      <p:sp>
        <p:nvSpPr>
          <p:cNvPr id="3" name="Text 1">
            <a:extLst>
              <a:ext uri="{FF2B5EF4-FFF2-40B4-BE49-F238E27FC236}">
                <a16:creationId xmlns:a16="http://schemas.microsoft.com/office/drawing/2014/main" id="{394C4646-E7EE-E342-D9FC-FB58D1F45545}"/>
              </a:ext>
            </a:extLst>
          </p:cNvPr>
          <p:cNvSpPr txBox="1"/>
          <p:nvPr/>
        </p:nvSpPr>
        <p:spPr>
          <a:xfrm>
            <a:off x="548640" y="6473952"/>
            <a:ext cx="11091672"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67085"/>
                </a:solidFill>
                <a:effectLst/>
                <a:uLnTx/>
                <a:uFillTx/>
                <a:latin typeface="Arial" pitchFamily="34" charset="0"/>
                <a:ea typeface="Arial" pitchFamily="34" charset="-122"/>
                <a:cs typeface="Arial" pitchFamily="34" charset="-120"/>
              </a:rPr>
              <a:t>Shiftwork Solutions LLC  |  (415) 265-1621  |  www.shift-work.com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829C219E-3078-9175-AFFF-01C5B672A8B6}"/>
              </a:ext>
            </a:extLst>
          </p:cNvPr>
          <p:cNvSpPr/>
          <p:nvPr/>
        </p:nvSpPr>
        <p:spPr>
          <a:xfrm>
            <a:off x="904818" y="1791544"/>
            <a:ext cx="3063240" cy="3182112"/>
          </a:xfrm>
          <a:prstGeom prst="roundRect">
            <a:avLst>
              <a:gd name="adj" fmla="val 1772"/>
            </a:avLst>
          </a:prstGeom>
          <a:solidFill>
            <a:srgbClr val="F2F5F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a:extLst>
              <a:ext uri="{FF2B5EF4-FFF2-40B4-BE49-F238E27FC236}">
                <a16:creationId xmlns:a16="http://schemas.microsoft.com/office/drawing/2014/main" id="{9DC5E0CD-EAE8-FA47-EE15-F1A902D8F51F}"/>
              </a:ext>
            </a:extLst>
          </p:cNvPr>
          <p:cNvSpPr txBox="1"/>
          <p:nvPr/>
        </p:nvSpPr>
        <p:spPr>
          <a:xfrm>
            <a:off x="952653" y="2134444"/>
            <a:ext cx="2705882"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200" normalizeH="0" baseline="0" noProof="0" dirty="0">
                <a:ln>
                  <a:noFill/>
                </a:ln>
                <a:solidFill>
                  <a:srgbClr val="002060"/>
                </a:solidFill>
                <a:effectLst/>
                <a:uLnTx/>
                <a:uFillTx/>
                <a:latin typeface="Arial" pitchFamily="34" charset="0"/>
                <a:ea typeface="Arial" pitchFamily="34" charset="-122"/>
                <a:cs typeface="Arial" pitchFamily="34" charset="-120"/>
              </a:rPr>
              <a:t>FIRST — </a:t>
            </a:r>
            <a:r>
              <a:rPr kumimoji="0" lang="en-US" sz="1300" b="1" i="0" u="none" strike="noStrike" kern="0" cap="none" spc="200" normalizeH="0" baseline="0" noProof="0" dirty="0">
                <a:ln>
                  <a:noFill/>
                </a:ln>
                <a:solidFill>
                  <a:srgbClr val="002060"/>
                </a:solidFill>
                <a:effectLst/>
                <a:uLnTx/>
                <a:uFillTx/>
                <a:latin typeface="Arial Nova" panose="020B0504020202020204" pitchFamily="34" charset="0"/>
                <a:ea typeface="Arial" pitchFamily="34" charset="-122"/>
                <a:cs typeface="Arial" pitchFamily="34" charset="-120"/>
              </a:rPr>
              <a:t>WHITE</a:t>
            </a:r>
            <a:r>
              <a:rPr kumimoji="0" lang="en-US" sz="1300" b="1" i="0" u="none" strike="noStrike" kern="0" cap="none" spc="200" normalizeH="0" baseline="0" noProof="0" dirty="0">
                <a:ln>
                  <a:noFill/>
                </a:ln>
                <a:solidFill>
                  <a:srgbClr val="002060"/>
                </a:solidFill>
                <a:effectLst/>
                <a:uLnTx/>
                <a:uFillTx/>
                <a:latin typeface="Arial" pitchFamily="34" charset="0"/>
                <a:ea typeface="Arial" pitchFamily="34" charset="-122"/>
                <a:cs typeface="Arial" pitchFamily="34" charset="-120"/>
              </a:rPr>
              <a:t> COLLAR</a:t>
            </a:r>
            <a:endParaRPr kumimoji="0" lang="en-US" sz="1300" b="0" i="0" u="none" strike="noStrike" kern="1200" cap="none" spc="0" normalizeH="0" baseline="0" noProof="0" dirty="0">
              <a:ln>
                <a:noFill/>
              </a:ln>
              <a:solidFill>
                <a:srgbClr val="002060"/>
              </a:solidFill>
              <a:effectLst/>
              <a:uLnTx/>
              <a:uFillTx/>
              <a:latin typeface="Calibri" panose="020F0502020204030204"/>
              <a:ea typeface="+mn-ea"/>
              <a:cs typeface="+mn-cs"/>
            </a:endParaRPr>
          </a:p>
        </p:txBody>
      </p:sp>
      <p:sp>
        <p:nvSpPr>
          <p:cNvPr id="6" name="Text 4">
            <a:extLst>
              <a:ext uri="{FF2B5EF4-FFF2-40B4-BE49-F238E27FC236}">
                <a16:creationId xmlns:a16="http://schemas.microsoft.com/office/drawing/2014/main" id="{E283F7B1-E29A-70D1-27EE-1A236FF0BC26}"/>
              </a:ext>
            </a:extLst>
          </p:cNvPr>
          <p:cNvSpPr txBox="1"/>
          <p:nvPr/>
        </p:nvSpPr>
        <p:spPr>
          <a:xfrm>
            <a:off x="999309" y="2660224"/>
            <a:ext cx="2612571" cy="2313432"/>
          </a:xfrm>
          <a:prstGeom prst="rect">
            <a:avLst/>
          </a:prstGeom>
          <a:noFill/>
          <a:ln/>
        </p:spPr>
        <p:txBody>
          <a:bodyPr wrap="square" lIns="0" tIns="0" rIns="0" bIns="0" rtlCol="0" anchor="t"/>
          <a:lstStyle/>
          <a:p>
            <a:pPr marL="342900" marR="0" lvl="0" indent="-342900" algn="l" defTabSz="914400" rtl="0" eaLnBrk="1" fontAlgn="auto" latinLnBrk="0" hangingPunct="1">
              <a:lnSpc>
                <a:spcPct val="100000"/>
              </a:lnSpc>
              <a:spcBef>
                <a:spcPts val="0"/>
              </a:spcBef>
              <a:spcAft>
                <a:spcPts val="1000"/>
              </a:spcAft>
              <a:buClrTx/>
              <a:buSzPct val="100000"/>
              <a:buFontTx/>
              <a:buChar char="•"/>
              <a:tabLst/>
              <a:defRPr/>
            </a:pPr>
            <a:r>
              <a:rPr kumimoji="0" lang="en-US" sz="1500" b="0" i="0" u="none" strike="noStrike" kern="1200" cap="none" spc="0" normalizeH="0" baseline="0" noProof="0" dirty="0">
                <a:ln>
                  <a:noFill/>
                </a:ln>
                <a:solidFill>
                  <a:srgbClr val="222222"/>
                </a:solidFill>
                <a:effectLst/>
                <a:uLnTx/>
                <a:uFillTx/>
                <a:latin typeface="Arial Nova" panose="020B0504020202020204" pitchFamily="34" charset="0"/>
                <a:ea typeface="Arial" pitchFamily="34" charset="-122"/>
                <a:cs typeface="Arial" pitchFamily="34" charset="-120"/>
              </a:rPr>
              <a:t>Coding. Document review. Reading X-rays.</a:t>
            </a:r>
            <a:endParaRPr kumimoji="0" lang="en-US" sz="1500" b="0" i="0" u="none" strike="noStrike" kern="1200" cap="none" spc="0" normalizeH="0" baseline="0" noProof="0" dirty="0">
              <a:ln>
                <a:noFill/>
              </a:ln>
              <a:solidFill>
                <a:prstClr val="black"/>
              </a:solidFill>
              <a:effectLst/>
              <a:uLnTx/>
              <a:uFillTx/>
              <a:latin typeface="Arial Nova" panose="020B0504020202020204" pitchFamily="34" charset="0"/>
            </a:endParaRPr>
          </a:p>
          <a:p>
            <a:pPr marL="342900" marR="0" lvl="0" indent="-342900" algn="l" defTabSz="914400" rtl="0" eaLnBrk="1" fontAlgn="auto" latinLnBrk="0" hangingPunct="1">
              <a:lnSpc>
                <a:spcPct val="100000"/>
              </a:lnSpc>
              <a:spcBef>
                <a:spcPts val="0"/>
              </a:spcBef>
              <a:spcAft>
                <a:spcPts val="1000"/>
              </a:spcAft>
              <a:buClrTx/>
              <a:buSzPct val="100000"/>
              <a:buFontTx/>
              <a:buChar char="•"/>
              <a:tabLst/>
              <a:defRPr/>
            </a:pPr>
            <a:r>
              <a:rPr kumimoji="0" lang="en-US" sz="1500" b="0" i="0" u="none" strike="noStrike" kern="1200" cap="none" spc="0" normalizeH="0" baseline="0" noProof="0" dirty="0">
                <a:ln>
                  <a:noFill/>
                </a:ln>
                <a:solidFill>
                  <a:srgbClr val="222222"/>
                </a:solidFill>
                <a:effectLst/>
                <a:uLnTx/>
                <a:uFillTx/>
                <a:latin typeface="Arial Nova" panose="020B0504020202020204" pitchFamily="34" charset="0"/>
                <a:ea typeface="Arial" pitchFamily="34" charset="-122"/>
                <a:cs typeface="Arial" pitchFamily="34" charset="-120"/>
              </a:rPr>
              <a:t>Fewer entry-level coders. Fewer reads per technician. Fewer billable research hours.</a:t>
            </a:r>
            <a:endParaRPr kumimoji="0" lang="en-US" sz="1500" b="0" i="0" u="none" strike="noStrike" kern="1200" cap="none" spc="0" normalizeH="0" baseline="0" noProof="0" dirty="0">
              <a:ln>
                <a:noFill/>
              </a:ln>
              <a:solidFill>
                <a:prstClr val="black"/>
              </a:solidFill>
              <a:effectLst/>
              <a:uLnTx/>
              <a:uFillTx/>
              <a:latin typeface="Arial Nova" panose="020B0504020202020204" pitchFamily="34" charset="0"/>
            </a:endParaRPr>
          </a:p>
          <a:p>
            <a:pPr marL="342900" marR="0" lvl="0" indent="-342900" algn="l" defTabSz="914400" rtl="0" eaLnBrk="1" fontAlgn="auto" latinLnBrk="0" hangingPunct="1">
              <a:lnSpc>
                <a:spcPct val="100000"/>
              </a:lnSpc>
              <a:spcBef>
                <a:spcPts val="0"/>
              </a:spcBef>
              <a:spcAft>
                <a:spcPts val="1000"/>
              </a:spcAft>
              <a:buClrTx/>
              <a:buSzPct val="100000"/>
              <a:buFontTx/>
              <a:buChar char="•"/>
              <a:tabLst/>
              <a:defRPr/>
            </a:pPr>
            <a:r>
              <a:rPr kumimoji="0" lang="en-US" sz="1500" b="1" i="0" u="none" strike="noStrike" kern="1200" cap="none" spc="0" normalizeH="0" baseline="0" noProof="0" dirty="0">
                <a:ln>
                  <a:noFill/>
                </a:ln>
                <a:solidFill>
                  <a:srgbClr val="222222"/>
                </a:solidFill>
                <a:effectLst/>
                <a:uLnTx/>
                <a:uFillTx/>
                <a:latin typeface="Arial Nova" panose="020B0504020202020204" pitchFamily="34" charset="0"/>
                <a:ea typeface="Arial" pitchFamily="34" charset="-122"/>
                <a:cs typeface="Arial" pitchFamily="34" charset="-120"/>
              </a:rPr>
              <a:t>It's happening now.</a:t>
            </a:r>
            <a:endParaRPr kumimoji="0" lang="en-US" sz="1500" b="0" i="0" u="none" strike="noStrike" kern="1200" cap="none" spc="0" normalizeH="0" baseline="0" noProof="0" dirty="0">
              <a:ln>
                <a:noFill/>
              </a:ln>
              <a:solidFill>
                <a:prstClr val="black"/>
              </a:solidFill>
              <a:effectLst/>
              <a:uLnTx/>
              <a:uFillTx/>
              <a:latin typeface="Arial Nova" panose="020B0504020202020204" pitchFamily="34" charset="0"/>
            </a:endParaRPr>
          </a:p>
        </p:txBody>
      </p:sp>
      <p:sp>
        <p:nvSpPr>
          <p:cNvPr id="7" name="Shape 5">
            <a:extLst>
              <a:ext uri="{FF2B5EF4-FFF2-40B4-BE49-F238E27FC236}">
                <a16:creationId xmlns:a16="http://schemas.microsoft.com/office/drawing/2014/main" id="{F31B71AE-B987-1D88-FB9F-047A3C3232E3}"/>
              </a:ext>
            </a:extLst>
          </p:cNvPr>
          <p:cNvSpPr/>
          <p:nvPr/>
        </p:nvSpPr>
        <p:spPr>
          <a:xfrm>
            <a:off x="3710504" y="2271604"/>
            <a:ext cx="2972453" cy="3136392"/>
          </a:xfrm>
          <a:prstGeom prst="roundRect">
            <a:avLst>
              <a:gd name="adj" fmla="val 1772"/>
            </a:avLst>
          </a:prstGeom>
          <a:solidFill>
            <a:srgbClr val="16283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a:extLst>
              <a:ext uri="{FF2B5EF4-FFF2-40B4-BE49-F238E27FC236}">
                <a16:creationId xmlns:a16="http://schemas.microsoft.com/office/drawing/2014/main" id="{14ECEEFA-DCA4-79E6-534E-401AD24F1CF6}"/>
              </a:ext>
            </a:extLst>
          </p:cNvPr>
          <p:cNvSpPr txBox="1"/>
          <p:nvPr/>
        </p:nvSpPr>
        <p:spPr>
          <a:xfrm>
            <a:off x="3963924" y="2340184"/>
            <a:ext cx="306324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200" normalizeH="0" baseline="0" noProof="0" dirty="0">
                <a:ln>
                  <a:noFill/>
                </a:ln>
                <a:solidFill>
                  <a:schemeClr val="bg1"/>
                </a:solidFill>
                <a:effectLst/>
                <a:uLnTx/>
                <a:uFillTx/>
                <a:latin typeface="Arial Nova" panose="020B0504020202020204" pitchFamily="34" charset="0"/>
                <a:ea typeface="Arial" pitchFamily="34" charset="-122"/>
                <a:cs typeface="Arial" pitchFamily="34" charset="-120"/>
              </a:rPr>
              <a:t>LATER — YOUR FLOOR</a:t>
            </a:r>
            <a:endParaRPr kumimoji="0" lang="en-US" sz="1300" b="0" i="0" u="none" strike="noStrike" kern="1200" cap="none" spc="0" normalizeH="0" baseline="0" noProof="0" dirty="0">
              <a:ln>
                <a:noFill/>
              </a:ln>
              <a:solidFill>
                <a:schemeClr val="bg1"/>
              </a:solidFill>
              <a:effectLst/>
              <a:uLnTx/>
              <a:uFillTx/>
              <a:latin typeface="Arial Nova" panose="020B0504020202020204" pitchFamily="34" charset="0"/>
            </a:endParaRPr>
          </a:p>
        </p:txBody>
      </p:sp>
      <p:sp>
        <p:nvSpPr>
          <p:cNvPr id="9" name="Text 7">
            <a:extLst>
              <a:ext uri="{FF2B5EF4-FFF2-40B4-BE49-F238E27FC236}">
                <a16:creationId xmlns:a16="http://schemas.microsoft.com/office/drawing/2014/main" id="{9CEEE6B5-564A-C39D-40F7-46471B1BF17A}"/>
              </a:ext>
            </a:extLst>
          </p:cNvPr>
          <p:cNvSpPr txBox="1"/>
          <p:nvPr/>
        </p:nvSpPr>
        <p:spPr>
          <a:xfrm>
            <a:off x="3963924" y="2820897"/>
            <a:ext cx="2565192" cy="1992086"/>
          </a:xfrm>
          <a:prstGeom prst="rect">
            <a:avLst/>
          </a:prstGeom>
          <a:noFill/>
          <a:ln/>
        </p:spPr>
        <p:txBody>
          <a:bodyPr wrap="square" lIns="0" tIns="0" rIns="0" bIns="0" rtlCol="0" anchor="t"/>
          <a:lstStyle/>
          <a:p>
            <a:pPr marL="342900" marR="0" lvl="0" indent="-342900" algn="l" defTabSz="914400" rtl="0" eaLnBrk="1" fontAlgn="auto" latinLnBrk="0" hangingPunct="1">
              <a:lnSpc>
                <a:spcPct val="100000"/>
              </a:lnSpc>
              <a:spcBef>
                <a:spcPts val="0"/>
              </a:spcBef>
              <a:spcAft>
                <a:spcPts val="1000"/>
              </a:spcAft>
              <a:buClrTx/>
              <a:buSzPct val="100000"/>
              <a:buFontTx/>
              <a:buChar char="•"/>
              <a:tabLst/>
              <a:defRPr/>
            </a:pPr>
            <a:r>
              <a:rPr kumimoji="0" lang="en-US" sz="1500" b="0" i="0" u="none" strike="noStrike" kern="1200" cap="none" spc="0" normalizeH="0" baseline="0" noProof="0" dirty="0">
                <a:ln>
                  <a:noFill/>
                </a:ln>
                <a:solidFill>
                  <a:srgbClr val="E6EBF2"/>
                </a:solidFill>
                <a:effectLst/>
                <a:uLnTx/>
                <a:uFillTx/>
                <a:latin typeface="Arial Nova" panose="020B0504020202020204" pitchFamily="34" charset="0"/>
                <a:ea typeface="Arial" pitchFamily="34" charset="-122"/>
                <a:cs typeface="Arial" pitchFamily="34" charset="-120"/>
              </a:rPr>
              <a:t>AI running heavy equipment in skilled positions is much further out — likely five to ten years.</a:t>
            </a:r>
            <a:endParaRPr kumimoji="0" lang="en-US" sz="1500" b="0" i="0" u="none" strike="noStrike" kern="1200" cap="none" spc="0" normalizeH="0" baseline="0" noProof="0" dirty="0">
              <a:ln>
                <a:noFill/>
              </a:ln>
              <a:solidFill>
                <a:prstClr val="black"/>
              </a:solidFill>
              <a:effectLst/>
              <a:uLnTx/>
              <a:uFillTx/>
              <a:latin typeface="Arial Nova" panose="020B0504020202020204" pitchFamily="34" charset="0"/>
            </a:endParaRPr>
          </a:p>
          <a:p>
            <a:pPr marL="342900" marR="0" lvl="0" indent="-342900" algn="l" defTabSz="914400" rtl="0" eaLnBrk="1" fontAlgn="auto" latinLnBrk="0" hangingPunct="1">
              <a:lnSpc>
                <a:spcPct val="100000"/>
              </a:lnSpc>
              <a:spcBef>
                <a:spcPts val="0"/>
              </a:spcBef>
              <a:spcAft>
                <a:spcPts val="1000"/>
              </a:spcAft>
              <a:buClrTx/>
              <a:buSzPct val="100000"/>
              <a:buFontTx/>
              <a:buChar char="•"/>
              <a:tabLst/>
              <a:defRPr/>
            </a:pPr>
            <a:r>
              <a:rPr kumimoji="0" lang="en-US" sz="1500" b="1" i="0" u="none" strike="noStrike" kern="1200" cap="none" spc="0" normalizeH="0" baseline="0" noProof="0" dirty="0">
                <a:ln>
                  <a:noFill/>
                </a:ln>
                <a:solidFill>
                  <a:srgbClr val="E6EBF2"/>
                </a:solidFill>
                <a:effectLst/>
                <a:uLnTx/>
                <a:uFillTx/>
                <a:latin typeface="Arial Nova" panose="020B0504020202020204" pitchFamily="34" charset="0"/>
                <a:ea typeface="Arial" pitchFamily="34" charset="-122"/>
                <a:cs typeface="Arial" pitchFamily="34" charset="-120"/>
              </a:rPr>
              <a:t>But it is coming. And it arrives during your career.</a:t>
            </a:r>
            <a:endParaRPr kumimoji="0" lang="en-US" sz="1500" b="0" i="0" u="none" strike="noStrike" kern="1200" cap="none" spc="0" normalizeH="0" baseline="0" noProof="0" dirty="0">
              <a:ln>
                <a:noFill/>
              </a:ln>
              <a:solidFill>
                <a:prstClr val="black"/>
              </a:solidFill>
              <a:effectLst/>
              <a:uLnTx/>
              <a:uFillTx/>
              <a:latin typeface="Arial Nova" panose="020B0504020202020204" pitchFamily="34" charset="0"/>
            </a:endParaRPr>
          </a:p>
        </p:txBody>
      </p:sp>
      <p:sp>
        <p:nvSpPr>
          <p:cNvPr id="10" name="Shape 8">
            <a:extLst>
              <a:ext uri="{FF2B5EF4-FFF2-40B4-BE49-F238E27FC236}">
                <a16:creationId xmlns:a16="http://schemas.microsoft.com/office/drawing/2014/main" id="{01C852DF-CDB9-2B20-0CFE-9ACDD68A967A}"/>
              </a:ext>
            </a:extLst>
          </p:cNvPr>
          <p:cNvSpPr/>
          <p:nvPr/>
        </p:nvSpPr>
        <p:spPr>
          <a:xfrm>
            <a:off x="8083296" y="1760219"/>
            <a:ext cx="3063240" cy="3647777"/>
          </a:xfrm>
          <a:prstGeom prst="roundRect">
            <a:avLst>
              <a:gd name="adj" fmla="val 1795"/>
            </a:avLst>
          </a:prstGeom>
          <a:solidFill>
            <a:srgbClr val="F2F5F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a:extLst>
              <a:ext uri="{FF2B5EF4-FFF2-40B4-BE49-F238E27FC236}">
                <a16:creationId xmlns:a16="http://schemas.microsoft.com/office/drawing/2014/main" id="{18F4C24A-DAC5-363D-42A4-B0DDBB2DA077}"/>
              </a:ext>
            </a:extLst>
          </p:cNvPr>
          <p:cNvSpPr txBox="1"/>
          <p:nvPr/>
        </p:nvSpPr>
        <p:spPr>
          <a:xfrm>
            <a:off x="8829194" y="1359538"/>
            <a:ext cx="1133057"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200" normalizeH="0" baseline="0" noProof="0" dirty="0">
                <a:ln>
                  <a:noFill/>
                </a:ln>
                <a:effectLst/>
                <a:uLnTx/>
                <a:uFillTx/>
                <a:latin typeface="Arial Nova" panose="020B0504020202020204" pitchFamily="34" charset="0"/>
                <a:ea typeface="Arial" pitchFamily="34" charset="-122"/>
                <a:cs typeface="Arial" pitchFamily="34" charset="-120"/>
              </a:rPr>
              <a:t>CHINA</a:t>
            </a:r>
            <a:endParaRPr kumimoji="0" lang="en-US" sz="1300" b="0" i="0" u="none" strike="noStrike" kern="1200" cap="none" spc="0" normalizeH="0" baseline="0" noProof="0" dirty="0">
              <a:ln>
                <a:noFill/>
              </a:ln>
              <a:effectLst/>
              <a:uLnTx/>
              <a:uFillTx/>
              <a:latin typeface="Arial Nova" panose="020B0504020202020204" pitchFamily="34" charset="0"/>
            </a:endParaRPr>
          </a:p>
        </p:txBody>
      </p:sp>
      <p:sp>
        <p:nvSpPr>
          <p:cNvPr id="12" name="Text 10">
            <a:extLst>
              <a:ext uri="{FF2B5EF4-FFF2-40B4-BE49-F238E27FC236}">
                <a16:creationId xmlns:a16="http://schemas.microsoft.com/office/drawing/2014/main" id="{448B6F03-4D58-09A4-98B0-17700F345B52}"/>
              </a:ext>
            </a:extLst>
          </p:cNvPr>
          <p:cNvSpPr txBox="1"/>
          <p:nvPr/>
        </p:nvSpPr>
        <p:spPr>
          <a:xfrm>
            <a:off x="8285603" y="1951179"/>
            <a:ext cx="2510681" cy="2331720"/>
          </a:xfrm>
          <a:prstGeom prst="rect">
            <a:avLst/>
          </a:prstGeom>
          <a:noFill/>
          <a:ln/>
        </p:spPr>
        <p:txBody>
          <a:bodyPr wrap="square" lIns="0" tIns="0" rIns="0" bIns="0" rtlCol="0" anchor="t"/>
          <a:lstStyle/>
          <a:p>
            <a:pPr marL="342900" marR="0" lvl="0" indent="-342900" algn="l" defTabSz="914400" rtl="0" eaLnBrk="1" fontAlgn="auto" latinLnBrk="0" hangingPunct="1">
              <a:lnSpc>
                <a:spcPct val="100000"/>
              </a:lnSpc>
              <a:spcBef>
                <a:spcPts val="0"/>
              </a:spcBef>
              <a:spcAft>
                <a:spcPts val="1000"/>
              </a:spcAft>
              <a:buClrTx/>
              <a:buSzPct val="100000"/>
              <a:buFontTx/>
              <a:buChar char="•"/>
              <a:tabLst/>
              <a:defRPr/>
            </a:pPr>
            <a:r>
              <a:rPr kumimoji="0" lang="en-US" sz="1500" b="0" i="0" u="none" strike="noStrike" kern="1200" cap="none" spc="0" normalizeH="0" baseline="0" noProof="0" dirty="0">
                <a:ln>
                  <a:noFill/>
                </a:ln>
                <a:solidFill>
                  <a:srgbClr val="222222"/>
                </a:solidFill>
                <a:effectLst/>
                <a:uLnTx/>
                <a:uFillTx/>
                <a:latin typeface="Arial Nova" panose="020B0504020202020204" pitchFamily="34" charset="0"/>
                <a:ea typeface="Arial" pitchFamily="34" charset="-122"/>
                <a:cs typeface="Arial" pitchFamily="34" charset="-120"/>
              </a:rPr>
              <a:t>Courts have ruled a company can't fire a worker simply to replace him with AI.</a:t>
            </a:r>
            <a:endParaRPr kumimoji="0" lang="en-US" sz="1500" b="0" i="0" u="none" strike="noStrike" kern="1200" cap="none" spc="0" normalizeH="0" baseline="0" noProof="0" dirty="0">
              <a:ln>
                <a:noFill/>
              </a:ln>
              <a:solidFill>
                <a:prstClr val="black"/>
              </a:solidFill>
              <a:effectLst/>
              <a:uLnTx/>
              <a:uFillTx/>
              <a:latin typeface="Arial Nova" panose="020B0504020202020204" pitchFamily="34" charset="0"/>
            </a:endParaRPr>
          </a:p>
          <a:p>
            <a:pPr marL="342900" marR="0" lvl="0" indent="-342900" algn="l" defTabSz="914400" rtl="0" eaLnBrk="1" fontAlgn="auto" latinLnBrk="0" hangingPunct="1">
              <a:lnSpc>
                <a:spcPct val="100000"/>
              </a:lnSpc>
              <a:spcBef>
                <a:spcPts val="0"/>
              </a:spcBef>
              <a:spcAft>
                <a:spcPts val="1000"/>
              </a:spcAft>
              <a:buClrTx/>
              <a:buSzPct val="100000"/>
              <a:buFontTx/>
              <a:buChar char="•"/>
              <a:tabLst/>
              <a:defRPr/>
            </a:pPr>
            <a:r>
              <a:rPr kumimoji="0" lang="en-US" sz="1500" b="0" i="0" u="none" strike="noStrike" kern="1200" cap="none" spc="0" normalizeH="0" baseline="0" noProof="0" dirty="0">
                <a:ln>
                  <a:noFill/>
                </a:ln>
                <a:solidFill>
                  <a:srgbClr val="222222"/>
                </a:solidFill>
                <a:effectLst/>
                <a:uLnTx/>
                <a:uFillTx/>
                <a:latin typeface="Arial Nova" panose="020B0504020202020204" pitchFamily="34" charset="0"/>
                <a:ea typeface="Arial" pitchFamily="34" charset="-122"/>
                <a:cs typeface="Arial" pitchFamily="34" charset="-120"/>
              </a:rPr>
              <a:t>Hangzhou and Beijing appeals courts: “Adopting AI is a business choice, not an unforeseeable change”.</a:t>
            </a:r>
          </a:p>
          <a:p>
            <a:pPr marL="342900" lvl="0" indent="-342900">
              <a:spcAft>
                <a:spcPts val="1000"/>
              </a:spcAft>
              <a:buSzPct val="100000"/>
              <a:buFontTx/>
              <a:buChar char="•"/>
            </a:pPr>
            <a:r>
              <a:rPr lang="en-US" sz="1500" dirty="0">
                <a:latin typeface="Arial Nova" panose="020B0504020202020204" pitchFamily="34" charset="0"/>
              </a:rPr>
              <a:t>Low-cost AI deployment across factories, logistics networks, and robotics</a:t>
            </a:r>
            <a:endParaRPr kumimoji="0" lang="en-US" sz="1500" b="0" i="0" u="none" strike="noStrike" kern="1200" cap="none" spc="0" normalizeH="0" baseline="0" noProof="0" dirty="0">
              <a:ln>
                <a:noFill/>
              </a:ln>
              <a:solidFill>
                <a:prstClr val="black"/>
              </a:solidFill>
              <a:effectLst/>
              <a:uLnTx/>
              <a:uFillTx/>
              <a:latin typeface="Arial Nova" panose="020B0504020202020204" pitchFamily="34" charset="0"/>
            </a:endParaRPr>
          </a:p>
        </p:txBody>
      </p:sp>
      <p:sp>
        <p:nvSpPr>
          <p:cNvPr id="13" name="Shape 11">
            <a:extLst>
              <a:ext uri="{FF2B5EF4-FFF2-40B4-BE49-F238E27FC236}">
                <a16:creationId xmlns:a16="http://schemas.microsoft.com/office/drawing/2014/main" id="{2D08C01E-CD2B-876F-EE64-DB98752876BA}"/>
              </a:ext>
            </a:extLst>
          </p:cNvPr>
          <p:cNvSpPr/>
          <p:nvPr/>
        </p:nvSpPr>
        <p:spPr>
          <a:xfrm>
            <a:off x="548640" y="5605272"/>
            <a:ext cx="11091672" cy="777240"/>
          </a:xfrm>
          <a:prstGeom prst="roundRect">
            <a:avLst>
              <a:gd name="adj" fmla="val 7059"/>
            </a:avLst>
          </a:prstGeom>
          <a:solidFill>
            <a:srgbClr val="16283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a:extLst>
              <a:ext uri="{FF2B5EF4-FFF2-40B4-BE49-F238E27FC236}">
                <a16:creationId xmlns:a16="http://schemas.microsoft.com/office/drawing/2014/main" id="{8714A2F6-5697-79ED-12F3-31AFE24FAF32}"/>
              </a:ext>
            </a:extLst>
          </p:cNvPr>
          <p:cNvSpPr txBox="1"/>
          <p:nvPr/>
        </p:nvSpPr>
        <p:spPr>
          <a:xfrm>
            <a:off x="777240" y="5605272"/>
            <a:ext cx="1065276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00" b="0" u="none" strike="noStrike" kern="1200" cap="none" spc="0" normalizeH="0" baseline="0" noProof="0" dirty="0">
              <a:ln>
                <a:noFill/>
              </a:ln>
              <a:solidFill>
                <a:prstClr val="black"/>
              </a:solidFill>
              <a:effectLst/>
              <a:uLnTx/>
              <a:uFillTx/>
              <a:latin typeface="+mj-lt"/>
            </a:endParaRPr>
          </a:p>
        </p:txBody>
      </p:sp>
      <p:pic>
        <p:nvPicPr>
          <p:cNvPr id="17" name="Picture 16">
            <a:extLst>
              <a:ext uri="{FF2B5EF4-FFF2-40B4-BE49-F238E27FC236}">
                <a16:creationId xmlns:a16="http://schemas.microsoft.com/office/drawing/2014/main" id="{8554FC8B-FBA6-2840-6548-729B88B68961}"/>
              </a:ext>
            </a:extLst>
          </p:cNvPr>
          <p:cNvPicPr>
            <a:picLocks noChangeAspect="1"/>
          </p:cNvPicPr>
          <p:nvPr/>
        </p:nvPicPr>
        <p:blipFill>
          <a:blip r:embed="rId5">
            <a:extLst>
              <a:ext uri="{837473B0-CC2E-450A-ABE3-18F120FF3D39}">
                <a1611:picAttrSrcUrl xmlns:a1611="http://schemas.microsoft.com/office/drawing/2016/11/main" r:id="rId6"/>
              </a:ext>
            </a:extLst>
          </a:blip>
          <a:srcRect t="-1" b="-8074"/>
          <a:stretch>
            <a:fillRect/>
          </a:stretch>
        </p:blipFill>
        <p:spPr>
          <a:xfrm>
            <a:off x="8083296" y="1360721"/>
            <a:ext cx="648126" cy="353156"/>
          </a:xfrm>
          <a:prstGeom prst="rect">
            <a:avLst/>
          </a:prstGeom>
        </p:spPr>
      </p:pic>
      <p:sp>
        <p:nvSpPr>
          <p:cNvPr id="22" name="TextBox 21">
            <a:extLst>
              <a:ext uri="{FF2B5EF4-FFF2-40B4-BE49-F238E27FC236}">
                <a16:creationId xmlns:a16="http://schemas.microsoft.com/office/drawing/2014/main" id="{02E13B2F-39D9-6EBA-E1C2-3CA84F3AEBD5}"/>
              </a:ext>
            </a:extLst>
          </p:cNvPr>
          <p:cNvSpPr txBox="1"/>
          <p:nvPr/>
        </p:nvSpPr>
        <p:spPr>
          <a:xfrm>
            <a:off x="1597978" y="1318162"/>
            <a:ext cx="2586250" cy="369332"/>
          </a:xfrm>
          <a:prstGeom prst="rect">
            <a:avLst/>
          </a:prstGeom>
          <a:noFill/>
        </p:spPr>
        <p:txBody>
          <a:bodyPr wrap="square" rtlCol="0">
            <a:spAutoFit/>
          </a:bodyPr>
          <a:lstStyle/>
          <a:p>
            <a:r>
              <a:rPr lang="en-US" dirty="0">
                <a:latin typeface="Arial Nova" panose="020B0504020202020204" pitchFamily="34" charset="0"/>
              </a:rPr>
              <a:t>UNITED STATES</a:t>
            </a:r>
          </a:p>
        </p:txBody>
      </p:sp>
      <p:sp>
        <p:nvSpPr>
          <p:cNvPr id="23" name="TextBox 22">
            <a:extLst>
              <a:ext uri="{FF2B5EF4-FFF2-40B4-BE49-F238E27FC236}">
                <a16:creationId xmlns:a16="http://schemas.microsoft.com/office/drawing/2014/main" id="{7E1DF333-9EE0-9445-41CD-FD99EE960AB7}"/>
              </a:ext>
            </a:extLst>
          </p:cNvPr>
          <p:cNvSpPr txBox="1"/>
          <p:nvPr/>
        </p:nvSpPr>
        <p:spPr>
          <a:xfrm>
            <a:off x="928858" y="5777184"/>
            <a:ext cx="10501142" cy="338554"/>
          </a:xfrm>
          <a:prstGeom prst="rect">
            <a:avLst/>
          </a:prstGeom>
          <a:noFill/>
        </p:spPr>
        <p:txBody>
          <a:bodyPr wrap="square" rtlCol="0">
            <a:spAutoFit/>
          </a:bodyPr>
          <a:lstStyle/>
          <a:p>
            <a:r>
              <a:rPr lang="en-US" sz="1600" dirty="0">
                <a:solidFill>
                  <a:schemeClr val="bg1"/>
                </a:solidFill>
                <a:latin typeface="+mj-lt"/>
              </a:rPr>
              <a:t>Government’s domestic regulation: US – light touch; China – covering every layer of the AI technology chain. </a:t>
            </a:r>
          </a:p>
        </p:txBody>
      </p:sp>
    </p:spTree>
    <p:extLst>
      <p:ext uri="{BB962C8B-B14F-4D97-AF65-F5344CB8AC3E}">
        <p14:creationId xmlns:p14="http://schemas.microsoft.com/office/powerpoint/2010/main" val="36244831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6283F"/>
        </a:solidFill>
        <a:effectLst/>
      </p:bgPr>
    </p:bg>
    <p:spTree>
      <p:nvGrpSpPr>
        <p:cNvPr id="1" name="">
          <a:extLst>
            <a:ext uri="{FF2B5EF4-FFF2-40B4-BE49-F238E27FC236}">
              <a16:creationId xmlns:a16="http://schemas.microsoft.com/office/drawing/2014/main" id="{C7DF4A83-E651-9B22-90B7-E5B5CE2740B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F9DE94F-1240-EA1F-8CE2-F057DF18AD35}"/>
              </a:ext>
            </a:extLst>
          </p:cNvPr>
          <p:cNvSpPr txBox="1"/>
          <p:nvPr/>
        </p:nvSpPr>
        <p:spPr>
          <a:xfrm>
            <a:off x="1572309" y="6430703"/>
            <a:ext cx="4645611"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FA1B8"/>
                </a:solidFill>
                <a:effectLst/>
                <a:uLnTx/>
                <a:uFillTx/>
                <a:latin typeface="Arial" pitchFamily="34" charset="0"/>
                <a:ea typeface="Arial" pitchFamily="34" charset="-122"/>
                <a:cs typeface="Arial" pitchFamily="34" charset="-120"/>
              </a:rPr>
              <a:t>Shiftwork Solutions LLC  |  (415) 265-1621  |  www.shift-work.com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B995F151-D830-28CC-4ABC-9C23A7AA7440}"/>
              </a:ext>
            </a:extLst>
          </p:cNvPr>
          <p:cNvSpPr txBox="1"/>
          <p:nvPr/>
        </p:nvSpPr>
        <p:spPr>
          <a:xfrm>
            <a:off x="822960" y="2331720"/>
            <a:ext cx="10515600" cy="10972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Arial Nova" panose="020B0504020202020204" pitchFamily="34" charset="0"/>
                <a:ea typeface="Georgia" pitchFamily="34" charset="-122"/>
                <a:cs typeface="Georgia" pitchFamily="34" charset="-120"/>
              </a:rPr>
              <a:t>The Math Surrounding Your Workforce</a:t>
            </a:r>
            <a:endParaRPr kumimoji="0" lang="en-US" sz="4000" b="0" i="0" u="none" strike="noStrike" kern="1200" cap="none" spc="0" normalizeH="0" baseline="0" noProof="0" dirty="0">
              <a:ln>
                <a:noFill/>
              </a:ln>
              <a:solidFill>
                <a:prstClr val="black"/>
              </a:solidFill>
              <a:effectLst/>
              <a:uLnTx/>
              <a:uFillTx/>
              <a:latin typeface="Arial Nova" panose="020B0504020202020204" pitchFamily="34" charset="0"/>
            </a:endParaRPr>
          </a:p>
        </p:txBody>
      </p:sp>
      <p:sp>
        <p:nvSpPr>
          <p:cNvPr id="4" name="Text 2">
            <a:extLst>
              <a:ext uri="{FF2B5EF4-FFF2-40B4-BE49-F238E27FC236}">
                <a16:creationId xmlns:a16="http://schemas.microsoft.com/office/drawing/2014/main" id="{2566752E-52DF-1229-7804-F2C52662ABDE}"/>
              </a:ext>
            </a:extLst>
          </p:cNvPr>
          <p:cNvSpPr txBox="1"/>
          <p:nvPr/>
        </p:nvSpPr>
        <p:spPr>
          <a:xfrm>
            <a:off x="822960" y="3429000"/>
            <a:ext cx="100584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u="none" strike="noStrike" kern="1200" cap="none" spc="0" normalizeH="0" baseline="0" noProof="0" dirty="0">
                <a:ln>
                  <a:noFill/>
                </a:ln>
                <a:solidFill>
                  <a:schemeClr val="accent4"/>
                </a:solidFill>
                <a:effectLst/>
                <a:uLnTx/>
                <a:uFillTx/>
                <a:latin typeface="Arial Nova" panose="020B0504020202020204" pitchFamily="34" charset="0"/>
                <a:ea typeface="Arial" pitchFamily="34" charset="-122"/>
                <a:cs typeface="Arial" pitchFamily="34" charset="-120"/>
              </a:rPr>
              <a:t>You hire people by the crew. You buy robots by the position.</a:t>
            </a:r>
            <a:endParaRPr kumimoji="0" lang="en-US" sz="1600" b="0" u="none" strike="noStrike" kern="1200" cap="none" spc="0" normalizeH="0" baseline="0" noProof="0" dirty="0">
              <a:ln>
                <a:noFill/>
              </a:ln>
              <a:solidFill>
                <a:schemeClr val="accent4"/>
              </a:solidFill>
              <a:effectLst/>
              <a:uLnTx/>
              <a:uFillTx/>
              <a:latin typeface="Arial Nova" panose="020B0504020202020204" pitchFamily="34" charset="0"/>
            </a:endParaRPr>
          </a:p>
        </p:txBody>
      </p:sp>
      <p:pic>
        <p:nvPicPr>
          <p:cNvPr id="5" name="Picture 4">
            <a:extLst>
              <a:ext uri="{FF2B5EF4-FFF2-40B4-BE49-F238E27FC236}">
                <a16:creationId xmlns:a16="http://schemas.microsoft.com/office/drawing/2014/main" id="{F8C81D72-E592-75F7-735B-AB30176D0A41}"/>
              </a:ext>
            </a:extLst>
          </p:cNvPr>
          <p:cNvPicPr>
            <a:picLocks noChangeAspect="1"/>
          </p:cNvPicPr>
          <p:nvPr/>
        </p:nvPicPr>
        <p:blipFill>
          <a:blip r:embed="rId3"/>
          <a:stretch>
            <a:fillRect/>
          </a:stretch>
        </p:blipFill>
        <p:spPr>
          <a:xfrm>
            <a:off x="750026" y="5812395"/>
            <a:ext cx="892628" cy="892628"/>
          </a:xfrm>
          <a:prstGeom prst="rect">
            <a:avLst/>
          </a:prstGeom>
        </p:spPr>
      </p:pic>
    </p:spTree>
    <p:extLst>
      <p:ext uri="{BB962C8B-B14F-4D97-AF65-F5344CB8AC3E}">
        <p14:creationId xmlns:p14="http://schemas.microsoft.com/office/powerpoint/2010/main" val="31813940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6283F"/>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11091672" cy="274320"/>
          </a:xfrm>
          <a:prstGeom prst="rect">
            <a:avLst/>
          </a:prstGeom>
          <a:noFill/>
          <a:ln/>
        </p:spPr>
        <p:txBody>
          <a:bodyPr wrap="square" lIns="0" tIns="0" rIns="0" bIns="0" rtlCol="0" anchor="ctr"/>
          <a:lstStyle/>
          <a:p>
            <a:pPr marL="0" indent="0" algn="l">
              <a:buNone/>
            </a:pPr>
            <a:r>
              <a:rPr lang="en-US" sz="900" dirty="0">
                <a:solidFill>
                  <a:srgbClr val="8FA1B8"/>
                </a:solidFill>
                <a:latin typeface="Arial" pitchFamily="34" charset="0"/>
                <a:ea typeface="Arial" pitchFamily="34" charset="-122"/>
                <a:cs typeface="Arial" pitchFamily="34" charset="-120"/>
              </a:rPr>
              <a:t>Shiftwork Solutions LLC  |  (415) 265-1621  |  www.shift-work.com</a:t>
            </a:r>
            <a:endParaRPr lang="en-US" sz="900" dirty="0"/>
          </a:p>
        </p:txBody>
      </p:sp>
      <p:sp>
        <p:nvSpPr>
          <p:cNvPr id="3" name="Text 1"/>
          <p:cNvSpPr txBox="1"/>
          <p:nvPr/>
        </p:nvSpPr>
        <p:spPr>
          <a:xfrm>
            <a:off x="822960" y="2011680"/>
            <a:ext cx="10515600" cy="73152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Four crews of a hundred people.</a:t>
            </a:r>
            <a:endParaRPr lang="en-US" sz="3600" dirty="0"/>
          </a:p>
        </p:txBody>
      </p:sp>
      <p:sp>
        <p:nvSpPr>
          <p:cNvPr id="4" name="Text 2"/>
          <p:cNvSpPr txBox="1"/>
          <p:nvPr/>
        </p:nvSpPr>
        <p:spPr>
          <a:xfrm>
            <a:off x="822960" y="2926080"/>
            <a:ext cx="10515600" cy="1097280"/>
          </a:xfrm>
          <a:prstGeom prst="rect">
            <a:avLst/>
          </a:prstGeom>
          <a:noFill/>
          <a:ln/>
        </p:spPr>
        <p:txBody>
          <a:bodyPr wrap="square" lIns="0" tIns="0" rIns="0" bIns="0" rtlCol="0" anchor="ctr"/>
          <a:lstStyle/>
          <a:p>
            <a:pPr marL="0" indent="0">
              <a:spcAft>
                <a:spcPts val="600"/>
              </a:spcAft>
              <a:buNone/>
            </a:pPr>
            <a:r>
              <a:rPr lang="en-US" sz="2600" dirty="0">
                <a:solidFill>
                  <a:srgbClr val="C9D2DF"/>
                </a:solidFill>
                <a:latin typeface="Georgia" pitchFamily="34" charset="0"/>
                <a:ea typeface="Georgia" pitchFamily="34" charset="-122"/>
                <a:cs typeface="Georgia" pitchFamily="34" charset="-120"/>
              </a:rPr>
              <a:t>Four hundred employees running your operation around the clock.</a:t>
            </a:r>
            <a:endParaRPr lang="en-US" sz="2600" dirty="0"/>
          </a:p>
          <a:p>
            <a:pPr marL="0" indent="0">
              <a:spcAft>
                <a:spcPts val="600"/>
              </a:spcAft>
              <a:buNone/>
            </a:pPr>
            <a:r>
              <a:rPr lang="en-US" sz="2600" dirty="0">
                <a:solidFill>
                  <a:srgbClr val="C9D2DF"/>
                </a:solidFill>
                <a:latin typeface="Georgia" pitchFamily="34" charset="0"/>
                <a:ea typeface="Georgia" pitchFamily="34" charset="-122"/>
                <a:cs typeface="Georgia" pitchFamily="34" charset="-120"/>
              </a:rPr>
              <a:t>What does that cost you a year?</a:t>
            </a:r>
            <a:endParaRPr lang="en-US" sz="2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93BFEADF-487B-D36C-8A39-8AD462BE4D22}"/>
              </a:ext>
            </a:extLst>
          </p:cNvPr>
          <p:cNvSpPr txBox="1"/>
          <p:nvPr/>
        </p:nvSpPr>
        <p:spPr>
          <a:xfrm>
            <a:off x="1045027" y="1823556"/>
            <a:ext cx="7184573" cy="7315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chemeClr val="tx2">
                    <a:lumMod val="75000"/>
                  </a:schemeClr>
                </a:solidFill>
                <a:effectLst/>
                <a:uLnTx/>
                <a:uFillTx/>
                <a:latin typeface="Arial Nova" panose="020B0504020202020204" pitchFamily="34" charset="0"/>
                <a:ea typeface="Georgia" pitchFamily="34" charset="-122"/>
                <a:cs typeface="Georgia" pitchFamily="34" charset="-120"/>
              </a:rPr>
              <a:t>Four crews of a hundred people.</a:t>
            </a:r>
            <a:endParaRPr kumimoji="0" lang="en-US" sz="3600" b="0" i="0" u="none" strike="noStrike" kern="1200" cap="none" spc="0" normalizeH="0" baseline="0" noProof="0" dirty="0">
              <a:ln>
                <a:noFill/>
              </a:ln>
              <a:solidFill>
                <a:schemeClr val="tx2">
                  <a:lumMod val="75000"/>
                </a:schemeClr>
              </a:solidFill>
              <a:effectLst/>
              <a:uLnTx/>
              <a:uFillTx/>
              <a:latin typeface="Arial Nova" panose="020B0504020202020204" pitchFamily="34" charset="0"/>
            </a:endParaRPr>
          </a:p>
        </p:txBody>
      </p:sp>
      <p:sp>
        <p:nvSpPr>
          <p:cNvPr id="4" name="Text 2">
            <a:extLst>
              <a:ext uri="{FF2B5EF4-FFF2-40B4-BE49-F238E27FC236}">
                <a16:creationId xmlns:a16="http://schemas.microsoft.com/office/drawing/2014/main" id="{62ED340A-52DB-947E-B99D-71701A18F3C7}"/>
              </a:ext>
            </a:extLst>
          </p:cNvPr>
          <p:cNvSpPr txBox="1"/>
          <p:nvPr/>
        </p:nvSpPr>
        <p:spPr>
          <a:xfrm>
            <a:off x="1021353" y="2348987"/>
            <a:ext cx="9971920" cy="918917"/>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2600" b="0" i="0" u="none" strike="noStrike" kern="1200" cap="none" spc="0" normalizeH="0" baseline="0" noProof="0" dirty="0">
                <a:ln>
                  <a:noFill/>
                </a:ln>
                <a:solidFill>
                  <a:schemeClr val="tx2">
                    <a:lumMod val="60000"/>
                    <a:lumOff val="40000"/>
                  </a:schemeClr>
                </a:solidFill>
                <a:effectLst/>
                <a:uLnTx/>
                <a:uFillTx/>
                <a:latin typeface="Arial Nova" panose="020B0504020202020204" pitchFamily="34" charset="0"/>
                <a:ea typeface="Georgia" pitchFamily="34" charset="-122"/>
                <a:cs typeface="Georgia" pitchFamily="34" charset="-120"/>
              </a:rPr>
              <a:t>Four hundred employees running your operation around the clock.</a:t>
            </a:r>
          </a:p>
        </p:txBody>
      </p:sp>
      <p:pic>
        <p:nvPicPr>
          <p:cNvPr id="13" name="Graphic 12" descr="Tag">
            <a:extLst>
              <a:ext uri="{FF2B5EF4-FFF2-40B4-BE49-F238E27FC236}">
                <a16:creationId xmlns:a16="http://schemas.microsoft.com/office/drawing/2014/main" id="{84FB0A60-C08D-87EC-1A86-2D036BEA192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798064" y="2935159"/>
            <a:ext cx="2453639" cy="2453639"/>
          </a:xfrm>
          <a:prstGeom prst="rect">
            <a:avLst/>
          </a:prstGeom>
        </p:spPr>
      </p:pic>
      <p:sp>
        <p:nvSpPr>
          <p:cNvPr id="16" name="Text 0">
            <a:extLst>
              <a:ext uri="{FF2B5EF4-FFF2-40B4-BE49-F238E27FC236}">
                <a16:creationId xmlns:a16="http://schemas.microsoft.com/office/drawing/2014/main" id="{BE9D5F42-053A-10FA-3A9D-4DFFBE1DB62E}"/>
              </a:ext>
            </a:extLst>
          </p:cNvPr>
          <p:cNvSpPr txBox="1"/>
          <p:nvPr/>
        </p:nvSpPr>
        <p:spPr>
          <a:xfrm>
            <a:off x="548640" y="6473952"/>
            <a:ext cx="11091672"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FA1B8"/>
                </a:solidFill>
                <a:effectLst/>
                <a:uLnTx/>
                <a:uFillTx/>
                <a:latin typeface="Arial" pitchFamily="34" charset="0"/>
                <a:ea typeface="Arial" pitchFamily="34" charset="-122"/>
                <a:cs typeface="Arial" pitchFamily="34" charset="-120"/>
              </a:rPr>
              <a:t>Shiftwork Solutions LLC  |  (415) 265-1621  |  www.shift-work.com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Box 16">
            <a:extLst>
              <a:ext uri="{FF2B5EF4-FFF2-40B4-BE49-F238E27FC236}">
                <a16:creationId xmlns:a16="http://schemas.microsoft.com/office/drawing/2014/main" id="{C5130762-2143-2451-6FC0-79B7D713CCA2}"/>
              </a:ext>
            </a:extLst>
          </p:cNvPr>
          <p:cNvSpPr txBox="1"/>
          <p:nvPr/>
        </p:nvSpPr>
        <p:spPr>
          <a:xfrm>
            <a:off x="1021352" y="3995022"/>
            <a:ext cx="6496334" cy="523220"/>
          </a:xfrm>
          <a:prstGeom prst="rect">
            <a:avLst/>
          </a:prstGeom>
          <a:noFill/>
        </p:spPr>
        <p:txBody>
          <a:bodyPr wrap="square" rtlCol="0">
            <a:spAutoFit/>
          </a:bodyPr>
          <a:lstStyle/>
          <a:p>
            <a:pPr lvl="0">
              <a:spcAft>
                <a:spcPts val="600"/>
              </a:spcAft>
              <a:defRPr/>
            </a:pPr>
            <a:r>
              <a:rPr lang="en-US" sz="2800" dirty="0">
                <a:solidFill>
                  <a:schemeClr val="accent4">
                    <a:lumMod val="75000"/>
                  </a:schemeClr>
                </a:solidFill>
                <a:latin typeface="Arial Nova" panose="020B0504020202020204" pitchFamily="34" charset="0"/>
                <a:ea typeface="Georgia" pitchFamily="34" charset="-122"/>
                <a:cs typeface="Georgia" pitchFamily="34" charset="-120"/>
              </a:rPr>
              <a:t>What does that cost you a year?</a:t>
            </a:r>
            <a:endParaRPr lang="en-US" sz="2800" dirty="0">
              <a:solidFill>
                <a:schemeClr val="accent4">
                  <a:lumMod val="75000"/>
                </a:schemeClr>
              </a:solidFill>
              <a:latin typeface="Arial Nova" panose="020B0504020202020204" pitchFamily="34" charset="0"/>
            </a:endParaRPr>
          </a:p>
        </p:txBody>
      </p:sp>
    </p:spTree>
    <p:extLst>
      <p:ext uri="{BB962C8B-B14F-4D97-AF65-F5344CB8AC3E}">
        <p14:creationId xmlns:p14="http://schemas.microsoft.com/office/powerpoint/2010/main" val="20074156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marL="0" indent="0" algn="l">
              <a:buNone/>
            </a:pPr>
            <a:r>
              <a:rPr lang="en-US" sz="2800" b="1" dirty="0">
                <a:solidFill>
                  <a:schemeClr val="accent1">
                    <a:lumMod val="75000"/>
                  </a:schemeClr>
                </a:solidFill>
                <a:latin typeface="Arial Nova" panose="020B0504020202020204" pitchFamily="34" charset="0"/>
                <a:ea typeface="Georgia" pitchFamily="34" charset="-122"/>
                <a:cs typeface="Georgia" pitchFamily="34" charset="-120"/>
              </a:rPr>
              <a:t>What one employee actually costs</a:t>
            </a:r>
            <a:endParaRPr lang="en-US" sz="2800" dirty="0">
              <a:solidFill>
                <a:schemeClr val="accent1">
                  <a:lumMod val="75000"/>
                </a:schemeClr>
              </a:solidFill>
              <a:latin typeface="Arial Nova" panose="020B0504020202020204" pitchFamily="34" charset="0"/>
            </a:endParaRPr>
          </a:p>
        </p:txBody>
      </p:sp>
      <p:sp>
        <p:nvSpPr>
          <p:cNvPr id="3" name="Text 1"/>
          <p:cNvSpPr txBox="1"/>
          <p:nvPr/>
        </p:nvSpPr>
        <p:spPr>
          <a:xfrm>
            <a:off x="548640" y="6473952"/>
            <a:ext cx="11091672" cy="274320"/>
          </a:xfrm>
          <a:prstGeom prst="rect">
            <a:avLst/>
          </a:prstGeom>
          <a:noFill/>
          <a:ln/>
        </p:spPr>
        <p:txBody>
          <a:bodyPr wrap="square" lIns="0" tIns="0" rIns="0" bIns="0" rtlCol="0" anchor="ctr"/>
          <a:lstStyle/>
          <a:p>
            <a:pPr marL="0" indent="0" algn="l">
              <a:buNone/>
            </a:pPr>
            <a:r>
              <a:rPr lang="en-US" sz="900" dirty="0">
                <a:solidFill>
                  <a:srgbClr val="667085"/>
                </a:solidFill>
                <a:latin typeface="Arial" pitchFamily="34" charset="0"/>
                <a:ea typeface="Arial" pitchFamily="34" charset="-122"/>
                <a:cs typeface="Arial" pitchFamily="34" charset="-120"/>
              </a:rPr>
              <a:t>Shiftwork Solutions LLC  |  (415) 265-1621  |  www.shift-work.com</a:t>
            </a:r>
            <a:endParaRPr lang="en-US" sz="900" dirty="0"/>
          </a:p>
        </p:txBody>
      </p:sp>
      <p:sp>
        <p:nvSpPr>
          <p:cNvPr id="4" name="Text 2"/>
          <p:cNvSpPr txBox="1"/>
          <p:nvPr/>
        </p:nvSpPr>
        <p:spPr>
          <a:xfrm>
            <a:off x="548640" y="1853947"/>
            <a:ext cx="3550920" cy="399070"/>
          </a:xfrm>
          <a:prstGeom prst="rect">
            <a:avLst/>
          </a:prstGeom>
          <a:noFill/>
          <a:ln/>
        </p:spPr>
        <p:txBody>
          <a:bodyPr wrap="square" lIns="0" tIns="0" rIns="0" bIns="0" rtlCol="0" anchor="t"/>
          <a:lstStyle/>
          <a:p>
            <a:pPr>
              <a:spcAft>
                <a:spcPts val="1000"/>
              </a:spcAft>
              <a:buSzPct val="100000"/>
            </a:pPr>
            <a:r>
              <a:rPr lang="en-US" sz="1200" i="1" dirty="0">
                <a:solidFill>
                  <a:srgbClr val="222222"/>
                </a:solidFill>
                <a:latin typeface="Arial" pitchFamily="34" charset="0"/>
                <a:ea typeface="Arial" pitchFamily="34" charset="-122"/>
                <a:cs typeface="Arial" pitchFamily="34" charset="-120"/>
              </a:rPr>
              <a:t>Take an entry-level position at about $30 an hour.</a:t>
            </a:r>
            <a:endParaRPr lang="en-US" sz="1200" i="1" dirty="0"/>
          </a:p>
        </p:txBody>
      </p:sp>
      <p:sp>
        <p:nvSpPr>
          <p:cNvPr id="5" name="Shape 3"/>
          <p:cNvSpPr/>
          <p:nvPr/>
        </p:nvSpPr>
        <p:spPr>
          <a:xfrm>
            <a:off x="548640" y="2161905"/>
            <a:ext cx="4616484" cy="2011680"/>
          </a:xfrm>
          <a:prstGeom prst="roundRect">
            <a:avLst>
              <a:gd name="adj" fmla="val 3182"/>
            </a:avLst>
          </a:prstGeom>
          <a:solidFill>
            <a:srgbClr val="F2F5F8"/>
          </a:solidFill>
          <a:ln/>
        </p:spPr>
        <p:txBody>
          <a:bodyPr/>
          <a:lstStyle/>
          <a:p>
            <a:endParaRPr lang="en-US"/>
          </a:p>
        </p:txBody>
      </p:sp>
      <p:sp>
        <p:nvSpPr>
          <p:cNvPr id="6" name="Text 4"/>
          <p:cNvSpPr txBox="1"/>
          <p:nvPr/>
        </p:nvSpPr>
        <p:spPr>
          <a:xfrm>
            <a:off x="777240" y="2344785"/>
            <a:ext cx="4983480" cy="685800"/>
          </a:xfrm>
          <a:prstGeom prst="rect">
            <a:avLst/>
          </a:prstGeom>
          <a:noFill/>
          <a:ln/>
        </p:spPr>
        <p:txBody>
          <a:bodyPr wrap="square" lIns="0" tIns="0" rIns="0" bIns="0" rtlCol="0" anchor="ctr"/>
          <a:lstStyle/>
          <a:p>
            <a:pPr marL="0" indent="0">
              <a:buNone/>
            </a:pPr>
            <a:r>
              <a:rPr lang="en-US" sz="3400" b="1" dirty="0">
                <a:solidFill>
                  <a:srgbClr val="16283F"/>
                </a:solidFill>
                <a:latin typeface="Georgia" pitchFamily="34" charset="0"/>
                <a:ea typeface="Georgia" pitchFamily="34" charset="-122"/>
                <a:cs typeface="Georgia" pitchFamily="34" charset="-120"/>
              </a:rPr>
              <a:t>$120,000</a:t>
            </a:r>
            <a:endParaRPr lang="en-US" sz="3400" dirty="0"/>
          </a:p>
        </p:txBody>
      </p:sp>
      <p:sp>
        <p:nvSpPr>
          <p:cNvPr id="7" name="Text 5"/>
          <p:cNvSpPr txBox="1"/>
          <p:nvPr/>
        </p:nvSpPr>
        <p:spPr>
          <a:xfrm>
            <a:off x="777240" y="3030585"/>
            <a:ext cx="4983480" cy="1005840"/>
          </a:xfrm>
          <a:prstGeom prst="rect">
            <a:avLst/>
          </a:prstGeom>
          <a:noFill/>
          <a:ln/>
        </p:spPr>
        <p:txBody>
          <a:bodyPr wrap="square" lIns="0" tIns="0" rIns="0" bIns="0" rtlCol="0" anchor="ctr"/>
          <a:lstStyle/>
          <a:p>
            <a:pPr marL="0" indent="0">
              <a:buNone/>
            </a:pPr>
            <a:r>
              <a:rPr lang="en-US" sz="1600" dirty="0">
                <a:solidFill>
                  <a:srgbClr val="222222"/>
                </a:solidFill>
                <a:latin typeface="Arial Nova" panose="020B0504020202020204" pitchFamily="34" charset="0"/>
                <a:ea typeface="Arial" pitchFamily="34" charset="-122"/>
                <a:cs typeface="Arial" pitchFamily="34" charset="-120"/>
              </a:rPr>
              <a:t>One employee, fully loaded — wages, taxes, and benefits</a:t>
            </a:r>
            <a:endParaRPr lang="en-US" sz="1600" dirty="0">
              <a:latin typeface="Arial Nova" panose="020B0504020202020204" pitchFamily="34" charset="0"/>
            </a:endParaRPr>
          </a:p>
        </p:txBody>
      </p:sp>
      <p:sp>
        <p:nvSpPr>
          <p:cNvPr id="8" name="Shape 6"/>
          <p:cNvSpPr/>
          <p:nvPr/>
        </p:nvSpPr>
        <p:spPr>
          <a:xfrm>
            <a:off x="6199632" y="2161905"/>
            <a:ext cx="4396287" cy="2011680"/>
          </a:xfrm>
          <a:prstGeom prst="roundRect">
            <a:avLst>
              <a:gd name="adj" fmla="val 3182"/>
            </a:avLst>
          </a:prstGeom>
          <a:solidFill>
            <a:srgbClr val="16283F"/>
          </a:solidFill>
          <a:ln/>
        </p:spPr>
        <p:txBody>
          <a:bodyPr/>
          <a:lstStyle/>
          <a:p>
            <a:endParaRPr lang="en-US"/>
          </a:p>
        </p:txBody>
      </p:sp>
      <p:sp>
        <p:nvSpPr>
          <p:cNvPr id="9" name="Text 7"/>
          <p:cNvSpPr txBox="1"/>
          <p:nvPr/>
        </p:nvSpPr>
        <p:spPr>
          <a:xfrm>
            <a:off x="6428232" y="2326497"/>
            <a:ext cx="4983480" cy="685800"/>
          </a:xfrm>
          <a:prstGeom prst="rect">
            <a:avLst/>
          </a:prstGeom>
          <a:noFill/>
          <a:ln/>
        </p:spPr>
        <p:txBody>
          <a:bodyPr wrap="square" lIns="0" tIns="0" rIns="0" bIns="0" rtlCol="0" anchor="ctr"/>
          <a:lstStyle/>
          <a:p>
            <a:pPr marL="0" indent="0">
              <a:buNone/>
            </a:pPr>
            <a:r>
              <a:rPr lang="en-US" sz="3400" b="1" dirty="0">
                <a:solidFill>
                  <a:srgbClr val="C9A227"/>
                </a:solidFill>
                <a:latin typeface="Georgia" pitchFamily="34" charset="0"/>
                <a:ea typeface="Georgia" pitchFamily="34" charset="-122"/>
                <a:cs typeface="Georgia" pitchFamily="34" charset="-120"/>
              </a:rPr>
              <a:t>$48 million</a:t>
            </a:r>
            <a:endParaRPr lang="en-US" sz="3400" dirty="0"/>
          </a:p>
        </p:txBody>
      </p:sp>
      <p:sp>
        <p:nvSpPr>
          <p:cNvPr id="10" name="Text 8"/>
          <p:cNvSpPr txBox="1"/>
          <p:nvPr/>
        </p:nvSpPr>
        <p:spPr>
          <a:xfrm>
            <a:off x="6428232" y="3082836"/>
            <a:ext cx="4983480" cy="1005840"/>
          </a:xfrm>
          <a:prstGeom prst="rect">
            <a:avLst/>
          </a:prstGeom>
          <a:noFill/>
          <a:ln/>
        </p:spPr>
        <p:txBody>
          <a:bodyPr wrap="square" lIns="0" tIns="0" rIns="0" bIns="0" rtlCol="0" anchor="ctr"/>
          <a:lstStyle/>
          <a:p>
            <a:pPr marL="0" indent="0">
              <a:buNone/>
            </a:pPr>
            <a:r>
              <a:rPr lang="en-US" sz="1600" dirty="0">
                <a:solidFill>
                  <a:srgbClr val="C9D2DF"/>
                </a:solidFill>
                <a:latin typeface="Arial Nova" panose="020B0504020202020204" pitchFamily="34" charset="0"/>
                <a:ea typeface="Arial" pitchFamily="34" charset="-122"/>
                <a:cs typeface="Arial" pitchFamily="34" charset="-120"/>
              </a:rPr>
              <a:t>a year, across 400 employees</a:t>
            </a:r>
            <a:endParaRPr lang="en-US" sz="1600" dirty="0">
              <a:latin typeface="Arial Nova" panose="020B0504020202020204" pitchFamily="34" charset="0"/>
            </a:endParaRPr>
          </a:p>
        </p:txBody>
      </p:sp>
      <p:pic>
        <p:nvPicPr>
          <p:cNvPr id="12" name="Graphic 11" descr="Employee badge">
            <a:extLst>
              <a:ext uri="{FF2B5EF4-FFF2-40B4-BE49-F238E27FC236}">
                <a16:creationId xmlns:a16="http://schemas.microsoft.com/office/drawing/2014/main" id="{254C6A61-5F8A-8201-E8D2-FACFBECF66B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13281" y="2083517"/>
            <a:ext cx="1017502" cy="1017502"/>
          </a:xfrm>
          <a:prstGeom prst="rect">
            <a:avLst/>
          </a:prstGeom>
        </p:spPr>
      </p:pic>
      <p:pic>
        <p:nvPicPr>
          <p:cNvPr id="14" name="Graphic 13" descr="Group of men">
            <a:extLst>
              <a:ext uri="{FF2B5EF4-FFF2-40B4-BE49-F238E27FC236}">
                <a16:creationId xmlns:a16="http://schemas.microsoft.com/office/drawing/2014/main" id="{87954CFA-0E5D-47B5-68C0-84A5924BC8E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82897" y="2212197"/>
            <a:ext cx="914400" cy="914400"/>
          </a:xfrm>
          <a:prstGeom prst="rect">
            <a:avLst/>
          </a:prstGeom>
        </p:spPr>
      </p:pic>
      <p:pic>
        <p:nvPicPr>
          <p:cNvPr id="15" name="Graphic 14" descr="Group of men">
            <a:extLst>
              <a:ext uri="{FF2B5EF4-FFF2-40B4-BE49-F238E27FC236}">
                <a16:creationId xmlns:a16="http://schemas.microsoft.com/office/drawing/2014/main" id="{43FABD20-286A-6F38-0909-79663B714DD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82897" y="3012297"/>
            <a:ext cx="914400" cy="9144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6283F"/>
        </a:solidFill>
        <a:effectLst/>
      </p:bgPr>
    </p:bg>
    <p:spTree>
      <p:nvGrpSpPr>
        <p:cNvPr id="1" name="">
          <a:extLst>
            <a:ext uri="{FF2B5EF4-FFF2-40B4-BE49-F238E27FC236}">
              <a16:creationId xmlns:a16="http://schemas.microsoft.com/office/drawing/2014/main" id="{8B64B852-DC89-02CA-9257-D48ACF361E7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AC055A1-5810-5855-E1A4-EA298B6E1556}"/>
              </a:ext>
            </a:extLst>
          </p:cNvPr>
          <p:cNvSpPr txBox="1"/>
          <p:nvPr/>
        </p:nvSpPr>
        <p:spPr>
          <a:xfrm>
            <a:off x="1642654" y="6466428"/>
            <a:ext cx="4965056"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8FA1B8"/>
                </a:solidFill>
                <a:effectLst/>
                <a:uLnTx/>
                <a:uFillTx/>
                <a:latin typeface="Arial" pitchFamily="34" charset="0"/>
                <a:ea typeface="Arial" pitchFamily="34" charset="-122"/>
                <a:cs typeface="Arial" pitchFamily="34" charset="-120"/>
              </a:rPr>
              <a:t>Shiftwork Solutions LLC  |  (415) 265-1621  |  www.shift-work.com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4B5BDE17-186E-9F52-FBCB-451B9DAD50FC}"/>
              </a:ext>
            </a:extLst>
          </p:cNvPr>
          <p:cNvSpPr txBox="1"/>
          <p:nvPr/>
        </p:nvSpPr>
        <p:spPr>
          <a:xfrm>
            <a:off x="822960" y="1574418"/>
            <a:ext cx="10515600" cy="1554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Arial Nova" panose="020B0504020202020204" pitchFamily="34" charset="0"/>
                <a:ea typeface="Georgia" pitchFamily="34" charset="-122"/>
                <a:cs typeface="Georgia" pitchFamily="34" charset="-120"/>
              </a:rPr>
              <a:t>You hire people by the crew.</a:t>
            </a:r>
            <a:endParaRPr kumimoji="0" lang="en-US" sz="3600" b="0" i="0" u="none" strike="noStrike" kern="1200" cap="none" spc="0" normalizeH="0" baseline="0" noProof="0" dirty="0">
              <a:ln>
                <a:noFill/>
              </a:ln>
              <a:solidFill>
                <a:prstClr val="black"/>
              </a:solidFill>
              <a:effectLst/>
              <a:uLnTx/>
              <a:uFillTx/>
              <a:latin typeface="Arial Nova" panose="020B0504020202020204" pitchFamily="34" charset="0"/>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Arial Nova" panose="020B0504020202020204" pitchFamily="34" charset="0"/>
                <a:ea typeface="Georgia" pitchFamily="34" charset="-122"/>
                <a:cs typeface="Georgia" pitchFamily="34" charset="-120"/>
              </a:rPr>
              <a:t>You buy robots by the position.</a:t>
            </a:r>
            <a:endParaRPr kumimoji="0" lang="en-US" sz="3600" b="0" i="0" u="none" strike="noStrike" kern="1200" cap="none" spc="0" normalizeH="0" baseline="0" noProof="0" dirty="0">
              <a:ln>
                <a:noFill/>
              </a:ln>
              <a:solidFill>
                <a:prstClr val="black"/>
              </a:solidFill>
              <a:effectLst/>
              <a:uLnTx/>
              <a:uFillTx/>
              <a:latin typeface="Arial Nova" panose="020B0504020202020204" pitchFamily="34" charset="0"/>
            </a:endParaRPr>
          </a:p>
        </p:txBody>
      </p:sp>
      <p:sp>
        <p:nvSpPr>
          <p:cNvPr id="4" name="Text 2">
            <a:extLst>
              <a:ext uri="{FF2B5EF4-FFF2-40B4-BE49-F238E27FC236}">
                <a16:creationId xmlns:a16="http://schemas.microsoft.com/office/drawing/2014/main" id="{DA493AC1-155E-02D9-AA28-F3DEB0689491}"/>
              </a:ext>
            </a:extLst>
          </p:cNvPr>
          <p:cNvSpPr txBox="1"/>
          <p:nvPr/>
        </p:nvSpPr>
        <p:spPr>
          <a:xfrm>
            <a:off x="822960" y="3184854"/>
            <a:ext cx="10515600" cy="1463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dirty="0">
                <a:ln>
                  <a:noFill/>
                </a:ln>
                <a:solidFill>
                  <a:srgbClr val="C9D2DF"/>
                </a:solidFill>
                <a:effectLst/>
                <a:uLnTx/>
                <a:uFillTx/>
                <a:latin typeface="Arial Nova" panose="020B0504020202020204" pitchFamily="34" charset="0"/>
                <a:ea typeface="Arial" pitchFamily="34" charset="-122"/>
                <a:cs typeface="Arial" pitchFamily="34" charset="-120"/>
              </a:rPr>
              <a:t>Running 24/7, filling one position means hiring four people — one on each crew.</a:t>
            </a:r>
            <a:endParaRPr kumimoji="0" lang="en-US" sz="1800" b="0" i="0" u="none" strike="noStrike" kern="1200" cap="none" spc="0" normalizeH="0" baseline="0" noProof="0" dirty="0">
              <a:ln>
                <a:noFill/>
              </a:ln>
              <a:solidFill>
                <a:prstClr val="black"/>
              </a:solidFill>
              <a:effectLst/>
              <a:uLnTx/>
              <a:uFillTx/>
              <a:latin typeface="Arial Nova" panose="020B05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dirty="0">
                <a:ln>
                  <a:noFill/>
                </a:ln>
                <a:solidFill>
                  <a:srgbClr val="C9D2DF"/>
                </a:solidFill>
                <a:effectLst/>
                <a:uLnTx/>
                <a:uFillTx/>
                <a:latin typeface="Arial Nova" panose="020B0504020202020204" pitchFamily="34" charset="0"/>
                <a:ea typeface="Arial" pitchFamily="34" charset="-122"/>
                <a:cs typeface="Arial" pitchFamily="34" charset="-120"/>
              </a:rPr>
              <a:t>A robot doesn't work a shift. It doesn't rotate, doesn't call off, doesn't want weekends.</a:t>
            </a:r>
            <a:endParaRPr kumimoji="0" lang="en-US" sz="1800" b="0" i="0" u="none" strike="noStrike" kern="1200" cap="none" spc="0" normalizeH="0" baseline="0" noProof="0" dirty="0">
              <a:ln>
                <a:noFill/>
              </a:ln>
              <a:solidFill>
                <a:prstClr val="black"/>
              </a:solidFill>
              <a:effectLst/>
              <a:uLnTx/>
              <a:uFillTx/>
              <a:latin typeface="Arial Nova" panose="020B05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dirty="0">
                <a:ln>
                  <a:noFill/>
                </a:ln>
                <a:solidFill>
                  <a:srgbClr val="C9D2DF"/>
                </a:solidFill>
                <a:effectLst/>
                <a:uLnTx/>
                <a:uFillTx/>
                <a:latin typeface="Arial Nova" panose="020B0504020202020204" pitchFamily="34" charset="0"/>
                <a:ea typeface="Arial" pitchFamily="34" charset="-122"/>
                <a:cs typeface="Arial" pitchFamily="34" charset="-120"/>
              </a:rPr>
              <a:t>One robot covers the position on all four crews.</a:t>
            </a:r>
            <a:endParaRPr kumimoji="0" lang="en-US" sz="1800" b="0" i="0" u="none" strike="noStrike" kern="1200" cap="none" spc="0" normalizeH="0" baseline="0" noProof="0" dirty="0">
              <a:ln>
                <a:noFill/>
              </a:ln>
              <a:solidFill>
                <a:prstClr val="black"/>
              </a:solidFill>
              <a:effectLst/>
              <a:uLnTx/>
              <a:uFillTx/>
              <a:latin typeface="Arial Nova" panose="020B0504020202020204" pitchFamily="34" charset="0"/>
            </a:endParaRPr>
          </a:p>
        </p:txBody>
      </p:sp>
      <p:sp>
        <p:nvSpPr>
          <p:cNvPr id="5" name="Text 3">
            <a:extLst>
              <a:ext uri="{FF2B5EF4-FFF2-40B4-BE49-F238E27FC236}">
                <a16:creationId xmlns:a16="http://schemas.microsoft.com/office/drawing/2014/main" id="{4F69DE2E-3F41-A7B0-D6A4-9DC7BB767ED6}"/>
              </a:ext>
            </a:extLst>
          </p:cNvPr>
          <p:cNvSpPr txBox="1"/>
          <p:nvPr/>
        </p:nvSpPr>
        <p:spPr>
          <a:xfrm>
            <a:off x="822960" y="4647894"/>
            <a:ext cx="105156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u="none" strike="noStrike" kern="1200" cap="none" spc="0" normalizeH="0" baseline="0" noProof="0" dirty="0">
                <a:ln>
                  <a:noFill/>
                </a:ln>
                <a:solidFill>
                  <a:srgbClr val="C9A227"/>
                </a:solidFill>
                <a:effectLst/>
                <a:uLnTx/>
                <a:uFillTx/>
                <a:latin typeface="Arial Nova" panose="020B0504020202020204" pitchFamily="34" charset="0"/>
                <a:ea typeface="Georgia" pitchFamily="34" charset="-122"/>
                <a:cs typeface="Georgia" pitchFamily="34" charset="-120"/>
              </a:rPr>
              <a:t>A robot never replaces just one person. In a 24/7 operation, it replaces four.</a:t>
            </a:r>
            <a:endParaRPr kumimoji="0" lang="en-US" sz="2000" u="none" strike="noStrike" kern="1200" cap="none" spc="0" normalizeH="0" baseline="0" noProof="0" dirty="0">
              <a:ln>
                <a:noFill/>
              </a:ln>
              <a:solidFill>
                <a:prstClr val="black"/>
              </a:solidFill>
              <a:effectLst/>
              <a:uLnTx/>
              <a:uFillTx/>
              <a:latin typeface="Arial Nova" panose="020B0504020202020204" pitchFamily="34" charset="0"/>
            </a:endParaRPr>
          </a:p>
        </p:txBody>
      </p:sp>
      <p:pic>
        <p:nvPicPr>
          <p:cNvPr id="6" name="Picture 5">
            <a:extLst>
              <a:ext uri="{FF2B5EF4-FFF2-40B4-BE49-F238E27FC236}">
                <a16:creationId xmlns:a16="http://schemas.microsoft.com/office/drawing/2014/main" id="{BAC97ABE-E0C6-5785-A0FE-9D37253A8ACA}"/>
              </a:ext>
            </a:extLst>
          </p:cNvPr>
          <p:cNvPicPr>
            <a:picLocks noChangeAspect="1"/>
          </p:cNvPicPr>
          <p:nvPr/>
        </p:nvPicPr>
        <p:blipFill>
          <a:blip r:embed="rId3"/>
          <a:stretch>
            <a:fillRect/>
          </a:stretch>
        </p:blipFill>
        <p:spPr>
          <a:xfrm>
            <a:off x="750026" y="5907634"/>
            <a:ext cx="833114" cy="833114"/>
          </a:xfrm>
          <a:prstGeom prst="rect">
            <a:avLst/>
          </a:prstGeom>
        </p:spPr>
      </p:pic>
    </p:spTree>
    <p:extLst>
      <p:ext uri="{BB962C8B-B14F-4D97-AF65-F5344CB8AC3E}">
        <p14:creationId xmlns:p14="http://schemas.microsoft.com/office/powerpoint/2010/main" val="28033913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6AC571B-C458-751A-D3FD-2109044FA87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A25C289-3B02-B234-8BF5-5A9D87A545F7}"/>
              </a:ext>
            </a:extLst>
          </p:cNvPr>
          <p:cNvSpPr txBox="1"/>
          <p:nvPr/>
        </p:nvSpPr>
        <p:spPr>
          <a:xfrm>
            <a:off x="548640" y="384048"/>
            <a:ext cx="11091672"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chemeClr val="accent1">
                    <a:lumMod val="75000"/>
                  </a:schemeClr>
                </a:solidFill>
                <a:effectLst/>
                <a:uLnTx/>
                <a:uFillTx/>
                <a:latin typeface="Arial Nova" panose="020B0504020202020204" pitchFamily="34" charset="0"/>
                <a:ea typeface="Georgia" pitchFamily="34" charset="-122"/>
                <a:cs typeface="Georgia" pitchFamily="34" charset="-120"/>
              </a:rPr>
              <a:t>Cover one position, around the clock</a:t>
            </a:r>
            <a:endParaRPr kumimoji="0" lang="en-US" sz="2800" b="0" i="0" u="none" strike="noStrike" kern="1200" cap="none" spc="0" normalizeH="0" baseline="0" noProof="0" dirty="0">
              <a:ln>
                <a:noFill/>
              </a:ln>
              <a:solidFill>
                <a:schemeClr val="accent1">
                  <a:lumMod val="75000"/>
                </a:schemeClr>
              </a:solidFill>
              <a:effectLst/>
              <a:uLnTx/>
              <a:uFillTx/>
              <a:latin typeface="Arial Nova" panose="020B0504020202020204" pitchFamily="34" charset="0"/>
            </a:endParaRPr>
          </a:p>
        </p:txBody>
      </p:sp>
      <p:sp>
        <p:nvSpPr>
          <p:cNvPr id="3" name="Text 1">
            <a:extLst>
              <a:ext uri="{FF2B5EF4-FFF2-40B4-BE49-F238E27FC236}">
                <a16:creationId xmlns:a16="http://schemas.microsoft.com/office/drawing/2014/main" id="{34165C1E-384B-7209-E37D-95DF31DE9A80}"/>
              </a:ext>
            </a:extLst>
          </p:cNvPr>
          <p:cNvSpPr txBox="1"/>
          <p:nvPr/>
        </p:nvSpPr>
        <p:spPr>
          <a:xfrm>
            <a:off x="548640" y="6473952"/>
            <a:ext cx="11091672"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67085"/>
                </a:solidFill>
                <a:effectLst/>
                <a:uLnTx/>
                <a:uFillTx/>
                <a:latin typeface="Arial" pitchFamily="34" charset="0"/>
                <a:ea typeface="Arial" pitchFamily="34" charset="-122"/>
                <a:cs typeface="Arial" pitchFamily="34" charset="-120"/>
              </a:rPr>
              <a:t>Shiftwork Solutions LLC  |  (415) 265-1621  |  www.shift-work.com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28" name="Table 0">
            <a:extLst>
              <a:ext uri="{FF2B5EF4-FFF2-40B4-BE49-F238E27FC236}">
                <a16:creationId xmlns:a16="http://schemas.microsoft.com/office/drawing/2014/main" id="{2330C344-E924-6BDB-E34C-7EEB0E07E8A7}"/>
              </a:ext>
            </a:extLst>
          </p:cNvPr>
          <p:cNvGraphicFramePr>
            <a:graphicFrameLocks noGrp="1"/>
          </p:cNvGraphicFramePr>
          <p:nvPr>
            <p:extLst>
              <p:ext uri="{D42A27DB-BD31-4B8C-83A1-F6EECF244321}">
                <p14:modId xmlns:p14="http://schemas.microsoft.com/office/powerpoint/2010/main" val="364289173"/>
              </p:ext>
            </p:extLst>
          </p:nvPr>
        </p:nvGraphicFramePr>
        <p:xfrm>
          <a:off x="548640" y="1467908"/>
          <a:ext cx="11064240" cy="2057400"/>
        </p:xfrm>
        <a:graphic>
          <a:graphicData uri="http://schemas.openxmlformats.org/drawingml/2006/table">
            <a:tbl>
              <a:tblPr/>
              <a:tblGrid>
                <a:gridCol w="210312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4663440">
                  <a:extLst>
                    <a:ext uri="{9D8B030D-6E8A-4147-A177-3AD203B41FA5}">
                      <a16:colId xmlns:a16="http://schemas.microsoft.com/office/drawing/2014/main" val="20002"/>
                    </a:ext>
                  </a:extLst>
                </a:gridCol>
              </a:tblGrid>
              <a:tr h="685800">
                <a:tc>
                  <a:txBody>
                    <a:bodyPr/>
                    <a:lstStyle/>
                    <a:p>
                      <a:pPr marL="0" indent="0">
                        <a:buNone/>
                      </a:pPr>
                      <a:endParaRPr lang="en-US" sz="1500" dirty="0">
                        <a:latin typeface="Arial" charset="0"/>
                        <a:ea typeface="Arial" charset="0"/>
                        <a:cs typeface="Arial" charset="0"/>
                      </a:endParaRPr>
                    </a:p>
                  </a:txBody>
                  <a:tcPr marT="91440" marB="9144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6283F"/>
                    </a:solidFill>
                  </a:tcPr>
                </a:tc>
                <a:tc>
                  <a:txBody>
                    <a:bodyPr/>
                    <a:lstStyle/>
                    <a:p>
                      <a:pPr marL="0" indent="0">
                        <a:buNone/>
                      </a:pPr>
                      <a:r>
                        <a:rPr lang="en-US" sz="1500" b="1" dirty="0">
                          <a:solidFill>
                            <a:srgbClr val="FFFFFF"/>
                          </a:solidFill>
                          <a:latin typeface="Arial" pitchFamily="34" charset="0"/>
                          <a:ea typeface="Arial" pitchFamily="34" charset="-122"/>
                          <a:cs typeface="Arial" pitchFamily="34" charset="-120"/>
                        </a:rPr>
                        <a:t>With people</a:t>
                      </a:r>
                      <a:endParaRPr lang="en-US" sz="1500" dirty="0">
                        <a:latin typeface="Arial" charset="0"/>
                        <a:ea typeface="Arial" charset="0"/>
                        <a:cs typeface="Arial" charset="0"/>
                      </a:endParaRPr>
                    </a:p>
                  </a:txBody>
                  <a:tcPr marT="91440" marB="9144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6283F"/>
                    </a:solidFill>
                  </a:tcPr>
                </a:tc>
                <a:tc>
                  <a:txBody>
                    <a:bodyPr/>
                    <a:lstStyle/>
                    <a:p>
                      <a:pPr marL="0" indent="0">
                        <a:buNone/>
                      </a:pPr>
                      <a:r>
                        <a:rPr lang="en-US" sz="1500" b="1" dirty="0">
                          <a:solidFill>
                            <a:srgbClr val="FFFFFF"/>
                          </a:solidFill>
                          <a:latin typeface="Arial" pitchFamily="34" charset="0"/>
                          <a:ea typeface="Arial" pitchFamily="34" charset="-122"/>
                          <a:cs typeface="Arial" pitchFamily="34" charset="-120"/>
                        </a:rPr>
                        <a:t>With one robot</a:t>
                      </a:r>
                      <a:endParaRPr lang="en-US" sz="1500" dirty="0">
                        <a:latin typeface="Arial" charset="0"/>
                        <a:ea typeface="Arial" charset="0"/>
                        <a:cs typeface="Arial" charset="0"/>
                      </a:endParaRPr>
                    </a:p>
                  </a:txBody>
                  <a:tcPr marT="91440" marB="9144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6283F"/>
                    </a:solidFill>
                  </a:tcPr>
                </a:tc>
                <a:extLst>
                  <a:ext uri="{0D108BD9-81ED-4DB2-BD59-A6C34878D82A}">
                    <a16:rowId xmlns:a16="http://schemas.microsoft.com/office/drawing/2014/main" val="10000"/>
                  </a:ext>
                </a:extLst>
              </a:tr>
              <a:tr h="685800">
                <a:tc>
                  <a:txBody>
                    <a:bodyPr/>
                    <a:lstStyle/>
                    <a:p>
                      <a:pPr marL="0" indent="0">
                        <a:buNone/>
                      </a:pPr>
                      <a:r>
                        <a:rPr lang="en-US" sz="1500" dirty="0">
                          <a:solidFill>
                            <a:schemeClr val="accent1">
                              <a:lumMod val="50000"/>
                            </a:schemeClr>
                          </a:solidFill>
                          <a:latin typeface="Arial" pitchFamily="34" charset="0"/>
                          <a:ea typeface="Arial" pitchFamily="34" charset="-122"/>
                          <a:cs typeface="Arial" pitchFamily="34" charset="-120"/>
                        </a:rPr>
                        <a:t>What it takes</a:t>
                      </a:r>
                      <a:endParaRPr lang="en-US" sz="1500" dirty="0">
                        <a:solidFill>
                          <a:schemeClr val="accent1">
                            <a:lumMod val="50000"/>
                          </a:schemeClr>
                        </a:solidFill>
                        <a:latin typeface="Arial" charset="0"/>
                        <a:ea typeface="Arial" charset="0"/>
                        <a:cs typeface="Arial" charset="0"/>
                      </a:endParaRPr>
                    </a:p>
                  </a:txBody>
                  <a:tcPr marT="91440" marB="9144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5F8"/>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         4 employees — one per crew</a:t>
                      </a:r>
                      <a:endParaRPr lang="en-US" sz="1500" dirty="0">
                        <a:latin typeface="Arial" charset="0"/>
                        <a:ea typeface="Arial" charset="0"/>
                        <a:cs typeface="Arial" charset="0"/>
                      </a:endParaRPr>
                    </a:p>
                  </a:txBody>
                  <a:tcPr marT="91440" marB="9144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5F8"/>
                    </a:solidFill>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           1 robot, mass-produced: $30–40,000 to buy</a:t>
                      </a:r>
                      <a:endParaRPr lang="en-US" sz="1500" dirty="0">
                        <a:latin typeface="Arial" charset="0"/>
                        <a:ea typeface="Arial" charset="0"/>
                        <a:cs typeface="Arial" charset="0"/>
                      </a:endParaRPr>
                    </a:p>
                  </a:txBody>
                  <a:tcPr marT="91440" marB="9144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685800">
                <a:tc>
                  <a:txBody>
                    <a:bodyPr/>
                    <a:lstStyle/>
                    <a:p>
                      <a:pPr marL="0" indent="0">
                        <a:buNone/>
                      </a:pPr>
                      <a:r>
                        <a:rPr lang="en-US" sz="1500" dirty="0">
                          <a:solidFill>
                            <a:schemeClr val="accent1">
                              <a:lumMod val="50000"/>
                            </a:schemeClr>
                          </a:solidFill>
                          <a:latin typeface="Arial" pitchFamily="34" charset="0"/>
                          <a:ea typeface="Arial" pitchFamily="34" charset="-122"/>
                          <a:cs typeface="Arial" pitchFamily="34" charset="-120"/>
                        </a:rPr>
                        <a:t>Cost per year</a:t>
                      </a:r>
                      <a:endParaRPr lang="en-US" sz="1500" dirty="0">
                        <a:solidFill>
                          <a:schemeClr val="accent1">
                            <a:lumMod val="50000"/>
                          </a:schemeClr>
                        </a:solidFill>
                        <a:latin typeface="Arial" charset="0"/>
                        <a:ea typeface="Arial" charset="0"/>
                        <a:cs typeface="Arial" charset="0"/>
                      </a:endParaRPr>
                    </a:p>
                  </a:txBody>
                  <a:tcPr marT="91440" marB="9144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4 × $120,000  =  $480,000</a:t>
                      </a:r>
                      <a:endParaRPr lang="en-US" sz="1500" dirty="0">
                        <a:latin typeface="Arial" charset="0"/>
                        <a:ea typeface="Arial" charset="0"/>
                        <a:cs typeface="Arial" charset="0"/>
                      </a:endParaRPr>
                    </a:p>
                  </a:txBody>
                  <a:tcPr marT="91440" marB="9144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buNone/>
                      </a:pPr>
                      <a:r>
                        <a:rPr lang="en-US" sz="1500" dirty="0">
                          <a:solidFill>
                            <a:srgbClr val="222222"/>
                          </a:solidFill>
                          <a:latin typeface="Arial" pitchFamily="34" charset="0"/>
                          <a:ea typeface="Arial" pitchFamily="34" charset="-122"/>
                          <a:cs typeface="Arial" pitchFamily="34" charset="-120"/>
                        </a:rPr>
                        <a:t>~$18,000 </a:t>
                      </a:r>
                    </a:p>
                    <a:p>
                      <a:pPr marL="0" indent="0">
                        <a:buNone/>
                      </a:pPr>
                      <a:r>
                        <a:rPr lang="en-US" sz="1500" dirty="0">
                          <a:solidFill>
                            <a:srgbClr val="222222"/>
                          </a:solidFill>
                          <a:latin typeface="Arial" pitchFamily="34" charset="0"/>
                          <a:ea typeface="Arial" pitchFamily="34" charset="-122"/>
                          <a:cs typeface="Arial" pitchFamily="34" charset="-120"/>
                        </a:rPr>
                        <a:t>(5-year life + ~$10,000/yr maintenance)</a:t>
                      </a:r>
                      <a:endParaRPr lang="en-US" sz="1500" dirty="0">
                        <a:latin typeface="Arial" charset="0"/>
                        <a:ea typeface="Arial" charset="0"/>
                        <a:cs typeface="Arial" charset="0"/>
                      </a:endParaRPr>
                    </a:p>
                  </a:txBody>
                  <a:tcPr marT="91440" marB="9144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 name="Text 2">
            <a:extLst>
              <a:ext uri="{FF2B5EF4-FFF2-40B4-BE49-F238E27FC236}">
                <a16:creationId xmlns:a16="http://schemas.microsoft.com/office/drawing/2014/main" id="{23F166FF-7B2A-EFC6-C554-4A79DBFAEF5A}"/>
              </a:ext>
            </a:extLst>
          </p:cNvPr>
          <p:cNvSpPr txBox="1"/>
          <p:nvPr/>
        </p:nvSpPr>
        <p:spPr>
          <a:xfrm>
            <a:off x="548640" y="3931920"/>
            <a:ext cx="11064240" cy="1828800"/>
          </a:xfrm>
          <a:prstGeom prst="rect">
            <a:avLst/>
          </a:prstGeom>
          <a:noFill/>
          <a:ln/>
        </p:spPr>
        <p:txBody>
          <a:bodyPr wrap="square" lIns="0" tIns="0" rIns="0" bIns="0" rtlCol="0" anchor="t"/>
          <a:lstStyle/>
          <a:p>
            <a:pPr marL="342900" marR="0" lvl="0" indent="-342900" algn="l" defTabSz="914400" rtl="0" eaLnBrk="1" fontAlgn="auto" latinLnBrk="0" hangingPunct="1">
              <a:lnSpc>
                <a:spcPct val="100000"/>
              </a:lnSpc>
              <a:spcBef>
                <a:spcPts val="0"/>
              </a:spcBef>
              <a:spcAft>
                <a:spcPts val="1000"/>
              </a:spcAft>
              <a:buClrTx/>
              <a:buSzPct val="100000"/>
              <a:buFontTx/>
              <a:buChar char="•"/>
              <a:tabLst/>
              <a:defRPr/>
            </a:pPr>
            <a:r>
              <a:rPr kumimoji="0" lang="en-US" sz="16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Roughly $480,000 a year versus roughly $18,000 — for the same around-the-clock coverage.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1000"/>
              </a:spcAft>
              <a:buClrTx/>
              <a:buSzPct val="100000"/>
              <a:buFontTx/>
              <a:buChar char="•"/>
              <a:tabLst/>
              <a:defRPr/>
            </a:pPr>
            <a:r>
              <a:rPr kumimoji="0" lang="en-US" sz="1600" b="1"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The robot costs about the same as one employee to buy — and then it covers all four crews.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8" name="Graphic 7" descr="Robot">
            <a:extLst>
              <a:ext uri="{FF2B5EF4-FFF2-40B4-BE49-F238E27FC236}">
                <a16:creationId xmlns:a16="http://schemas.microsoft.com/office/drawing/2014/main" id="{C5658DE8-A59D-216D-0E24-9ED9EB7923A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078639" y="2246217"/>
            <a:ext cx="463613" cy="463613"/>
          </a:xfrm>
          <a:prstGeom prst="rect">
            <a:avLst/>
          </a:prstGeom>
        </p:spPr>
      </p:pic>
      <p:pic>
        <p:nvPicPr>
          <p:cNvPr id="14" name="Graphic 13" descr="Construction worker">
            <a:extLst>
              <a:ext uri="{FF2B5EF4-FFF2-40B4-BE49-F238E27FC236}">
                <a16:creationId xmlns:a16="http://schemas.microsoft.com/office/drawing/2014/main" id="{0C1BCA7C-7016-5ED4-5337-3C61055381F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77236" y="2289411"/>
            <a:ext cx="516340" cy="516340"/>
          </a:xfrm>
          <a:prstGeom prst="rect">
            <a:avLst/>
          </a:prstGeom>
        </p:spPr>
      </p:pic>
    </p:spTree>
    <p:extLst>
      <p:ext uri="{BB962C8B-B14F-4D97-AF65-F5344CB8AC3E}">
        <p14:creationId xmlns:p14="http://schemas.microsoft.com/office/powerpoint/2010/main" val="2289858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72F03DD-98E6-366A-A84F-00D78145109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6AD77AF-AA32-EF98-D4F9-A2FEE985DAE7}"/>
              </a:ext>
            </a:extLst>
          </p:cNvPr>
          <p:cNvSpPr txBox="1"/>
          <p:nvPr/>
        </p:nvSpPr>
        <p:spPr>
          <a:xfrm>
            <a:off x="548640" y="384048"/>
            <a:ext cx="11091672"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chemeClr val="accent1">
                    <a:lumMod val="75000"/>
                  </a:schemeClr>
                </a:solidFill>
                <a:effectLst/>
                <a:uLnTx/>
                <a:uFillTx/>
                <a:latin typeface="Arial Nova" panose="020B0504020202020204" pitchFamily="34" charset="0"/>
                <a:ea typeface="Georgia" pitchFamily="34" charset="-122"/>
                <a:cs typeface="Georgia" pitchFamily="34" charset="-120"/>
              </a:rPr>
              <a:t>Now take that back to four hundred people</a:t>
            </a:r>
            <a:endParaRPr kumimoji="0" lang="en-US" sz="2800" b="0" i="0" u="none" strike="noStrike" kern="1200" cap="none" spc="0" normalizeH="0" baseline="0" noProof="0" dirty="0">
              <a:ln>
                <a:noFill/>
              </a:ln>
              <a:solidFill>
                <a:schemeClr val="accent1">
                  <a:lumMod val="75000"/>
                </a:schemeClr>
              </a:solidFill>
              <a:effectLst/>
              <a:uLnTx/>
              <a:uFillTx/>
              <a:latin typeface="Arial Nova" panose="020B0504020202020204" pitchFamily="34" charset="0"/>
            </a:endParaRPr>
          </a:p>
        </p:txBody>
      </p:sp>
      <p:sp>
        <p:nvSpPr>
          <p:cNvPr id="3" name="Text 1">
            <a:extLst>
              <a:ext uri="{FF2B5EF4-FFF2-40B4-BE49-F238E27FC236}">
                <a16:creationId xmlns:a16="http://schemas.microsoft.com/office/drawing/2014/main" id="{6CFF2E55-BB33-BCB5-5E23-904057669133}"/>
              </a:ext>
            </a:extLst>
          </p:cNvPr>
          <p:cNvSpPr txBox="1"/>
          <p:nvPr/>
        </p:nvSpPr>
        <p:spPr>
          <a:xfrm>
            <a:off x="548640" y="6473952"/>
            <a:ext cx="11091672"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67085"/>
                </a:solidFill>
                <a:effectLst/>
                <a:uLnTx/>
                <a:uFillTx/>
                <a:latin typeface="Arial" pitchFamily="34" charset="0"/>
                <a:ea typeface="Arial" pitchFamily="34" charset="-122"/>
                <a:cs typeface="Arial" pitchFamily="34" charset="-120"/>
              </a:rPr>
              <a:t>Shiftwork Solutions LLC  |  (415) 265-1621  |  www.shift-work.com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a:extLst>
              <a:ext uri="{FF2B5EF4-FFF2-40B4-BE49-F238E27FC236}">
                <a16:creationId xmlns:a16="http://schemas.microsoft.com/office/drawing/2014/main" id="{89EE5042-91E0-E04A-5156-A7D2F5648DA6}"/>
              </a:ext>
            </a:extLst>
          </p:cNvPr>
          <p:cNvSpPr txBox="1"/>
          <p:nvPr/>
        </p:nvSpPr>
        <p:spPr>
          <a:xfrm>
            <a:off x="548640" y="1170432"/>
            <a:ext cx="11091672"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100 positions, four crews deep. Every position you hand to a robot takes four people off the payroll — and costs about $18,000 a year instead of $480,000.</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29" name="Table 0">
            <a:extLst>
              <a:ext uri="{FF2B5EF4-FFF2-40B4-BE49-F238E27FC236}">
                <a16:creationId xmlns:a16="http://schemas.microsoft.com/office/drawing/2014/main" id="{6B37BB69-7720-8A58-4B96-B0F471721C6C}"/>
              </a:ext>
            </a:extLst>
          </p:cNvPr>
          <p:cNvGraphicFramePr>
            <a:graphicFrameLocks noGrp="1"/>
          </p:cNvGraphicFramePr>
          <p:nvPr>
            <p:extLst>
              <p:ext uri="{D42A27DB-BD31-4B8C-83A1-F6EECF244321}">
                <p14:modId xmlns:p14="http://schemas.microsoft.com/office/powerpoint/2010/main" val="492227432"/>
              </p:ext>
            </p:extLst>
          </p:nvPr>
        </p:nvGraphicFramePr>
        <p:xfrm>
          <a:off x="777240" y="1989704"/>
          <a:ext cx="10362745" cy="3048640"/>
        </p:xfrm>
        <a:graphic>
          <a:graphicData uri="http://schemas.openxmlformats.org/drawingml/2006/table">
            <a:tbl>
              <a:tblPr/>
              <a:tblGrid>
                <a:gridCol w="2588550">
                  <a:extLst>
                    <a:ext uri="{9D8B030D-6E8A-4147-A177-3AD203B41FA5}">
                      <a16:colId xmlns:a16="http://schemas.microsoft.com/office/drawing/2014/main" val="20000"/>
                    </a:ext>
                  </a:extLst>
                </a:gridCol>
                <a:gridCol w="1554839">
                  <a:extLst>
                    <a:ext uri="{9D8B030D-6E8A-4147-A177-3AD203B41FA5}">
                      <a16:colId xmlns:a16="http://schemas.microsoft.com/office/drawing/2014/main" val="20001"/>
                    </a:ext>
                  </a:extLst>
                </a:gridCol>
                <a:gridCol w="1554839">
                  <a:extLst>
                    <a:ext uri="{9D8B030D-6E8A-4147-A177-3AD203B41FA5}">
                      <a16:colId xmlns:a16="http://schemas.microsoft.com/office/drawing/2014/main" val="20002"/>
                    </a:ext>
                  </a:extLst>
                </a:gridCol>
                <a:gridCol w="1554839">
                  <a:extLst>
                    <a:ext uri="{9D8B030D-6E8A-4147-A177-3AD203B41FA5}">
                      <a16:colId xmlns:a16="http://schemas.microsoft.com/office/drawing/2014/main" val="20003"/>
                    </a:ext>
                  </a:extLst>
                </a:gridCol>
                <a:gridCol w="1554839">
                  <a:extLst>
                    <a:ext uri="{9D8B030D-6E8A-4147-A177-3AD203B41FA5}">
                      <a16:colId xmlns:a16="http://schemas.microsoft.com/office/drawing/2014/main" val="20004"/>
                    </a:ext>
                  </a:extLst>
                </a:gridCol>
                <a:gridCol w="1554839">
                  <a:extLst>
                    <a:ext uri="{9D8B030D-6E8A-4147-A177-3AD203B41FA5}">
                      <a16:colId xmlns:a16="http://schemas.microsoft.com/office/drawing/2014/main" val="20005"/>
                    </a:ext>
                  </a:extLst>
                </a:gridCol>
              </a:tblGrid>
              <a:tr h="435520">
                <a:tc>
                  <a:txBody>
                    <a:bodyPr/>
                    <a:lstStyle/>
                    <a:p>
                      <a:pPr marL="0" indent="0" algn="ctr">
                        <a:buNone/>
                      </a:pP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6283F"/>
                    </a:solidFill>
                  </a:tcPr>
                </a:tc>
                <a:tc>
                  <a:txBody>
                    <a:bodyPr/>
                    <a:lstStyle/>
                    <a:p>
                      <a:pPr marL="0" indent="0" algn="ctr">
                        <a:buNone/>
                      </a:pPr>
                      <a:r>
                        <a:rPr lang="en-US" sz="1400" b="1" dirty="0">
                          <a:solidFill>
                            <a:srgbClr val="FFFFFF"/>
                          </a:solidFill>
                          <a:latin typeface="Arial" pitchFamily="34" charset="0"/>
                          <a:ea typeface="Arial" pitchFamily="34" charset="-122"/>
                          <a:cs typeface="Arial" pitchFamily="34" charset="-120"/>
                        </a:rPr>
                        <a:t>Today</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6283F"/>
                    </a:solidFill>
                  </a:tcPr>
                </a:tc>
                <a:tc>
                  <a:txBody>
                    <a:bodyPr/>
                    <a:lstStyle/>
                    <a:p>
                      <a:pPr marL="0" indent="0" algn="ctr">
                        <a:buNone/>
                      </a:pPr>
                      <a:r>
                        <a:rPr lang="en-US" sz="1400" b="1" dirty="0">
                          <a:solidFill>
                            <a:srgbClr val="FFFFFF"/>
                          </a:solidFill>
                          <a:latin typeface="Arial" pitchFamily="34" charset="0"/>
                          <a:ea typeface="Arial" pitchFamily="34" charset="-122"/>
                          <a:cs typeface="Arial" pitchFamily="34" charset="-120"/>
                        </a:rPr>
                        <a:t>5% robots</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6283F"/>
                    </a:solidFill>
                  </a:tcPr>
                </a:tc>
                <a:tc>
                  <a:txBody>
                    <a:bodyPr/>
                    <a:lstStyle/>
                    <a:p>
                      <a:pPr marL="0" indent="0" algn="ctr">
                        <a:buNone/>
                      </a:pPr>
                      <a:r>
                        <a:rPr lang="en-US" sz="1400" b="1" dirty="0">
                          <a:solidFill>
                            <a:srgbClr val="FFFFFF"/>
                          </a:solidFill>
                          <a:latin typeface="Arial" pitchFamily="34" charset="0"/>
                          <a:ea typeface="Arial" pitchFamily="34" charset="-122"/>
                          <a:cs typeface="Arial" pitchFamily="34" charset="-120"/>
                        </a:rPr>
                        <a:t>25% robots</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6283F"/>
                    </a:solidFill>
                  </a:tcPr>
                </a:tc>
                <a:tc>
                  <a:txBody>
                    <a:bodyPr/>
                    <a:lstStyle/>
                    <a:p>
                      <a:pPr marL="0" indent="0" algn="ctr">
                        <a:buNone/>
                      </a:pPr>
                      <a:r>
                        <a:rPr lang="en-US" sz="1400" b="1" dirty="0">
                          <a:solidFill>
                            <a:srgbClr val="FFFFFF"/>
                          </a:solidFill>
                          <a:latin typeface="Arial" pitchFamily="34" charset="0"/>
                          <a:ea typeface="Arial" pitchFamily="34" charset="-122"/>
                          <a:cs typeface="Arial" pitchFamily="34" charset="-120"/>
                        </a:rPr>
                        <a:t>50% robots</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6283F"/>
                    </a:solidFill>
                  </a:tcPr>
                </a:tc>
                <a:tc>
                  <a:txBody>
                    <a:bodyPr/>
                    <a:lstStyle/>
                    <a:p>
                      <a:pPr marL="0" indent="0" algn="ctr">
                        <a:buNone/>
                      </a:pPr>
                      <a:r>
                        <a:rPr lang="en-US" sz="1400" b="1" dirty="0">
                          <a:solidFill>
                            <a:srgbClr val="FFFFFF"/>
                          </a:solidFill>
                          <a:latin typeface="Arial" pitchFamily="34" charset="0"/>
                          <a:ea typeface="Arial" pitchFamily="34" charset="-122"/>
                          <a:cs typeface="Arial" pitchFamily="34" charset="-120"/>
                        </a:rPr>
                        <a:t>100% robots</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6283F"/>
                    </a:solidFill>
                  </a:tcPr>
                </a:tc>
                <a:extLst>
                  <a:ext uri="{0D108BD9-81ED-4DB2-BD59-A6C34878D82A}">
                    <a16:rowId xmlns:a16="http://schemas.microsoft.com/office/drawing/2014/main" val="10000"/>
                  </a:ext>
                </a:extLst>
              </a:tr>
              <a:tr h="435520">
                <a:tc>
                  <a:txBody>
                    <a:bodyPr/>
                    <a:lstStyle/>
                    <a:p>
                      <a:pPr marL="0" indent="0" algn="ctr">
                        <a:buNone/>
                      </a:pPr>
                      <a:r>
                        <a:rPr lang="en-US" sz="1400" dirty="0">
                          <a:solidFill>
                            <a:srgbClr val="222222"/>
                          </a:solidFill>
                          <a:latin typeface="Arial" pitchFamily="34" charset="0"/>
                          <a:ea typeface="Arial" pitchFamily="34" charset="-122"/>
                          <a:cs typeface="Arial" pitchFamily="34" charset="-120"/>
                        </a:rPr>
                        <a:t>Positions run by robots</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5F8"/>
                    </a:solidFill>
                  </a:tcPr>
                </a:tc>
                <a:tc>
                  <a:txBody>
                    <a:bodyPr/>
                    <a:lstStyle/>
                    <a:p>
                      <a:pPr marL="0" indent="0" algn="ctr">
                        <a:buNone/>
                      </a:pPr>
                      <a:r>
                        <a:rPr lang="en-US" sz="1400" dirty="0">
                          <a:solidFill>
                            <a:srgbClr val="222222"/>
                          </a:solidFill>
                          <a:latin typeface="Arial" pitchFamily="34" charset="0"/>
                          <a:ea typeface="Arial" pitchFamily="34" charset="-122"/>
                          <a:cs typeface="Arial" pitchFamily="34" charset="-120"/>
                        </a:rPr>
                        <a:t>0</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5F8"/>
                    </a:solidFill>
                  </a:tcPr>
                </a:tc>
                <a:tc>
                  <a:txBody>
                    <a:bodyPr/>
                    <a:lstStyle/>
                    <a:p>
                      <a:pPr marL="0" indent="0" algn="ctr">
                        <a:buNone/>
                      </a:pPr>
                      <a:r>
                        <a:rPr lang="en-US" sz="1400" dirty="0">
                          <a:solidFill>
                            <a:srgbClr val="222222"/>
                          </a:solidFill>
                          <a:latin typeface="Arial" pitchFamily="34" charset="0"/>
                          <a:ea typeface="Arial" pitchFamily="34" charset="-122"/>
                          <a:cs typeface="Arial" pitchFamily="34" charset="-120"/>
                        </a:rPr>
                        <a:t>5</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5F8"/>
                    </a:solidFill>
                  </a:tcPr>
                </a:tc>
                <a:tc>
                  <a:txBody>
                    <a:bodyPr/>
                    <a:lstStyle/>
                    <a:p>
                      <a:pPr marL="0" indent="0" algn="ctr">
                        <a:buNone/>
                      </a:pPr>
                      <a:r>
                        <a:rPr lang="en-US" sz="1400" dirty="0">
                          <a:solidFill>
                            <a:srgbClr val="222222"/>
                          </a:solidFill>
                          <a:latin typeface="Arial" pitchFamily="34" charset="0"/>
                          <a:ea typeface="Arial" pitchFamily="34" charset="-122"/>
                          <a:cs typeface="Arial" pitchFamily="34" charset="-120"/>
                        </a:rPr>
                        <a:t>25</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5F8"/>
                    </a:solidFill>
                  </a:tcPr>
                </a:tc>
                <a:tc>
                  <a:txBody>
                    <a:bodyPr/>
                    <a:lstStyle/>
                    <a:p>
                      <a:pPr marL="0" indent="0" algn="ctr">
                        <a:buNone/>
                      </a:pPr>
                      <a:r>
                        <a:rPr lang="en-US" sz="1400" dirty="0">
                          <a:solidFill>
                            <a:srgbClr val="222222"/>
                          </a:solidFill>
                          <a:latin typeface="Arial" pitchFamily="34" charset="0"/>
                          <a:ea typeface="Arial" pitchFamily="34" charset="-122"/>
                          <a:cs typeface="Arial" pitchFamily="34" charset="-120"/>
                        </a:rPr>
                        <a:t>50</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5F8"/>
                    </a:solidFill>
                  </a:tcPr>
                </a:tc>
                <a:tc>
                  <a:txBody>
                    <a:bodyPr/>
                    <a:lstStyle/>
                    <a:p>
                      <a:pPr marL="0" indent="0" algn="ctr">
                        <a:buNone/>
                      </a:pPr>
                      <a:r>
                        <a:rPr lang="en-US" sz="1400" dirty="0">
                          <a:solidFill>
                            <a:srgbClr val="222222"/>
                          </a:solidFill>
                          <a:latin typeface="Arial" pitchFamily="34" charset="0"/>
                          <a:ea typeface="Arial" pitchFamily="34" charset="-122"/>
                          <a:cs typeface="Arial" pitchFamily="34" charset="-120"/>
                        </a:rPr>
                        <a:t>100</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5F8"/>
                    </a:solidFill>
                  </a:tcPr>
                </a:tc>
                <a:extLst>
                  <a:ext uri="{0D108BD9-81ED-4DB2-BD59-A6C34878D82A}">
                    <a16:rowId xmlns:a16="http://schemas.microsoft.com/office/drawing/2014/main" val="10001"/>
                  </a:ext>
                </a:extLst>
              </a:tr>
              <a:tr h="435520">
                <a:tc>
                  <a:txBody>
                    <a:bodyPr/>
                    <a:lstStyle/>
                    <a:p>
                      <a:pPr marL="0" indent="0" algn="ctr">
                        <a:buNone/>
                      </a:pPr>
                      <a:r>
                        <a:rPr lang="en-US" sz="1400" dirty="0">
                          <a:solidFill>
                            <a:srgbClr val="222222"/>
                          </a:solidFill>
                          <a:latin typeface="Arial" pitchFamily="34" charset="0"/>
                          <a:ea typeface="Arial" pitchFamily="34" charset="-122"/>
                          <a:cs typeface="Arial" pitchFamily="34" charset="-120"/>
                        </a:rPr>
                        <a:t>People on the payroll</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400" dirty="0">
                          <a:solidFill>
                            <a:srgbClr val="222222"/>
                          </a:solidFill>
                          <a:latin typeface="Arial" pitchFamily="34" charset="0"/>
                          <a:ea typeface="Arial" pitchFamily="34" charset="-122"/>
                          <a:cs typeface="Arial" pitchFamily="34" charset="-120"/>
                        </a:rPr>
                        <a:t>400</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400" dirty="0">
                          <a:solidFill>
                            <a:srgbClr val="222222"/>
                          </a:solidFill>
                          <a:latin typeface="Arial" pitchFamily="34" charset="0"/>
                          <a:ea typeface="Arial" pitchFamily="34" charset="-122"/>
                          <a:cs typeface="Arial" pitchFamily="34" charset="-120"/>
                        </a:rPr>
                        <a:t>380</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400" dirty="0">
                          <a:solidFill>
                            <a:srgbClr val="222222"/>
                          </a:solidFill>
                          <a:latin typeface="Arial" pitchFamily="34" charset="0"/>
                          <a:ea typeface="Arial" pitchFamily="34" charset="-122"/>
                          <a:cs typeface="Arial" pitchFamily="34" charset="-120"/>
                        </a:rPr>
                        <a:t>300</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400" dirty="0">
                          <a:solidFill>
                            <a:srgbClr val="222222"/>
                          </a:solidFill>
                          <a:latin typeface="Arial" pitchFamily="34" charset="0"/>
                          <a:ea typeface="Arial" pitchFamily="34" charset="-122"/>
                          <a:cs typeface="Arial" pitchFamily="34" charset="-120"/>
                        </a:rPr>
                        <a:t>200</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400" dirty="0">
                          <a:solidFill>
                            <a:srgbClr val="222222"/>
                          </a:solidFill>
                          <a:latin typeface="Arial" pitchFamily="34" charset="0"/>
                          <a:ea typeface="Arial" pitchFamily="34" charset="-122"/>
                          <a:cs typeface="Arial" pitchFamily="34" charset="-120"/>
                        </a:rPr>
                        <a:t>0</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2"/>
                  </a:ext>
                </a:extLst>
              </a:tr>
              <a:tr h="435520">
                <a:tc>
                  <a:txBody>
                    <a:bodyPr/>
                    <a:lstStyle/>
                    <a:p>
                      <a:pPr marL="0" indent="0" algn="ctr">
                        <a:buNone/>
                      </a:pPr>
                      <a:r>
                        <a:rPr lang="en-US" sz="1400" dirty="0">
                          <a:solidFill>
                            <a:srgbClr val="222222"/>
                          </a:solidFill>
                          <a:latin typeface="Arial" pitchFamily="34" charset="0"/>
                          <a:ea typeface="Arial" pitchFamily="34" charset="-122"/>
                          <a:cs typeface="Arial" pitchFamily="34" charset="-120"/>
                        </a:rPr>
                        <a:t>People cost / year</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5F8"/>
                    </a:solidFill>
                  </a:tcPr>
                </a:tc>
                <a:tc>
                  <a:txBody>
                    <a:bodyPr/>
                    <a:lstStyle/>
                    <a:p>
                      <a:pPr marL="0" indent="0" algn="ctr">
                        <a:buNone/>
                      </a:pPr>
                      <a:r>
                        <a:rPr lang="en-US" sz="1400" dirty="0">
                          <a:solidFill>
                            <a:srgbClr val="222222"/>
                          </a:solidFill>
                          <a:latin typeface="Arial" pitchFamily="34" charset="0"/>
                          <a:ea typeface="Arial" pitchFamily="34" charset="-122"/>
                          <a:cs typeface="Arial" pitchFamily="34" charset="-120"/>
                        </a:rPr>
                        <a:t>$48.0M</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5F8"/>
                    </a:solidFill>
                  </a:tcPr>
                </a:tc>
                <a:tc>
                  <a:txBody>
                    <a:bodyPr/>
                    <a:lstStyle/>
                    <a:p>
                      <a:pPr marL="0" indent="0" algn="ctr">
                        <a:buNone/>
                      </a:pPr>
                      <a:r>
                        <a:rPr lang="en-US" sz="1400" dirty="0">
                          <a:solidFill>
                            <a:srgbClr val="222222"/>
                          </a:solidFill>
                          <a:latin typeface="Arial" pitchFamily="34" charset="0"/>
                          <a:ea typeface="Arial" pitchFamily="34" charset="-122"/>
                          <a:cs typeface="Arial" pitchFamily="34" charset="-120"/>
                        </a:rPr>
                        <a:t>$45.6M</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5F8"/>
                    </a:solidFill>
                  </a:tcPr>
                </a:tc>
                <a:tc>
                  <a:txBody>
                    <a:bodyPr/>
                    <a:lstStyle/>
                    <a:p>
                      <a:pPr marL="0" indent="0" algn="ctr">
                        <a:buNone/>
                      </a:pPr>
                      <a:r>
                        <a:rPr lang="en-US" sz="1400" dirty="0">
                          <a:solidFill>
                            <a:srgbClr val="222222"/>
                          </a:solidFill>
                          <a:latin typeface="Arial" pitchFamily="34" charset="0"/>
                          <a:ea typeface="Arial" pitchFamily="34" charset="-122"/>
                          <a:cs typeface="Arial" pitchFamily="34" charset="-120"/>
                        </a:rPr>
                        <a:t>$36.0M</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5F8"/>
                    </a:solidFill>
                  </a:tcPr>
                </a:tc>
                <a:tc>
                  <a:txBody>
                    <a:bodyPr/>
                    <a:lstStyle/>
                    <a:p>
                      <a:pPr marL="0" indent="0" algn="ctr">
                        <a:buNone/>
                      </a:pPr>
                      <a:r>
                        <a:rPr lang="en-US" sz="1400" dirty="0">
                          <a:solidFill>
                            <a:srgbClr val="222222"/>
                          </a:solidFill>
                          <a:latin typeface="Arial" pitchFamily="34" charset="0"/>
                          <a:ea typeface="Arial" pitchFamily="34" charset="-122"/>
                          <a:cs typeface="Arial" pitchFamily="34" charset="-120"/>
                        </a:rPr>
                        <a:t>$24.0M</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5F8"/>
                    </a:solidFill>
                  </a:tcPr>
                </a:tc>
                <a:tc>
                  <a:txBody>
                    <a:bodyPr/>
                    <a:lstStyle/>
                    <a:p>
                      <a:pPr marL="0" indent="0" algn="ctr">
                        <a:buNone/>
                      </a:pPr>
                      <a:r>
                        <a:rPr lang="en-US" sz="1400" dirty="0">
                          <a:solidFill>
                            <a:srgbClr val="222222"/>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5F8"/>
                    </a:solidFill>
                  </a:tcPr>
                </a:tc>
                <a:extLst>
                  <a:ext uri="{0D108BD9-81ED-4DB2-BD59-A6C34878D82A}">
                    <a16:rowId xmlns:a16="http://schemas.microsoft.com/office/drawing/2014/main" val="10003"/>
                  </a:ext>
                </a:extLst>
              </a:tr>
              <a:tr h="435520">
                <a:tc>
                  <a:txBody>
                    <a:bodyPr/>
                    <a:lstStyle/>
                    <a:p>
                      <a:pPr marL="0" indent="0" algn="ctr">
                        <a:buNone/>
                      </a:pPr>
                      <a:r>
                        <a:rPr lang="en-US" sz="1400" dirty="0">
                          <a:solidFill>
                            <a:srgbClr val="222222"/>
                          </a:solidFill>
                          <a:latin typeface="Arial" pitchFamily="34" charset="0"/>
                          <a:ea typeface="Arial" pitchFamily="34" charset="-122"/>
                          <a:cs typeface="Arial" pitchFamily="34" charset="-120"/>
                        </a:rPr>
                        <a:t>Robot cost / year</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400" dirty="0">
                          <a:solidFill>
                            <a:srgbClr val="222222"/>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400" dirty="0">
                          <a:solidFill>
                            <a:srgbClr val="222222"/>
                          </a:solidFill>
                          <a:latin typeface="Arial" pitchFamily="34" charset="0"/>
                          <a:ea typeface="Arial" pitchFamily="34" charset="-122"/>
                          <a:cs typeface="Arial" pitchFamily="34" charset="-120"/>
                        </a:rPr>
                        <a:t>$0.1M</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400" dirty="0">
                          <a:solidFill>
                            <a:srgbClr val="222222"/>
                          </a:solidFill>
                          <a:latin typeface="Arial" pitchFamily="34" charset="0"/>
                          <a:ea typeface="Arial" pitchFamily="34" charset="-122"/>
                          <a:cs typeface="Arial" pitchFamily="34" charset="-120"/>
                        </a:rPr>
                        <a:t>$0.5M</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400" dirty="0">
                          <a:solidFill>
                            <a:srgbClr val="222222"/>
                          </a:solidFill>
                          <a:latin typeface="Arial" pitchFamily="34" charset="0"/>
                          <a:ea typeface="Arial" pitchFamily="34" charset="-122"/>
                          <a:cs typeface="Arial" pitchFamily="34" charset="-120"/>
                        </a:rPr>
                        <a:t>$0.9M</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400" dirty="0">
                          <a:solidFill>
                            <a:srgbClr val="222222"/>
                          </a:solidFill>
                          <a:latin typeface="Arial" pitchFamily="34" charset="0"/>
                          <a:ea typeface="Arial" pitchFamily="34" charset="-122"/>
                          <a:cs typeface="Arial" pitchFamily="34" charset="-120"/>
                        </a:rPr>
                        <a:t>$1.8M</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4"/>
                  </a:ext>
                </a:extLst>
              </a:tr>
              <a:tr h="435520">
                <a:tc>
                  <a:txBody>
                    <a:bodyPr/>
                    <a:lstStyle/>
                    <a:p>
                      <a:pPr marL="0" indent="0" algn="ctr">
                        <a:buNone/>
                      </a:pPr>
                      <a:r>
                        <a:rPr lang="en-US" sz="1400" dirty="0">
                          <a:solidFill>
                            <a:srgbClr val="222222"/>
                          </a:solidFill>
                          <a:latin typeface="Arial" pitchFamily="34" charset="0"/>
                          <a:ea typeface="Arial" pitchFamily="34" charset="-122"/>
                          <a:cs typeface="Arial" pitchFamily="34" charset="-120"/>
                        </a:rPr>
                        <a:t>Total labor cost / year</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5F8"/>
                    </a:solidFill>
                  </a:tcPr>
                </a:tc>
                <a:tc>
                  <a:txBody>
                    <a:bodyPr/>
                    <a:lstStyle/>
                    <a:p>
                      <a:pPr marL="0" indent="0" algn="ctr">
                        <a:buNone/>
                      </a:pPr>
                      <a:r>
                        <a:rPr lang="en-US" sz="1400" dirty="0">
                          <a:solidFill>
                            <a:srgbClr val="222222"/>
                          </a:solidFill>
                          <a:latin typeface="Arial" pitchFamily="34" charset="0"/>
                          <a:ea typeface="Arial" pitchFamily="34" charset="-122"/>
                          <a:cs typeface="Arial" pitchFamily="34" charset="-120"/>
                        </a:rPr>
                        <a:t>$48.0M</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5F8"/>
                    </a:solidFill>
                  </a:tcPr>
                </a:tc>
                <a:tc>
                  <a:txBody>
                    <a:bodyPr/>
                    <a:lstStyle/>
                    <a:p>
                      <a:pPr marL="0" indent="0" algn="ctr">
                        <a:buNone/>
                      </a:pPr>
                      <a:r>
                        <a:rPr lang="en-US" sz="1400" dirty="0">
                          <a:solidFill>
                            <a:srgbClr val="222222"/>
                          </a:solidFill>
                          <a:latin typeface="Arial" pitchFamily="34" charset="0"/>
                          <a:ea typeface="Arial" pitchFamily="34" charset="-122"/>
                          <a:cs typeface="Arial" pitchFamily="34" charset="-120"/>
                        </a:rPr>
                        <a:t>$45.7M</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5F8"/>
                    </a:solidFill>
                  </a:tcPr>
                </a:tc>
                <a:tc>
                  <a:txBody>
                    <a:bodyPr/>
                    <a:lstStyle/>
                    <a:p>
                      <a:pPr marL="0" indent="0" algn="ctr">
                        <a:buNone/>
                      </a:pPr>
                      <a:r>
                        <a:rPr lang="en-US" sz="1400" dirty="0">
                          <a:solidFill>
                            <a:srgbClr val="222222"/>
                          </a:solidFill>
                          <a:latin typeface="Arial" pitchFamily="34" charset="0"/>
                          <a:ea typeface="Arial" pitchFamily="34" charset="-122"/>
                          <a:cs typeface="Arial" pitchFamily="34" charset="-120"/>
                        </a:rPr>
                        <a:t>$36.5M</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5F8"/>
                    </a:solidFill>
                  </a:tcPr>
                </a:tc>
                <a:tc>
                  <a:txBody>
                    <a:bodyPr/>
                    <a:lstStyle/>
                    <a:p>
                      <a:pPr marL="0" indent="0" algn="ctr">
                        <a:buNone/>
                      </a:pPr>
                      <a:r>
                        <a:rPr lang="en-US" sz="1400" dirty="0">
                          <a:solidFill>
                            <a:srgbClr val="222222"/>
                          </a:solidFill>
                          <a:latin typeface="Arial" pitchFamily="34" charset="0"/>
                          <a:ea typeface="Arial" pitchFamily="34" charset="-122"/>
                          <a:cs typeface="Arial" pitchFamily="34" charset="-120"/>
                        </a:rPr>
                        <a:t>$24.9M</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5F8"/>
                    </a:solidFill>
                  </a:tcPr>
                </a:tc>
                <a:tc>
                  <a:txBody>
                    <a:bodyPr/>
                    <a:lstStyle/>
                    <a:p>
                      <a:pPr marL="0" indent="0" algn="ctr">
                        <a:buNone/>
                      </a:pPr>
                      <a:r>
                        <a:rPr lang="en-US" sz="1400" dirty="0">
                          <a:solidFill>
                            <a:srgbClr val="222222"/>
                          </a:solidFill>
                          <a:latin typeface="Arial" pitchFamily="34" charset="0"/>
                          <a:ea typeface="Arial" pitchFamily="34" charset="-122"/>
                          <a:cs typeface="Arial" pitchFamily="34" charset="-120"/>
                        </a:rPr>
                        <a:t>$1.8M</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5F8"/>
                    </a:solidFill>
                  </a:tcPr>
                </a:tc>
                <a:extLst>
                  <a:ext uri="{0D108BD9-81ED-4DB2-BD59-A6C34878D82A}">
                    <a16:rowId xmlns:a16="http://schemas.microsoft.com/office/drawing/2014/main" val="10005"/>
                  </a:ext>
                </a:extLst>
              </a:tr>
              <a:tr h="435520">
                <a:tc>
                  <a:txBody>
                    <a:bodyPr/>
                    <a:lstStyle/>
                    <a:p>
                      <a:pPr marL="0" indent="0" algn="ctr">
                        <a:buNone/>
                      </a:pPr>
                      <a:r>
                        <a:rPr lang="en-US" sz="1400" b="1" dirty="0">
                          <a:solidFill>
                            <a:srgbClr val="16283F"/>
                          </a:solidFill>
                          <a:latin typeface="Arial" pitchFamily="34" charset="0"/>
                          <a:ea typeface="Arial" pitchFamily="34" charset="-122"/>
                          <a:cs typeface="Arial" pitchFamily="34" charset="-120"/>
                        </a:rPr>
                        <a:t>SAVED PER YEAR</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AF3DC"/>
                    </a:solidFill>
                  </a:tcPr>
                </a:tc>
                <a:tc>
                  <a:txBody>
                    <a:bodyPr/>
                    <a:lstStyle/>
                    <a:p>
                      <a:pPr marL="0" indent="0" algn="ctr">
                        <a:buNone/>
                      </a:pPr>
                      <a:r>
                        <a:rPr lang="en-US" sz="1400" b="1" dirty="0">
                          <a:solidFill>
                            <a:srgbClr val="16283F"/>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AF3DC"/>
                    </a:solidFill>
                  </a:tcPr>
                </a:tc>
                <a:tc>
                  <a:txBody>
                    <a:bodyPr/>
                    <a:lstStyle/>
                    <a:p>
                      <a:pPr marL="0" indent="0" algn="ctr">
                        <a:buNone/>
                      </a:pPr>
                      <a:r>
                        <a:rPr lang="en-US" sz="1400" b="1" dirty="0">
                          <a:solidFill>
                            <a:srgbClr val="16283F"/>
                          </a:solidFill>
                          <a:latin typeface="Arial" pitchFamily="34" charset="0"/>
                          <a:ea typeface="Arial" pitchFamily="34" charset="-122"/>
                          <a:cs typeface="Arial" pitchFamily="34" charset="-120"/>
                        </a:rPr>
                        <a:t>$2.3M</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AF3DC"/>
                    </a:solidFill>
                  </a:tcPr>
                </a:tc>
                <a:tc>
                  <a:txBody>
                    <a:bodyPr/>
                    <a:lstStyle/>
                    <a:p>
                      <a:pPr marL="0" indent="0" algn="ctr">
                        <a:buNone/>
                      </a:pPr>
                      <a:r>
                        <a:rPr lang="en-US" sz="1400" b="1" dirty="0">
                          <a:solidFill>
                            <a:srgbClr val="16283F"/>
                          </a:solidFill>
                          <a:latin typeface="Arial" pitchFamily="34" charset="0"/>
                          <a:ea typeface="Arial" pitchFamily="34" charset="-122"/>
                          <a:cs typeface="Arial" pitchFamily="34" charset="-120"/>
                        </a:rPr>
                        <a:t>$11.6M</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AF3DC"/>
                    </a:solidFill>
                  </a:tcPr>
                </a:tc>
                <a:tc>
                  <a:txBody>
                    <a:bodyPr/>
                    <a:lstStyle/>
                    <a:p>
                      <a:pPr marL="0" indent="0" algn="ctr">
                        <a:buNone/>
                      </a:pPr>
                      <a:r>
                        <a:rPr lang="en-US" sz="1400" b="1" dirty="0">
                          <a:solidFill>
                            <a:srgbClr val="16283F"/>
                          </a:solidFill>
                          <a:latin typeface="Arial" pitchFamily="34" charset="0"/>
                          <a:ea typeface="Arial" pitchFamily="34" charset="-122"/>
                          <a:cs typeface="Arial" pitchFamily="34" charset="-120"/>
                        </a:rPr>
                        <a:t>$23.1M</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AF3DC"/>
                    </a:solidFill>
                  </a:tcPr>
                </a:tc>
                <a:tc>
                  <a:txBody>
                    <a:bodyPr/>
                    <a:lstStyle/>
                    <a:p>
                      <a:pPr marL="0" indent="0" algn="ctr">
                        <a:buNone/>
                      </a:pPr>
                      <a:r>
                        <a:rPr lang="en-US" sz="1400" b="1" dirty="0">
                          <a:solidFill>
                            <a:srgbClr val="16283F"/>
                          </a:solidFill>
                          <a:latin typeface="Arial" pitchFamily="34" charset="0"/>
                          <a:ea typeface="Arial" pitchFamily="34" charset="-122"/>
                          <a:cs typeface="Arial" pitchFamily="34" charset="-120"/>
                        </a:rPr>
                        <a:t>$46.2M</a:t>
                      </a:r>
                      <a:endParaRPr lang="en-US" sz="1400" dirty="0">
                        <a:latin typeface="Arial" charset="0"/>
                        <a:ea typeface="Arial" charset="0"/>
                        <a:cs typeface="Arial" charset="0"/>
                      </a:endParaRPr>
                    </a:p>
                  </a:txBody>
                  <a:tcPr marL="73152" marR="73152" marT="73152" marB="7315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AF3DC"/>
                    </a:solidFill>
                  </a:tcPr>
                </a:tc>
                <a:extLst>
                  <a:ext uri="{0D108BD9-81ED-4DB2-BD59-A6C34878D82A}">
                    <a16:rowId xmlns:a16="http://schemas.microsoft.com/office/drawing/2014/main" val="10006"/>
                  </a:ext>
                </a:extLst>
              </a:tr>
            </a:tbl>
          </a:graphicData>
        </a:graphic>
      </p:graphicFrame>
      <p:sp>
        <p:nvSpPr>
          <p:cNvPr id="6" name="Text 3">
            <a:extLst>
              <a:ext uri="{FF2B5EF4-FFF2-40B4-BE49-F238E27FC236}">
                <a16:creationId xmlns:a16="http://schemas.microsoft.com/office/drawing/2014/main" id="{ACD17238-8A15-F394-6131-50DFD8C4213C}"/>
              </a:ext>
            </a:extLst>
          </p:cNvPr>
          <p:cNvSpPr txBox="1"/>
          <p:nvPr/>
        </p:nvSpPr>
        <p:spPr>
          <a:xfrm>
            <a:off x="576072" y="4143323"/>
            <a:ext cx="11064240" cy="1152007"/>
          </a:xfrm>
          <a:prstGeom prst="rect">
            <a:avLst/>
          </a:prstGeom>
          <a:noFill/>
          <a:ln/>
        </p:spPr>
        <p:txBody>
          <a:bodyPr wrap="square" lIns="0" tIns="0" rIns="0" bIns="0" rtlCol="0" anchor="t"/>
          <a:lstStyle/>
          <a:p>
            <a:pPr marL="342900" marR="0" lvl="0" indent="-342900" algn="l" defTabSz="914400" rtl="0" eaLnBrk="1" fontAlgn="auto" latinLnBrk="0" hangingPunct="1">
              <a:lnSpc>
                <a:spcPct val="100000"/>
              </a:lnSpc>
              <a:spcBef>
                <a:spcPts val="0"/>
              </a:spcBef>
              <a:spcAft>
                <a:spcPts val="800"/>
              </a:spcAft>
              <a:buClrTx/>
              <a:buSzPct val="100000"/>
              <a:buFontTx/>
              <a:buChar char="•"/>
              <a:tabLst/>
              <a:defRPr/>
            </a:pP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4">
            <a:extLst>
              <a:ext uri="{FF2B5EF4-FFF2-40B4-BE49-F238E27FC236}">
                <a16:creationId xmlns:a16="http://schemas.microsoft.com/office/drawing/2014/main" id="{4945931A-171F-D83D-77DA-272539ED9E40}"/>
              </a:ext>
            </a:extLst>
          </p:cNvPr>
          <p:cNvSpPr/>
          <p:nvPr/>
        </p:nvSpPr>
        <p:spPr>
          <a:xfrm>
            <a:off x="548640" y="5687568"/>
            <a:ext cx="11091672" cy="694944"/>
          </a:xfrm>
          <a:prstGeom prst="roundRect">
            <a:avLst>
              <a:gd name="adj" fmla="val 7059"/>
            </a:avLst>
          </a:prstGeom>
          <a:solidFill>
            <a:srgbClr val="16283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5">
            <a:extLst>
              <a:ext uri="{FF2B5EF4-FFF2-40B4-BE49-F238E27FC236}">
                <a16:creationId xmlns:a16="http://schemas.microsoft.com/office/drawing/2014/main" id="{F7242B6D-59B2-C825-F289-7A240B0FE699}"/>
              </a:ext>
            </a:extLst>
          </p:cNvPr>
          <p:cNvSpPr txBox="1"/>
          <p:nvPr/>
        </p:nvSpPr>
        <p:spPr>
          <a:xfrm>
            <a:off x="777240" y="5687568"/>
            <a:ext cx="10652760" cy="6949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u="none" strike="noStrike" kern="1200" cap="none" spc="0" normalizeH="0" baseline="0" noProof="0" dirty="0">
                <a:ln>
                  <a:noFill/>
                </a:ln>
                <a:solidFill>
                  <a:srgbClr val="FFFFFF"/>
                </a:solidFill>
                <a:effectLst/>
                <a:uLnTx/>
                <a:uFillTx/>
                <a:latin typeface="+mj-lt"/>
                <a:ea typeface="Georgia" pitchFamily="34" charset="-122"/>
                <a:cs typeface="Georgia" pitchFamily="34" charset="-120"/>
              </a:rPr>
              <a:t>Robots aren't just more available than people. At scale they are twenty-six times cheaper per position — and that is what will drive this.</a:t>
            </a:r>
            <a:endParaRPr kumimoji="0" lang="en-US" sz="1300" b="0" u="none" strike="noStrike" kern="1200" cap="none" spc="0" normalizeH="0" baseline="0" noProof="0" dirty="0">
              <a:ln>
                <a:noFill/>
              </a:ln>
              <a:solidFill>
                <a:prstClr val="black"/>
              </a:solidFill>
              <a:effectLst/>
              <a:uLnTx/>
              <a:uFillTx/>
              <a:latin typeface="+mj-lt"/>
              <a:ea typeface="+mn-ea"/>
              <a:cs typeface="+mn-cs"/>
            </a:endParaRPr>
          </a:p>
        </p:txBody>
      </p:sp>
    </p:spTree>
    <p:extLst>
      <p:ext uri="{BB962C8B-B14F-4D97-AF65-F5344CB8AC3E}">
        <p14:creationId xmlns:p14="http://schemas.microsoft.com/office/powerpoint/2010/main" val="2453644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79E9B03-A1F8-C4D4-E4E1-AB888BA571A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FE190B2-765B-A824-35CB-7FB769F564F0}"/>
              </a:ext>
            </a:extLst>
          </p:cNvPr>
          <p:cNvSpPr txBox="1"/>
          <p:nvPr/>
        </p:nvSpPr>
        <p:spPr>
          <a:xfrm>
            <a:off x="548640" y="384048"/>
            <a:ext cx="11091672"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chemeClr val="accent1">
                    <a:lumMod val="75000"/>
                  </a:schemeClr>
                </a:solidFill>
                <a:effectLst/>
                <a:uLnTx/>
                <a:uFillTx/>
                <a:latin typeface="Arial Nova" panose="020B0504020202020204" pitchFamily="34" charset="0"/>
                <a:ea typeface="Georgia" pitchFamily="34" charset="-122"/>
                <a:cs typeface="Georgia" pitchFamily="34" charset="-120"/>
              </a:rPr>
              <a:t>The robot in the closet — and the bump-up</a:t>
            </a:r>
            <a:endParaRPr kumimoji="0" lang="en-US" sz="2800" b="0" i="0" u="none" strike="noStrike" kern="1200" cap="none" spc="0" normalizeH="0" baseline="0" noProof="0" dirty="0">
              <a:ln>
                <a:noFill/>
              </a:ln>
              <a:solidFill>
                <a:schemeClr val="accent1">
                  <a:lumMod val="75000"/>
                </a:schemeClr>
              </a:solidFill>
              <a:effectLst/>
              <a:uLnTx/>
              <a:uFillTx/>
              <a:latin typeface="Arial Nova" panose="020B0504020202020204" pitchFamily="34" charset="0"/>
              <a:ea typeface="+mn-ea"/>
              <a:cs typeface="+mn-cs"/>
            </a:endParaRPr>
          </a:p>
        </p:txBody>
      </p:sp>
      <p:sp>
        <p:nvSpPr>
          <p:cNvPr id="3" name="Text 1">
            <a:extLst>
              <a:ext uri="{FF2B5EF4-FFF2-40B4-BE49-F238E27FC236}">
                <a16:creationId xmlns:a16="http://schemas.microsoft.com/office/drawing/2014/main" id="{B3C16AF3-D681-E00F-1336-3E83868228D0}"/>
              </a:ext>
            </a:extLst>
          </p:cNvPr>
          <p:cNvSpPr txBox="1"/>
          <p:nvPr/>
        </p:nvSpPr>
        <p:spPr>
          <a:xfrm>
            <a:off x="548640" y="6473952"/>
            <a:ext cx="11091672"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67085"/>
                </a:solidFill>
                <a:effectLst/>
                <a:uLnTx/>
                <a:uFillTx/>
                <a:latin typeface="Arial" pitchFamily="34" charset="0"/>
                <a:ea typeface="Arial" pitchFamily="34" charset="-122"/>
                <a:cs typeface="Arial" pitchFamily="34" charset="-120"/>
              </a:rPr>
              <a:t>Shiftwork Solutions LLC  |  (415) 265-1621  |  www.shift-work.com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a:extLst>
              <a:ext uri="{FF2B5EF4-FFF2-40B4-BE49-F238E27FC236}">
                <a16:creationId xmlns:a16="http://schemas.microsoft.com/office/drawing/2014/main" id="{1925DB52-9DBF-AA31-6E28-FF651FEBE414}"/>
              </a:ext>
            </a:extLst>
          </p:cNvPr>
          <p:cNvSpPr txBox="1"/>
          <p:nvPr/>
        </p:nvSpPr>
        <p:spPr>
          <a:xfrm>
            <a:off x="3046179" y="1787515"/>
            <a:ext cx="6739265" cy="3273416"/>
          </a:xfrm>
          <a:prstGeom prst="rect">
            <a:avLst/>
          </a:prstGeom>
          <a:noFill/>
          <a:ln/>
        </p:spPr>
        <p:txBody>
          <a:bodyPr wrap="square" lIns="0" tIns="0" rIns="0" bIns="0" rtlCol="0" anchor="t"/>
          <a:lstStyle/>
          <a:p>
            <a:pPr marL="342900" marR="0" lvl="0" indent="-342900" algn="l" defTabSz="914400" rtl="0" eaLnBrk="1" fontAlgn="auto" latinLnBrk="0" hangingPunct="1">
              <a:lnSpc>
                <a:spcPct val="100000"/>
              </a:lnSpc>
              <a:spcBef>
                <a:spcPts val="0"/>
              </a:spcBef>
              <a:spcAft>
                <a:spcPts val="1200"/>
              </a:spcAft>
              <a:buClrTx/>
              <a:buSzPct val="100000"/>
              <a:buFontTx/>
              <a:buChar char="•"/>
              <a:tabLst/>
              <a:defRPr/>
            </a:pPr>
            <a:r>
              <a:rPr kumimoji="0" lang="en-US" sz="1600" b="0" i="0" u="none" strike="noStrike" kern="1200" cap="none" spc="0" normalizeH="0" baseline="0" noProof="0" dirty="0">
                <a:ln>
                  <a:noFill/>
                </a:ln>
                <a:solidFill>
                  <a:srgbClr val="222222"/>
                </a:solidFill>
                <a:effectLst/>
                <a:uLnTx/>
                <a:uFillTx/>
                <a:latin typeface="Arial Nova" panose="020B0504020202020204" pitchFamily="34" charset="0"/>
                <a:ea typeface="Arial" pitchFamily="34" charset="-122"/>
                <a:cs typeface="Arial" pitchFamily="34" charset="-120"/>
              </a:rPr>
              <a:t>Suppose a robot can handle your entry-level job: moving raw material around —two or three years out, not ten.</a:t>
            </a:r>
            <a:endParaRPr kumimoji="0" lang="en-US" sz="1600" b="0" i="0" u="none" strike="noStrike" kern="1200" cap="none" spc="0" normalizeH="0" baseline="0" noProof="0" dirty="0">
              <a:ln>
                <a:noFill/>
              </a:ln>
              <a:solidFill>
                <a:prstClr val="black"/>
              </a:solidFill>
              <a:effectLst/>
              <a:uLnTx/>
              <a:uFillTx/>
              <a:latin typeface="Arial Nova" panose="020B0504020202020204" pitchFamily="34" charset="0"/>
            </a:endParaRPr>
          </a:p>
          <a:p>
            <a:pPr marL="342900" marR="0" lvl="0" indent="-342900" algn="l" defTabSz="914400" rtl="0" eaLnBrk="1" fontAlgn="auto" latinLnBrk="0" hangingPunct="1">
              <a:lnSpc>
                <a:spcPct val="100000"/>
              </a:lnSpc>
              <a:spcBef>
                <a:spcPts val="0"/>
              </a:spcBef>
              <a:spcAft>
                <a:spcPts val="1200"/>
              </a:spcAft>
              <a:buClrTx/>
              <a:buSzPct val="100000"/>
              <a:buFontTx/>
              <a:buChar char="•"/>
              <a:tabLst/>
              <a:defRPr/>
            </a:pPr>
            <a:r>
              <a:rPr kumimoji="0" lang="en-US" sz="1600" b="1" i="0" u="none" strike="noStrike" kern="1200" cap="none" spc="0" normalizeH="0" baseline="0" noProof="0" dirty="0">
                <a:ln>
                  <a:noFill/>
                </a:ln>
                <a:solidFill>
                  <a:srgbClr val="222222"/>
                </a:solidFill>
                <a:effectLst/>
                <a:uLnTx/>
                <a:uFillTx/>
                <a:latin typeface="Arial Nova" panose="020B0504020202020204" pitchFamily="34" charset="0"/>
                <a:ea typeface="Arial" pitchFamily="34" charset="-122"/>
                <a:cs typeface="Arial" pitchFamily="34" charset="-120"/>
              </a:rPr>
              <a:t>You don't put it on a crew. You keep it in a closet, charging.</a:t>
            </a:r>
            <a:endParaRPr kumimoji="0" lang="en-US" sz="1600" b="0" i="0" u="none" strike="noStrike" kern="1200" cap="none" spc="0" normalizeH="0" baseline="0" noProof="0" dirty="0">
              <a:ln>
                <a:noFill/>
              </a:ln>
              <a:solidFill>
                <a:prstClr val="black"/>
              </a:solidFill>
              <a:effectLst/>
              <a:uLnTx/>
              <a:uFillTx/>
              <a:latin typeface="Arial Nova" panose="020B0504020202020204" pitchFamily="34" charset="0"/>
            </a:endParaRPr>
          </a:p>
          <a:p>
            <a:pPr marL="342900" marR="0" lvl="0" indent="-342900" algn="l" defTabSz="914400" rtl="0" eaLnBrk="1" fontAlgn="auto" latinLnBrk="0" hangingPunct="1">
              <a:lnSpc>
                <a:spcPct val="100000"/>
              </a:lnSpc>
              <a:spcBef>
                <a:spcPts val="0"/>
              </a:spcBef>
              <a:spcAft>
                <a:spcPts val="1200"/>
              </a:spcAft>
              <a:buClrTx/>
              <a:buSzPct val="100000"/>
              <a:buFontTx/>
              <a:buChar char="•"/>
              <a:tabLst/>
              <a:defRPr/>
            </a:pPr>
            <a:r>
              <a:rPr kumimoji="0" lang="en-US" sz="1600" b="0" i="0" u="none" strike="noStrike" kern="1200" cap="none" spc="0" normalizeH="0" baseline="0" noProof="0" dirty="0">
                <a:ln>
                  <a:noFill/>
                </a:ln>
                <a:solidFill>
                  <a:srgbClr val="222222"/>
                </a:solidFill>
                <a:effectLst/>
                <a:uLnTx/>
                <a:uFillTx/>
                <a:latin typeface="Arial Nova" panose="020B0504020202020204" pitchFamily="34" charset="0"/>
                <a:ea typeface="Arial" pitchFamily="34" charset="-122"/>
                <a:cs typeface="Arial" pitchFamily="34" charset="-120"/>
              </a:rPr>
              <a:t>Callout with no one taking overtime? Wheel it out.</a:t>
            </a:r>
            <a:endParaRPr kumimoji="0" lang="en-US" sz="1600" b="0" i="0" u="none" strike="noStrike" kern="1200" cap="none" spc="0" normalizeH="0" baseline="0" noProof="0" dirty="0">
              <a:ln>
                <a:noFill/>
              </a:ln>
              <a:solidFill>
                <a:prstClr val="black"/>
              </a:solidFill>
              <a:effectLst/>
              <a:uLnTx/>
              <a:uFillTx/>
              <a:latin typeface="Arial Nova" panose="020B0504020202020204" pitchFamily="34" charset="0"/>
            </a:endParaRPr>
          </a:p>
          <a:p>
            <a:pPr marL="342900" marR="0" lvl="0" indent="-342900" algn="l" defTabSz="914400" rtl="0" eaLnBrk="1" fontAlgn="auto" latinLnBrk="0" hangingPunct="1">
              <a:lnSpc>
                <a:spcPct val="100000"/>
              </a:lnSpc>
              <a:spcBef>
                <a:spcPts val="0"/>
              </a:spcBef>
              <a:spcAft>
                <a:spcPts val="1200"/>
              </a:spcAft>
              <a:buClrTx/>
              <a:buSzPct val="100000"/>
              <a:buFontTx/>
              <a:buChar char="•"/>
              <a:tabLst/>
              <a:defRPr/>
            </a:pPr>
            <a:r>
              <a:rPr kumimoji="0" lang="en-US" sz="1600" b="1" i="0" u="none" strike="noStrike" kern="1200" cap="none" spc="0" normalizeH="0" baseline="0" noProof="0" dirty="0">
                <a:ln>
                  <a:noFill/>
                </a:ln>
                <a:solidFill>
                  <a:srgbClr val="222222"/>
                </a:solidFill>
                <a:effectLst/>
                <a:uLnTx/>
                <a:uFillTx/>
                <a:latin typeface="Arial Nova" panose="020B0504020202020204" pitchFamily="34" charset="0"/>
                <a:ea typeface="Arial" pitchFamily="34" charset="-122"/>
                <a:cs typeface="Arial" pitchFamily="34" charset="-120"/>
              </a:rPr>
              <a:t>The robot takes the entry job, and everybody steps up one rung: entry man covers the helper, helper covers the operator, operator covers the lead.</a:t>
            </a:r>
            <a:endParaRPr kumimoji="0" lang="en-US" sz="1600" b="0" i="0" u="none" strike="noStrike" kern="1200" cap="none" spc="0" normalizeH="0" baseline="0" noProof="0" dirty="0">
              <a:ln>
                <a:noFill/>
              </a:ln>
              <a:solidFill>
                <a:prstClr val="black"/>
              </a:solidFill>
              <a:effectLst/>
              <a:uLnTx/>
              <a:uFillTx/>
              <a:latin typeface="Arial Nova" panose="020B0504020202020204" pitchFamily="34" charset="0"/>
            </a:endParaRPr>
          </a:p>
          <a:p>
            <a:pPr marL="342900" marR="0" lvl="0" indent="-342900" algn="l" defTabSz="914400" rtl="0" eaLnBrk="1" fontAlgn="auto" latinLnBrk="0" hangingPunct="1">
              <a:lnSpc>
                <a:spcPct val="100000"/>
              </a:lnSpc>
              <a:spcBef>
                <a:spcPts val="0"/>
              </a:spcBef>
              <a:spcAft>
                <a:spcPts val="1200"/>
              </a:spcAft>
              <a:buClrTx/>
              <a:buSzPct val="100000"/>
              <a:buFontTx/>
              <a:buChar char="•"/>
              <a:tabLst/>
              <a:defRPr/>
            </a:pPr>
            <a:r>
              <a:rPr kumimoji="0" lang="en-US" sz="1600" b="0" i="0" u="none" strike="noStrike" kern="1200" cap="none" spc="0" normalizeH="0" baseline="0" noProof="0" dirty="0">
                <a:ln>
                  <a:noFill/>
                </a:ln>
                <a:solidFill>
                  <a:srgbClr val="222222"/>
                </a:solidFill>
                <a:effectLst/>
                <a:uLnTx/>
                <a:uFillTx/>
                <a:latin typeface="Arial Nova" panose="020B0504020202020204" pitchFamily="34" charset="0"/>
                <a:ea typeface="Arial" pitchFamily="34" charset="-122"/>
                <a:cs typeface="Arial" pitchFamily="34" charset="-120"/>
              </a:rPr>
              <a:t>The robot only ever does the entry job — never the hard one.</a:t>
            </a:r>
            <a:endParaRPr kumimoji="0" lang="en-US" sz="1600" b="0" i="0" u="none" strike="noStrike" kern="1200" cap="none" spc="0" normalizeH="0" baseline="0" noProof="0" dirty="0">
              <a:ln>
                <a:noFill/>
              </a:ln>
              <a:solidFill>
                <a:prstClr val="black"/>
              </a:solidFill>
              <a:effectLst/>
              <a:uLnTx/>
              <a:uFillTx/>
              <a:latin typeface="Arial Nova" panose="020B0504020202020204" pitchFamily="34" charset="0"/>
            </a:endParaRPr>
          </a:p>
          <a:p>
            <a:pPr marL="342900" lvl="0" indent="-342900">
              <a:spcAft>
                <a:spcPts val="1200"/>
              </a:spcAft>
              <a:buSzPct val="100000"/>
              <a:buFontTx/>
              <a:buChar char="•"/>
            </a:pPr>
            <a:r>
              <a:rPr kumimoji="0" lang="en-US" sz="1600" b="0" i="0" u="none" strike="noStrike" kern="1200" cap="none" spc="0" normalizeH="0" baseline="0" noProof="0" dirty="0">
                <a:ln>
                  <a:noFill/>
                </a:ln>
                <a:solidFill>
                  <a:srgbClr val="222222"/>
                </a:solidFill>
                <a:effectLst/>
                <a:uLnTx/>
                <a:uFillTx/>
                <a:latin typeface="Arial Nova" panose="020B0504020202020204" pitchFamily="34" charset="0"/>
                <a:ea typeface="Arial" pitchFamily="34" charset="-122"/>
                <a:cs typeface="Arial" pitchFamily="34" charset="-120"/>
              </a:rPr>
              <a:t>One robot </a:t>
            </a:r>
            <a:r>
              <a:rPr lang="en-US" sz="1600" dirty="0">
                <a:solidFill>
                  <a:srgbClr val="222222"/>
                </a:solidFill>
                <a:latin typeface="Arial Nova" panose="020B0504020202020204" pitchFamily="34" charset="0"/>
                <a:cs typeface="Arial" pitchFamily="34" charset="-120"/>
              </a:rPr>
              <a:t>backs up any crew, because crews already shuffle up when someone's out.</a:t>
            </a:r>
          </a:p>
        </p:txBody>
      </p:sp>
      <p:sp>
        <p:nvSpPr>
          <p:cNvPr id="5" name="Shape 3">
            <a:extLst>
              <a:ext uri="{FF2B5EF4-FFF2-40B4-BE49-F238E27FC236}">
                <a16:creationId xmlns:a16="http://schemas.microsoft.com/office/drawing/2014/main" id="{E7A7676F-4AED-FC9F-376C-3518C970EB10}"/>
              </a:ext>
            </a:extLst>
          </p:cNvPr>
          <p:cNvSpPr/>
          <p:nvPr/>
        </p:nvSpPr>
        <p:spPr>
          <a:xfrm>
            <a:off x="548640" y="5833872"/>
            <a:ext cx="11091672" cy="548640"/>
          </a:xfrm>
          <a:prstGeom prst="roundRect">
            <a:avLst>
              <a:gd name="adj" fmla="val 10000"/>
            </a:avLst>
          </a:prstGeom>
          <a:solidFill>
            <a:srgbClr val="16283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a:extLst>
              <a:ext uri="{FF2B5EF4-FFF2-40B4-BE49-F238E27FC236}">
                <a16:creationId xmlns:a16="http://schemas.microsoft.com/office/drawing/2014/main" id="{9264CFC6-F8AC-253B-2AA4-4591EA4E7C9F}"/>
              </a:ext>
            </a:extLst>
          </p:cNvPr>
          <p:cNvSpPr txBox="1"/>
          <p:nvPr/>
        </p:nvSpPr>
        <p:spPr>
          <a:xfrm>
            <a:off x="777240" y="5833872"/>
            <a:ext cx="1065276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u="none" strike="noStrike" kern="1200" cap="none" spc="0" normalizeH="0" baseline="0" noProof="0" dirty="0">
                <a:ln>
                  <a:noFill/>
                </a:ln>
                <a:solidFill>
                  <a:srgbClr val="FFFFFF"/>
                </a:solidFill>
                <a:effectLst/>
                <a:uLnTx/>
                <a:uFillTx/>
                <a:latin typeface="+mj-lt"/>
                <a:ea typeface="Georgia" pitchFamily="34" charset="-122"/>
                <a:cs typeface="Georgia" pitchFamily="34" charset="-120"/>
              </a:rPr>
              <a:t>Relief cover, without the 5 a.m. phone tree — and nobody was replaced to get it.</a:t>
            </a:r>
            <a:endParaRPr kumimoji="0" lang="en-US" sz="1500" b="0" u="none" strike="noStrike" kern="1200" cap="none" spc="0" normalizeH="0" baseline="0" noProof="0" dirty="0">
              <a:ln>
                <a:noFill/>
              </a:ln>
              <a:solidFill>
                <a:prstClr val="black"/>
              </a:solidFill>
              <a:effectLst/>
              <a:uLnTx/>
              <a:uFillTx/>
              <a:latin typeface="+mj-lt"/>
            </a:endParaRPr>
          </a:p>
        </p:txBody>
      </p:sp>
      <p:pic>
        <p:nvPicPr>
          <p:cNvPr id="8" name="Graphic 7" descr="Robot">
            <a:extLst>
              <a:ext uri="{FF2B5EF4-FFF2-40B4-BE49-F238E27FC236}">
                <a16:creationId xmlns:a16="http://schemas.microsoft.com/office/drawing/2014/main" id="{248A9E03-051D-4207-8585-BC970B3EFF8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7240" y="1733721"/>
            <a:ext cx="1845405" cy="1845405"/>
          </a:xfrm>
          <a:prstGeom prst="rect">
            <a:avLst/>
          </a:prstGeom>
        </p:spPr>
      </p:pic>
    </p:spTree>
    <p:extLst>
      <p:ext uri="{BB962C8B-B14F-4D97-AF65-F5344CB8AC3E}">
        <p14:creationId xmlns:p14="http://schemas.microsoft.com/office/powerpoint/2010/main" val="8230815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293F753-568B-2B2D-D411-61AD4D4517B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0C369F9-E6D0-3EB4-B20A-5F33B745E1A8}"/>
              </a:ext>
            </a:extLst>
          </p:cNvPr>
          <p:cNvSpPr txBox="1"/>
          <p:nvPr/>
        </p:nvSpPr>
        <p:spPr>
          <a:xfrm>
            <a:off x="548640" y="384048"/>
            <a:ext cx="11091672"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chemeClr val="accent1">
                    <a:lumMod val="75000"/>
                  </a:schemeClr>
                </a:solidFill>
                <a:effectLst/>
                <a:uLnTx/>
                <a:uFillTx/>
                <a:latin typeface="Arial Nova" panose="020B0504020202020204" pitchFamily="34" charset="0"/>
                <a:ea typeface="Georgia" pitchFamily="34" charset="-122"/>
                <a:cs typeface="Georgia" pitchFamily="34" charset="-120"/>
              </a:rPr>
              <a:t>The bump-up</a:t>
            </a:r>
            <a:endParaRPr kumimoji="0" lang="en-US" sz="2800" b="0" i="0" u="none" strike="noStrike" kern="1200" cap="none" spc="0" normalizeH="0" baseline="0" noProof="0" dirty="0">
              <a:ln>
                <a:noFill/>
              </a:ln>
              <a:solidFill>
                <a:schemeClr val="accent1">
                  <a:lumMod val="75000"/>
                </a:schemeClr>
              </a:solidFill>
              <a:effectLst/>
              <a:uLnTx/>
              <a:uFillTx/>
              <a:latin typeface="Arial Nova" panose="020B0504020202020204" pitchFamily="34" charset="0"/>
            </a:endParaRPr>
          </a:p>
        </p:txBody>
      </p:sp>
      <p:sp>
        <p:nvSpPr>
          <p:cNvPr id="3" name="Text 1">
            <a:extLst>
              <a:ext uri="{FF2B5EF4-FFF2-40B4-BE49-F238E27FC236}">
                <a16:creationId xmlns:a16="http://schemas.microsoft.com/office/drawing/2014/main" id="{0718EE14-28C8-0AA8-B089-40B0E2C8ED84}"/>
              </a:ext>
            </a:extLst>
          </p:cNvPr>
          <p:cNvSpPr txBox="1"/>
          <p:nvPr/>
        </p:nvSpPr>
        <p:spPr>
          <a:xfrm>
            <a:off x="548640" y="6473952"/>
            <a:ext cx="11091672"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67085"/>
                </a:solidFill>
                <a:effectLst/>
                <a:uLnTx/>
                <a:uFillTx/>
                <a:latin typeface="Arial" pitchFamily="34" charset="0"/>
                <a:ea typeface="Arial" pitchFamily="34" charset="-122"/>
                <a:cs typeface="Arial" pitchFamily="34" charset="-120"/>
              </a:rPr>
              <a:t>Shiftwork Solutions LLC  |  (415) 265-1621  |  www.shift-work.com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a:extLst>
              <a:ext uri="{FF2B5EF4-FFF2-40B4-BE49-F238E27FC236}">
                <a16:creationId xmlns:a16="http://schemas.microsoft.com/office/drawing/2014/main" id="{15FF0E8E-5D77-D8CE-BF34-D3E5C8154812}"/>
              </a:ext>
            </a:extLst>
          </p:cNvPr>
          <p:cNvSpPr txBox="1"/>
          <p:nvPr/>
        </p:nvSpPr>
        <p:spPr>
          <a:xfrm>
            <a:off x="548640" y="1188720"/>
            <a:ext cx="1106424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222222"/>
                </a:solidFill>
                <a:effectLst/>
                <a:uLnTx/>
                <a:uFillTx/>
                <a:latin typeface="Arial" pitchFamily="34" charset="0"/>
                <a:ea typeface="Arial" pitchFamily="34" charset="-122"/>
                <a:cs typeface="Arial" pitchFamily="34" charset="-120"/>
              </a:rPr>
              <a:t>The obvious objection: a robot can't do 100% of a skilled position. Correct. It doesn't have to.</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a:extLst>
              <a:ext uri="{FF2B5EF4-FFF2-40B4-BE49-F238E27FC236}">
                <a16:creationId xmlns:a16="http://schemas.microsoft.com/office/drawing/2014/main" id="{D16328CF-2828-23DF-BF9C-72E513D8FDFB}"/>
              </a:ext>
            </a:extLst>
          </p:cNvPr>
          <p:cNvSpPr txBox="1"/>
          <p:nvPr/>
        </p:nvSpPr>
        <p:spPr>
          <a:xfrm>
            <a:off x="548640" y="1965960"/>
            <a:ext cx="2103120"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667085"/>
                </a:solidFill>
                <a:effectLst/>
                <a:uLnTx/>
                <a:uFillTx/>
                <a:latin typeface="Arial" pitchFamily="34" charset="0"/>
                <a:ea typeface="Arial" pitchFamily="34" charset="-122"/>
                <a:cs typeface="Arial" pitchFamily="34" charset="-120"/>
              </a:rPr>
              <a:t>NORMAL CREW</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a:extLst>
              <a:ext uri="{FF2B5EF4-FFF2-40B4-BE49-F238E27FC236}">
                <a16:creationId xmlns:a16="http://schemas.microsoft.com/office/drawing/2014/main" id="{9864B3A5-B41E-95C6-7FB9-6BE35C57B089}"/>
              </a:ext>
            </a:extLst>
          </p:cNvPr>
          <p:cNvSpPr/>
          <p:nvPr/>
        </p:nvSpPr>
        <p:spPr>
          <a:xfrm>
            <a:off x="2743200" y="1965960"/>
            <a:ext cx="1965960" cy="566928"/>
          </a:xfrm>
          <a:prstGeom prst="roundRect">
            <a:avLst>
              <a:gd name="adj" fmla="val 9677"/>
            </a:avLst>
          </a:prstGeom>
          <a:solidFill>
            <a:srgbClr val="16283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a:extLst>
              <a:ext uri="{FF2B5EF4-FFF2-40B4-BE49-F238E27FC236}">
                <a16:creationId xmlns:a16="http://schemas.microsoft.com/office/drawing/2014/main" id="{481D7164-DC0C-8CAA-A6FC-B161854CBAC6}"/>
              </a:ext>
            </a:extLst>
          </p:cNvPr>
          <p:cNvSpPr txBox="1"/>
          <p:nvPr/>
        </p:nvSpPr>
        <p:spPr>
          <a:xfrm>
            <a:off x="2743200" y="1965960"/>
            <a:ext cx="1965960" cy="56692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ENTRY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a:extLst>
              <a:ext uri="{FF2B5EF4-FFF2-40B4-BE49-F238E27FC236}">
                <a16:creationId xmlns:a16="http://schemas.microsoft.com/office/drawing/2014/main" id="{A72EB158-9B10-A494-247A-53DE559F83FB}"/>
              </a:ext>
            </a:extLst>
          </p:cNvPr>
          <p:cNvSpPr/>
          <p:nvPr/>
        </p:nvSpPr>
        <p:spPr>
          <a:xfrm>
            <a:off x="4965192" y="1965960"/>
            <a:ext cx="1965960" cy="566928"/>
          </a:xfrm>
          <a:prstGeom prst="roundRect">
            <a:avLst>
              <a:gd name="adj" fmla="val 9677"/>
            </a:avLst>
          </a:prstGeom>
          <a:solidFill>
            <a:srgbClr val="16283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a:extLst>
              <a:ext uri="{FF2B5EF4-FFF2-40B4-BE49-F238E27FC236}">
                <a16:creationId xmlns:a16="http://schemas.microsoft.com/office/drawing/2014/main" id="{CFC7A373-A2C9-CCBE-CEB8-21C0004894AC}"/>
              </a:ext>
            </a:extLst>
          </p:cNvPr>
          <p:cNvSpPr txBox="1"/>
          <p:nvPr/>
        </p:nvSpPr>
        <p:spPr>
          <a:xfrm>
            <a:off x="4965192" y="1965960"/>
            <a:ext cx="1965960" cy="56692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HELPER</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a:extLst>
              <a:ext uri="{FF2B5EF4-FFF2-40B4-BE49-F238E27FC236}">
                <a16:creationId xmlns:a16="http://schemas.microsoft.com/office/drawing/2014/main" id="{19F3AED6-E360-8144-CB5A-05BA7E02A0B9}"/>
              </a:ext>
            </a:extLst>
          </p:cNvPr>
          <p:cNvSpPr/>
          <p:nvPr/>
        </p:nvSpPr>
        <p:spPr>
          <a:xfrm>
            <a:off x="7187184" y="1965960"/>
            <a:ext cx="1965960" cy="566928"/>
          </a:xfrm>
          <a:prstGeom prst="roundRect">
            <a:avLst>
              <a:gd name="adj" fmla="val 9677"/>
            </a:avLst>
          </a:prstGeom>
          <a:solidFill>
            <a:srgbClr val="16283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a:extLst>
              <a:ext uri="{FF2B5EF4-FFF2-40B4-BE49-F238E27FC236}">
                <a16:creationId xmlns:a16="http://schemas.microsoft.com/office/drawing/2014/main" id="{358EE58D-A623-CD84-4646-33798CD5B803}"/>
              </a:ext>
            </a:extLst>
          </p:cNvPr>
          <p:cNvSpPr txBox="1"/>
          <p:nvPr/>
        </p:nvSpPr>
        <p:spPr>
          <a:xfrm>
            <a:off x="7187184" y="1965960"/>
            <a:ext cx="1965960" cy="56692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OPERATOR</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a:extLst>
              <a:ext uri="{FF2B5EF4-FFF2-40B4-BE49-F238E27FC236}">
                <a16:creationId xmlns:a16="http://schemas.microsoft.com/office/drawing/2014/main" id="{55698C0C-5E25-7A92-CD09-7E3AC1503042}"/>
              </a:ext>
            </a:extLst>
          </p:cNvPr>
          <p:cNvSpPr/>
          <p:nvPr/>
        </p:nvSpPr>
        <p:spPr>
          <a:xfrm>
            <a:off x="9409176" y="1965960"/>
            <a:ext cx="1965960" cy="566928"/>
          </a:xfrm>
          <a:prstGeom prst="roundRect">
            <a:avLst>
              <a:gd name="adj" fmla="val 9677"/>
            </a:avLst>
          </a:prstGeom>
          <a:solidFill>
            <a:srgbClr val="16283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a:extLst>
              <a:ext uri="{FF2B5EF4-FFF2-40B4-BE49-F238E27FC236}">
                <a16:creationId xmlns:a16="http://schemas.microsoft.com/office/drawing/2014/main" id="{24D66BBF-267D-5335-7405-E7861AA09419}"/>
              </a:ext>
            </a:extLst>
          </p:cNvPr>
          <p:cNvSpPr txBox="1"/>
          <p:nvPr/>
        </p:nvSpPr>
        <p:spPr>
          <a:xfrm>
            <a:off x="9409176" y="1965960"/>
            <a:ext cx="1965960" cy="56692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LEAD</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a:extLst>
              <a:ext uri="{FF2B5EF4-FFF2-40B4-BE49-F238E27FC236}">
                <a16:creationId xmlns:a16="http://schemas.microsoft.com/office/drawing/2014/main" id="{4697AD1D-662F-37C6-F04F-4FA383390F33}"/>
              </a:ext>
            </a:extLst>
          </p:cNvPr>
          <p:cNvSpPr txBox="1"/>
          <p:nvPr/>
        </p:nvSpPr>
        <p:spPr>
          <a:xfrm>
            <a:off x="548640" y="2971800"/>
            <a:ext cx="2103120"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C9A227"/>
                </a:solidFill>
                <a:effectLst/>
                <a:uLnTx/>
                <a:uFillTx/>
                <a:latin typeface="Arial" pitchFamily="34" charset="0"/>
                <a:ea typeface="Arial" pitchFamily="34" charset="-122"/>
                <a:cs typeface="Arial" pitchFamily="34" charset="-120"/>
              </a:rPr>
              <a:t>LEAD ON VACATION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a:extLst>
              <a:ext uri="{FF2B5EF4-FFF2-40B4-BE49-F238E27FC236}">
                <a16:creationId xmlns:a16="http://schemas.microsoft.com/office/drawing/2014/main" id="{27166ACC-1DFB-B169-02FC-6DA85D2B11A4}"/>
              </a:ext>
            </a:extLst>
          </p:cNvPr>
          <p:cNvSpPr/>
          <p:nvPr/>
        </p:nvSpPr>
        <p:spPr>
          <a:xfrm>
            <a:off x="2743200" y="2971800"/>
            <a:ext cx="1965960" cy="566928"/>
          </a:xfrm>
          <a:prstGeom prst="roundRect">
            <a:avLst>
              <a:gd name="adj" fmla="val 9677"/>
            </a:avLst>
          </a:prstGeom>
          <a:solidFill>
            <a:srgbClr val="C9A227"/>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a:extLst>
              <a:ext uri="{FF2B5EF4-FFF2-40B4-BE49-F238E27FC236}">
                <a16:creationId xmlns:a16="http://schemas.microsoft.com/office/drawing/2014/main" id="{29B487C5-DA71-D26D-4F32-76067A0172DA}"/>
              </a:ext>
            </a:extLst>
          </p:cNvPr>
          <p:cNvSpPr txBox="1"/>
          <p:nvPr/>
        </p:nvSpPr>
        <p:spPr>
          <a:xfrm>
            <a:off x="2743200" y="2971800"/>
            <a:ext cx="1965960" cy="56692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6283F"/>
                </a:solidFill>
                <a:effectLst/>
                <a:uLnTx/>
                <a:uFillTx/>
                <a:latin typeface="Arial" pitchFamily="34" charset="0"/>
                <a:ea typeface="Arial" pitchFamily="34" charset="-122"/>
                <a:cs typeface="Arial" pitchFamily="34" charset="-120"/>
              </a:rPr>
              <a:t>ROBOT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a:extLst>
              <a:ext uri="{FF2B5EF4-FFF2-40B4-BE49-F238E27FC236}">
                <a16:creationId xmlns:a16="http://schemas.microsoft.com/office/drawing/2014/main" id="{A29DC3B3-255B-0CB0-D7BF-579BE9CA84B7}"/>
              </a:ext>
            </a:extLst>
          </p:cNvPr>
          <p:cNvSpPr txBox="1"/>
          <p:nvPr/>
        </p:nvSpPr>
        <p:spPr>
          <a:xfrm>
            <a:off x="4709160" y="2971800"/>
            <a:ext cx="256032" cy="56692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A7F7F"/>
                </a:solidFill>
                <a:effectLst/>
                <a:uLnTx/>
                <a:uFillTx/>
                <a:latin typeface="Arial" pitchFamily="34" charset="0"/>
                <a:ea typeface="Arial" pitchFamily="34" charset="-122"/>
                <a:cs typeface="Arial" pitchFamily="34" charset="-120"/>
              </a:rPr>
              <a: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6">
            <a:extLst>
              <a:ext uri="{FF2B5EF4-FFF2-40B4-BE49-F238E27FC236}">
                <a16:creationId xmlns:a16="http://schemas.microsoft.com/office/drawing/2014/main" id="{86A17EEB-0106-3665-5C21-752F6545FDF9}"/>
              </a:ext>
            </a:extLst>
          </p:cNvPr>
          <p:cNvSpPr/>
          <p:nvPr/>
        </p:nvSpPr>
        <p:spPr>
          <a:xfrm>
            <a:off x="4965192" y="2971800"/>
            <a:ext cx="1965960" cy="566928"/>
          </a:xfrm>
          <a:prstGeom prst="roundRect">
            <a:avLst>
              <a:gd name="adj" fmla="val 9677"/>
            </a:avLst>
          </a:prstGeom>
          <a:solidFill>
            <a:srgbClr val="16283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7">
            <a:extLst>
              <a:ext uri="{FF2B5EF4-FFF2-40B4-BE49-F238E27FC236}">
                <a16:creationId xmlns:a16="http://schemas.microsoft.com/office/drawing/2014/main" id="{A36473D7-39C4-E482-38FA-E85BFB514BD7}"/>
              </a:ext>
            </a:extLst>
          </p:cNvPr>
          <p:cNvSpPr txBox="1"/>
          <p:nvPr/>
        </p:nvSpPr>
        <p:spPr>
          <a:xfrm>
            <a:off x="4965192" y="2971800"/>
            <a:ext cx="1965960" cy="56692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was Entry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a:extLst>
              <a:ext uri="{FF2B5EF4-FFF2-40B4-BE49-F238E27FC236}">
                <a16:creationId xmlns:a16="http://schemas.microsoft.com/office/drawing/2014/main" id="{52F347BE-7FFD-AD8E-6D69-609978C96859}"/>
              </a:ext>
            </a:extLst>
          </p:cNvPr>
          <p:cNvSpPr txBox="1"/>
          <p:nvPr/>
        </p:nvSpPr>
        <p:spPr>
          <a:xfrm>
            <a:off x="6931152" y="2971800"/>
            <a:ext cx="256032" cy="56692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A7F7F"/>
                </a:solidFill>
                <a:effectLst/>
                <a:uLnTx/>
                <a:uFillTx/>
                <a:latin typeface="Arial" pitchFamily="34" charset="0"/>
                <a:ea typeface="Arial" pitchFamily="34" charset="-122"/>
                <a:cs typeface="Arial" pitchFamily="34" charset="-120"/>
              </a:rPr>
              <a: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a:extLst>
              <a:ext uri="{FF2B5EF4-FFF2-40B4-BE49-F238E27FC236}">
                <a16:creationId xmlns:a16="http://schemas.microsoft.com/office/drawing/2014/main" id="{74DBD92F-D192-0800-E2AC-D88CA260BECA}"/>
              </a:ext>
            </a:extLst>
          </p:cNvPr>
          <p:cNvSpPr/>
          <p:nvPr/>
        </p:nvSpPr>
        <p:spPr>
          <a:xfrm>
            <a:off x="7187184" y="2971800"/>
            <a:ext cx="1965960" cy="566928"/>
          </a:xfrm>
          <a:prstGeom prst="roundRect">
            <a:avLst>
              <a:gd name="adj" fmla="val 9677"/>
            </a:avLst>
          </a:prstGeom>
          <a:solidFill>
            <a:srgbClr val="16283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a:extLst>
              <a:ext uri="{FF2B5EF4-FFF2-40B4-BE49-F238E27FC236}">
                <a16:creationId xmlns:a16="http://schemas.microsoft.com/office/drawing/2014/main" id="{A5983654-3C3E-E9F6-E0A0-3AF0554DF7BB}"/>
              </a:ext>
            </a:extLst>
          </p:cNvPr>
          <p:cNvSpPr txBox="1"/>
          <p:nvPr/>
        </p:nvSpPr>
        <p:spPr>
          <a:xfrm>
            <a:off x="7187184" y="2971800"/>
            <a:ext cx="1965960" cy="56692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was Helper</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a:extLst>
              <a:ext uri="{FF2B5EF4-FFF2-40B4-BE49-F238E27FC236}">
                <a16:creationId xmlns:a16="http://schemas.microsoft.com/office/drawing/2014/main" id="{9DBEB7D8-0DB9-433A-7B5C-F41A0DF397E0}"/>
              </a:ext>
            </a:extLst>
          </p:cNvPr>
          <p:cNvSpPr txBox="1"/>
          <p:nvPr/>
        </p:nvSpPr>
        <p:spPr>
          <a:xfrm>
            <a:off x="9153144" y="2971800"/>
            <a:ext cx="256032" cy="56692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A7F7F"/>
                </a:solidFill>
                <a:effectLst/>
                <a:uLnTx/>
                <a:uFillTx/>
                <a:latin typeface="Arial" pitchFamily="34" charset="0"/>
                <a:ea typeface="Arial" pitchFamily="34" charset="-122"/>
                <a:cs typeface="Arial" pitchFamily="34" charset="-120"/>
              </a:rPr>
              <a: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a:extLst>
              <a:ext uri="{FF2B5EF4-FFF2-40B4-BE49-F238E27FC236}">
                <a16:creationId xmlns:a16="http://schemas.microsoft.com/office/drawing/2014/main" id="{9B5A0DD5-DACF-1198-F9B3-BADADC511599}"/>
              </a:ext>
            </a:extLst>
          </p:cNvPr>
          <p:cNvSpPr/>
          <p:nvPr/>
        </p:nvSpPr>
        <p:spPr>
          <a:xfrm>
            <a:off x="9409176" y="2971800"/>
            <a:ext cx="1965960" cy="566928"/>
          </a:xfrm>
          <a:prstGeom prst="roundRect">
            <a:avLst>
              <a:gd name="adj" fmla="val 9677"/>
            </a:avLst>
          </a:prstGeom>
          <a:solidFill>
            <a:srgbClr val="16283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3">
            <a:extLst>
              <a:ext uri="{FF2B5EF4-FFF2-40B4-BE49-F238E27FC236}">
                <a16:creationId xmlns:a16="http://schemas.microsoft.com/office/drawing/2014/main" id="{7FCB7B75-38F2-86D2-FE93-9752B46FA4AE}"/>
              </a:ext>
            </a:extLst>
          </p:cNvPr>
          <p:cNvSpPr txBox="1"/>
          <p:nvPr/>
        </p:nvSpPr>
        <p:spPr>
          <a:xfrm>
            <a:off x="9409176" y="2971800"/>
            <a:ext cx="1965960" cy="56692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was Operator</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4">
            <a:extLst>
              <a:ext uri="{FF2B5EF4-FFF2-40B4-BE49-F238E27FC236}">
                <a16:creationId xmlns:a16="http://schemas.microsoft.com/office/drawing/2014/main" id="{F858B448-70FD-28D0-43A7-04F105F724BB}"/>
              </a:ext>
            </a:extLst>
          </p:cNvPr>
          <p:cNvSpPr/>
          <p:nvPr/>
        </p:nvSpPr>
        <p:spPr>
          <a:xfrm>
            <a:off x="548640" y="3886200"/>
            <a:ext cx="11091672" cy="1691640"/>
          </a:xfrm>
          <a:prstGeom prst="roundRect">
            <a:avLst>
              <a:gd name="adj" fmla="val 3784"/>
            </a:avLst>
          </a:prstGeom>
          <a:solidFill>
            <a:srgbClr val="16283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5">
            <a:extLst>
              <a:ext uri="{FF2B5EF4-FFF2-40B4-BE49-F238E27FC236}">
                <a16:creationId xmlns:a16="http://schemas.microsoft.com/office/drawing/2014/main" id="{AB1ABE07-4507-4A57-F51E-BD7584ABD002}"/>
              </a:ext>
            </a:extLst>
          </p:cNvPr>
          <p:cNvSpPr txBox="1"/>
          <p:nvPr/>
        </p:nvSpPr>
        <p:spPr>
          <a:xfrm>
            <a:off x="822960" y="4087368"/>
            <a:ext cx="10543032"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200" normalizeH="0" baseline="0" noProof="0" dirty="0">
                <a:ln>
                  <a:noFill/>
                </a:ln>
                <a:solidFill>
                  <a:srgbClr val="C9A227"/>
                </a:solidFill>
                <a:effectLst/>
                <a:uLnTx/>
                <a:uFillTx/>
                <a:latin typeface="Arial" pitchFamily="34" charset="0"/>
                <a:ea typeface="Arial" pitchFamily="34" charset="-122"/>
                <a:cs typeface="Arial" pitchFamily="34" charset="-120"/>
              </a:rPr>
              <a:t>EVERYBODY MOVES UP ONE RUNG. THE ROBOT TAKES THE BOTTOM.</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a:extLst>
              <a:ext uri="{FF2B5EF4-FFF2-40B4-BE49-F238E27FC236}">
                <a16:creationId xmlns:a16="http://schemas.microsoft.com/office/drawing/2014/main" id="{D685AE87-08E5-EC80-F743-94219EEA8CD2}"/>
              </a:ext>
            </a:extLst>
          </p:cNvPr>
          <p:cNvSpPr txBox="1"/>
          <p:nvPr/>
        </p:nvSpPr>
        <p:spPr>
          <a:xfrm>
            <a:off x="822960" y="4453128"/>
            <a:ext cx="10543032" cy="739845"/>
          </a:xfrm>
          <a:prstGeom prst="rect">
            <a:avLst/>
          </a:prstGeom>
          <a:noFill/>
          <a:ln/>
        </p:spPr>
        <p:txBody>
          <a:bodyPr wrap="square" lIns="0" tIns="0" rIns="0" bIns="0" rtlCol="0" anchor="t"/>
          <a:lstStyle/>
          <a:p>
            <a:pPr marL="342900" marR="0" lvl="0" indent="-342900" algn="l" defTabSz="914400" rtl="0" eaLnBrk="1" fontAlgn="auto" latinLnBrk="0" hangingPunct="1">
              <a:lnSpc>
                <a:spcPct val="100000"/>
              </a:lnSpc>
              <a:spcBef>
                <a:spcPts val="0"/>
              </a:spcBef>
              <a:spcAft>
                <a:spcPts val="800"/>
              </a:spcAft>
              <a:buClrTx/>
              <a:buSzPct val="100000"/>
              <a:buFontTx/>
              <a:buChar char="•"/>
              <a:tabLst/>
              <a:defRPr/>
            </a:pPr>
            <a:r>
              <a:rPr kumimoji="0" lang="en-US" sz="1500" b="0" i="0" u="none" strike="noStrike" kern="1200" cap="none" spc="0" normalizeH="0" baseline="0" noProof="0" dirty="0">
                <a:ln>
                  <a:noFill/>
                </a:ln>
                <a:solidFill>
                  <a:srgbClr val="E6EBF2"/>
                </a:solidFill>
                <a:effectLst/>
                <a:uLnTx/>
                <a:uFillTx/>
                <a:latin typeface="Arial" pitchFamily="34" charset="0"/>
                <a:ea typeface="Arial" pitchFamily="34" charset="-122"/>
                <a:cs typeface="Arial" pitchFamily="34" charset="-120"/>
              </a:rPr>
              <a:t>The robot never has to do the hard job — it only ever does the entry job, the one it's closest to doing completely.</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800"/>
              </a:spcAft>
              <a:buClrTx/>
              <a:buSzPct val="100000"/>
              <a:buFontTx/>
              <a:buChar char="•"/>
              <a:tabLst/>
              <a:defRPr/>
            </a:pPr>
            <a:r>
              <a:rPr kumimoji="0" lang="en-US" sz="1500" b="0" i="0" u="none" strike="noStrike" kern="1200" cap="none" spc="0" normalizeH="0" baseline="0" noProof="0" dirty="0">
                <a:ln>
                  <a:noFill/>
                </a:ln>
                <a:solidFill>
                  <a:srgbClr val="E6EBF2"/>
                </a:solidFill>
                <a:effectLst/>
                <a:uLnTx/>
                <a:uFillTx/>
                <a:latin typeface="Arial" pitchFamily="34" charset="0"/>
                <a:ea typeface="Arial" pitchFamily="34" charset="-122"/>
                <a:cs typeface="Arial" pitchFamily="34" charset="-120"/>
              </a:rPr>
              <a:t>One robot can relieve anybody on any crew, because the crew shuffles up around it.</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7">
            <a:extLst>
              <a:ext uri="{FF2B5EF4-FFF2-40B4-BE49-F238E27FC236}">
                <a16:creationId xmlns:a16="http://schemas.microsoft.com/office/drawing/2014/main" id="{9FA86081-DA9E-802C-AAC5-4D9085BD64C6}"/>
              </a:ext>
            </a:extLst>
          </p:cNvPr>
          <p:cNvSpPr/>
          <p:nvPr/>
        </p:nvSpPr>
        <p:spPr>
          <a:xfrm>
            <a:off x="548640" y="5605272"/>
            <a:ext cx="11091672" cy="777240"/>
          </a:xfrm>
          <a:prstGeom prst="roundRect">
            <a:avLst>
              <a:gd name="adj" fmla="val 7059"/>
            </a:avLst>
          </a:prstGeom>
          <a:solidFill>
            <a:srgbClr val="16283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8">
            <a:extLst>
              <a:ext uri="{FF2B5EF4-FFF2-40B4-BE49-F238E27FC236}">
                <a16:creationId xmlns:a16="http://schemas.microsoft.com/office/drawing/2014/main" id="{7AF73DAB-0BDF-9839-26F1-035A7B65E68D}"/>
              </a:ext>
            </a:extLst>
          </p:cNvPr>
          <p:cNvSpPr txBox="1"/>
          <p:nvPr/>
        </p:nvSpPr>
        <p:spPr>
          <a:xfrm>
            <a:off x="777240" y="5605272"/>
            <a:ext cx="1065276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u="none" strike="noStrike" kern="1200" cap="none" spc="0" normalizeH="0" baseline="0" noProof="0" dirty="0">
                <a:ln>
                  <a:noFill/>
                </a:ln>
                <a:solidFill>
                  <a:srgbClr val="FFFFFF"/>
                </a:solidFill>
                <a:effectLst/>
                <a:uLnTx/>
                <a:uFillTx/>
                <a:latin typeface="+mj-lt"/>
                <a:ea typeface="Georgia" pitchFamily="34" charset="-122"/>
                <a:cs typeface="Georgia" pitchFamily="34" charset="-120"/>
              </a:rPr>
              <a:t>It changes the question from "can a machine do this job?" to "which rung do we put it on?" — and you always get to choose the easiest one.</a:t>
            </a:r>
            <a:endParaRPr kumimoji="0" lang="en-US" sz="1300" b="0" u="none" strike="noStrike" kern="1200" cap="none" spc="0" normalizeH="0" baseline="0" noProof="0" dirty="0">
              <a:ln>
                <a:noFill/>
              </a:ln>
              <a:solidFill>
                <a:prstClr val="black"/>
              </a:solidFill>
              <a:effectLst/>
              <a:uLnTx/>
              <a:uFillTx/>
              <a:latin typeface="+mj-lt"/>
              <a:ea typeface="+mn-ea"/>
              <a:cs typeface="+mn-cs"/>
            </a:endParaRPr>
          </a:p>
        </p:txBody>
      </p:sp>
    </p:spTree>
    <p:extLst>
      <p:ext uri="{BB962C8B-B14F-4D97-AF65-F5344CB8AC3E}">
        <p14:creationId xmlns:p14="http://schemas.microsoft.com/office/powerpoint/2010/main" val="34342715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marL="0" indent="0" algn="l">
              <a:buNone/>
            </a:pPr>
            <a:r>
              <a:rPr lang="en-US" sz="2800" b="1" dirty="0">
                <a:solidFill>
                  <a:schemeClr val="accent1">
                    <a:lumMod val="75000"/>
                  </a:schemeClr>
                </a:solidFill>
                <a:latin typeface="Arial Nova" panose="020B0504020202020204" pitchFamily="34" charset="0"/>
                <a:ea typeface="Georgia" pitchFamily="34" charset="-122"/>
                <a:cs typeface="Georgia" pitchFamily="34" charset="-120"/>
              </a:rPr>
              <a:t>Why not just replace all the entry-level jobs?</a:t>
            </a:r>
            <a:endParaRPr lang="en-US" sz="2800" dirty="0">
              <a:solidFill>
                <a:schemeClr val="accent1">
                  <a:lumMod val="75000"/>
                </a:schemeClr>
              </a:solidFill>
              <a:latin typeface="Arial Nova" panose="020B0504020202020204" pitchFamily="34" charset="0"/>
            </a:endParaRPr>
          </a:p>
        </p:txBody>
      </p:sp>
      <p:sp>
        <p:nvSpPr>
          <p:cNvPr id="3" name="Text 1"/>
          <p:cNvSpPr txBox="1"/>
          <p:nvPr/>
        </p:nvSpPr>
        <p:spPr>
          <a:xfrm>
            <a:off x="548640" y="6473952"/>
            <a:ext cx="11091672" cy="274320"/>
          </a:xfrm>
          <a:prstGeom prst="rect">
            <a:avLst/>
          </a:prstGeom>
          <a:noFill/>
          <a:ln/>
        </p:spPr>
        <p:txBody>
          <a:bodyPr wrap="square" lIns="0" tIns="0" rIns="0" bIns="0" rtlCol="0" anchor="ctr"/>
          <a:lstStyle/>
          <a:p>
            <a:pPr marL="0" indent="0" algn="l">
              <a:buNone/>
            </a:pPr>
            <a:r>
              <a:rPr lang="en-US" sz="900" dirty="0">
                <a:solidFill>
                  <a:srgbClr val="667085"/>
                </a:solidFill>
                <a:latin typeface="Arial" pitchFamily="34" charset="0"/>
                <a:ea typeface="Arial" pitchFamily="34" charset="-122"/>
                <a:cs typeface="Arial" pitchFamily="34" charset="-120"/>
              </a:rPr>
              <a:t>Shiftwork Solutions LLC  |  (415) 265-1621  |  www.shift-work.com</a:t>
            </a:r>
            <a:endParaRPr lang="en-US" sz="900" dirty="0"/>
          </a:p>
        </p:txBody>
      </p:sp>
      <p:sp>
        <p:nvSpPr>
          <p:cNvPr id="4" name="Shape 2"/>
          <p:cNvSpPr/>
          <p:nvPr/>
        </p:nvSpPr>
        <p:spPr>
          <a:xfrm>
            <a:off x="822960" y="1280160"/>
            <a:ext cx="3291840" cy="713232"/>
          </a:xfrm>
          <a:prstGeom prst="roundRect">
            <a:avLst>
              <a:gd name="adj" fmla="val 7692"/>
            </a:avLst>
          </a:prstGeom>
          <a:solidFill>
            <a:srgbClr val="16283F"/>
          </a:solidFill>
          <a:ln/>
        </p:spPr>
        <p:txBody>
          <a:bodyPr/>
          <a:lstStyle/>
          <a:p>
            <a:endParaRPr lang="en-US"/>
          </a:p>
        </p:txBody>
      </p:sp>
      <p:sp>
        <p:nvSpPr>
          <p:cNvPr id="5" name="Text 3"/>
          <p:cNvSpPr txBox="1"/>
          <p:nvPr/>
        </p:nvSpPr>
        <p:spPr>
          <a:xfrm>
            <a:off x="822960" y="1280160"/>
            <a:ext cx="3291840" cy="713232"/>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LEAD</a:t>
            </a:r>
            <a:endParaRPr lang="en-US" sz="1600" dirty="0"/>
          </a:p>
        </p:txBody>
      </p:sp>
      <p:sp>
        <p:nvSpPr>
          <p:cNvPr id="6" name="Text 4"/>
          <p:cNvSpPr txBox="1"/>
          <p:nvPr/>
        </p:nvSpPr>
        <p:spPr>
          <a:xfrm>
            <a:off x="2286000" y="1993392"/>
            <a:ext cx="365760" cy="310896"/>
          </a:xfrm>
          <a:prstGeom prst="rect">
            <a:avLst/>
          </a:prstGeom>
          <a:noFill/>
          <a:ln/>
        </p:spPr>
        <p:txBody>
          <a:bodyPr wrap="square" lIns="0" tIns="0" rIns="0" bIns="0" rtlCol="0" anchor="ctr"/>
          <a:lstStyle/>
          <a:p>
            <a:pPr marL="0" indent="0" algn="ctr">
              <a:buNone/>
            </a:pPr>
            <a:r>
              <a:rPr lang="en-US" sz="1400" b="1" dirty="0">
                <a:solidFill>
                  <a:srgbClr val="2A7F7F"/>
                </a:solidFill>
                <a:latin typeface="Arial" pitchFamily="34" charset="0"/>
                <a:ea typeface="Arial" pitchFamily="34" charset="-122"/>
                <a:cs typeface="Arial" pitchFamily="34" charset="-120"/>
              </a:rPr>
              <a:t>▲</a:t>
            </a:r>
            <a:endParaRPr lang="en-US" sz="1400" dirty="0"/>
          </a:p>
        </p:txBody>
      </p:sp>
      <p:sp>
        <p:nvSpPr>
          <p:cNvPr id="7" name="Shape 5"/>
          <p:cNvSpPr/>
          <p:nvPr/>
        </p:nvSpPr>
        <p:spPr>
          <a:xfrm>
            <a:off x="822960" y="2304288"/>
            <a:ext cx="3291840" cy="713232"/>
          </a:xfrm>
          <a:prstGeom prst="roundRect">
            <a:avLst>
              <a:gd name="adj" fmla="val 7692"/>
            </a:avLst>
          </a:prstGeom>
          <a:solidFill>
            <a:srgbClr val="16283F"/>
          </a:solidFill>
          <a:ln/>
        </p:spPr>
        <p:txBody>
          <a:bodyPr/>
          <a:lstStyle/>
          <a:p>
            <a:endParaRPr lang="en-US"/>
          </a:p>
        </p:txBody>
      </p:sp>
      <p:sp>
        <p:nvSpPr>
          <p:cNvPr id="8" name="Text 6"/>
          <p:cNvSpPr txBox="1"/>
          <p:nvPr/>
        </p:nvSpPr>
        <p:spPr>
          <a:xfrm>
            <a:off x="822960" y="2304288"/>
            <a:ext cx="3291840" cy="713232"/>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OPERATOR</a:t>
            </a:r>
            <a:endParaRPr lang="en-US" sz="1600" dirty="0"/>
          </a:p>
        </p:txBody>
      </p:sp>
      <p:sp>
        <p:nvSpPr>
          <p:cNvPr id="9" name="Text 7"/>
          <p:cNvSpPr txBox="1"/>
          <p:nvPr/>
        </p:nvSpPr>
        <p:spPr>
          <a:xfrm>
            <a:off x="2286000" y="3017520"/>
            <a:ext cx="365760" cy="310896"/>
          </a:xfrm>
          <a:prstGeom prst="rect">
            <a:avLst/>
          </a:prstGeom>
          <a:noFill/>
          <a:ln/>
        </p:spPr>
        <p:txBody>
          <a:bodyPr wrap="square" lIns="0" tIns="0" rIns="0" bIns="0" rtlCol="0" anchor="ctr"/>
          <a:lstStyle/>
          <a:p>
            <a:pPr marL="0" indent="0" algn="ctr">
              <a:buNone/>
            </a:pPr>
            <a:r>
              <a:rPr lang="en-US" sz="1400" b="1" dirty="0">
                <a:solidFill>
                  <a:srgbClr val="2A7F7F"/>
                </a:solidFill>
                <a:latin typeface="Arial" pitchFamily="34" charset="0"/>
                <a:ea typeface="Arial" pitchFamily="34" charset="-122"/>
                <a:cs typeface="Arial" pitchFamily="34" charset="-120"/>
              </a:rPr>
              <a:t>▲</a:t>
            </a:r>
            <a:endParaRPr lang="en-US" sz="1400" dirty="0"/>
          </a:p>
        </p:txBody>
      </p:sp>
      <p:sp>
        <p:nvSpPr>
          <p:cNvPr id="10" name="Shape 8"/>
          <p:cNvSpPr/>
          <p:nvPr/>
        </p:nvSpPr>
        <p:spPr>
          <a:xfrm>
            <a:off x="822960" y="3328416"/>
            <a:ext cx="3291840" cy="713232"/>
          </a:xfrm>
          <a:prstGeom prst="roundRect">
            <a:avLst>
              <a:gd name="adj" fmla="val 7692"/>
            </a:avLst>
          </a:prstGeom>
          <a:solidFill>
            <a:srgbClr val="16283F"/>
          </a:solidFill>
          <a:ln/>
        </p:spPr>
        <p:txBody>
          <a:bodyPr/>
          <a:lstStyle/>
          <a:p>
            <a:endParaRPr lang="en-US"/>
          </a:p>
        </p:txBody>
      </p:sp>
      <p:sp>
        <p:nvSpPr>
          <p:cNvPr id="11" name="Text 9"/>
          <p:cNvSpPr txBox="1"/>
          <p:nvPr/>
        </p:nvSpPr>
        <p:spPr>
          <a:xfrm>
            <a:off x="822960" y="3328416"/>
            <a:ext cx="3291840" cy="713232"/>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HELPER</a:t>
            </a:r>
            <a:endParaRPr lang="en-US" sz="1600" dirty="0"/>
          </a:p>
        </p:txBody>
      </p:sp>
      <p:sp>
        <p:nvSpPr>
          <p:cNvPr id="12" name="Text 10"/>
          <p:cNvSpPr txBox="1"/>
          <p:nvPr/>
        </p:nvSpPr>
        <p:spPr>
          <a:xfrm>
            <a:off x="2286000" y="4041648"/>
            <a:ext cx="365760" cy="310896"/>
          </a:xfrm>
          <a:prstGeom prst="rect">
            <a:avLst/>
          </a:prstGeom>
          <a:noFill/>
          <a:ln/>
        </p:spPr>
        <p:txBody>
          <a:bodyPr wrap="square" lIns="0" tIns="0" rIns="0" bIns="0" rtlCol="0" anchor="ctr"/>
          <a:lstStyle/>
          <a:p>
            <a:pPr marL="0" indent="0" algn="ctr">
              <a:buNone/>
            </a:pPr>
            <a:r>
              <a:rPr lang="en-US" sz="1400" b="1" dirty="0">
                <a:solidFill>
                  <a:srgbClr val="2A7F7F"/>
                </a:solidFill>
                <a:latin typeface="Arial" pitchFamily="34" charset="0"/>
                <a:ea typeface="Arial" pitchFamily="34" charset="-122"/>
                <a:cs typeface="Arial" pitchFamily="34" charset="-120"/>
              </a:rPr>
              <a:t>▲</a:t>
            </a:r>
            <a:endParaRPr lang="en-US" sz="1400" dirty="0"/>
          </a:p>
        </p:txBody>
      </p:sp>
      <p:sp>
        <p:nvSpPr>
          <p:cNvPr id="13" name="Shape 11"/>
          <p:cNvSpPr/>
          <p:nvPr/>
        </p:nvSpPr>
        <p:spPr>
          <a:xfrm>
            <a:off x="822960" y="4352544"/>
            <a:ext cx="3291840" cy="713232"/>
          </a:xfrm>
          <a:prstGeom prst="roundRect">
            <a:avLst>
              <a:gd name="adj" fmla="val 7692"/>
            </a:avLst>
          </a:prstGeom>
          <a:solidFill>
            <a:srgbClr val="C9A227"/>
          </a:solidFill>
          <a:ln/>
        </p:spPr>
        <p:txBody>
          <a:bodyPr/>
          <a:lstStyle/>
          <a:p>
            <a:endParaRPr lang="en-US"/>
          </a:p>
        </p:txBody>
      </p:sp>
      <p:sp>
        <p:nvSpPr>
          <p:cNvPr id="14" name="Text 12"/>
          <p:cNvSpPr txBox="1"/>
          <p:nvPr/>
        </p:nvSpPr>
        <p:spPr>
          <a:xfrm>
            <a:off x="822960" y="4352544"/>
            <a:ext cx="3291840" cy="713232"/>
          </a:xfrm>
          <a:prstGeom prst="rect">
            <a:avLst/>
          </a:prstGeom>
          <a:noFill/>
          <a:ln/>
        </p:spPr>
        <p:txBody>
          <a:bodyPr wrap="square" lIns="0" tIns="0" rIns="0" bIns="0" rtlCol="0" anchor="ctr"/>
          <a:lstStyle/>
          <a:p>
            <a:pPr marL="0" indent="0" algn="ctr">
              <a:buNone/>
            </a:pPr>
            <a:r>
              <a:rPr lang="en-US" sz="1600" b="1" dirty="0">
                <a:solidFill>
                  <a:srgbClr val="16283F"/>
                </a:solidFill>
                <a:latin typeface="Arial" pitchFamily="34" charset="0"/>
                <a:ea typeface="Arial" pitchFamily="34" charset="-122"/>
                <a:cs typeface="Arial" pitchFamily="34" charset="-120"/>
              </a:rPr>
              <a:t>ENTRY</a:t>
            </a:r>
            <a:endParaRPr lang="en-US" sz="1600" dirty="0"/>
          </a:p>
        </p:txBody>
      </p:sp>
      <p:sp>
        <p:nvSpPr>
          <p:cNvPr id="15" name="Text 13"/>
          <p:cNvSpPr txBox="1"/>
          <p:nvPr/>
        </p:nvSpPr>
        <p:spPr>
          <a:xfrm>
            <a:off x="548640" y="5440680"/>
            <a:ext cx="3840480" cy="365760"/>
          </a:xfrm>
          <a:prstGeom prst="rect">
            <a:avLst/>
          </a:prstGeom>
          <a:noFill/>
          <a:ln/>
        </p:spPr>
        <p:txBody>
          <a:bodyPr wrap="square" lIns="0" tIns="0" rIns="0" bIns="0" rtlCol="0" anchor="ctr"/>
          <a:lstStyle/>
          <a:p>
            <a:pPr marL="0" indent="0" algn="ctr">
              <a:buNone/>
            </a:pPr>
            <a:r>
              <a:rPr lang="en-US" sz="1200" i="1" dirty="0">
                <a:solidFill>
                  <a:srgbClr val="667085"/>
                </a:solidFill>
                <a:latin typeface="Arial" pitchFamily="34" charset="0"/>
                <a:ea typeface="Arial" pitchFamily="34" charset="-122"/>
                <a:cs typeface="Arial" pitchFamily="34" charset="-120"/>
              </a:rPr>
              <a:t>Your pipeline. Every lead you have started here.</a:t>
            </a:r>
            <a:endParaRPr lang="en-US" sz="1200" dirty="0"/>
          </a:p>
        </p:txBody>
      </p:sp>
      <p:sp>
        <p:nvSpPr>
          <p:cNvPr id="16" name="Shape 14"/>
          <p:cNvSpPr/>
          <p:nvPr/>
        </p:nvSpPr>
        <p:spPr>
          <a:xfrm>
            <a:off x="4663440" y="1280160"/>
            <a:ext cx="6976872" cy="4114800"/>
          </a:xfrm>
          <a:prstGeom prst="roundRect">
            <a:avLst>
              <a:gd name="adj" fmla="val 1556"/>
            </a:avLst>
          </a:prstGeom>
          <a:solidFill>
            <a:srgbClr val="16283F"/>
          </a:solidFill>
          <a:ln/>
        </p:spPr>
        <p:txBody>
          <a:bodyPr/>
          <a:lstStyle/>
          <a:p>
            <a:endParaRPr lang="en-US"/>
          </a:p>
        </p:txBody>
      </p:sp>
      <p:sp>
        <p:nvSpPr>
          <p:cNvPr id="17" name="Text 15"/>
          <p:cNvSpPr txBox="1"/>
          <p:nvPr/>
        </p:nvSpPr>
        <p:spPr>
          <a:xfrm>
            <a:off x="4937760" y="1481328"/>
            <a:ext cx="6428232" cy="320040"/>
          </a:xfrm>
          <a:prstGeom prst="rect">
            <a:avLst/>
          </a:prstGeom>
          <a:noFill/>
          <a:ln/>
        </p:spPr>
        <p:txBody>
          <a:bodyPr wrap="square" lIns="0" tIns="0" rIns="0" bIns="0" rtlCol="0" anchor="ctr"/>
          <a:lstStyle/>
          <a:p>
            <a:pPr marL="0" indent="0">
              <a:buNone/>
            </a:pPr>
            <a:r>
              <a:rPr lang="en-US" sz="1300" b="1" kern="0" spc="200" dirty="0">
                <a:solidFill>
                  <a:srgbClr val="C9A227"/>
                </a:solidFill>
                <a:latin typeface="Arial" pitchFamily="34" charset="0"/>
                <a:ea typeface="Arial" pitchFamily="34" charset="-122"/>
                <a:cs typeface="Arial" pitchFamily="34" charset="-120"/>
              </a:rPr>
              <a:t>THE OBVIOUS MOVE — AND WHY NOT</a:t>
            </a:r>
            <a:endParaRPr lang="en-US" sz="1300" dirty="0"/>
          </a:p>
        </p:txBody>
      </p:sp>
      <p:sp>
        <p:nvSpPr>
          <p:cNvPr id="18" name="Text 16"/>
          <p:cNvSpPr txBox="1"/>
          <p:nvPr/>
        </p:nvSpPr>
        <p:spPr>
          <a:xfrm>
            <a:off x="4937760" y="1847088"/>
            <a:ext cx="6428232" cy="3364992"/>
          </a:xfrm>
          <a:prstGeom prst="rect">
            <a:avLst/>
          </a:prstGeom>
          <a:noFill/>
          <a:ln/>
        </p:spPr>
        <p:txBody>
          <a:bodyPr wrap="square" lIns="0" tIns="0" rIns="0" bIns="0" rtlCol="0" anchor="t"/>
          <a:lstStyle/>
          <a:p>
            <a:pPr marL="342900" indent="-342900">
              <a:spcAft>
                <a:spcPts val="1000"/>
              </a:spcAft>
              <a:buSzPct val="100000"/>
              <a:buChar char="•"/>
            </a:pPr>
            <a:r>
              <a:rPr lang="en-US" sz="1500" b="1" dirty="0">
                <a:solidFill>
                  <a:srgbClr val="E6EBF2"/>
                </a:solidFill>
                <a:latin typeface="Arial Nova" panose="020B0504020202020204" pitchFamily="34" charset="0"/>
                <a:ea typeface="Arial" pitchFamily="34" charset="-122"/>
                <a:cs typeface="Arial" pitchFamily="34" charset="-120"/>
              </a:rPr>
              <a:t>If a robot can do the entry job, the obvious move is to replace every entry job. Don't.</a:t>
            </a:r>
            <a:endParaRPr lang="en-US" sz="1500" dirty="0">
              <a:latin typeface="Arial Nova" panose="020B0504020202020204" pitchFamily="34" charset="0"/>
            </a:endParaRPr>
          </a:p>
          <a:p>
            <a:pPr marL="342900" indent="-342900">
              <a:spcAft>
                <a:spcPts val="1000"/>
              </a:spcAft>
              <a:buSzPct val="100000"/>
              <a:buChar char="•"/>
            </a:pPr>
            <a:r>
              <a:rPr lang="en-US" sz="1500" dirty="0">
                <a:solidFill>
                  <a:srgbClr val="E6EBF2"/>
                </a:solidFill>
                <a:latin typeface="Arial Nova" panose="020B0504020202020204" pitchFamily="34" charset="0"/>
                <a:ea typeface="Arial" pitchFamily="34" charset="-122"/>
                <a:cs typeface="Arial" pitchFamily="34" charset="-120"/>
              </a:rPr>
              <a:t>Your entry-level people learn the job, move up, and become your future operators and leads. Replace them all and you've cut off your own pipeline.</a:t>
            </a:r>
            <a:endParaRPr lang="en-US" sz="1500" dirty="0">
              <a:latin typeface="Arial Nova" panose="020B0504020202020204" pitchFamily="34" charset="0"/>
            </a:endParaRPr>
          </a:p>
          <a:p>
            <a:pPr marL="342900" indent="-342900">
              <a:spcAft>
                <a:spcPts val="1000"/>
              </a:spcAft>
              <a:buSzPct val="100000"/>
              <a:buChar char="•"/>
            </a:pPr>
            <a:r>
              <a:rPr lang="en-US" sz="1500" dirty="0">
                <a:solidFill>
                  <a:srgbClr val="E6EBF2"/>
                </a:solidFill>
                <a:latin typeface="Arial Nova" panose="020B0504020202020204" pitchFamily="34" charset="0"/>
                <a:ea typeface="Arial" pitchFamily="34" charset="-122"/>
                <a:cs typeface="Arial" pitchFamily="34" charset="-120"/>
              </a:rPr>
              <a:t>And there's no guarantee AI ever produces a robot that can do the higher rungs — so you'll still need people climbing.</a:t>
            </a:r>
            <a:endParaRPr lang="en-US" sz="1500" dirty="0">
              <a:latin typeface="Arial Nova" panose="020B0504020202020204" pitchFamily="34" charset="0"/>
            </a:endParaRPr>
          </a:p>
          <a:p>
            <a:pPr marL="342900" indent="-342900">
              <a:spcAft>
                <a:spcPts val="1000"/>
              </a:spcAft>
              <a:buSzPct val="100000"/>
              <a:buChar char="•"/>
            </a:pPr>
            <a:r>
              <a:rPr lang="en-US" sz="1500" b="1" dirty="0">
                <a:solidFill>
                  <a:srgbClr val="E6EBF2"/>
                </a:solidFill>
                <a:latin typeface="Arial Nova" panose="020B0504020202020204" pitchFamily="34" charset="0"/>
                <a:ea typeface="Arial" pitchFamily="34" charset="-122"/>
                <a:cs typeface="Arial" pitchFamily="34" charset="-120"/>
              </a:rPr>
              <a:t>Relief coverage is the right first job for a robot: it fills gaps you already can't fill, without touching the ladder.</a:t>
            </a:r>
            <a:endParaRPr lang="en-US" sz="1500" dirty="0">
              <a:latin typeface="Arial Nova" panose="020B0504020202020204" pitchFamily="34" charset="0"/>
            </a:endParaRPr>
          </a:p>
        </p:txBody>
      </p:sp>
      <p:sp>
        <p:nvSpPr>
          <p:cNvPr id="19" name="Shape 17"/>
          <p:cNvSpPr/>
          <p:nvPr/>
        </p:nvSpPr>
        <p:spPr>
          <a:xfrm>
            <a:off x="548640" y="5833872"/>
            <a:ext cx="11091672" cy="548640"/>
          </a:xfrm>
          <a:prstGeom prst="roundRect">
            <a:avLst>
              <a:gd name="adj" fmla="val 10000"/>
            </a:avLst>
          </a:prstGeom>
          <a:solidFill>
            <a:srgbClr val="16283F"/>
          </a:solidFill>
          <a:ln/>
        </p:spPr>
        <p:txBody>
          <a:bodyPr/>
          <a:lstStyle/>
          <a:p>
            <a:endParaRPr lang="en-US"/>
          </a:p>
        </p:txBody>
      </p:sp>
      <p:sp>
        <p:nvSpPr>
          <p:cNvPr id="20" name="Text 18"/>
          <p:cNvSpPr txBox="1"/>
          <p:nvPr/>
        </p:nvSpPr>
        <p:spPr>
          <a:xfrm>
            <a:off x="777240" y="5833872"/>
            <a:ext cx="10652760" cy="548640"/>
          </a:xfrm>
          <a:prstGeom prst="rect">
            <a:avLst/>
          </a:prstGeom>
          <a:noFill/>
          <a:ln/>
        </p:spPr>
        <p:txBody>
          <a:bodyPr wrap="square" lIns="0" tIns="0" rIns="0" bIns="0" rtlCol="0" anchor="ctr"/>
          <a:lstStyle/>
          <a:p>
            <a:pPr marL="0" indent="0">
              <a:buNone/>
            </a:pPr>
            <a:r>
              <a:rPr lang="en-US" sz="1500" dirty="0">
                <a:solidFill>
                  <a:srgbClr val="FFFFFF"/>
                </a:solidFill>
                <a:latin typeface="+mj-lt"/>
                <a:ea typeface="Georgia" pitchFamily="34" charset="-122"/>
                <a:cs typeface="Georgia" pitchFamily="34" charset="-120"/>
              </a:rPr>
              <a:t>Take the biggest saving on the table</a:t>
            </a:r>
            <a:r>
              <a:rPr lang="hu-HU" sz="1500" dirty="0">
                <a:solidFill>
                  <a:srgbClr val="FFFFFF"/>
                </a:solidFill>
                <a:latin typeface="+mj-lt"/>
                <a:ea typeface="Georgia" pitchFamily="34" charset="-122"/>
                <a:cs typeface="Georgia" pitchFamily="34" charset="-120"/>
              </a:rPr>
              <a:t>,</a:t>
            </a:r>
            <a:r>
              <a:rPr lang="en-US" sz="1500" dirty="0">
                <a:solidFill>
                  <a:srgbClr val="FFFFFF"/>
                </a:solidFill>
                <a:latin typeface="+mj-lt"/>
                <a:ea typeface="Georgia" pitchFamily="34" charset="-122"/>
                <a:cs typeface="Georgia" pitchFamily="34" charset="-120"/>
              </a:rPr>
              <a:t> and you eat the seed corn.</a:t>
            </a:r>
            <a:endParaRPr lang="en-US" sz="1500" dirty="0">
              <a:latin typeface="+mj-lt"/>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bg>
      <p:bgPr>
        <a:solidFill>
          <a:srgbClr val="16283F"/>
        </a:solidFill>
        <a:effectLst/>
      </p:bgPr>
    </p:bg>
    <p:spTree>
      <p:nvGrpSpPr>
        <p:cNvPr id="1" name=""/>
        <p:cNvGrpSpPr/>
        <p:nvPr/>
      </p:nvGrpSpPr>
      <p:grpSpPr>
        <a:xfrm>
          <a:off x="0" y="0"/>
          <a:ext cx="0" cy="0"/>
          <a:chOff x="0" y="0"/>
          <a:chExt cx="0" cy="0"/>
        </a:xfrm>
      </p:grpSpPr>
      <p:sp>
        <p:nvSpPr>
          <p:cNvPr id="2" name="Text 0"/>
          <p:cNvSpPr txBox="1"/>
          <p:nvPr/>
        </p:nvSpPr>
        <p:spPr>
          <a:xfrm>
            <a:off x="1583140" y="6473952"/>
            <a:ext cx="6630082" cy="274320"/>
          </a:xfrm>
          <a:prstGeom prst="rect">
            <a:avLst/>
          </a:prstGeom>
          <a:noFill/>
          <a:ln/>
        </p:spPr>
        <p:txBody>
          <a:bodyPr wrap="square" lIns="0" tIns="0" rIns="0" bIns="0" rtlCol="0" anchor="ctr"/>
          <a:lstStyle/>
          <a:p>
            <a:pPr marL="0" indent="0" algn="l">
              <a:buNone/>
            </a:pPr>
            <a:r>
              <a:rPr lang="en-US" sz="900" dirty="0">
                <a:solidFill>
                  <a:srgbClr val="8FA1B8"/>
                </a:solidFill>
                <a:latin typeface="Arial" pitchFamily="34" charset="0"/>
                <a:ea typeface="Arial" pitchFamily="34" charset="-122"/>
                <a:cs typeface="Arial" pitchFamily="34" charset="-120"/>
              </a:rPr>
              <a:t>Shiftwork Solutions LLC  |  (415) 265-1621  |  www.shift-work.com</a:t>
            </a:r>
            <a:endParaRPr lang="en-US" sz="900" dirty="0"/>
          </a:p>
        </p:txBody>
      </p:sp>
      <p:sp>
        <p:nvSpPr>
          <p:cNvPr id="3" name="Text 1"/>
          <p:cNvSpPr txBox="1"/>
          <p:nvPr/>
        </p:nvSpPr>
        <p:spPr>
          <a:xfrm>
            <a:off x="822960" y="2331720"/>
            <a:ext cx="10515600" cy="1097280"/>
          </a:xfrm>
          <a:prstGeom prst="rect">
            <a:avLst/>
          </a:prstGeom>
          <a:noFill/>
          <a:ln/>
        </p:spPr>
        <p:txBody>
          <a:bodyPr wrap="square" lIns="0" tIns="0" rIns="0" bIns="0" rtlCol="0" anchor="ctr"/>
          <a:lstStyle/>
          <a:p>
            <a:pPr marL="0" indent="0">
              <a:buNone/>
            </a:pPr>
            <a:r>
              <a:rPr lang="en-US" sz="4000" b="1" dirty="0">
                <a:solidFill>
                  <a:srgbClr val="FFFFFF"/>
                </a:solidFill>
                <a:latin typeface="Arial Nova" panose="020B0504020202020204" pitchFamily="34" charset="0"/>
                <a:ea typeface="Georgia" pitchFamily="34" charset="-122"/>
                <a:cs typeface="Georgia" pitchFamily="34" charset="-120"/>
              </a:rPr>
              <a:t>My Prediction</a:t>
            </a:r>
            <a:endParaRPr lang="en-US" sz="4000" dirty="0">
              <a:latin typeface="Arial Nova" panose="020B0504020202020204" pitchFamily="34" charset="0"/>
            </a:endParaRPr>
          </a:p>
        </p:txBody>
      </p:sp>
      <p:sp>
        <p:nvSpPr>
          <p:cNvPr id="4" name="Text 2"/>
          <p:cNvSpPr txBox="1"/>
          <p:nvPr/>
        </p:nvSpPr>
        <p:spPr>
          <a:xfrm>
            <a:off x="822960" y="3329372"/>
            <a:ext cx="10058400" cy="548640"/>
          </a:xfrm>
          <a:prstGeom prst="rect">
            <a:avLst/>
          </a:prstGeom>
          <a:noFill/>
          <a:ln/>
        </p:spPr>
        <p:txBody>
          <a:bodyPr wrap="square" lIns="0" tIns="0" rIns="0" bIns="0" rtlCol="0" anchor="ctr"/>
          <a:lstStyle/>
          <a:p>
            <a:pPr marL="0" indent="0">
              <a:buNone/>
            </a:pPr>
            <a:r>
              <a:rPr lang="en-US" sz="1600" dirty="0">
                <a:solidFill>
                  <a:schemeClr val="accent4">
                    <a:lumMod val="75000"/>
                  </a:schemeClr>
                </a:solidFill>
                <a:latin typeface="Arial" pitchFamily="34" charset="0"/>
                <a:ea typeface="Arial" pitchFamily="34" charset="-122"/>
                <a:cs typeface="Arial" pitchFamily="34" charset="-120"/>
              </a:rPr>
              <a:t>The plant, ten years out</a:t>
            </a:r>
            <a:endParaRPr lang="en-US" sz="1600" dirty="0">
              <a:solidFill>
                <a:schemeClr val="accent4">
                  <a:lumMod val="75000"/>
                </a:schemeClr>
              </a:solidFill>
            </a:endParaRPr>
          </a:p>
        </p:txBody>
      </p:sp>
      <p:pic>
        <p:nvPicPr>
          <p:cNvPr id="5" name="Picture 4">
            <a:extLst>
              <a:ext uri="{FF2B5EF4-FFF2-40B4-BE49-F238E27FC236}">
                <a16:creationId xmlns:a16="http://schemas.microsoft.com/office/drawing/2014/main" id="{E82D19D3-24B2-1BE9-75DA-4CFA9F6299AD}"/>
              </a:ext>
            </a:extLst>
          </p:cNvPr>
          <p:cNvPicPr>
            <a:picLocks noChangeAspect="1"/>
          </p:cNvPicPr>
          <p:nvPr/>
        </p:nvPicPr>
        <p:blipFill>
          <a:blip r:embed="rId3"/>
          <a:stretch>
            <a:fillRect/>
          </a:stretch>
        </p:blipFill>
        <p:spPr>
          <a:xfrm>
            <a:off x="750026" y="5866691"/>
            <a:ext cx="833114" cy="833114"/>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marL="0" indent="0" algn="l">
              <a:buNone/>
            </a:pPr>
            <a:r>
              <a:rPr lang="en-US" sz="2800" b="1" dirty="0">
                <a:solidFill>
                  <a:schemeClr val="accent1">
                    <a:lumMod val="75000"/>
                  </a:schemeClr>
                </a:solidFill>
                <a:latin typeface="Arial Nova" panose="020B0504020202020204" pitchFamily="34" charset="0"/>
                <a:ea typeface="Georgia" pitchFamily="34" charset="-122"/>
                <a:cs typeface="Georgia" pitchFamily="34" charset="-120"/>
              </a:rPr>
              <a:t>The plant, ten years out</a:t>
            </a:r>
            <a:endParaRPr lang="en-US" sz="2800" dirty="0">
              <a:solidFill>
                <a:schemeClr val="accent1">
                  <a:lumMod val="75000"/>
                </a:schemeClr>
              </a:solidFill>
              <a:latin typeface="Arial Nova" panose="020B0504020202020204" pitchFamily="34" charset="0"/>
            </a:endParaRPr>
          </a:p>
        </p:txBody>
      </p:sp>
      <p:sp>
        <p:nvSpPr>
          <p:cNvPr id="3" name="Text 1"/>
          <p:cNvSpPr txBox="1"/>
          <p:nvPr/>
        </p:nvSpPr>
        <p:spPr>
          <a:xfrm>
            <a:off x="548640" y="6473952"/>
            <a:ext cx="11091672" cy="274320"/>
          </a:xfrm>
          <a:prstGeom prst="rect">
            <a:avLst/>
          </a:prstGeom>
          <a:noFill/>
          <a:ln/>
        </p:spPr>
        <p:txBody>
          <a:bodyPr wrap="square" lIns="0" tIns="0" rIns="0" bIns="0" rtlCol="0" anchor="ctr"/>
          <a:lstStyle/>
          <a:p>
            <a:pPr marL="0" indent="0" algn="l">
              <a:buNone/>
            </a:pPr>
            <a:r>
              <a:rPr lang="en-US" sz="900" dirty="0">
                <a:solidFill>
                  <a:srgbClr val="667085"/>
                </a:solidFill>
                <a:latin typeface="Arial" pitchFamily="34" charset="0"/>
                <a:ea typeface="Arial" pitchFamily="34" charset="-122"/>
                <a:cs typeface="Arial" pitchFamily="34" charset="-120"/>
              </a:rPr>
              <a:t>Shiftwork Solutions LLC  |  (415) 265-1621  |  www.shift-work.com</a:t>
            </a:r>
            <a:endParaRPr lang="en-US" sz="900" dirty="0"/>
          </a:p>
        </p:txBody>
      </p:sp>
      <p:sp>
        <p:nvSpPr>
          <p:cNvPr id="4" name="Shape 2"/>
          <p:cNvSpPr/>
          <p:nvPr/>
        </p:nvSpPr>
        <p:spPr>
          <a:xfrm>
            <a:off x="548640" y="1188720"/>
            <a:ext cx="5440680" cy="2331720"/>
          </a:xfrm>
          <a:prstGeom prst="roundRect">
            <a:avLst>
              <a:gd name="adj" fmla="val 2745"/>
            </a:avLst>
          </a:prstGeom>
          <a:solidFill>
            <a:srgbClr val="F2F5F8"/>
          </a:solidFill>
          <a:ln/>
        </p:spPr>
        <p:txBody>
          <a:bodyPr/>
          <a:lstStyle/>
          <a:p>
            <a:endParaRPr lang="en-US"/>
          </a:p>
        </p:txBody>
      </p:sp>
      <p:sp>
        <p:nvSpPr>
          <p:cNvPr id="5" name="Text 3"/>
          <p:cNvSpPr txBox="1"/>
          <p:nvPr/>
        </p:nvSpPr>
        <p:spPr>
          <a:xfrm>
            <a:off x="822960" y="1389888"/>
            <a:ext cx="4892040" cy="320040"/>
          </a:xfrm>
          <a:prstGeom prst="rect">
            <a:avLst/>
          </a:prstGeom>
          <a:noFill/>
          <a:ln/>
        </p:spPr>
        <p:txBody>
          <a:bodyPr wrap="square" lIns="0" tIns="0" rIns="0" bIns="0" rtlCol="0" anchor="ctr"/>
          <a:lstStyle/>
          <a:p>
            <a:pPr marL="0" indent="0">
              <a:buNone/>
            </a:pPr>
            <a:r>
              <a:rPr lang="en-US" sz="1300" b="1" kern="0" spc="200" dirty="0">
                <a:solidFill>
                  <a:srgbClr val="2A7F7F"/>
                </a:solidFill>
                <a:latin typeface="Arial" pitchFamily="34" charset="0"/>
                <a:ea typeface="Arial" pitchFamily="34" charset="-122"/>
                <a:cs typeface="Arial" pitchFamily="34" charset="-120"/>
              </a:rPr>
              <a:t>MAINTENANCE</a:t>
            </a:r>
            <a:endParaRPr lang="en-US" sz="1300" dirty="0"/>
          </a:p>
        </p:txBody>
      </p:sp>
      <p:sp>
        <p:nvSpPr>
          <p:cNvPr id="6" name="Text 4"/>
          <p:cNvSpPr txBox="1"/>
          <p:nvPr/>
        </p:nvSpPr>
        <p:spPr>
          <a:xfrm>
            <a:off x="822960" y="1755648"/>
            <a:ext cx="4892040" cy="158191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222222"/>
                </a:solidFill>
                <a:latin typeface="Arial" pitchFamily="34" charset="0"/>
                <a:ea typeface="Arial" pitchFamily="34" charset="-122"/>
                <a:cs typeface="Arial" pitchFamily="34" charset="-120"/>
              </a:rPr>
              <a:t>Optimized scheduling: anticipating breakdowns before they happen, the right amount of preventive work, the right parts on the shelf.</a:t>
            </a:r>
            <a:endParaRPr lang="en-US" sz="1300" dirty="0"/>
          </a:p>
          <a:p>
            <a:pPr marL="342900" indent="-342900">
              <a:spcAft>
                <a:spcPts val="600"/>
              </a:spcAft>
              <a:buSzPct val="100000"/>
              <a:buChar char="•"/>
            </a:pPr>
            <a:r>
              <a:rPr lang="en-US" sz="1300" dirty="0">
                <a:solidFill>
                  <a:srgbClr val="222222"/>
                </a:solidFill>
                <a:latin typeface="Arial" pitchFamily="34" charset="0"/>
                <a:ea typeface="Arial" pitchFamily="34" charset="-122"/>
                <a:cs typeface="Arial" pitchFamily="34" charset="-120"/>
              </a:rPr>
              <a:t>Robot interaction, but slower to arrive here — maintenance is rarely repetitive. Almost every job is a new job.</a:t>
            </a:r>
            <a:endParaRPr lang="en-US" sz="1300" dirty="0"/>
          </a:p>
        </p:txBody>
      </p:sp>
      <p:sp>
        <p:nvSpPr>
          <p:cNvPr id="7" name="Shape 5"/>
          <p:cNvSpPr/>
          <p:nvPr/>
        </p:nvSpPr>
        <p:spPr>
          <a:xfrm>
            <a:off x="6199632" y="1188720"/>
            <a:ext cx="5440680" cy="2331720"/>
          </a:xfrm>
          <a:prstGeom prst="roundRect">
            <a:avLst>
              <a:gd name="adj" fmla="val 2745"/>
            </a:avLst>
          </a:prstGeom>
          <a:solidFill>
            <a:srgbClr val="F2F5F8"/>
          </a:solidFill>
          <a:ln/>
        </p:spPr>
        <p:txBody>
          <a:bodyPr/>
          <a:lstStyle/>
          <a:p>
            <a:endParaRPr lang="en-US"/>
          </a:p>
        </p:txBody>
      </p:sp>
      <p:sp>
        <p:nvSpPr>
          <p:cNvPr id="8" name="Text 6"/>
          <p:cNvSpPr txBox="1"/>
          <p:nvPr/>
        </p:nvSpPr>
        <p:spPr>
          <a:xfrm>
            <a:off x="6473952" y="1389888"/>
            <a:ext cx="4892040" cy="320040"/>
          </a:xfrm>
          <a:prstGeom prst="rect">
            <a:avLst/>
          </a:prstGeom>
          <a:noFill/>
          <a:ln/>
        </p:spPr>
        <p:txBody>
          <a:bodyPr wrap="square" lIns="0" tIns="0" rIns="0" bIns="0" rtlCol="0" anchor="ctr"/>
          <a:lstStyle/>
          <a:p>
            <a:pPr marL="0" indent="0">
              <a:buNone/>
            </a:pPr>
            <a:r>
              <a:rPr lang="en-US" sz="1300" b="1" kern="0" spc="200" dirty="0">
                <a:solidFill>
                  <a:srgbClr val="2A7F7F"/>
                </a:solidFill>
                <a:latin typeface="Arial" pitchFamily="34" charset="0"/>
                <a:ea typeface="Arial" pitchFamily="34" charset="-122"/>
                <a:cs typeface="Arial" pitchFamily="34" charset="-120"/>
              </a:rPr>
              <a:t>SUPPLY CHAIN</a:t>
            </a:r>
            <a:endParaRPr lang="en-US" sz="1300" dirty="0"/>
          </a:p>
        </p:txBody>
      </p:sp>
      <p:sp>
        <p:nvSpPr>
          <p:cNvPr id="9" name="Text 7"/>
          <p:cNvSpPr txBox="1"/>
          <p:nvPr/>
        </p:nvSpPr>
        <p:spPr>
          <a:xfrm>
            <a:off x="6473952" y="1755648"/>
            <a:ext cx="4892040" cy="158191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222222"/>
                </a:solidFill>
                <a:latin typeface="Arial" pitchFamily="34" charset="0"/>
                <a:ea typeface="Arial" pitchFamily="34" charset="-122"/>
                <a:cs typeface="Arial" pitchFamily="34" charset="-120"/>
              </a:rPr>
              <a:t>Run by AI: what to order, when, what to produce, who delivers, when to be ready to receive.</a:t>
            </a:r>
            <a:endParaRPr lang="en-US" sz="1300" dirty="0"/>
          </a:p>
          <a:p>
            <a:pPr marL="342900" indent="-342900">
              <a:spcAft>
                <a:spcPts val="600"/>
              </a:spcAft>
              <a:buSzPct val="100000"/>
              <a:buChar char="•"/>
            </a:pPr>
            <a:r>
              <a:rPr lang="en-US" sz="1300" dirty="0">
                <a:solidFill>
                  <a:srgbClr val="222222"/>
                </a:solidFill>
                <a:latin typeface="Arial" pitchFamily="34" charset="0"/>
                <a:ea typeface="Arial" pitchFamily="34" charset="-122"/>
                <a:cs typeface="Arial" pitchFamily="34" charset="-120"/>
              </a:rPr>
              <a:t>Best prices, and disruptions anticipated before they hit you — a strike or a shortage on the other side of the world, flagged early.</a:t>
            </a:r>
            <a:endParaRPr lang="en-US" sz="1300" dirty="0"/>
          </a:p>
        </p:txBody>
      </p:sp>
      <p:sp>
        <p:nvSpPr>
          <p:cNvPr id="10" name="Shape 8"/>
          <p:cNvSpPr/>
          <p:nvPr/>
        </p:nvSpPr>
        <p:spPr>
          <a:xfrm>
            <a:off x="548640" y="3657600"/>
            <a:ext cx="5440680" cy="2331720"/>
          </a:xfrm>
          <a:prstGeom prst="roundRect">
            <a:avLst>
              <a:gd name="adj" fmla="val 2745"/>
            </a:avLst>
          </a:prstGeom>
          <a:solidFill>
            <a:srgbClr val="16283F"/>
          </a:solidFill>
          <a:ln/>
        </p:spPr>
        <p:txBody>
          <a:bodyPr/>
          <a:lstStyle/>
          <a:p>
            <a:endParaRPr lang="en-US"/>
          </a:p>
        </p:txBody>
      </p:sp>
      <p:sp>
        <p:nvSpPr>
          <p:cNvPr id="11" name="Text 9"/>
          <p:cNvSpPr txBox="1"/>
          <p:nvPr/>
        </p:nvSpPr>
        <p:spPr>
          <a:xfrm>
            <a:off x="822960" y="3858768"/>
            <a:ext cx="4892040" cy="320040"/>
          </a:xfrm>
          <a:prstGeom prst="rect">
            <a:avLst/>
          </a:prstGeom>
          <a:noFill/>
          <a:ln/>
        </p:spPr>
        <p:txBody>
          <a:bodyPr wrap="square" lIns="0" tIns="0" rIns="0" bIns="0" rtlCol="0" anchor="ctr"/>
          <a:lstStyle/>
          <a:p>
            <a:pPr marL="0" indent="0">
              <a:buNone/>
            </a:pPr>
            <a:r>
              <a:rPr lang="en-US" sz="1300" b="1" kern="0" spc="200" dirty="0">
                <a:solidFill>
                  <a:srgbClr val="C9A227"/>
                </a:solidFill>
                <a:latin typeface="Arial" pitchFamily="34" charset="0"/>
                <a:ea typeface="Arial" pitchFamily="34" charset="-122"/>
                <a:cs typeface="Arial" pitchFamily="34" charset="-120"/>
              </a:rPr>
              <a:t>PRODUCTION</a:t>
            </a:r>
            <a:endParaRPr lang="en-US" sz="1300" dirty="0"/>
          </a:p>
        </p:txBody>
      </p:sp>
      <p:sp>
        <p:nvSpPr>
          <p:cNvPr id="12" name="Text 10"/>
          <p:cNvSpPr txBox="1"/>
          <p:nvPr/>
        </p:nvSpPr>
        <p:spPr>
          <a:xfrm>
            <a:off x="822960" y="4224528"/>
            <a:ext cx="4892040" cy="158191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E6EBF2"/>
                </a:solidFill>
                <a:latin typeface="Arial" pitchFamily="34" charset="0"/>
                <a:ea typeface="Arial" pitchFamily="34" charset="-122"/>
                <a:cs typeface="Arial" pitchFamily="34" charset="-120"/>
              </a:rPr>
              <a:t>AI keeps staffing right, optimizes what runs in what order and how fast, and catches quality errors before a human could.</a:t>
            </a:r>
            <a:endParaRPr lang="en-US" sz="1300" dirty="0"/>
          </a:p>
          <a:p>
            <a:pPr marL="342900" indent="-342900">
              <a:spcAft>
                <a:spcPts val="600"/>
              </a:spcAft>
              <a:buSzPct val="100000"/>
              <a:buChar char="•"/>
            </a:pPr>
            <a:r>
              <a:rPr lang="en-US" sz="1300" dirty="0">
                <a:solidFill>
                  <a:srgbClr val="E6EBF2"/>
                </a:solidFill>
                <a:latin typeface="Arial" pitchFamily="34" charset="0"/>
                <a:ea typeface="Arial" pitchFamily="34" charset="-122"/>
                <a:cs typeface="Arial" pitchFamily="34" charset="-120"/>
              </a:rPr>
              <a:t>People shift from operating to watching it unfold. Some positions go to robots over time — not all of them, and not soon.</a:t>
            </a:r>
            <a:endParaRPr lang="en-US" sz="1300" dirty="0"/>
          </a:p>
        </p:txBody>
      </p:sp>
      <p:sp>
        <p:nvSpPr>
          <p:cNvPr id="13" name="Shape 11"/>
          <p:cNvSpPr/>
          <p:nvPr/>
        </p:nvSpPr>
        <p:spPr>
          <a:xfrm>
            <a:off x="6199632" y="3657600"/>
            <a:ext cx="5440680" cy="2331720"/>
          </a:xfrm>
          <a:prstGeom prst="roundRect">
            <a:avLst>
              <a:gd name="adj" fmla="val 2745"/>
            </a:avLst>
          </a:prstGeom>
          <a:solidFill>
            <a:srgbClr val="16283F"/>
          </a:solidFill>
          <a:ln/>
        </p:spPr>
        <p:txBody>
          <a:bodyPr/>
          <a:lstStyle/>
          <a:p>
            <a:endParaRPr lang="en-US"/>
          </a:p>
        </p:txBody>
      </p:sp>
      <p:sp>
        <p:nvSpPr>
          <p:cNvPr id="14" name="Text 12"/>
          <p:cNvSpPr txBox="1"/>
          <p:nvPr/>
        </p:nvSpPr>
        <p:spPr>
          <a:xfrm>
            <a:off x="6473952" y="3858768"/>
            <a:ext cx="4892040" cy="320040"/>
          </a:xfrm>
          <a:prstGeom prst="rect">
            <a:avLst/>
          </a:prstGeom>
          <a:noFill/>
          <a:ln/>
        </p:spPr>
        <p:txBody>
          <a:bodyPr wrap="square" lIns="0" tIns="0" rIns="0" bIns="0" rtlCol="0" anchor="ctr"/>
          <a:lstStyle/>
          <a:p>
            <a:pPr marL="0" indent="0">
              <a:buNone/>
            </a:pPr>
            <a:r>
              <a:rPr lang="en-US" sz="1300" b="1" kern="0" spc="200" dirty="0">
                <a:solidFill>
                  <a:srgbClr val="C9A227"/>
                </a:solidFill>
                <a:latin typeface="Arial" pitchFamily="34" charset="0"/>
                <a:ea typeface="Arial" pitchFamily="34" charset="-122"/>
                <a:cs typeface="Arial" pitchFamily="34" charset="-120"/>
              </a:rPr>
              <a:t>WORK-LIFE BALANCE</a:t>
            </a:r>
            <a:endParaRPr lang="en-US" sz="1300" dirty="0"/>
          </a:p>
        </p:txBody>
      </p:sp>
      <p:sp>
        <p:nvSpPr>
          <p:cNvPr id="15" name="Text 13"/>
          <p:cNvSpPr txBox="1"/>
          <p:nvPr/>
        </p:nvSpPr>
        <p:spPr>
          <a:xfrm>
            <a:off x="6473952" y="4224528"/>
            <a:ext cx="4892040" cy="158191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E6EBF2"/>
                </a:solidFill>
                <a:latin typeface="Arial" pitchFamily="34" charset="0"/>
                <a:ea typeface="Arial" pitchFamily="34" charset="-122"/>
                <a:cs typeface="Arial" pitchFamily="34" charset="-120"/>
              </a:rPr>
              <a:t>People move into supervising: watching robots run equipment, stepping in when needed, using AI to manage the workforce and HR.</a:t>
            </a:r>
            <a:endParaRPr lang="en-US" sz="1300" dirty="0"/>
          </a:p>
          <a:p>
            <a:pPr marL="342900" indent="-342900">
              <a:spcAft>
                <a:spcPts val="600"/>
              </a:spcAft>
              <a:buSzPct val="100000"/>
              <a:buChar char="•"/>
            </a:pPr>
            <a:r>
              <a:rPr lang="en-US" sz="1300" dirty="0">
                <a:solidFill>
                  <a:srgbClr val="E6EBF2"/>
                </a:solidFill>
                <a:latin typeface="Arial" pitchFamily="34" charset="0"/>
                <a:ea typeface="Arial" pitchFamily="34" charset="-122"/>
                <a:cs typeface="Arial" pitchFamily="34" charset="-120"/>
              </a:rPr>
              <a:t>Work when you want, some of it from home. No mandatory overtime — take it if you want it, or the robot comes out of the closet.</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4">
    <p:bg>
      <p:bgPr>
        <a:solidFill>
          <a:srgbClr val="16283F"/>
        </a:solidFill>
        <a:effectLst/>
      </p:bgPr>
    </p:bg>
    <p:spTree>
      <p:nvGrpSpPr>
        <p:cNvPr id="1" name=""/>
        <p:cNvGrpSpPr/>
        <p:nvPr/>
      </p:nvGrpSpPr>
      <p:grpSpPr>
        <a:xfrm>
          <a:off x="0" y="0"/>
          <a:ext cx="0" cy="0"/>
          <a:chOff x="0" y="0"/>
          <a:chExt cx="0" cy="0"/>
        </a:xfrm>
      </p:grpSpPr>
      <p:sp>
        <p:nvSpPr>
          <p:cNvPr id="2" name="Text 0"/>
          <p:cNvSpPr txBox="1"/>
          <p:nvPr/>
        </p:nvSpPr>
        <p:spPr>
          <a:xfrm>
            <a:off x="1647285" y="6499337"/>
            <a:ext cx="4187133" cy="274320"/>
          </a:xfrm>
          <a:prstGeom prst="rect">
            <a:avLst/>
          </a:prstGeom>
          <a:noFill/>
          <a:ln/>
        </p:spPr>
        <p:txBody>
          <a:bodyPr wrap="square" lIns="0" tIns="0" rIns="0" bIns="0" rtlCol="0" anchor="ctr"/>
          <a:lstStyle/>
          <a:p>
            <a:pPr marL="0" indent="0" algn="l">
              <a:buNone/>
            </a:pPr>
            <a:r>
              <a:rPr lang="en-US" sz="900" dirty="0">
                <a:solidFill>
                  <a:srgbClr val="8FA1B8"/>
                </a:solidFill>
                <a:latin typeface="Arial" pitchFamily="34" charset="0"/>
                <a:ea typeface="Arial" pitchFamily="34" charset="-122"/>
                <a:cs typeface="Arial" pitchFamily="34" charset="-120"/>
              </a:rPr>
              <a:t>Shiftwork Solutions LLC  |  (415) 265-1621  |  www.shift-work.com</a:t>
            </a:r>
            <a:endParaRPr lang="en-US" sz="900" dirty="0"/>
          </a:p>
        </p:txBody>
      </p:sp>
      <p:sp>
        <p:nvSpPr>
          <p:cNvPr id="3" name="Text 1"/>
          <p:cNvSpPr txBox="1"/>
          <p:nvPr/>
        </p:nvSpPr>
        <p:spPr>
          <a:xfrm>
            <a:off x="822960" y="769193"/>
            <a:ext cx="10515600" cy="822960"/>
          </a:xfrm>
          <a:prstGeom prst="rect">
            <a:avLst/>
          </a:prstGeom>
          <a:noFill/>
          <a:ln/>
        </p:spPr>
        <p:txBody>
          <a:bodyPr wrap="square" lIns="0" tIns="0" rIns="0" bIns="0" rtlCol="0" anchor="ctr"/>
          <a:lstStyle/>
          <a:p>
            <a:pPr marL="0" indent="0">
              <a:buNone/>
            </a:pPr>
            <a:r>
              <a:rPr lang="en-US" sz="3800" b="1" dirty="0">
                <a:solidFill>
                  <a:srgbClr val="FFFFFF"/>
                </a:solidFill>
                <a:latin typeface="Arial Nova" panose="020B0504020202020204" pitchFamily="34" charset="0"/>
                <a:ea typeface="Georgia" pitchFamily="34" charset="-122"/>
                <a:cs typeface="Georgia" pitchFamily="34" charset="-120"/>
              </a:rPr>
              <a:t>It's coming either way.</a:t>
            </a:r>
            <a:endParaRPr lang="en-US" sz="3800" dirty="0">
              <a:latin typeface="Arial Nova" panose="020B0504020202020204" pitchFamily="34" charset="0"/>
            </a:endParaRPr>
          </a:p>
        </p:txBody>
      </p:sp>
      <p:sp>
        <p:nvSpPr>
          <p:cNvPr id="4" name="Text 2"/>
          <p:cNvSpPr txBox="1"/>
          <p:nvPr/>
        </p:nvSpPr>
        <p:spPr>
          <a:xfrm>
            <a:off x="822960" y="1828800"/>
            <a:ext cx="10515600" cy="594360"/>
          </a:xfrm>
          <a:prstGeom prst="rect">
            <a:avLst/>
          </a:prstGeom>
          <a:noFill/>
          <a:ln/>
        </p:spPr>
        <p:txBody>
          <a:bodyPr wrap="square" lIns="0" tIns="0" rIns="0" bIns="0" rtlCol="0" anchor="ctr"/>
          <a:lstStyle/>
          <a:p>
            <a:pPr marL="0" indent="0">
              <a:buNone/>
            </a:pPr>
            <a:r>
              <a:rPr lang="en-US" sz="2000" dirty="0">
                <a:solidFill>
                  <a:srgbClr val="FFFFFF"/>
                </a:solidFill>
                <a:latin typeface="Arial" pitchFamily="34" charset="0"/>
                <a:ea typeface="Arial" pitchFamily="34" charset="-122"/>
                <a:cs typeface="Arial" pitchFamily="34" charset="-120"/>
              </a:rPr>
              <a:t>The fear about AI is real.  </a:t>
            </a:r>
            <a:r>
              <a:rPr lang="en-US" sz="2000" b="1" dirty="0">
                <a:solidFill>
                  <a:srgbClr val="C9D2DF"/>
                </a:solidFill>
                <a:latin typeface="Arial" pitchFamily="34" charset="0"/>
                <a:ea typeface="Arial" pitchFamily="34" charset="-122"/>
                <a:cs typeface="Arial" pitchFamily="34" charset="-120"/>
              </a:rPr>
              <a:t>And some of it is justified.</a:t>
            </a:r>
            <a:endParaRPr lang="en-US" sz="2000" dirty="0"/>
          </a:p>
        </p:txBody>
      </p:sp>
      <p:sp>
        <p:nvSpPr>
          <p:cNvPr id="5" name="Text 3"/>
          <p:cNvSpPr txBox="1"/>
          <p:nvPr/>
        </p:nvSpPr>
        <p:spPr>
          <a:xfrm>
            <a:off x="853440" y="2207184"/>
            <a:ext cx="10515600" cy="594360"/>
          </a:xfrm>
          <a:prstGeom prst="rect">
            <a:avLst/>
          </a:prstGeom>
          <a:noFill/>
          <a:ln/>
        </p:spPr>
        <p:txBody>
          <a:bodyPr wrap="square" lIns="0" tIns="0" rIns="0" bIns="0" rtlCol="0" anchor="ctr"/>
          <a:lstStyle/>
          <a:p>
            <a:pPr marL="0" indent="0">
              <a:buNone/>
            </a:pPr>
            <a:r>
              <a:rPr lang="en-US" sz="2000" dirty="0">
                <a:solidFill>
                  <a:srgbClr val="FFFFFF"/>
                </a:solidFill>
                <a:latin typeface="Arial" pitchFamily="34" charset="0"/>
                <a:ea typeface="Arial" pitchFamily="34" charset="-122"/>
                <a:cs typeface="Arial" pitchFamily="34" charset="-120"/>
              </a:rPr>
              <a:t>Concerns about data centers are real.  </a:t>
            </a:r>
            <a:r>
              <a:rPr lang="en-US" sz="2000" b="1" dirty="0">
                <a:solidFill>
                  <a:srgbClr val="C9D2DF"/>
                </a:solidFill>
                <a:latin typeface="Arial" pitchFamily="34" charset="0"/>
                <a:ea typeface="Arial" pitchFamily="34" charset="-122"/>
                <a:cs typeface="Arial" pitchFamily="34" charset="-120"/>
              </a:rPr>
              <a:t>And some of it is justified.</a:t>
            </a:r>
            <a:endParaRPr lang="en-US" sz="2000" dirty="0"/>
          </a:p>
        </p:txBody>
      </p:sp>
      <p:sp>
        <p:nvSpPr>
          <p:cNvPr id="6" name="Text 4"/>
          <p:cNvSpPr txBox="1"/>
          <p:nvPr/>
        </p:nvSpPr>
        <p:spPr>
          <a:xfrm>
            <a:off x="822960" y="2880872"/>
            <a:ext cx="10515600" cy="594360"/>
          </a:xfrm>
          <a:prstGeom prst="rect">
            <a:avLst/>
          </a:prstGeom>
          <a:noFill/>
          <a:ln/>
        </p:spPr>
        <p:txBody>
          <a:bodyPr wrap="square" lIns="0" tIns="0" rIns="0" bIns="0" rtlCol="0" anchor="ctr"/>
          <a:lstStyle/>
          <a:p>
            <a:pPr marL="0" indent="0">
              <a:buNone/>
            </a:pPr>
            <a:r>
              <a:rPr lang="en-US" sz="2000" dirty="0">
                <a:solidFill>
                  <a:srgbClr val="FFFFFF"/>
                </a:solidFill>
                <a:latin typeface="Arial" pitchFamily="34" charset="0"/>
                <a:ea typeface="Arial" pitchFamily="34" charset="-122"/>
                <a:cs typeface="Arial" pitchFamily="34" charset="-120"/>
              </a:rPr>
              <a:t>Both are worth taking seriously. </a:t>
            </a:r>
            <a:r>
              <a:rPr lang="en-US" sz="2000" b="1" dirty="0">
                <a:solidFill>
                  <a:srgbClr val="C9D2DF"/>
                </a:solidFill>
                <a:latin typeface="Arial" pitchFamily="34" charset="0"/>
                <a:ea typeface="Arial" pitchFamily="34" charset="-122"/>
                <a:cs typeface="Arial" pitchFamily="34" charset="-120"/>
              </a:rPr>
              <a:t>But market forces are driving this. It's going to happen.</a:t>
            </a:r>
            <a:endParaRPr lang="en-US" sz="2000" dirty="0"/>
          </a:p>
        </p:txBody>
      </p:sp>
      <p:sp>
        <p:nvSpPr>
          <p:cNvPr id="7" name="Shape 5"/>
          <p:cNvSpPr/>
          <p:nvPr/>
        </p:nvSpPr>
        <p:spPr>
          <a:xfrm>
            <a:off x="822960" y="3925776"/>
            <a:ext cx="10515600" cy="1234440"/>
          </a:xfrm>
          <a:prstGeom prst="roundRect">
            <a:avLst>
              <a:gd name="adj" fmla="val 5185"/>
            </a:avLst>
          </a:prstGeom>
          <a:solidFill>
            <a:schemeClr val="bg1"/>
          </a:solidFill>
          <a:ln/>
        </p:spPr>
        <p:txBody>
          <a:bodyPr/>
          <a:lstStyle/>
          <a:p>
            <a:endParaRPr lang="en-US"/>
          </a:p>
        </p:txBody>
      </p:sp>
      <p:sp>
        <p:nvSpPr>
          <p:cNvPr id="8" name="Text 6"/>
          <p:cNvSpPr txBox="1"/>
          <p:nvPr/>
        </p:nvSpPr>
        <p:spPr>
          <a:xfrm>
            <a:off x="1051560" y="3886200"/>
            <a:ext cx="10058400" cy="1234440"/>
          </a:xfrm>
          <a:prstGeom prst="rect">
            <a:avLst/>
          </a:prstGeom>
          <a:noFill/>
          <a:ln/>
        </p:spPr>
        <p:txBody>
          <a:bodyPr wrap="square" lIns="0" tIns="0" rIns="0" bIns="0" rtlCol="0" anchor="ctr"/>
          <a:lstStyle/>
          <a:p>
            <a:pPr marL="0" indent="0">
              <a:buNone/>
            </a:pPr>
            <a:r>
              <a:rPr lang="en-US" sz="2000" dirty="0">
                <a:solidFill>
                  <a:schemeClr val="accent1">
                    <a:lumMod val="50000"/>
                  </a:schemeClr>
                </a:solidFill>
                <a:latin typeface="Arial Nova" panose="020B0504020202020204" pitchFamily="34" charset="0"/>
                <a:ea typeface="Georgia" pitchFamily="34" charset="-122"/>
                <a:cs typeface="Georgia" pitchFamily="34" charset="-120"/>
              </a:rPr>
              <a:t>So, the question isn't whether it arrives. It's whether you have a hand on it when it does — making it do what you want it to do, rather than what someone else decides for you.</a:t>
            </a:r>
            <a:endParaRPr lang="en-US" sz="2000" dirty="0">
              <a:solidFill>
                <a:schemeClr val="accent1">
                  <a:lumMod val="50000"/>
                </a:schemeClr>
              </a:solidFill>
              <a:latin typeface="Arial Nova" panose="020B0504020202020204" pitchFamily="34" charset="0"/>
            </a:endParaRPr>
          </a:p>
        </p:txBody>
      </p:sp>
      <p:sp>
        <p:nvSpPr>
          <p:cNvPr id="9" name="Text 7"/>
          <p:cNvSpPr txBox="1"/>
          <p:nvPr/>
        </p:nvSpPr>
        <p:spPr>
          <a:xfrm>
            <a:off x="822960" y="5199792"/>
            <a:ext cx="10515600" cy="640080"/>
          </a:xfrm>
          <a:prstGeom prst="rect">
            <a:avLst/>
          </a:prstGeom>
          <a:noFill/>
          <a:ln/>
        </p:spPr>
        <p:txBody>
          <a:bodyPr wrap="square" lIns="0" tIns="0" rIns="0" bIns="0" rtlCol="0" anchor="ctr"/>
          <a:lstStyle/>
          <a:p>
            <a:pPr marL="0" indent="0">
              <a:buNone/>
            </a:pPr>
            <a:r>
              <a:rPr lang="en-US" sz="2000" dirty="0">
                <a:solidFill>
                  <a:srgbClr val="C9A227"/>
                </a:solidFill>
                <a:latin typeface="Arial Nova" panose="020B0504020202020204" pitchFamily="34" charset="0"/>
                <a:ea typeface="Georgia" pitchFamily="34" charset="-122"/>
                <a:cs typeface="Georgia" pitchFamily="34" charset="-120"/>
              </a:rPr>
              <a:t>Start early, and you get a say in how it arrives.</a:t>
            </a:r>
            <a:endParaRPr lang="en-US" sz="2000" dirty="0">
              <a:latin typeface="Arial Nova" panose="020B0504020202020204" pitchFamily="34" charset="0"/>
            </a:endParaRPr>
          </a:p>
        </p:txBody>
      </p:sp>
      <p:pic>
        <p:nvPicPr>
          <p:cNvPr id="10" name="Picture 9">
            <a:extLst>
              <a:ext uri="{FF2B5EF4-FFF2-40B4-BE49-F238E27FC236}">
                <a16:creationId xmlns:a16="http://schemas.microsoft.com/office/drawing/2014/main" id="{C205C22F-EB5E-E9DD-9FD4-0A3AC90DD6AB}"/>
              </a:ext>
            </a:extLst>
          </p:cNvPr>
          <p:cNvPicPr>
            <a:picLocks noChangeAspect="1"/>
          </p:cNvPicPr>
          <p:nvPr/>
        </p:nvPicPr>
        <p:blipFill>
          <a:blip r:embed="rId3"/>
          <a:stretch>
            <a:fillRect/>
          </a:stretch>
        </p:blipFill>
        <p:spPr>
          <a:xfrm>
            <a:off x="853440" y="6062616"/>
            <a:ext cx="689813" cy="689813"/>
          </a:xfrm>
          <a:prstGeom prst="rect">
            <a:avLst/>
          </a:prstGeom>
        </p:spPr>
      </p:pic>
      <p:cxnSp>
        <p:nvCxnSpPr>
          <p:cNvPr id="12" name="Straight Connector 11">
            <a:extLst>
              <a:ext uri="{FF2B5EF4-FFF2-40B4-BE49-F238E27FC236}">
                <a16:creationId xmlns:a16="http://schemas.microsoft.com/office/drawing/2014/main" id="{A3906EA8-CC13-24C3-5072-B8F9F25B1132}"/>
              </a:ext>
            </a:extLst>
          </p:cNvPr>
          <p:cNvCxnSpPr/>
          <p:nvPr/>
        </p:nvCxnSpPr>
        <p:spPr>
          <a:xfrm>
            <a:off x="853440" y="2801544"/>
            <a:ext cx="193070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4527</TotalTime>
  <Words>6886</Words>
  <Application>Microsoft Office PowerPoint</Application>
  <PresentationFormat>Widescreen</PresentationFormat>
  <Paragraphs>600</Paragraphs>
  <Slides>35</Slides>
  <Notes>34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Aptos</vt:lpstr>
      <vt:lpstr>Arial</vt:lpstr>
      <vt:lpstr>Arial Nova</vt:lpstr>
      <vt:lpstr>Calibri</vt:lpstr>
      <vt:lpstr>Calibri Light</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Jim Dillingham</cp:lastModifiedBy>
  <cp:revision>15</cp:revision>
  <dcterms:created xsi:type="dcterms:W3CDTF">2026-09-07T23:44:09Z</dcterms:created>
  <dcterms:modified xsi:type="dcterms:W3CDTF">2026-09-14T18:47:20Z</dcterms:modified>
</cp:coreProperties>
</file>