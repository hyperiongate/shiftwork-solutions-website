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1.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Machine, amortized over 7 years</c:v>
                </c:pt>
              </c:strCache>
            </c:strRef>
          </c:tx>
          <c:spPr>
            <a:solidFill>
              <a:srgbClr val="14A3B8"/>
            </a:solidFill>
            <a:effectLst/>
          </c:spPr>
          <c:invertIfNegative val="0"/>
          <c:dLbls>
            <c:numFmt formatCode="$#,##0" sourceLinked="0"/>
            <c:txPr>
              <a:bodyPr/>
              <a:lstStyle/>
              <a:p>
                <a:pPr>
                  <a:defRPr b="1"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$100,000 robot</c:v>
                  </c:pt>
                  <c:pt idx="1">
                    <c:v>$30,000 robot</c:v>
                  </c:pt>
                </c:lvl>
              </c:multiLvlStrCache>
            </c:multiLvlStrRef>
          </c:cat>
          <c:val>
            <c:numRef>
              <c:f>Sheet1!$B$2:$B$3</c:f>
              <c:numCache>
                <c:formatCode>General</c:formatCode>
                <c:ptCount val="2"/>
                <c:pt idx="0">
                  <c:v>35714</c:v>
                </c:pt>
                <c:pt idx="1">
                  <c:v>10714</c:v>
                </c:pt>
              </c:numCache>
            </c:numRef>
          </c:val>
        </c:ser>
        <c:ser>
          <c:idx val="1"/>
          <c:order val="1"/>
          <c:tx>
            <c:strRef>
              <c:f>Sheet1!$C$1</c:f>
              <c:strCache>
                <c:ptCount val="1"/>
                <c:pt idx="0">
                  <c:v>Maintenance, 12% a year</c:v>
                </c:pt>
              </c:strCache>
            </c:strRef>
          </c:tx>
          <c:spPr>
            <a:solidFill>
              <a:srgbClr val="F59E0B"/>
            </a:solidFill>
            <a:effectLst/>
          </c:spPr>
          <c:invertIfNegative val="0"/>
          <c:dLbls>
            <c:numFmt formatCode="$#,##0" sourceLinked="0"/>
            <c:txPr>
              <a:bodyPr/>
              <a:lstStyle/>
              <a:p>
                <a:pPr>
                  <a:defRPr b="1"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$100,000 robot</c:v>
                  </c:pt>
                  <c:pt idx="1">
                    <c:v>$30,000 robot</c:v>
                  </c:pt>
                </c:lvl>
              </c:multiLvlStrCache>
            </c:multiLvlStrRef>
          </c:cat>
          <c:val>
            <c:numRef>
              <c:f>Sheet1!$C$2:$C$3</c:f>
              <c:numCache>
                <c:formatCode>General</c:formatCode>
                <c:ptCount val="2"/>
                <c:pt idx="0">
                  <c:v>12000</c:v>
                </c:pt>
                <c:pt idx="1">
                  <c:v>3600</c:v>
                </c:pt>
              </c:numCache>
            </c:numRef>
          </c:val>
        </c:ser>
        <c:ser>
          <c:idx val="2"/>
          <c:order val="2"/>
          <c:tx>
            <c:strRef>
              <c:f>Sheet1!$D$1</c:f>
              <c:strCache>
                <c:ptCount val="1"/>
                <c:pt idx="0">
                  <c:v>Energy</c:v>
                </c:pt>
              </c:strCache>
            </c:strRef>
          </c:tx>
          <c:spPr>
            <a:solidFill>
              <a:srgbClr val="3B82F6"/>
            </a:solidFill>
            <a:effectLst/>
          </c:spPr>
          <c:invertIfNegative val="0"/>
          <c:dLbls>
            <c:numFmt formatCode="$#,##0" sourceLinked="0"/>
            <c:txPr>
              <a:bodyPr/>
              <a:lstStyle/>
              <a:p>
                <a:pPr>
                  <a:defRPr b="1"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$100,000 robot</c:v>
                  </c:pt>
                  <c:pt idx="1">
                    <c:v>$30,000 robot</c:v>
                  </c:pt>
                </c:lvl>
              </c:multiLvlStrCache>
            </c:multiLvlStrRef>
          </c:cat>
          <c:val>
            <c:numRef>
              <c:f>Sheet1!$D$2:$D$3</c:f>
              <c:numCache>
                <c:formatCode>General</c:formatCode>
                <c:ptCount val="2"/>
                <c:pt idx="0">
                  <c:v>3000</c:v>
                </c:pt>
                <c:pt idx="1">
                  <c:v>3000</c:v>
                </c:pt>
              </c:numCache>
            </c:numRef>
          </c:val>
        </c:ser>
        <c:ser>
          <c:idx val="3"/>
          <c:order val="3"/>
          <c:tx>
            <c:strRef>
              <c:f>Sheet1!$E$1</c:f>
              <c:strCache>
                <c:ptCount val="1"/>
                <c:pt idx="0">
                  <c:v>Robotics technician (allocated)</c:v>
                </c:pt>
              </c:strCache>
            </c:strRef>
          </c:tx>
          <c:spPr>
            <a:solidFill>
              <a:srgbClr val="DC4A4A"/>
            </a:solidFill>
            <a:effectLst/>
          </c:spPr>
          <c:invertIfNegative val="0"/>
          <c:dLbls>
            <c:numFmt formatCode="$#,##0" sourceLinked="0"/>
            <c:txPr>
              <a:bodyPr/>
              <a:lstStyle/>
              <a:p>
                <a:pPr>
                  <a:defRPr b="1"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$100,000 robot</c:v>
                  </c:pt>
                  <c:pt idx="1">
                    <c:v>$30,000 robot</c:v>
                  </c:pt>
                </c:lvl>
              </c:multiLvlStrCache>
            </c:multiLvlStrRef>
          </c:cat>
          <c:val>
            <c:numRef>
              <c:f>Sheet1!$E$2:$E$3</c:f>
              <c:numCache>
                <c:formatCode>General</c:formatCode>
                <c:ptCount val="2"/>
                <c:pt idx="0">
                  <c:v>12000</c:v>
                </c:pt>
                <c:pt idx="1">
                  <c:v>12000</c:v>
                </c:pt>
              </c:numCache>
            </c:numRef>
          </c:val>
        </c:ser>
        <c:dLbls>
          <c:numFmt formatCode="$#,##0" sourceLinked="0"/>
          <c:txPr>
            <a:bodyPr/>
            <a:lstStyle/>
            <a:p>
              <a:pPr>
                <a:defRPr b="1" i="0" strike="noStrike" sz="900" u="none">
                  <a:solidFill>
                    <a:srgbClr val="FFFFFF"/>
                  </a:solidFill>
                  <a:latin typeface="Calibr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1" i="0" u="none" strike="noStrike">
                <a:solidFill>
                  <a:srgbClr val="1B2A4A"/>
                </a:solidFill>
                <a:latin typeface="Calibri"/>
              </a:defRPr>
            </a:pPr>
            <a:endParaRPr lang="en-US"/>
          </a:p>
        </c:txPr>
        <c:crossAx val="2094734552"/>
        <c:crosses val="autoZero"/>
        <c:auto val="1"/>
        <c:lblAlgn val="ctr"/>
        <c:noMultiLvlLbl val="1"/>
      </c:catAx>
      <c:valAx>
        <c:axId val="2094734552"/>
        <c:scaling>
          <c:orientation val="minMax"/>
          <c:max val="70000"/>
        </c:scaling>
        <c:delete val="0"/>
        <c:axPos val="l"/>
        <c:majorGridlines>
          <c:spPr>
            <a:ln w="12700"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96A7"/>
                </a:solidFill>
                <a:latin typeface="Calibri"/>
              </a:defRPr>
            </a:pPr>
            <a:endParaRPr lang="en-US"/>
          </a:p>
        </c:txPr>
        <c:crossAx val="2094734554"/>
        <c:crosses val="autoZero"/>
        <c:crossBetween val="between"/>
      </c:valAx>
      <c:spPr>
        <a:solidFill>
          <a:srgbClr val="F4F7FA"/>
        </a:solidFill>
        <a:ln w="12700" cap="flat">
          <a:solidFill>
            <a:srgbClr val="FFFFFF"/>
          </a:solidFill>
        </a:ln>
        <a:effectLst/>
      </c:spPr>
    </c:plotArea>
    <c:legend>
      <c:legendPos val="b"/>
      <c:overlay val="0"/>
      <c:txPr>
        <a:bodyPr/>
        <a:lstStyle/>
        <a:p>
          <a:pPr>
            <a:defRPr sz="900">
              <a:solidFill>
                <a:srgbClr val="1E293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THIS SLIDE — there is no cold-open slide any more, by design.
THE HAND COUNT, spoken, no visual: "Raise your hand if you've used ChatGPT, Copilot, Claude or Gemini. Keep it up if you've used it for work in the last week." Two questions, not three. Read the room, acknowledge it, move on — do not push it into the policy question.
THEN THE FRAME: "The last two times I stood up here I talked about schedules. This year they asked me to talk about AI. I want to do that as a scheduling guy — which means at the end of this hour I'm going to put a real number on the screen. What four crews of a hundred people actually costs you, and what changes if some of those positions are machines. Nobody does that math in public. We're going to do it."
THEN ADVANCE to the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v19 agenda — Jim's, and it splits the middle of the talk by AUDIENCE instead of by topic.
One and two are what the technology is. Three is what it does for the people in this room. Four is what it does for the people they supervise. Five is the money. Six looks forward.
Say: "If you leave knowing what a large language model is, what a robot is, and what your crews actually cost — I've done my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v19 — Jim's rewrite. The thesis is now a CALL TO ACTION rather than a claim about jobs: it's here, it's improving, it will reach you, get in front of it.
State it in the first three minutes and come back to it in every section.
THE BOTTOM LINE IS A JUDGMENT CALL — Jim didn't say to keep the honest half, but he has insisted on it everywhere else (the typing pool, the Terminator card, 'some jobs could be lost'). It's compressed to one sentence here so the call to action leads. Easy to delete if he wants the slide to be purely forward-leaning; the honest material also lives on the computer slide and on §2A.
Callbacks, one per section: the trainer stops repeating himself and starts coaching · the first robot sweeps floors before it does anything else · the planner stops searching and starts deciding · the maintenance manager stops discovering at 2 a.m. that he's out of the part · the time and money you get back go into the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REPLACES the ATM story (v9) — this one is theirs. Most of this room lived through it.
Don't rush the bottom card. Naming the typing pool is what makes the top half believable; if you only tell the happy version they will discount all of it.
The through-line: computers did not remove the manager. They became the tool the manager runs the operation with. That is the claim you are making about AI for this audience — and the claim you are NOT making about every job in the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v10: dropped the 2017 transformer row — it needed a paragraph of explanation to mean anything to this room, and it bought nothing.
Also dropped the old closing line about ChatGPT vs. the Southern Swing. Two unrelated facts sitting next to each other; it didn't land.
Deliver this as four beats and move — the destination is the next two slides, not this one.
If you are running long, narrate 2022 and 2026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v11 — rebuilt. The old "prediction machine / it predicts the next word" framing is GONE. It is a cliche, it undersells what these things do, and it tells this room nothing useful.
START WITH THE NAMES. Most of the room has heard four or five of these and does not know they are the same category of thing. Say: ChatGPT is a large language model made by a company called OpenAI. Claude is one made by Anthropic. Gemini is Google's. And so on.
MODEL NAMES CHANGE; product-and-company pairings do not. Never put version numbers on this slide.
Then the definition, then the new-hire line, then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JIM'S QUESTION: what is the difference between this and an app I play a game with?
Programmed vs. trained is the whole answer, and it is the one distinction this room needs. Everything else follows from it.
It also explains, without jargon, why you cannot test it the way you test software: nobody wrote the rules, so nobody can hand you the list of what it will do.
The technical word for confidently wrong is 'hallucination.' Use the plain phrase; mention the jargon only if someone else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30-SEC EXTENSION if ahead of clock: the options it never offers unprompted — day and night shifts built differently; two crews rotating, two fixed; coverage shaped to the workload. They aren't in the literature it learned from.
WARNING: never let this land as a defense of your profession. It's sandwiched between 'it read every TAPPI paper' and forty minutes of things it does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v12 — rebuilt plain. The old version was a four-card MODEL + TOOLS + MEMORY + GOAL build with a consultant-on-the-phone persona. Too clever; it made you sound like you were selling a concept instead of explaining one.
The answer this room needs is the simple one: a chatbot talks, an agent does. The Thursday-night example carries it.
END WITH: "Hold onto that — I'm going to show you one built on a paper machine manual later." That is the setup for the parts agent in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Two facts, two implications, move on. Do NOT editorialize.
Biggest open model needs ~a terabyte of GPU memory — not a project for mill IT this year. Smaller ones run on one good server.
STAGE-SAFE PHRASING: describe direction without dollar figures unless you've pulled the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v17 — new. This is the payload of Part 1 and it draws the line Jim wants: AI is software that helps YOU. Robots come next and they are a different thing.
Say the planning framing out loud — raw material, maintenance, absenteeism, workforce, recruiting, training. That's the whole AI story for this audience and every one of those is a planning problem.
This also previews Parts 3 and 4 so the room knows the detail is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v18 — new, at Jim's request, from the Sept 1 Project Sentinel trajectory run.
SAY IT AS YOURS: "I run a tracking model on this." It is your instrument, not an industry index — present it that way and nobody can argue with it. Do NOT say "the data shows."
THE READ, in order:
1. Four of five accelerating. The only one stabilizing is raw model capability — which is the number every headline is about. The headlines are watching the slowest-moving thing on the board.
2. The two at the top are the two that hit your cost model directly: humanoid robots, and the collapsing price of the software. Both make the arithmetic in Part 5 better over time, not worse.
3. Regulation went from near zero to fast in about sixty days. That is the one nobody has budgeted for.
The scale is deliberately three levels, not a percentage — it's a judgment, and dressing it up with decimals would be false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v17 — new, and it is the hinge of the whole talk. Jim's definition: robotics is when you take a machine and put an AI into it.
Everything before this slide was software that helps YOU work. Everything after it is a machine that does work. Draw that line explicitly — the room will hold the rest of the section better for it.
The Terminator line: name it, laugh, and then answer it straight. Do not skip the honest sentence — ten years is the foreseeable future, not the unforeseeable one. You already told them in the first three minutes that at some levels this replaces the worker; this is consistent with that, and consistency is what keeps you credible.
Then pivot: 'but in the meantime, here is what actually shows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Sept 1: H1 2026 total revised DOWN to ~22,000 units — the deck said 30,000 before, do not use the old figure.
The two makers are AgiBot (~9,700 units, 43%) and Unitree (~31%). Top five vendors are AgiBot, Unitree, Galbot, UBTECH, Leju.
SOURCING: footnote the market research report these came from. Do not put them up unattributed.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v14 — new. Jim wanted the capability arc, not just shipment stats: what could a robot do, and when.
Dates are stable history: iRobot Roomba launched Sept 2002. Boston Dynamics unveiled Atlas July 2013 for the DARPA Robotics Challenge. The parkour/backflip videos ran 2017-2021.
The 2026 row is the one that matters, and the right-hand column is the honest half — folding and dishwashing are CES demo-floor tasks; moving totes at Amazon is a shift of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v14 — new, and the right-hand column is the most useful thing you will say about robots to a paper mill.
ATEX/IECEx is explosion-proof certification. In a mill with dust, solvent and confined spaces that is not a detail — it is a gate. Not one humanoid platform carries it.
50,000 hours MTTF is the reliability bar manufacturers typically want before production approval. Nobody publishes humanoid MTTF at all.
SOURCED from industrial-robotics trade coverage, Sept 2026. These are the numbers to footnote.
The takeaway to say out loud: don't delay a proven automation investment waiting for a humanoid.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v14 — new; REPLACES the old 'what actually touches a paper mill' tier slide, which said the same thing less usefully.
The five-year confined-space line is the one to lean on: it takes people out of your worst hazards, and it's the application where the business case is easiest to make.
Note the deliberate repeat of 'still no explosion-proof rating' in the one-year column — it ties back to the previous slide and it is the single most likely reason a humanoid does NOT show up in a mill on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Sept 3. The two-month arc is the story: down in July, up in August, machines unchanged both times.
Atlas +1.0, Apollo 2 +1.0, Optimus +1.0, Figure +0.7, Unitree G1 +0.5, Digit +0.2. Only Unitree H1 fell.
TESLA — VERIFIED, and it is your sharpest line: a line engineered for a MILLION units a year, and not one published production number. Tesla has never disclosed an Optimus figure; the Q2 2026 shareholder update (July 23) said it was still INSTALLING first-generation lines with output 'later this year,' and the late-July/August window passed. Best outside estimate is a few hundred units, all internal, mostly for training data. First units off the new line go to Tesla's own Optimus Academy. ~10,000 new parts per unit; Musk says the ramp will be 'quite flat and long.' The 1M/year figure is the line's DESIGN CAPACITY, not a forecast — say it that way.
A PRIOR DRAFT OF THIS DECK SAID '50,000+ units built.' That was wrong. Do not use it.
DROPPED the Figure 02-vs-03 platform claim — your own latest run no longer supports it and it was the riskiest thing on this slide. Do not reintroduce it.
The Boston Dynamics 'brain' line refers to a whole-body robot control foundation model released in August. Do not name the product; this room does not need it.
Use two or three rows depending on the room. Agility is the honest one — $250K/unit comes back in Part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v15 — REPLACES the old "does this take jobs / it's covering a req that's been open fourteen months" slide. Jim: that line isn't true, and the slide had a knowing tone he didn't want.
This is the honest version — a ladder, climbed slowly, starting at the bottom.
The not-humanoid half matters: most of what arrives will be a sensor on wheels, not a machine shaped like a man. That is also the cheapest and the first to clear a safety review.
THIS SETS UP PART 5. The bottom rung here is the same bottom rung the relief robot takes in the bump-up. Plant it now and the payoff lands harder later.
If the jobs question comes from the floor, answer it with this slide and the honest half of the spine — at some levels it will replace the worker; here is where it starts and how slowly it climbs.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v15 — new. This is JIM'S story and it is the strongest thing in the robotics section. Tell it in first person.
"When I was an engineer we'd sit down in a hole with a board full of gauges. A robot in my chair could read every one of them and know if everything was just right. But could it smell the air? Could it hear a small sound that didn't belong there? Could it feel a vibration that wasn't there?"
WATCH THE SEAM: the previous slide says a sensor listening all shift catches a change in the sound. This slide says the veteran catches what nobody was listening for. Those are NOT in conflict and the bottom line is what reconciles them — a sensor finds what you told it to look for; a person notices what nobody told him to look for. Say that line carefully; it's the whole point.
It also calls back to the best-read new hire in Part 1, and forward to why training is worth the money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the PCA slide 40 art here if you prefer — it's already right.
NEW Sept 1 — THE RYANAIR CONTRACT. Five years, 35,000 employees, covering crew scheduling and flight-ops decision-making. This is the most on-point enterprise fact you have: AI doing 24/7 crew scheduling at scale, under contract, right now.
Use it as a SETUP, not a threat: 'that is real, and it is a scheduling job much like yours. Now ask yourself the question I asked in the first ten minutes — does the airline’s crew accept it? Because that contract does not buy that.'
SOURCING: verify the terms before you name the airline on a slide. Saying 'an airline' is enough for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fast — 90 seconds for the whole slide. Don't dwell.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SPINE CALLBACK immediately after step four.
CAVEATS: runs on your parts master being decent. And do NOT turn autonomous ordering on in year one — approval-in-the-loop first.
CALLBACK TO 1D: 'if you'd never let a machine read your maintenance manual because of where the data goes — that's the fair objection, and it's the one that's dissolving. This runs on a model in your own building now.'
Consider building this and demoing it live. Record a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flat, no drama. Thirty seconds. Most sophisticated thing you'll say all hour.
The pull quote is YOUR published line from April — say it as a callback, not a claim: 'I wrote this in the spring and I'd say it harder now.'
Then: use it on the things that are measured — it's better at those than you are. The things that aren't measured, you still have to go find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hire still below a 4 on that question at six months is one you're probably going to lose. Turnover isn't only pay and it isn't only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SPINE CALLBACK — say the bottom line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RISK: never live-demo without a recorded fallback. Two live demos on conference wifi is one too many — record this one or the parts agent.
Your best trainer diagnoses WHY. He can do it for one person at a time, on day shift, when he isn't running a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FIRST. Let them guess. They will guess low. Do not advance until somebody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row at a time. Every input is a yellow cell in Crew_vs_Robot_Model.xlsx — change the wage on stage if 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ORIGINAL CONTRIBUTION. Land it slowly. This is the most important thing you say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SIMPLIFIED to three lines. The middle row is the whole point — say it and stop.
Amortization is 7 years, maintenance 12%/yr, plus energy and an allocated robotics tech. Those are in the model if anyone wants them; do not put them on the screen.
If asked where 2.5x came from: published industry TCO ranges of 2-4x for a deployed industrial system; you took the conservative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v16 — new, at Jim's request: break down WHY the robot numbers are what they are.
THE TWO NUMBERS TO SAY OUT LOUD:
1. $12,000 technician vs $10,714 of machine on the cheap robot. The person costs more than the robot. Nobody expects that.
2. Cut the sticker 70% ($100k to $30k) and the annual cost only falls 53% ($62,714 to $29,314) — because energy and the technician don't get cheaper.
THE CONSEQUENCE, and it is the useful one: the cheaper robots get, the more of your cost is people and integration. Which means a fleet of cheap robots is not a cheap project, and the vendor quoting you hardware is quoting the smallest line.
All four inputs are yellow cells in Crew_vs_Robot_Model.xlsx — 7-year life, 12% maintenance, $3,000 energy, one technician allocated across robots. If someone says your maintenance rate is wrong, change it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CUT THIS SLIDE. Without it, one informed question from the floor can take down all of Part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capability in a paper mill today is 40-60% for most positions, near 100% for only a handful — palletizing, roll handling, wrapping, some inspection. The real answer is the bottom half of that table.
EVIDENCE: the most-deployed humanoid in the world has 65,000 hours across NINE facilities. Not nine hundred. That's the top of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reframe came from Jim: nobody asks what the fifth crew is FOR. Relief and training. Answer that first and the money slide lands as an answer instead of a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FIRST: how many of you carry relief bodies, and how many just run overtime? Both answers cost money; only one is on a budget line.
The model assumes relief bodies cost the same as line bodies. If yours are cheaper, change the cell — the ratio barely moves.
Do NOT say 40 jobs go away. Say these are the reqs you already cannot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SPINE CALLBACK: the first robot in your mill isn't replacing anybody — it's covering a req that's been open fourteen months. This is that slide's arithmetic.
If someone says 'we don't carry relief, we run overtime' — good, then the number on the left is your overtime line instead, and it's probably bigger.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WHOLE SECTION WORK — it reconciles 'robots only do 40-60% of a position' with a real deployment path. Do not cut it.
Say it plainly: you are not asking a machine to replace your best operator. You are asking it to hold the bottom rung while everybody steps up one, which is what your crews already do when somebody's out.
It also explains why the capability objection stops mattering: you get to CHOOSE which position the robot covers, and you choose the easiest one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relief slides did the persuading. This one just prices the prize — deliver it fast.
Say: you spent ten percent less, you didn't lay anyone off, and you just became the best schedule in your labor market.
DISCIPLINE: the model also runs a 50-robot case saving 36%. Do NOT present it as attrition-absorbable — that's 150 people and 2.5 years of attrition with zero replacement hiring, and it assumes 100% capability. Leave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fast — they're a coda, not a section. Cut if running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method away with no strings. That generosity is the most persuasive thing you can do — and it's the right thing to do for a room that will try this whether you help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DON'T READ IT. The slide deliberately holds only two phrases — if the words are on the screen the room reads ahead and the ending dies.
PLANT ONE: the HR manager's door had a glass pane painted opaque green. I asked why. 'This way employees can't see if I'm in.' Concerns went unheard because there was nowhere to bring them.
PLANT TWO: the plant manager gave the tour himself, greeted everyone by name. Spotted an oil leak, said nothing about it — asked the technician how his day was going. Came back twenty minutes later; the leak was gone.
THEN: the technology available to them is identical. The outcome will not be.
AND: management on all shifts, nights included. Supervisors who know the plan instead of hearing it from their crews. Somebody who can sit across from a skeptical operator at 2 a.m. — and get a straight answer, because he showed up at 2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off this one slide, fast. They've earned the context now — you're naming these, not arguing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35 years designing schedules and the fundamentals have barely moved. People still want fixed shifts. They still want days off more than short days. They still want to know when they DON'T have to be here. No amount of AI changes that.
What changes is how much of the hard part a person has to carry. The searching. The calling. The guessing. The 5 a.m. phone tree.
And what you do with what you save is a choice: hand it to the P&amp;L, or buy the fifth crew.
DO NOT add a second call to action. The soft close is the whole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731520" y="1005840"/>
            <a:ext cx="1371600" cy="54864"/>
          </a:xfrm>
          <a:prstGeom prst="rect">
            <a:avLst/>
          </a:prstGeom>
          <a:solidFill>
            <a:srgbClr val="D4A843"/>
          </a:solidFill>
          <a:ln/>
        </p:spPr>
      </p:sp>
      <p:sp>
        <p:nvSpPr>
          <p:cNvPr id="3" name="Text 1"/>
          <p:cNvSpPr txBox="1"/>
          <p:nvPr/>
        </p:nvSpPr>
        <p:spPr>
          <a:xfrm>
            <a:off x="731520" y="1188720"/>
            <a:ext cx="7680960" cy="1463040"/>
          </a:xfrm>
          <a:prstGeom prst="rect">
            <a:avLst/>
          </a:prstGeom>
          <a:noFill/>
          <a:ln/>
        </p:spPr>
        <p:txBody>
          <a:bodyPr wrap="square" lIns="0" tIns="0" rIns="0" bIns="0" rtlCol="0" anchor="ctr"/>
          <a:lstStyle/>
          <a:p>
            <a:pPr indent="0" marL="0">
              <a:lnSpc>
                <a:spcPct val="110000"/>
              </a:lnSpc>
              <a:buNone/>
            </a:pPr>
            <a:r>
              <a:rPr lang="en-US" sz="3800" b="1" dirty="0">
                <a:solidFill>
                  <a:srgbClr val="FFFFFF"/>
                </a:solidFill>
                <a:latin typeface="Georgia" pitchFamily="34" charset="0"/>
                <a:ea typeface="Georgia" pitchFamily="34" charset="-122"/>
                <a:cs typeface="Georgia" pitchFamily="34" charset="-120"/>
              </a:rPr>
              <a:t>AI and the Future of</a:t>
            </a:r>
            <a:endParaRPr lang="en-US" sz="3800" dirty="0"/>
          </a:p>
          <a:p>
            <a:pPr indent="0" marL="0">
              <a:lnSpc>
                <a:spcPct val="110000"/>
              </a:lnSpc>
              <a:buNone/>
            </a:pPr>
            <a:r>
              <a:rPr lang="en-US" sz="3800" b="1" dirty="0">
                <a:solidFill>
                  <a:srgbClr val="FFFFFF"/>
                </a:solidFill>
                <a:latin typeface="Georgia" pitchFamily="34" charset="0"/>
                <a:ea typeface="Georgia" pitchFamily="34" charset="-122"/>
                <a:cs typeface="Georgia" pitchFamily="34" charset="-120"/>
              </a:rPr>
              <a:t>Shift Work Operations</a:t>
            </a:r>
            <a:endParaRPr lang="en-US" sz="3800" dirty="0"/>
          </a:p>
        </p:txBody>
      </p:sp>
      <p:sp>
        <p:nvSpPr>
          <p:cNvPr id="4" name="Text 2"/>
          <p:cNvSpPr txBox="1"/>
          <p:nvPr/>
        </p:nvSpPr>
        <p:spPr>
          <a:xfrm>
            <a:off x="731520" y="2697480"/>
            <a:ext cx="7680960" cy="822960"/>
          </a:xfrm>
          <a:prstGeom prst="rect">
            <a:avLst/>
          </a:prstGeom>
          <a:noFill/>
          <a:ln/>
        </p:spPr>
        <p:txBody>
          <a:bodyPr wrap="square" lIns="0" tIns="0" rIns="0" bIns="0" rtlCol="0" anchor="ctr"/>
          <a:lstStyle/>
          <a:p>
            <a:pPr indent="0" marL="0">
              <a:buNone/>
            </a:pPr>
            <a:r>
              <a:rPr lang="en-US" sz="1700" dirty="0">
                <a:solidFill>
                  <a:srgbClr val="14A3B8"/>
                </a:solidFill>
                <a:latin typeface="Calibri" pitchFamily="34" charset="0"/>
                <a:ea typeface="Calibri" pitchFamily="34" charset="-122"/>
                <a:cs typeface="Calibri" pitchFamily="34" charset="-120"/>
              </a:rPr>
              <a:t>What it actually is, what it does to your crews,</a:t>
            </a:r>
            <a:endParaRPr lang="en-US" sz="1700" dirty="0"/>
          </a:p>
          <a:p>
            <a:pPr indent="0" marL="0">
              <a:buNone/>
            </a:pPr>
            <a:r>
              <a:rPr lang="en-US" sz="1700" dirty="0">
                <a:solidFill>
                  <a:srgbClr val="14A3B8"/>
                </a:solidFill>
                <a:latin typeface="Calibri" pitchFamily="34" charset="0"/>
                <a:ea typeface="Calibri" pitchFamily="34" charset="-122"/>
                <a:cs typeface="Calibri" pitchFamily="34" charset="-120"/>
              </a:rPr>
              <a:t>and what it costs</a:t>
            </a:r>
            <a:endParaRPr lang="en-US" sz="1700" dirty="0"/>
          </a:p>
        </p:txBody>
      </p:sp>
      <p:sp>
        <p:nvSpPr>
          <p:cNvPr id="5" name="Shape 3"/>
          <p:cNvSpPr/>
          <p:nvPr/>
        </p:nvSpPr>
        <p:spPr>
          <a:xfrm>
            <a:off x="731520" y="3657600"/>
            <a:ext cx="7680960" cy="10973"/>
          </a:xfrm>
          <a:prstGeom prst="rect">
            <a:avLst/>
          </a:prstGeom>
          <a:solidFill>
            <a:srgbClr val="2A3D60"/>
          </a:solidFill>
          <a:ln/>
        </p:spPr>
      </p:sp>
      <p:sp>
        <p:nvSpPr>
          <p:cNvPr id="6" name="Text 4"/>
          <p:cNvSpPr txBox="1"/>
          <p:nvPr/>
        </p:nvSpPr>
        <p:spPr>
          <a:xfrm>
            <a:off x="731520" y="3749040"/>
            <a:ext cx="4572000" cy="320040"/>
          </a:xfrm>
          <a:prstGeom prst="rect">
            <a:avLst/>
          </a:prstGeom>
          <a:noFill/>
          <a:ln/>
        </p:spPr>
        <p:txBody>
          <a:bodyPr wrap="square" lIns="0" tIns="0" rIns="0" bIns="0" rtlCol="0" anchor="ctr"/>
          <a:lstStyle/>
          <a:p>
            <a:pPr indent="0" marL="0">
              <a:buNone/>
            </a:pPr>
            <a:r>
              <a:rPr lang="en-US" sz="1300" b="1" dirty="0">
                <a:solidFill>
                  <a:srgbClr val="D4A843"/>
                </a:solidFill>
                <a:latin typeface="Calibri" pitchFamily="34" charset="0"/>
                <a:ea typeface="Calibri" pitchFamily="34" charset="-122"/>
                <a:cs typeface="Calibri" pitchFamily="34" charset="-120"/>
              </a:rPr>
              <a:t>American Forest &amp; Paper Association</a:t>
            </a:r>
            <a:endParaRPr lang="en-US" sz="1300" dirty="0"/>
          </a:p>
        </p:txBody>
      </p:sp>
      <p:sp>
        <p:nvSpPr>
          <p:cNvPr id="7" name="Text 5"/>
          <p:cNvSpPr txBox="1"/>
          <p:nvPr/>
        </p:nvSpPr>
        <p:spPr>
          <a:xfrm>
            <a:off x="731520" y="4041648"/>
            <a:ext cx="4572000" cy="274320"/>
          </a:xfrm>
          <a:prstGeom prst="rect">
            <a:avLst/>
          </a:prstGeom>
          <a:noFill/>
          <a:ln/>
        </p:spPr>
        <p:txBody>
          <a:bodyPr wrap="square" lIns="0" tIns="0" rIns="0" bIns="0" rtlCol="0" anchor="ctr"/>
          <a:lstStyle/>
          <a:p>
            <a:pPr indent="0" marL="0">
              <a:buNone/>
            </a:pPr>
            <a:r>
              <a:rPr lang="en-US" sz="1200" dirty="0">
                <a:solidFill>
                  <a:srgbClr val="8896A7"/>
                </a:solidFill>
                <a:latin typeface="Calibri" pitchFamily="34" charset="0"/>
                <a:ea typeface="Calibri" pitchFamily="34" charset="-122"/>
                <a:cs typeface="Calibri" pitchFamily="34" charset="-120"/>
              </a:rPr>
              <a:t>September 26, 2026</a:t>
            </a:r>
            <a:endParaRPr lang="en-US" sz="1200" dirty="0"/>
          </a:p>
        </p:txBody>
      </p:sp>
      <p:sp>
        <p:nvSpPr>
          <p:cNvPr id="8" name="Text 6"/>
          <p:cNvSpPr txBox="1"/>
          <p:nvPr/>
        </p:nvSpPr>
        <p:spPr>
          <a:xfrm>
            <a:off x="731520" y="4343400"/>
            <a:ext cx="7680960" cy="6400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James Dillingham  |  Shiftwork Solutions LLC
</a:t>
            </a:r>
            <a:pPr indent="0" marL="0">
              <a:buNone/>
            </a:pPr>
            <a:r>
              <a:rPr lang="en-US" sz="1100" dirty="0">
                <a:solidFill>
                  <a:srgbClr val="8896A7"/>
                </a:solidFill>
                <a:latin typeface="Calibri" pitchFamily="34" charset="0"/>
                <a:ea typeface="Calibri" pitchFamily="34" charset="-122"/>
                <a:cs typeface="Calibri" pitchFamily="34" charset="-120"/>
              </a:rPr>
              <a:t>(415) 265-1621  |  www.shift-work.com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What We Will Cover Today</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24128"/>
            <a:ext cx="8046720" cy="51206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731520" y="1024128"/>
            <a:ext cx="411480" cy="512064"/>
          </a:xfrm>
          <a:prstGeom prst="rect">
            <a:avLst/>
          </a:prstGeom>
          <a:noFill/>
          <a:ln/>
        </p:spPr>
        <p:txBody>
          <a:bodyPr wrap="square" lIns="0" tIns="0" rIns="0" bIns="0" rtlCol="0" anchor="ctr"/>
          <a:lstStyle/>
          <a:p>
            <a:pPr indent="0" marL="0">
              <a:buNone/>
            </a:pPr>
            <a:r>
              <a:rPr lang="en-US" sz="1500" b="1" dirty="0">
                <a:solidFill>
                  <a:srgbClr val="0D7C8F"/>
                </a:solidFill>
                <a:latin typeface="Georgia" pitchFamily="34" charset="0"/>
                <a:ea typeface="Georgia" pitchFamily="34" charset="-122"/>
                <a:cs typeface="Georgia" pitchFamily="34" charset="-120"/>
              </a:rPr>
              <a:t>01</a:t>
            </a:r>
            <a:endParaRPr lang="en-US" sz="1500" dirty="0"/>
          </a:p>
        </p:txBody>
      </p:sp>
      <p:sp>
        <p:nvSpPr>
          <p:cNvPr id="7" name="Text 5"/>
          <p:cNvSpPr txBox="1"/>
          <p:nvPr/>
        </p:nvSpPr>
        <p:spPr>
          <a:xfrm>
            <a:off x="1207008" y="1024128"/>
            <a:ext cx="3566160" cy="512064"/>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What AI actually is</a:t>
            </a:r>
            <a:endParaRPr lang="en-US" sz="1250" dirty="0"/>
          </a:p>
        </p:txBody>
      </p:sp>
      <p:sp>
        <p:nvSpPr>
          <p:cNvPr id="8" name="Text 6"/>
          <p:cNvSpPr txBox="1"/>
          <p:nvPr/>
        </p:nvSpPr>
        <p:spPr>
          <a:xfrm>
            <a:off x="4846320" y="1024128"/>
            <a:ext cx="3611880" cy="512064"/>
          </a:xfrm>
          <a:prstGeom prst="rect">
            <a:avLst/>
          </a:prstGeom>
          <a:noFill/>
          <a:ln/>
        </p:spPr>
        <p:txBody>
          <a:bodyPr wrap="square" lIns="0" tIns="0" rIns="0" bIns="0" rtlCol="0" anchor="ctr"/>
          <a:lstStyle/>
          <a:p>
            <a:pPr indent="0" marL="0">
              <a:buNone/>
            </a:pPr>
            <a:r>
              <a:rPr lang="en-US" sz="1050" dirty="0">
                <a:solidFill>
                  <a:srgbClr val="8896A7"/>
                </a:solidFill>
                <a:latin typeface="Calibri" pitchFamily="34" charset="0"/>
                <a:ea typeface="Calibri" pitchFamily="34" charset="-122"/>
                <a:cs typeface="Calibri" pitchFamily="34" charset="-120"/>
              </a:rPr>
              <a:t>Software that plans, drafts, and looks things up</a:t>
            </a:r>
            <a:endParaRPr lang="en-US" sz="1050" dirty="0"/>
          </a:p>
        </p:txBody>
      </p:sp>
      <p:sp>
        <p:nvSpPr>
          <p:cNvPr id="9" name="Shape 7"/>
          <p:cNvSpPr/>
          <p:nvPr/>
        </p:nvSpPr>
        <p:spPr>
          <a:xfrm>
            <a:off x="548640" y="1627632"/>
            <a:ext cx="8046720" cy="51206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0" name="Text 8"/>
          <p:cNvSpPr txBox="1"/>
          <p:nvPr/>
        </p:nvSpPr>
        <p:spPr>
          <a:xfrm>
            <a:off x="731520" y="1627632"/>
            <a:ext cx="411480" cy="512064"/>
          </a:xfrm>
          <a:prstGeom prst="rect">
            <a:avLst/>
          </a:prstGeom>
          <a:noFill/>
          <a:ln/>
        </p:spPr>
        <p:txBody>
          <a:bodyPr wrap="square" lIns="0" tIns="0" rIns="0" bIns="0" rtlCol="0" anchor="ctr"/>
          <a:lstStyle/>
          <a:p>
            <a:pPr indent="0" marL="0">
              <a:buNone/>
            </a:pPr>
            <a:r>
              <a:rPr lang="en-US" sz="1500" b="1" dirty="0">
                <a:solidFill>
                  <a:srgbClr val="0D7C8F"/>
                </a:solidFill>
                <a:latin typeface="Georgia" pitchFamily="34" charset="0"/>
                <a:ea typeface="Georgia" pitchFamily="34" charset="-122"/>
                <a:cs typeface="Georgia" pitchFamily="34" charset="-120"/>
              </a:rPr>
              <a:t>02</a:t>
            </a:r>
            <a:endParaRPr lang="en-US" sz="1500" dirty="0"/>
          </a:p>
        </p:txBody>
      </p:sp>
      <p:sp>
        <p:nvSpPr>
          <p:cNvPr id="11" name="Text 9"/>
          <p:cNvSpPr txBox="1"/>
          <p:nvPr/>
        </p:nvSpPr>
        <p:spPr>
          <a:xfrm>
            <a:off x="1207008" y="1627632"/>
            <a:ext cx="3566160" cy="512064"/>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What's new in robotics</a:t>
            </a:r>
            <a:endParaRPr lang="en-US" sz="1250" dirty="0"/>
          </a:p>
        </p:txBody>
      </p:sp>
      <p:sp>
        <p:nvSpPr>
          <p:cNvPr id="12" name="Text 10"/>
          <p:cNvSpPr txBox="1"/>
          <p:nvPr/>
        </p:nvSpPr>
        <p:spPr>
          <a:xfrm>
            <a:off x="4846320" y="1627632"/>
            <a:ext cx="3611880" cy="512064"/>
          </a:xfrm>
          <a:prstGeom prst="rect">
            <a:avLst/>
          </a:prstGeom>
          <a:noFill/>
          <a:ln/>
        </p:spPr>
        <p:txBody>
          <a:bodyPr wrap="square" lIns="0" tIns="0" rIns="0" bIns="0" rtlCol="0" anchor="ctr"/>
          <a:lstStyle/>
          <a:p>
            <a:pPr indent="0" marL="0">
              <a:buNone/>
            </a:pPr>
            <a:r>
              <a:rPr lang="en-US" sz="1050" dirty="0">
                <a:solidFill>
                  <a:srgbClr val="8896A7"/>
                </a:solidFill>
                <a:latin typeface="Calibri" pitchFamily="34" charset="0"/>
                <a:ea typeface="Calibri" pitchFamily="34" charset="-122"/>
                <a:cs typeface="Calibri" pitchFamily="34" charset="-120"/>
              </a:rPr>
              <a:t>A machine with an AI inside it</a:t>
            </a:r>
            <a:endParaRPr lang="en-US" sz="1050" dirty="0"/>
          </a:p>
        </p:txBody>
      </p:sp>
      <p:sp>
        <p:nvSpPr>
          <p:cNvPr id="13" name="Shape 11"/>
          <p:cNvSpPr/>
          <p:nvPr/>
        </p:nvSpPr>
        <p:spPr>
          <a:xfrm>
            <a:off x="548640" y="2231136"/>
            <a:ext cx="8046720" cy="51206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4" name="Text 12"/>
          <p:cNvSpPr txBox="1"/>
          <p:nvPr/>
        </p:nvSpPr>
        <p:spPr>
          <a:xfrm>
            <a:off x="731520" y="2231136"/>
            <a:ext cx="411480" cy="512064"/>
          </a:xfrm>
          <a:prstGeom prst="rect">
            <a:avLst/>
          </a:prstGeom>
          <a:noFill/>
          <a:ln/>
        </p:spPr>
        <p:txBody>
          <a:bodyPr wrap="square" lIns="0" tIns="0" rIns="0" bIns="0" rtlCol="0" anchor="ctr"/>
          <a:lstStyle/>
          <a:p>
            <a:pPr indent="0" marL="0">
              <a:buNone/>
            </a:pPr>
            <a:r>
              <a:rPr lang="en-US" sz="1500" b="1" dirty="0">
                <a:solidFill>
                  <a:srgbClr val="0D7C8F"/>
                </a:solidFill>
                <a:latin typeface="Georgia" pitchFamily="34" charset="0"/>
                <a:ea typeface="Georgia" pitchFamily="34" charset="-122"/>
                <a:cs typeface="Georgia" pitchFamily="34" charset="-120"/>
              </a:rPr>
              <a:t>03</a:t>
            </a:r>
            <a:endParaRPr lang="en-US" sz="1500" dirty="0"/>
          </a:p>
        </p:txBody>
      </p:sp>
      <p:sp>
        <p:nvSpPr>
          <p:cNvPr id="15" name="Text 13"/>
          <p:cNvSpPr txBox="1"/>
          <p:nvPr/>
        </p:nvSpPr>
        <p:spPr>
          <a:xfrm>
            <a:off x="1207008" y="2231136"/>
            <a:ext cx="3566160" cy="512064"/>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How it affects the leadership team</a:t>
            </a:r>
            <a:endParaRPr lang="en-US" sz="1250" dirty="0"/>
          </a:p>
        </p:txBody>
      </p:sp>
      <p:sp>
        <p:nvSpPr>
          <p:cNvPr id="16" name="Text 14"/>
          <p:cNvSpPr txBox="1"/>
          <p:nvPr/>
        </p:nvSpPr>
        <p:spPr>
          <a:xfrm>
            <a:off x="4846320" y="2231136"/>
            <a:ext cx="3611880" cy="512064"/>
          </a:xfrm>
          <a:prstGeom prst="rect">
            <a:avLst/>
          </a:prstGeom>
          <a:noFill/>
          <a:ln/>
        </p:spPr>
        <p:txBody>
          <a:bodyPr wrap="square" lIns="0" tIns="0" rIns="0" bIns="0" rtlCol="0" anchor="ctr"/>
          <a:lstStyle/>
          <a:p>
            <a:pPr indent="0" marL="0">
              <a:buNone/>
            </a:pPr>
            <a:r>
              <a:rPr lang="en-US" sz="1050" dirty="0">
                <a:solidFill>
                  <a:srgbClr val="8896A7"/>
                </a:solidFill>
                <a:latin typeface="Calibri" pitchFamily="34" charset="0"/>
                <a:ea typeface="Calibri" pitchFamily="34" charset="-122"/>
                <a:cs typeface="Calibri" pitchFamily="34" charset="-120"/>
              </a:rPr>
              <a:t>Planning, maintenance, supply chain — the work on your desk</a:t>
            </a:r>
            <a:endParaRPr lang="en-US" sz="1050" dirty="0"/>
          </a:p>
        </p:txBody>
      </p:sp>
      <p:sp>
        <p:nvSpPr>
          <p:cNvPr id="17" name="Shape 15"/>
          <p:cNvSpPr/>
          <p:nvPr/>
        </p:nvSpPr>
        <p:spPr>
          <a:xfrm>
            <a:off x="548640" y="2834640"/>
            <a:ext cx="8046720" cy="51206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8" name="Text 16"/>
          <p:cNvSpPr txBox="1"/>
          <p:nvPr/>
        </p:nvSpPr>
        <p:spPr>
          <a:xfrm>
            <a:off x="731520" y="2834640"/>
            <a:ext cx="411480" cy="512064"/>
          </a:xfrm>
          <a:prstGeom prst="rect">
            <a:avLst/>
          </a:prstGeom>
          <a:noFill/>
          <a:ln/>
        </p:spPr>
        <p:txBody>
          <a:bodyPr wrap="square" lIns="0" tIns="0" rIns="0" bIns="0" rtlCol="0" anchor="ctr"/>
          <a:lstStyle/>
          <a:p>
            <a:pPr indent="0" marL="0">
              <a:buNone/>
            </a:pPr>
            <a:r>
              <a:rPr lang="en-US" sz="1500" b="1" dirty="0">
                <a:solidFill>
                  <a:srgbClr val="0D7C8F"/>
                </a:solidFill>
                <a:latin typeface="Georgia" pitchFamily="34" charset="0"/>
                <a:ea typeface="Georgia" pitchFamily="34" charset="-122"/>
                <a:cs typeface="Georgia" pitchFamily="34" charset="-120"/>
              </a:rPr>
              <a:t>04</a:t>
            </a:r>
            <a:endParaRPr lang="en-US" sz="1500" dirty="0"/>
          </a:p>
        </p:txBody>
      </p:sp>
      <p:sp>
        <p:nvSpPr>
          <p:cNvPr id="19" name="Text 17"/>
          <p:cNvSpPr txBox="1"/>
          <p:nvPr/>
        </p:nvSpPr>
        <p:spPr>
          <a:xfrm>
            <a:off x="1207008" y="2834640"/>
            <a:ext cx="3566160" cy="512064"/>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How it affects the shift workers</a:t>
            </a:r>
            <a:endParaRPr lang="en-US" sz="1250" dirty="0"/>
          </a:p>
        </p:txBody>
      </p:sp>
      <p:sp>
        <p:nvSpPr>
          <p:cNvPr id="20" name="Text 18"/>
          <p:cNvSpPr txBox="1"/>
          <p:nvPr/>
        </p:nvSpPr>
        <p:spPr>
          <a:xfrm>
            <a:off x="4846320" y="2834640"/>
            <a:ext cx="3611880" cy="512064"/>
          </a:xfrm>
          <a:prstGeom prst="rect">
            <a:avLst/>
          </a:prstGeom>
          <a:noFill/>
          <a:ln/>
        </p:spPr>
        <p:txBody>
          <a:bodyPr wrap="square" lIns="0" tIns="0" rIns="0" bIns="0" rtlCol="0" anchor="ctr"/>
          <a:lstStyle/>
          <a:p>
            <a:pPr indent="0" marL="0">
              <a:buNone/>
            </a:pPr>
            <a:r>
              <a:rPr lang="en-US" sz="1050" dirty="0">
                <a:solidFill>
                  <a:srgbClr val="8896A7"/>
                </a:solidFill>
                <a:latin typeface="Calibri" pitchFamily="34" charset="0"/>
                <a:ea typeface="Calibri" pitchFamily="34" charset="-122"/>
                <a:cs typeface="Calibri" pitchFamily="34" charset="-120"/>
              </a:rPr>
              <a:t>Training, coverage, and the job on the floor</a:t>
            </a:r>
            <a:endParaRPr lang="en-US" sz="1050" dirty="0"/>
          </a:p>
        </p:txBody>
      </p:sp>
      <p:sp>
        <p:nvSpPr>
          <p:cNvPr id="21" name="Shape 19"/>
          <p:cNvSpPr/>
          <p:nvPr/>
        </p:nvSpPr>
        <p:spPr>
          <a:xfrm>
            <a:off x="548640" y="3438144"/>
            <a:ext cx="8046720" cy="51206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22" name="Text 20"/>
          <p:cNvSpPr txBox="1"/>
          <p:nvPr/>
        </p:nvSpPr>
        <p:spPr>
          <a:xfrm>
            <a:off x="731520" y="3438144"/>
            <a:ext cx="411480" cy="512064"/>
          </a:xfrm>
          <a:prstGeom prst="rect">
            <a:avLst/>
          </a:prstGeom>
          <a:noFill/>
          <a:ln/>
        </p:spPr>
        <p:txBody>
          <a:bodyPr wrap="square" lIns="0" tIns="0" rIns="0" bIns="0" rtlCol="0" anchor="ctr"/>
          <a:lstStyle/>
          <a:p>
            <a:pPr indent="0" marL="0">
              <a:buNone/>
            </a:pPr>
            <a:r>
              <a:rPr lang="en-US" sz="1500" b="1" dirty="0">
                <a:solidFill>
                  <a:srgbClr val="0D7C8F"/>
                </a:solidFill>
                <a:latin typeface="Georgia" pitchFamily="34" charset="0"/>
                <a:ea typeface="Georgia" pitchFamily="34" charset="-122"/>
                <a:cs typeface="Georgia" pitchFamily="34" charset="-120"/>
              </a:rPr>
              <a:t>05</a:t>
            </a:r>
            <a:endParaRPr lang="en-US" sz="1500" dirty="0"/>
          </a:p>
        </p:txBody>
      </p:sp>
      <p:sp>
        <p:nvSpPr>
          <p:cNvPr id="23" name="Text 21"/>
          <p:cNvSpPr txBox="1"/>
          <p:nvPr/>
        </p:nvSpPr>
        <p:spPr>
          <a:xfrm>
            <a:off x="1207008" y="3438144"/>
            <a:ext cx="3566160" cy="512064"/>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What it means about costs</a:t>
            </a:r>
            <a:endParaRPr lang="en-US" sz="1250" dirty="0"/>
          </a:p>
        </p:txBody>
      </p:sp>
      <p:sp>
        <p:nvSpPr>
          <p:cNvPr id="24" name="Text 22"/>
          <p:cNvSpPr txBox="1"/>
          <p:nvPr/>
        </p:nvSpPr>
        <p:spPr>
          <a:xfrm>
            <a:off x="4846320" y="3438144"/>
            <a:ext cx="3611880" cy="512064"/>
          </a:xfrm>
          <a:prstGeom prst="rect">
            <a:avLst/>
          </a:prstGeom>
          <a:noFill/>
          <a:ln/>
        </p:spPr>
        <p:txBody>
          <a:bodyPr wrap="square" lIns="0" tIns="0" rIns="0" bIns="0" rtlCol="0" anchor="ctr"/>
          <a:lstStyle/>
          <a:p>
            <a:pPr indent="0" marL="0">
              <a:buNone/>
            </a:pPr>
            <a:r>
              <a:rPr lang="en-US" sz="1050" dirty="0">
                <a:solidFill>
                  <a:srgbClr val="8896A7"/>
                </a:solidFill>
                <a:latin typeface="Calibri" pitchFamily="34" charset="0"/>
                <a:ea typeface="Calibri" pitchFamily="34" charset="-122"/>
                <a:cs typeface="Calibri" pitchFamily="34" charset="-120"/>
              </a:rPr>
              <a:t>What four crews of a hundred actually costs you</a:t>
            </a:r>
            <a:endParaRPr lang="en-US" sz="1050" dirty="0"/>
          </a:p>
        </p:txBody>
      </p:sp>
      <p:sp>
        <p:nvSpPr>
          <p:cNvPr id="25" name="Shape 23"/>
          <p:cNvSpPr/>
          <p:nvPr/>
        </p:nvSpPr>
        <p:spPr>
          <a:xfrm>
            <a:off x="548640" y="4041648"/>
            <a:ext cx="8046720" cy="512064"/>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26" name="Text 24"/>
          <p:cNvSpPr txBox="1"/>
          <p:nvPr/>
        </p:nvSpPr>
        <p:spPr>
          <a:xfrm>
            <a:off x="731520" y="4041648"/>
            <a:ext cx="411480" cy="512064"/>
          </a:xfrm>
          <a:prstGeom prst="rect">
            <a:avLst/>
          </a:prstGeom>
          <a:noFill/>
          <a:ln/>
        </p:spPr>
        <p:txBody>
          <a:bodyPr wrap="square" lIns="0" tIns="0" rIns="0" bIns="0" rtlCol="0" anchor="ctr"/>
          <a:lstStyle/>
          <a:p>
            <a:pPr indent="0" marL="0">
              <a:buNone/>
            </a:pPr>
            <a:r>
              <a:rPr lang="en-US" sz="1500" b="1" dirty="0">
                <a:solidFill>
                  <a:srgbClr val="D4A843"/>
                </a:solidFill>
                <a:latin typeface="Georgia" pitchFamily="34" charset="0"/>
                <a:ea typeface="Georgia" pitchFamily="34" charset="-122"/>
                <a:cs typeface="Georgia" pitchFamily="34" charset="-120"/>
              </a:rPr>
              <a:t>06</a:t>
            </a:r>
            <a:endParaRPr lang="en-US" sz="1500" dirty="0"/>
          </a:p>
        </p:txBody>
      </p:sp>
      <p:sp>
        <p:nvSpPr>
          <p:cNvPr id="27" name="Text 25"/>
          <p:cNvSpPr txBox="1"/>
          <p:nvPr/>
        </p:nvSpPr>
        <p:spPr>
          <a:xfrm>
            <a:off x="1207008" y="4041648"/>
            <a:ext cx="3566160"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Let's peek into the future</a:t>
            </a:r>
            <a:endParaRPr lang="en-US" sz="1250" dirty="0"/>
          </a:p>
        </p:txBody>
      </p:sp>
      <p:sp>
        <p:nvSpPr>
          <p:cNvPr id="28" name="Text 26"/>
          <p:cNvSpPr txBox="1"/>
          <p:nvPr/>
        </p:nvSpPr>
        <p:spPr>
          <a:xfrm>
            <a:off x="4846320" y="4041648"/>
            <a:ext cx="3611880" cy="512064"/>
          </a:xfrm>
          <a:prstGeom prst="rect">
            <a:avLst/>
          </a:prstGeom>
          <a:noFill/>
          <a:ln/>
        </p:spPr>
        <p:txBody>
          <a:bodyPr wrap="square" lIns="0" tIns="0" rIns="0" bIns="0" rtlCol="0" anchor="ctr"/>
          <a:lstStyle/>
          <a:p>
            <a:pPr indent="0" marL="0">
              <a:buNone/>
            </a:pPr>
            <a:r>
              <a:rPr lang="en-US" sz="1050" dirty="0">
                <a:solidFill>
                  <a:srgbClr val="14A3B8"/>
                </a:solidFill>
                <a:latin typeface="Calibri" pitchFamily="34" charset="0"/>
                <a:ea typeface="Calibri" pitchFamily="34" charset="-122"/>
                <a:cs typeface="Calibri" pitchFamily="34" charset="-120"/>
              </a:rPr>
              <a:t>Where this is heading — and what to do about it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731520" y="932688"/>
            <a:ext cx="1371600" cy="54864"/>
          </a:xfrm>
          <a:prstGeom prst="rect">
            <a:avLst/>
          </a:prstGeom>
          <a:solidFill>
            <a:srgbClr val="D4A843"/>
          </a:solidFill>
          <a:ln/>
        </p:spPr>
      </p:sp>
      <p:sp>
        <p:nvSpPr>
          <p:cNvPr id="3" name="Text 1"/>
          <p:cNvSpPr txBox="1"/>
          <p:nvPr/>
        </p:nvSpPr>
        <p:spPr>
          <a:xfrm>
            <a:off x="731520" y="1143000"/>
            <a:ext cx="7680960" cy="5029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AI is here now, and it is improving daily.</a:t>
            </a:r>
            <a:endParaRPr lang="en-US" sz="2600" dirty="0"/>
          </a:p>
        </p:txBody>
      </p:sp>
      <p:sp>
        <p:nvSpPr>
          <p:cNvPr id="4" name="Text 2"/>
          <p:cNvSpPr txBox="1"/>
          <p:nvPr/>
        </p:nvSpPr>
        <p:spPr>
          <a:xfrm>
            <a:off x="731520" y="1719072"/>
            <a:ext cx="7680960" cy="1051560"/>
          </a:xfrm>
          <a:prstGeom prst="rect">
            <a:avLst/>
          </a:prstGeom>
          <a:noFill/>
          <a:ln/>
        </p:spPr>
        <p:txBody>
          <a:bodyPr wrap="square" lIns="0" tIns="0" rIns="0" bIns="0" rtlCol="0" anchor="ctr"/>
          <a:lstStyle/>
          <a:p>
            <a:pPr indent="0" marL="0">
              <a:lnSpc>
                <a:spcPct val="115000"/>
              </a:lnSpc>
              <a:buNone/>
            </a:pPr>
            <a:r>
              <a:rPr lang="en-US" sz="2500" b="1" dirty="0">
                <a:solidFill>
                  <a:srgbClr val="D4A843"/>
                </a:solidFill>
                <a:latin typeface="Georgia" pitchFamily="34" charset="0"/>
                <a:ea typeface="Georgia" pitchFamily="34" charset="-122"/>
                <a:cs typeface="Georgia" pitchFamily="34" charset="-120"/>
              </a:rPr>
              <a:t>It is going to affect your operation</a:t>
            </a:r>
            <a:endParaRPr lang="en-US" sz="2500" dirty="0"/>
          </a:p>
          <a:p>
            <a:pPr indent="0" marL="0">
              <a:lnSpc>
                <a:spcPct val="115000"/>
              </a:lnSpc>
              <a:buNone/>
            </a:pPr>
            <a:r>
              <a:rPr lang="en-US" sz="2500" b="1" dirty="0">
                <a:solidFill>
                  <a:srgbClr val="D4A843"/>
                </a:solidFill>
                <a:latin typeface="Georgia" pitchFamily="34" charset="0"/>
                <a:ea typeface="Georgia" pitchFamily="34" charset="-122"/>
                <a:cs typeface="Georgia" pitchFamily="34" charset="-120"/>
              </a:rPr>
              <a:t>whether you like it or not.</a:t>
            </a:r>
            <a:endParaRPr lang="en-US" sz="2500" dirty="0"/>
          </a:p>
        </p:txBody>
      </p:sp>
      <p:sp>
        <p:nvSpPr>
          <p:cNvPr id="5" name="Text 3"/>
          <p:cNvSpPr txBox="1"/>
          <p:nvPr/>
        </p:nvSpPr>
        <p:spPr>
          <a:xfrm>
            <a:off x="731520" y="2816352"/>
            <a:ext cx="7680960" cy="365760"/>
          </a:xfrm>
          <a:prstGeom prst="rect">
            <a:avLst/>
          </a:prstGeom>
          <a:noFill/>
          <a:ln/>
        </p:spPr>
        <p:txBody>
          <a:bodyPr wrap="square" lIns="0" tIns="0" rIns="0" bIns="0" rtlCol="0" anchor="ctr"/>
          <a:lstStyle/>
          <a:p>
            <a:pPr indent="0" marL="0">
              <a:buNone/>
            </a:pPr>
            <a:r>
              <a:rPr lang="en-US" sz="1500" dirty="0">
                <a:solidFill>
                  <a:srgbClr val="14A3B8"/>
                </a:solidFill>
                <a:latin typeface="Calibri" pitchFamily="34" charset="0"/>
                <a:ea typeface="Calibri" pitchFamily="34" charset="-122"/>
                <a:cs typeface="Calibri" pitchFamily="34" charset="-120"/>
              </a:rPr>
              <a:t>The best course is to embrace it — or at the very least, stay ahead of the curve.</a:t>
            </a:r>
            <a:endParaRPr lang="en-US" sz="1500" dirty="0"/>
          </a:p>
        </p:txBody>
      </p:sp>
      <p:sp>
        <p:nvSpPr>
          <p:cNvPr id="6" name="Shape 4"/>
          <p:cNvSpPr/>
          <p:nvPr/>
        </p:nvSpPr>
        <p:spPr>
          <a:xfrm>
            <a:off x="731520" y="3364992"/>
            <a:ext cx="7680960" cy="10973"/>
          </a:xfrm>
          <a:prstGeom prst="rect">
            <a:avLst/>
          </a:prstGeom>
          <a:solidFill>
            <a:srgbClr val="2A3D60"/>
          </a:solidFill>
          <a:ln/>
        </p:spPr>
      </p:sp>
      <p:sp>
        <p:nvSpPr>
          <p:cNvPr id="7" name="Text 5"/>
          <p:cNvSpPr txBox="1"/>
          <p:nvPr/>
        </p:nvSpPr>
        <p:spPr>
          <a:xfrm>
            <a:off x="731520" y="3520440"/>
            <a:ext cx="7680960" cy="731520"/>
          </a:xfrm>
          <a:prstGeom prst="rect">
            <a:avLst/>
          </a:prstGeom>
          <a:noFill/>
          <a:ln/>
        </p:spPr>
        <p:txBody>
          <a:bodyPr wrap="square" lIns="0" tIns="0" rIns="0" bIns="0" rtlCol="0" anchor="ctr"/>
          <a:lstStyle/>
          <a:p>
            <a:pPr indent="0" marL="0">
              <a:lnSpc>
                <a:spcPct val="115000"/>
              </a:lnSpc>
              <a:buNone/>
            </a:pPr>
            <a:r>
              <a:rPr lang="en-US" sz="1500" b="1" dirty="0">
                <a:solidFill>
                  <a:srgbClr val="FFFFFF"/>
                </a:solidFill>
                <a:latin typeface="Georgia" pitchFamily="34" charset="0"/>
                <a:ea typeface="Georgia" pitchFamily="34" charset="-122"/>
                <a:cs typeface="Georgia" pitchFamily="34" charset="-120"/>
              </a:rPr>
              <a:t>Some of what it changes will be good for your people.</a:t>
            </a:r>
            <a:endParaRPr lang="en-US" sz="1500" dirty="0"/>
          </a:p>
          <a:p>
            <a:pPr indent="0" marL="0">
              <a:lnSpc>
                <a:spcPct val="115000"/>
              </a:lnSpc>
              <a:buNone/>
            </a:pPr>
            <a:r>
              <a:rPr lang="en-US" sz="1500" b="1" dirty="0">
                <a:solidFill>
                  <a:srgbClr val="FFFFFF"/>
                </a:solidFill>
                <a:latin typeface="Georgia" pitchFamily="34" charset="0"/>
                <a:ea typeface="Georgia" pitchFamily="34" charset="-122"/>
                <a:cs typeface="Georgia" pitchFamily="34" charset="-120"/>
              </a:rPr>
              <a:t>Some of it will not. I'll be straight with you about both.</a:t>
            </a:r>
            <a:endParaRPr lang="en-US" sz="1500" dirty="0"/>
          </a:p>
        </p:txBody>
      </p:sp>
      <p:sp>
        <p:nvSpPr>
          <p:cNvPr id="8" name="Text 6"/>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6B7FA0"/>
                </a:solidFill>
                <a:latin typeface="Calibri" pitchFamily="34" charset="0"/>
                <a:ea typeface="Calibri" pitchFamily="34" charset="-122"/>
                <a:cs typeface="Calibri" pitchFamily="34" charset="-120"/>
              </a:rPr>
              <a:t>Shiftwork Solutions LLC  |  (415) 265-1621  |  www.shift-work.com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We have been here before</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3931920" cy="21488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88720"/>
            <a:ext cx="3383280" cy="310896"/>
          </a:xfrm>
          <a:prstGeom prst="rect">
            <a:avLst/>
          </a:prstGeom>
          <a:noFill/>
          <a:ln/>
        </p:spPr>
        <p:txBody>
          <a:bodyPr wrap="square" lIns="0" tIns="0" rIns="0" bIns="0" rtlCol="0" anchor="ctr"/>
          <a:lstStyle/>
          <a:p>
            <a:pPr indent="0" marL="0">
              <a:buNone/>
            </a:pPr>
            <a:r>
              <a:rPr lang="en-US" sz="1400" b="1" dirty="0">
                <a:solidFill>
                  <a:srgbClr val="0D7C8F"/>
                </a:solidFill>
                <a:latin typeface="Calibri" pitchFamily="34" charset="0"/>
                <a:ea typeface="Calibri" pitchFamily="34" charset="-122"/>
                <a:cs typeface="Calibri" pitchFamily="34" charset="-120"/>
              </a:rPr>
              <a:t>WHAT THEY SAID ABOUT COMPUTERS</a:t>
            </a:r>
            <a:endParaRPr lang="en-US" sz="1400" dirty="0"/>
          </a:p>
        </p:txBody>
      </p:sp>
      <p:sp>
        <p:nvSpPr>
          <p:cNvPr id="7" name="Text 5"/>
          <p:cNvSpPr txBox="1"/>
          <p:nvPr/>
        </p:nvSpPr>
        <p:spPr>
          <a:xfrm>
            <a:off x="822960" y="1600200"/>
            <a:ext cx="3383280" cy="685800"/>
          </a:xfrm>
          <a:prstGeom prst="rect">
            <a:avLst/>
          </a:prstGeom>
          <a:noFill/>
          <a:ln/>
        </p:spPr>
        <p:txBody>
          <a:bodyPr wrap="square" lIns="0" tIns="0" rIns="0" bIns="0" rtlCol="0" anchor="ctr"/>
          <a:lstStyle/>
          <a:p>
            <a:pPr indent="0" marL="0">
              <a:buNone/>
            </a:pPr>
            <a:r>
              <a:rPr lang="en-US" sz="1500" i="1" dirty="0">
                <a:solidFill>
                  <a:srgbClr val="1B2A4A"/>
                </a:solidFill>
                <a:latin typeface="Georgia" pitchFamily="34" charset="0"/>
                <a:ea typeface="Georgia" pitchFamily="34" charset="-122"/>
                <a:cs typeface="Georgia" pitchFamily="34" charset="-120"/>
              </a:rPr>
              <a:t>“The computer does the work. So it replaces the people who were doing the work.”</a:t>
            </a:r>
            <a:endParaRPr lang="en-US" sz="1500" dirty="0"/>
          </a:p>
        </p:txBody>
      </p:sp>
      <p:sp>
        <p:nvSpPr>
          <p:cNvPr id="8" name="Text 6"/>
          <p:cNvSpPr txBox="1"/>
          <p:nvPr/>
        </p:nvSpPr>
        <p:spPr>
          <a:xfrm>
            <a:off x="822960" y="2377440"/>
            <a:ext cx="3383280" cy="6858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Everybody in this room heard some version of that, and a lot of you heard it about your own department.</a:t>
            </a:r>
            <a:endParaRPr lang="en-US" sz="1150" dirty="0"/>
          </a:p>
        </p:txBody>
      </p:sp>
      <p:sp>
        <p:nvSpPr>
          <p:cNvPr id="9" name="Shape 7"/>
          <p:cNvSpPr/>
          <p:nvPr/>
        </p:nvSpPr>
        <p:spPr>
          <a:xfrm>
            <a:off x="4663440" y="1051560"/>
            <a:ext cx="3931920" cy="214884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0" name="Text 8"/>
          <p:cNvSpPr txBox="1"/>
          <p:nvPr/>
        </p:nvSpPr>
        <p:spPr>
          <a:xfrm>
            <a:off x="4937760" y="1188720"/>
            <a:ext cx="3383280" cy="310896"/>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WHAT ACTUALLY HAPPENED</a:t>
            </a:r>
            <a:endParaRPr lang="en-US" sz="1400" dirty="0"/>
          </a:p>
        </p:txBody>
      </p:sp>
      <p:sp>
        <p:nvSpPr>
          <p:cNvPr id="11" name="Text 9"/>
          <p:cNvSpPr txBox="1"/>
          <p:nvPr/>
        </p:nvSpPr>
        <p:spPr>
          <a:xfrm>
            <a:off x="4937760" y="1600200"/>
            <a:ext cx="3383280" cy="50292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People found more and more ways to use them.</a:t>
            </a:r>
            <a:endParaRPr lang="en-US" sz="1500" dirty="0"/>
          </a:p>
        </p:txBody>
      </p:sp>
      <p:sp>
        <p:nvSpPr>
          <p:cNvPr id="12" name="Text 10"/>
          <p:cNvSpPr txBox="1"/>
          <p:nvPr/>
        </p:nvSpPr>
        <p:spPr>
          <a:xfrm>
            <a:off x="4937760" y="2148840"/>
            <a:ext cx="3383280" cy="9144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The work got faster. Then it got bigger, because now you could do more of it. The job changed. The person stayed — and did more than they could before.</a:t>
            </a:r>
            <a:endParaRPr lang="en-US" sz="1150" dirty="0"/>
          </a:p>
        </p:txBody>
      </p:sp>
      <p:sp>
        <p:nvSpPr>
          <p:cNvPr id="13" name="Shape 11"/>
          <p:cNvSpPr/>
          <p:nvPr/>
        </p:nvSpPr>
        <p:spPr>
          <a:xfrm>
            <a:off x="548640" y="3310128"/>
            <a:ext cx="8046720" cy="105156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4" name="Text 12"/>
          <p:cNvSpPr txBox="1"/>
          <p:nvPr/>
        </p:nvSpPr>
        <p:spPr>
          <a:xfrm>
            <a:off x="822960" y="3419856"/>
            <a:ext cx="7498080" cy="310896"/>
          </a:xfrm>
          <a:prstGeom prst="rect">
            <a:avLst/>
          </a:prstGeom>
          <a:noFill/>
          <a:ln/>
        </p:spPr>
        <p:txBody>
          <a:bodyPr wrap="square" lIns="0" tIns="0" rIns="0" bIns="0" rtlCol="0" anchor="ctr"/>
          <a:lstStyle/>
          <a:p>
            <a:pPr indent="0" marL="0">
              <a:buNone/>
            </a:pPr>
            <a:r>
              <a:rPr lang="en-US" sz="1350" b="1" dirty="0">
                <a:solidFill>
                  <a:srgbClr val="D4A843"/>
                </a:solidFill>
                <a:latin typeface="Calibri" pitchFamily="34" charset="0"/>
                <a:ea typeface="Calibri" pitchFamily="34" charset="-122"/>
                <a:cs typeface="Calibri" pitchFamily="34" charset="-120"/>
              </a:rPr>
              <a:t>But some jobs did go. The typing pool went. So did the filing clerk.</a:t>
            </a:r>
            <a:endParaRPr lang="en-US" sz="1350" dirty="0"/>
          </a:p>
        </p:txBody>
      </p:sp>
      <p:sp>
        <p:nvSpPr>
          <p:cNvPr id="15" name="Text 13"/>
          <p:cNvSpPr txBox="1"/>
          <p:nvPr/>
        </p:nvSpPr>
        <p:spPr>
          <a:xfrm>
            <a:off x="822960" y="3730752"/>
            <a:ext cx="7498080" cy="5943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And jobs nobody had a name for showed up — the scheduler, the analyst, the systems person. I'm not going to tell you nothing goes away this time. What I'll tell you is that for the people running the operation, the computer became the thing that let them run it. That's the part I think repeats.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731520" y="1874520"/>
            <a:ext cx="1097280" cy="54864"/>
          </a:xfrm>
          <a:prstGeom prst="rect">
            <a:avLst/>
          </a:prstGeom>
          <a:solidFill>
            <a:srgbClr val="D4A843"/>
          </a:solidFill>
          <a:ln/>
        </p:spPr>
      </p:sp>
      <p:sp>
        <p:nvSpPr>
          <p:cNvPr id="3" name="Text 1"/>
          <p:cNvSpPr txBox="1"/>
          <p:nvPr/>
        </p:nvSpPr>
        <p:spPr>
          <a:xfrm>
            <a:off x="731520" y="1417320"/>
            <a:ext cx="7680960" cy="365760"/>
          </a:xfrm>
          <a:prstGeom prst="rect">
            <a:avLst/>
          </a:prstGeom>
          <a:noFill/>
          <a:ln/>
        </p:spPr>
        <p:txBody>
          <a:bodyPr wrap="square" lIns="0" tIns="0" rIns="0" bIns="0" rtlCol="0" anchor="ctr"/>
          <a:lstStyle/>
          <a:p>
            <a:pPr indent="0" marL="0">
              <a:buNone/>
            </a:pPr>
            <a:r>
              <a:rPr lang="en-US" sz="1300" b="1" spc="200" kern="0" dirty="0">
                <a:solidFill>
                  <a:srgbClr val="D4A843"/>
                </a:solidFill>
                <a:latin typeface="Calibri" pitchFamily="34" charset="0"/>
                <a:ea typeface="Calibri" pitchFamily="34" charset="-122"/>
                <a:cs typeface="Calibri" pitchFamily="34" charset="-120"/>
              </a:rPr>
              <a:t>PART ONE</a:t>
            </a:r>
            <a:endParaRPr lang="en-US" sz="1300" dirty="0"/>
          </a:p>
        </p:txBody>
      </p:sp>
      <p:sp>
        <p:nvSpPr>
          <p:cNvPr id="4" name="Text 2"/>
          <p:cNvSpPr txBox="1"/>
          <p:nvPr/>
        </p:nvSpPr>
        <p:spPr>
          <a:xfrm>
            <a:off x="731520" y="2084832"/>
            <a:ext cx="7680960" cy="91440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AI 101</a:t>
            </a:r>
            <a:endParaRPr lang="en-US" sz="3400" dirty="0"/>
          </a:p>
        </p:txBody>
      </p:sp>
      <p:sp>
        <p:nvSpPr>
          <p:cNvPr id="5" name="Text 3"/>
          <p:cNvSpPr txBox="1"/>
          <p:nvPr/>
        </p:nvSpPr>
        <p:spPr>
          <a:xfrm>
            <a:off x="731520" y="3017520"/>
            <a:ext cx="7680960" cy="548640"/>
          </a:xfrm>
          <a:prstGeom prst="rect">
            <a:avLst/>
          </a:prstGeom>
          <a:noFill/>
          <a:ln/>
        </p:spPr>
        <p:txBody>
          <a:bodyPr wrap="square" lIns="0" tIns="0" rIns="0" bIns="0" rtlCol="0" anchor="ctr"/>
          <a:lstStyle/>
          <a:p>
            <a:pPr indent="0" marL="0">
              <a:buNone/>
            </a:pPr>
            <a:r>
              <a:rPr lang="en-US" sz="1500" dirty="0">
                <a:solidFill>
                  <a:srgbClr val="14A3B8"/>
                </a:solidFill>
                <a:latin typeface="Calibri" pitchFamily="34" charset="0"/>
                <a:ea typeface="Calibri" pitchFamily="34" charset="-122"/>
                <a:cs typeface="Calibri" pitchFamily="34" charset="-120"/>
              </a:rPr>
              <a:t>What this stuff actually is — and what it isn't</a:t>
            </a:r>
            <a:endParaRPr lang="en-US" sz="1500" dirty="0"/>
          </a:p>
        </p:txBody>
      </p:sp>
      <p:sp>
        <p:nvSpPr>
          <p:cNvPr id="6" name="Text 4"/>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6B7FA0"/>
                </a:solidFill>
                <a:latin typeface="Calibri" pitchFamily="34" charset="0"/>
                <a:ea typeface="Calibri" pitchFamily="34" charset="-122"/>
                <a:cs typeface="Calibri" pitchFamily="34" charset="-120"/>
              </a:rPr>
              <a:t>Shiftwork Solutions LLC  |  (415) 265-1621  |  www.shift-work.com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Four dates. That's the whole history.</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188720"/>
            <a:ext cx="8046720" cy="65836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Shape 4"/>
          <p:cNvSpPr/>
          <p:nvPr/>
        </p:nvSpPr>
        <p:spPr>
          <a:xfrm>
            <a:off x="731520" y="1335024"/>
            <a:ext cx="64008" cy="365760"/>
          </a:xfrm>
          <a:prstGeom prst="rect">
            <a:avLst/>
          </a:prstGeom>
          <a:solidFill>
            <a:srgbClr val="0D7C8F"/>
          </a:solidFill>
          <a:ln/>
        </p:spPr>
      </p:sp>
      <p:sp>
        <p:nvSpPr>
          <p:cNvPr id="7" name="Text 5"/>
          <p:cNvSpPr txBox="1"/>
          <p:nvPr/>
        </p:nvSpPr>
        <p:spPr>
          <a:xfrm>
            <a:off x="960120" y="1188720"/>
            <a:ext cx="1051560" cy="658368"/>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Nov 2022</a:t>
            </a:r>
            <a:endParaRPr lang="en-US" sz="1500" dirty="0"/>
          </a:p>
        </p:txBody>
      </p:sp>
      <p:sp>
        <p:nvSpPr>
          <p:cNvPr id="8" name="Text 6"/>
          <p:cNvSpPr txBox="1"/>
          <p:nvPr/>
        </p:nvSpPr>
        <p:spPr>
          <a:xfrm>
            <a:off x="2103120" y="1188720"/>
            <a:ext cx="3200400" cy="658368"/>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ChatGPT released</a:t>
            </a:r>
            <a:endParaRPr lang="en-US" sz="1250" dirty="0"/>
          </a:p>
        </p:txBody>
      </p:sp>
      <p:sp>
        <p:nvSpPr>
          <p:cNvPr id="9" name="Text 7"/>
          <p:cNvSpPr txBox="1"/>
          <p:nvPr/>
        </p:nvSpPr>
        <p:spPr>
          <a:xfrm>
            <a:off x="5394960" y="1188720"/>
            <a:ext cx="3063240" cy="658368"/>
          </a:xfrm>
          <a:prstGeom prst="rect">
            <a:avLst/>
          </a:prstGeom>
          <a:noFill/>
          <a:ln/>
        </p:spPr>
        <p:txBody>
          <a:bodyPr wrap="square" lIns="0" tIns="0" rIns="0" bIns="0" rtlCol="0" anchor="ctr"/>
          <a:lstStyle/>
          <a:p>
            <a:pPr indent="0" marL="0">
              <a:buNone/>
            </a:pPr>
            <a:r>
              <a:rPr lang="en-US" sz="1100" dirty="0">
                <a:solidFill>
                  <a:srgbClr val="8896A7"/>
                </a:solidFill>
                <a:latin typeface="Calibri" pitchFamily="34" charset="0"/>
                <a:ea typeface="Calibri" pitchFamily="34" charset="-122"/>
                <a:cs typeface="Calibri" pitchFamily="34" charset="-120"/>
              </a:rPr>
              <a:t>Fastest consumer adoption of anything, ever.</a:t>
            </a:r>
            <a:endParaRPr lang="en-US" sz="1100" dirty="0"/>
          </a:p>
        </p:txBody>
      </p:sp>
      <p:sp>
        <p:nvSpPr>
          <p:cNvPr id="10" name="Shape 8"/>
          <p:cNvSpPr/>
          <p:nvPr/>
        </p:nvSpPr>
        <p:spPr>
          <a:xfrm>
            <a:off x="548640" y="1984248"/>
            <a:ext cx="8046720" cy="65836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1" name="Shape 9"/>
          <p:cNvSpPr/>
          <p:nvPr/>
        </p:nvSpPr>
        <p:spPr>
          <a:xfrm>
            <a:off x="731520" y="2130552"/>
            <a:ext cx="64008" cy="365760"/>
          </a:xfrm>
          <a:prstGeom prst="rect">
            <a:avLst/>
          </a:prstGeom>
          <a:solidFill>
            <a:srgbClr val="3B82F6"/>
          </a:solidFill>
          <a:ln/>
        </p:spPr>
      </p:sp>
      <p:sp>
        <p:nvSpPr>
          <p:cNvPr id="12" name="Text 10"/>
          <p:cNvSpPr txBox="1"/>
          <p:nvPr/>
        </p:nvSpPr>
        <p:spPr>
          <a:xfrm>
            <a:off x="960120" y="1984248"/>
            <a:ext cx="1051560" cy="658368"/>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2023–24</a:t>
            </a:r>
            <a:endParaRPr lang="en-US" sz="1500" dirty="0"/>
          </a:p>
        </p:txBody>
      </p:sp>
      <p:sp>
        <p:nvSpPr>
          <p:cNvPr id="13" name="Text 11"/>
          <p:cNvSpPr txBox="1"/>
          <p:nvPr/>
        </p:nvSpPr>
        <p:spPr>
          <a:xfrm>
            <a:off x="2103120" y="1984248"/>
            <a:ext cx="3200400" cy="658368"/>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Multimodal — reads images, hears speech</a:t>
            </a:r>
            <a:endParaRPr lang="en-US" sz="1250" dirty="0"/>
          </a:p>
        </p:txBody>
      </p:sp>
      <p:sp>
        <p:nvSpPr>
          <p:cNvPr id="14" name="Text 12"/>
          <p:cNvSpPr txBox="1"/>
          <p:nvPr/>
        </p:nvSpPr>
        <p:spPr>
          <a:xfrm>
            <a:off x="5394960" y="1984248"/>
            <a:ext cx="3063240" cy="658368"/>
          </a:xfrm>
          <a:prstGeom prst="rect">
            <a:avLst/>
          </a:prstGeom>
          <a:noFill/>
          <a:ln/>
        </p:spPr>
        <p:txBody>
          <a:bodyPr wrap="square" lIns="0" tIns="0" rIns="0" bIns="0" rtlCol="0" anchor="ctr"/>
          <a:lstStyle/>
          <a:p>
            <a:pPr indent="0" marL="0">
              <a:buNone/>
            </a:pPr>
            <a:r>
              <a:rPr lang="en-US" sz="1100" dirty="0">
                <a:solidFill>
                  <a:srgbClr val="8896A7"/>
                </a:solidFill>
                <a:latin typeface="Calibri" pitchFamily="34" charset="0"/>
                <a:ea typeface="Calibri" pitchFamily="34" charset="-122"/>
                <a:cs typeface="Calibri" pitchFamily="34" charset="-120"/>
              </a:rPr>
              <a:t>You can show it a photo of a failed bearing now.</a:t>
            </a:r>
            <a:endParaRPr lang="en-US" sz="1100" dirty="0"/>
          </a:p>
        </p:txBody>
      </p:sp>
      <p:sp>
        <p:nvSpPr>
          <p:cNvPr id="15" name="Shape 13"/>
          <p:cNvSpPr/>
          <p:nvPr/>
        </p:nvSpPr>
        <p:spPr>
          <a:xfrm>
            <a:off x="548640" y="2779776"/>
            <a:ext cx="8046720" cy="65836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6" name="Shape 14"/>
          <p:cNvSpPr/>
          <p:nvPr/>
        </p:nvSpPr>
        <p:spPr>
          <a:xfrm>
            <a:off x="731520" y="2926080"/>
            <a:ext cx="64008" cy="365760"/>
          </a:xfrm>
          <a:prstGeom prst="rect">
            <a:avLst/>
          </a:prstGeom>
          <a:solidFill>
            <a:srgbClr val="F59E0B"/>
          </a:solidFill>
          <a:ln/>
        </p:spPr>
      </p:sp>
      <p:sp>
        <p:nvSpPr>
          <p:cNvPr id="17" name="Text 15"/>
          <p:cNvSpPr txBox="1"/>
          <p:nvPr/>
        </p:nvSpPr>
        <p:spPr>
          <a:xfrm>
            <a:off x="960120" y="2779776"/>
            <a:ext cx="1051560" cy="658368"/>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2025</a:t>
            </a:r>
            <a:endParaRPr lang="en-US" sz="1500" dirty="0"/>
          </a:p>
        </p:txBody>
      </p:sp>
      <p:sp>
        <p:nvSpPr>
          <p:cNvPr id="18" name="Text 16"/>
          <p:cNvSpPr txBox="1"/>
          <p:nvPr/>
        </p:nvSpPr>
        <p:spPr>
          <a:xfrm>
            <a:off x="2103120" y="2779776"/>
            <a:ext cx="3200400" cy="658368"/>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Reasoning models — thinks before it answers</a:t>
            </a:r>
            <a:endParaRPr lang="en-US" sz="1250" dirty="0"/>
          </a:p>
        </p:txBody>
      </p:sp>
      <p:sp>
        <p:nvSpPr>
          <p:cNvPr id="19" name="Text 17"/>
          <p:cNvSpPr txBox="1"/>
          <p:nvPr/>
        </p:nvSpPr>
        <p:spPr>
          <a:xfrm>
            <a:off x="5394960" y="2779776"/>
            <a:ext cx="3063240" cy="658368"/>
          </a:xfrm>
          <a:prstGeom prst="rect">
            <a:avLst/>
          </a:prstGeom>
          <a:noFill/>
          <a:ln/>
        </p:spPr>
        <p:txBody>
          <a:bodyPr wrap="square" lIns="0" tIns="0" rIns="0" bIns="0" rtlCol="0" anchor="ctr"/>
          <a:lstStyle/>
          <a:p>
            <a:pPr indent="0" marL="0">
              <a:buNone/>
            </a:pPr>
            <a:r>
              <a:rPr lang="en-US" sz="1100" dirty="0">
                <a:solidFill>
                  <a:srgbClr val="8896A7"/>
                </a:solidFill>
                <a:latin typeface="Calibri" pitchFamily="34" charset="0"/>
                <a:ea typeface="Calibri" pitchFamily="34" charset="-122"/>
                <a:cs typeface="Calibri" pitchFamily="34" charset="-120"/>
              </a:rPr>
              <a:t>Party trick becomes something you'd trust with a real problem.</a:t>
            </a:r>
            <a:endParaRPr lang="en-US" sz="1100" dirty="0"/>
          </a:p>
        </p:txBody>
      </p:sp>
      <p:sp>
        <p:nvSpPr>
          <p:cNvPr id="20" name="Shape 18"/>
          <p:cNvSpPr/>
          <p:nvPr/>
        </p:nvSpPr>
        <p:spPr>
          <a:xfrm>
            <a:off x="548640" y="3575304"/>
            <a:ext cx="8046720" cy="65836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21" name="Shape 19"/>
          <p:cNvSpPr/>
          <p:nvPr/>
        </p:nvSpPr>
        <p:spPr>
          <a:xfrm>
            <a:off x="731520" y="3721608"/>
            <a:ext cx="64008" cy="365760"/>
          </a:xfrm>
          <a:prstGeom prst="rect">
            <a:avLst/>
          </a:prstGeom>
          <a:solidFill>
            <a:srgbClr val="D4A843"/>
          </a:solidFill>
          <a:ln/>
        </p:spPr>
      </p:sp>
      <p:sp>
        <p:nvSpPr>
          <p:cNvPr id="22" name="Text 20"/>
          <p:cNvSpPr txBox="1"/>
          <p:nvPr/>
        </p:nvSpPr>
        <p:spPr>
          <a:xfrm>
            <a:off x="960120" y="3575304"/>
            <a:ext cx="1051560" cy="658368"/>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2026</a:t>
            </a:r>
            <a:endParaRPr lang="en-US" sz="1500" dirty="0"/>
          </a:p>
        </p:txBody>
      </p:sp>
      <p:sp>
        <p:nvSpPr>
          <p:cNvPr id="23" name="Text 21"/>
          <p:cNvSpPr txBox="1"/>
          <p:nvPr/>
        </p:nvSpPr>
        <p:spPr>
          <a:xfrm>
            <a:off x="2103120" y="3575304"/>
            <a:ext cx="3200400" cy="658368"/>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Agents — AI that DOES, not just says. And the first real regulation.</a:t>
            </a:r>
            <a:endParaRPr lang="en-US" sz="1250" dirty="0"/>
          </a:p>
        </p:txBody>
      </p:sp>
      <p:sp>
        <p:nvSpPr>
          <p:cNvPr id="24" name="Text 22"/>
          <p:cNvSpPr txBox="1"/>
          <p:nvPr/>
        </p:nvSpPr>
        <p:spPr>
          <a:xfrm>
            <a:off x="5394960" y="3575304"/>
            <a:ext cx="3063240" cy="658368"/>
          </a:xfrm>
          <a:prstGeom prst="rect">
            <a:avLst/>
          </a:prstGeom>
          <a:noFill/>
          <a:ln/>
        </p:spPr>
        <p:txBody>
          <a:bodyPr wrap="square" lIns="0" tIns="0" rIns="0" bIns="0" rtlCol="0" anchor="ctr"/>
          <a:lstStyle/>
          <a:p>
            <a:pPr indent="0" marL="0">
              <a:buNone/>
            </a:pPr>
            <a:r>
              <a:rPr lang="en-US" sz="1100" dirty="0">
                <a:solidFill>
                  <a:srgbClr val="8896A7"/>
                </a:solidFill>
                <a:latin typeface="Calibri" pitchFamily="34" charset="0"/>
                <a:ea typeface="Calibri" pitchFamily="34" charset="-122"/>
                <a:cs typeface="Calibri" pitchFamily="34" charset="-120"/>
              </a:rPr>
              <a:t>The year it stops being a chatbot and starts being a compliance question.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What is a large language model?</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78992"/>
            <a:ext cx="1856232" cy="60350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731520" y="1133856"/>
            <a:ext cx="1554480" cy="27432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ChatGPT</a:t>
            </a:r>
            <a:endParaRPr lang="en-US" sz="1400" dirty="0"/>
          </a:p>
        </p:txBody>
      </p:sp>
      <p:sp>
        <p:nvSpPr>
          <p:cNvPr id="7" name="Text 5"/>
          <p:cNvSpPr txBox="1"/>
          <p:nvPr/>
        </p:nvSpPr>
        <p:spPr>
          <a:xfrm>
            <a:off x="731520" y="1399032"/>
            <a:ext cx="1554480" cy="219456"/>
          </a:xfrm>
          <a:prstGeom prst="rect">
            <a:avLst/>
          </a:prstGeom>
          <a:noFill/>
          <a:ln/>
        </p:spPr>
        <p:txBody>
          <a:bodyPr wrap="square" lIns="0" tIns="0" rIns="0" bIns="0" rtlCol="0" anchor="ctr"/>
          <a:lstStyle/>
          <a:p>
            <a:pPr indent="0" marL="0">
              <a:buNone/>
            </a:pPr>
            <a:r>
              <a:rPr lang="en-US" sz="1050" dirty="0">
                <a:solidFill>
                  <a:srgbClr val="0D7C8F"/>
                </a:solidFill>
                <a:latin typeface="Calibri" pitchFamily="34" charset="0"/>
                <a:ea typeface="Calibri" pitchFamily="34" charset="-122"/>
                <a:cs typeface="Calibri" pitchFamily="34" charset="-120"/>
              </a:rPr>
              <a:t>OpenAI</a:t>
            </a:r>
            <a:endParaRPr lang="en-US" sz="1050" dirty="0"/>
          </a:p>
        </p:txBody>
      </p:sp>
      <p:sp>
        <p:nvSpPr>
          <p:cNvPr id="8" name="Shape 6"/>
          <p:cNvSpPr/>
          <p:nvPr/>
        </p:nvSpPr>
        <p:spPr>
          <a:xfrm>
            <a:off x="2587752" y="1078992"/>
            <a:ext cx="1856232" cy="60350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9" name="Text 7"/>
          <p:cNvSpPr txBox="1"/>
          <p:nvPr/>
        </p:nvSpPr>
        <p:spPr>
          <a:xfrm>
            <a:off x="2770632" y="1133856"/>
            <a:ext cx="1554480" cy="27432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Claude</a:t>
            </a:r>
            <a:endParaRPr lang="en-US" sz="1400" dirty="0"/>
          </a:p>
        </p:txBody>
      </p:sp>
      <p:sp>
        <p:nvSpPr>
          <p:cNvPr id="10" name="Text 8"/>
          <p:cNvSpPr txBox="1"/>
          <p:nvPr/>
        </p:nvSpPr>
        <p:spPr>
          <a:xfrm>
            <a:off x="2770632" y="1399032"/>
            <a:ext cx="1554480" cy="219456"/>
          </a:xfrm>
          <a:prstGeom prst="rect">
            <a:avLst/>
          </a:prstGeom>
          <a:noFill/>
          <a:ln/>
        </p:spPr>
        <p:txBody>
          <a:bodyPr wrap="square" lIns="0" tIns="0" rIns="0" bIns="0" rtlCol="0" anchor="ctr"/>
          <a:lstStyle/>
          <a:p>
            <a:pPr indent="0" marL="0">
              <a:buNone/>
            </a:pPr>
            <a:r>
              <a:rPr lang="en-US" sz="1050" dirty="0">
                <a:solidFill>
                  <a:srgbClr val="0D7C8F"/>
                </a:solidFill>
                <a:latin typeface="Calibri" pitchFamily="34" charset="0"/>
                <a:ea typeface="Calibri" pitchFamily="34" charset="-122"/>
                <a:cs typeface="Calibri" pitchFamily="34" charset="-120"/>
              </a:rPr>
              <a:t>Anthropic</a:t>
            </a:r>
            <a:endParaRPr lang="en-US" sz="1050" dirty="0"/>
          </a:p>
        </p:txBody>
      </p:sp>
      <p:sp>
        <p:nvSpPr>
          <p:cNvPr id="11" name="Shape 9"/>
          <p:cNvSpPr/>
          <p:nvPr/>
        </p:nvSpPr>
        <p:spPr>
          <a:xfrm>
            <a:off x="4626864" y="1078992"/>
            <a:ext cx="1856232" cy="60350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2" name="Text 10"/>
          <p:cNvSpPr txBox="1"/>
          <p:nvPr/>
        </p:nvSpPr>
        <p:spPr>
          <a:xfrm>
            <a:off x="4809744" y="1133856"/>
            <a:ext cx="1554480" cy="27432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Gemini</a:t>
            </a:r>
            <a:endParaRPr lang="en-US" sz="1400" dirty="0"/>
          </a:p>
        </p:txBody>
      </p:sp>
      <p:sp>
        <p:nvSpPr>
          <p:cNvPr id="13" name="Text 11"/>
          <p:cNvSpPr txBox="1"/>
          <p:nvPr/>
        </p:nvSpPr>
        <p:spPr>
          <a:xfrm>
            <a:off x="4809744" y="1399032"/>
            <a:ext cx="1554480" cy="219456"/>
          </a:xfrm>
          <a:prstGeom prst="rect">
            <a:avLst/>
          </a:prstGeom>
          <a:noFill/>
          <a:ln/>
        </p:spPr>
        <p:txBody>
          <a:bodyPr wrap="square" lIns="0" tIns="0" rIns="0" bIns="0" rtlCol="0" anchor="ctr"/>
          <a:lstStyle/>
          <a:p>
            <a:pPr indent="0" marL="0">
              <a:buNone/>
            </a:pPr>
            <a:r>
              <a:rPr lang="en-US" sz="1050" dirty="0">
                <a:solidFill>
                  <a:srgbClr val="0D7C8F"/>
                </a:solidFill>
                <a:latin typeface="Calibri" pitchFamily="34" charset="0"/>
                <a:ea typeface="Calibri" pitchFamily="34" charset="-122"/>
                <a:cs typeface="Calibri" pitchFamily="34" charset="-120"/>
              </a:rPr>
              <a:t>Google</a:t>
            </a:r>
            <a:endParaRPr lang="en-US" sz="1050" dirty="0"/>
          </a:p>
        </p:txBody>
      </p:sp>
      <p:sp>
        <p:nvSpPr>
          <p:cNvPr id="14" name="Shape 12"/>
          <p:cNvSpPr/>
          <p:nvPr/>
        </p:nvSpPr>
        <p:spPr>
          <a:xfrm>
            <a:off x="6665976" y="1078992"/>
            <a:ext cx="1856232" cy="60350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5" name="Text 13"/>
          <p:cNvSpPr txBox="1"/>
          <p:nvPr/>
        </p:nvSpPr>
        <p:spPr>
          <a:xfrm>
            <a:off x="6848856" y="1133856"/>
            <a:ext cx="1554480" cy="27432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Copilot</a:t>
            </a:r>
            <a:endParaRPr lang="en-US" sz="1400" dirty="0"/>
          </a:p>
        </p:txBody>
      </p:sp>
      <p:sp>
        <p:nvSpPr>
          <p:cNvPr id="16" name="Text 14"/>
          <p:cNvSpPr txBox="1"/>
          <p:nvPr/>
        </p:nvSpPr>
        <p:spPr>
          <a:xfrm>
            <a:off x="6848856" y="1399032"/>
            <a:ext cx="1554480" cy="219456"/>
          </a:xfrm>
          <a:prstGeom prst="rect">
            <a:avLst/>
          </a:prstGeom>
          <a:noFill/>
          <a:ln/>
        </p:spPr>
        <p:txBody>
          <a:bodyPr wrap="square" lIns="0" tIns="0" rIns="0" bIns="0" rtlCol="0" anchor="ctr"/>
          <a:lstStyle/>
          <a:p>
            <a:pPr indent="0" marL="0">
              <a:buNone/>
            </a:pPr>
            <a:r>
              <a:rPr lang="en-US" sz="1050" dirty="0">
                <a:solidFill>
                  <a:srgbClr val="0D7C8F"/>
                </a:solidFill>
                <a:latin typeface="Calibri" pitchFamily="34" charset="0"/>
                <a:ea typeface="Calibri" pitchFamily="34" charset="-122"/>
                <a:cs typeface="Calibri" pitchFamily="34" charset="-120"/>
              </a:rPr>
              <a:t>Microsoft</a:t>
            </a:r>
            <a:endParaRPr lang="en-US" sz="1050" dirty="0"/>
          </a:p>
        </p:txBody>
      </p:sp>
      <p:sp>
        <p:nvSpPr>
          <p:cNvPr id="17" name="Shape 15"/>
          <p:cNvSpPr/>
          <p:nvPr/>
        </p:nvSpPr>
        <p:spPr>
          <a:xfrm>
            <a:off x="548640" y="1792224"/>
            <a:ext cx="1856232" cy="60350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8" name="Text 16"/>
          <p:cNvSpPr txBox="1"/>
          <p:nvPr/>
        </p:nvSpPr>
        <p:spPr>
          <a:xfrm>
            <a:off x="731520" y="1847088"/>
            <a:ext cx="1554480" cy="27432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Llama</a:t>
            </a:r>
            <a:endParaRPr lang="en-US" sz="1400" dirty="0"/>
          </a:p>
        </p:txBody>
      </p:sp>
      <p:sp>
        <p:nvSpPr>
          <p:cNvPr id="19" name="Text 17"/>
          <p:cNvSpPr txBox="1"/>
          <p:nvPr/>
        </p:nvSpPr>
        <p:spPr>
          <a:xfrm>
            <a:off x="731520" y="2112264"/>
            <a:ext cx="1554480" cy="219456"/>
          </a:xfrm>
          <a:prstGeom prst="rect">
            <a:avLst/>
          </a:prstGeom>
          <a:noFill/>
          <a:ln/>
        </p:spPr>
        <p:txBody>
          <a:bodyPr wrap="square" lIns="0" tIns="0" rIns="0" bIns="0" rtlCol="0" anchor="ctr"/>
          <a:lstStyle/>
          <a:p>
            <a:pPr indent="0" marL="0">
              <a:buNone/>
            </a:pPr>
            <a:r>
              <a:rPr lang="en-US" sz="1050" dirty="0">
                <a:solidFill>
                  <a:srgbClr val="0D7C8F"/>
                </a:solidFill>
                <a:latin typeface="Calibri" pitchFamily="34" charset="0"/>
                <a:ea typeface="Calibri" pitchFamily="34" charset="-122"/>
                <a:cs typeface="Calibri" pitchFamily="34" charset="-120"/>
              </a:rPr>
              <a:t>Meta</a:t>
            </a:r>
            <a:endParaRPr lang="en-US" sz="1050" dirty="0"/>
          </a:p>
        </p:txBody>
      </p:sp>
      <p:sp>
        <p:nvSpPr>
          <p:cNvPr id="20" name="Shape 18"/>
          <p:cNvSpPr/>
          <p:nvPr/>
        </p:nvSpPr>
        <p:spPr>
          <a:xfrm>
            <a:off x="2587752" y="1792224"/>
            <a:ext cx="1856232" cy="60350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21" name="Text 19"/>
          <p:cNvSpPr txBox="1"/>
          <p:nvPr/>
        </p:nvSpPr>
        <p:spPr>
          <a:xfrm>
            <a:off x="2770632" y="1847088"/>
            <a:ext cx="1554480" cy="27432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Mistral</a:t>
            </a:r>
            <a:endParaRPr lang="en-US" sz="1400" dirty="0"/>
          </a:p>
        </p:txBody>
      </p:sp>
      <p:sp>
        <p:nvSpPr>
          <p:cNvPr id="22" name="Text 20"/>
          <p:cNvSpPr txBox="1"/>
          <p:nvPr/>
        </p:nvSpPr>
        <p:spPr>
          <a:xfrm>
            <a:off x="2770632" y="2112264"/>
            <a:ext cx="1554480" cy="219456"/>
          </a:xfrm>
          <a:prstGeom prst="rect">
            <a:avLst/>
          </a:prstGeom>
          <a:noFill/>
          <a:ln/>
        </p:spPr>
        <p:txBody>
          <a:bodyPr wrap="square" lIns="0" tIns="0" rIns="0" bIns="0" rtlCol="0" anchor="ctr"/>
          <a:lstStyle/>
          <a:p>
            <a:pPr indent="0" marL="0">
              <a:buNone/>
            </a:pPr>
            <a:r>
              <a:rPr lang="en-US" sz="1050" dirty="0">
                <a:solidFill>
                  <a:srgbClr val="0D7C8F"/>
                </a:solidFill>
                <a:latin typeface="Calibri" pitchFamily="34" charset="0"/>
                <a:ea typeface="Calibri" pitchFamily="34" charset="-122"/>
                <a:cs typeface="Calibri" pitchFamily="34" charset="-120"/>
              </a:rPr>
              <a:t>Mistral AI</a:t>
            </a:r>
            <a:endParaRPr lang="en-US" sz="1050" dirty="0"/>
          </a:p>
        </p:txBody>
      </p:sp>
      <p:sp>
        <p:nvSpPr>
          <p:cNvPr id="23" name="Shape 21"/>
          <p:cNvSpPr/>
          <p:nvPr/>
        </p:nvSpPr>
        <p:spPr>
          <a:xfrm>
            <a:off x="4626864" y="1792224"/>
            <a:ext cx="1856232" cy="60350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24" name="Text 22"/>
          <p:cNvSpPr txBox="1"/>
          <p:nvPr/>
        </p:nvSpPr>
        <p:spPr>
          <a:xfrm>
            <a:off x="4809744" y="1847088"/>
            <a:ext cx="1554480" cy="27432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DeepSeek</a:t>
            </a:r>
            <a:endParaRPr lang="en-US" sz="1400" dirty="0"/>
          </a:p>
        </p:txBody>
      </p:sp>
      <p:sp>
        <p:nvSpPr>
          <p:cNvPr id="25" name="Text 23"/>
          <p:cNvSpPr txBox="1"/>
          <p:nvPr/>
        </p:nvSpPr>
        <p:spPr>
          <a:xfrm>
            <a:off x="4809744" y="2112264"/>
            <a:ext cx="1554480" cy="219456"/>
          </a:xfrm>
          <a:prstGeom prst="rect">
            <a:avLst/>
          </a:prstGeom>
          <a:noFill/>
          <a:ln/>
        </p:spPr>
        <p:txBody>
          <a:bodyPr wrap="square" lIns="0" tIns="0" rIns="0" bIns="0" rtlCol="0" anchor="ctr"/>
          <a:lstStyle/>
          <a:p>
            <a:pPr indent="0" marL="0">
              <a:buNone/>
            </a:pPr>
            <a:r>
              <a:rPr lang="en-US" sz="1050" dirty="0">
                <a:solidFill>
                  <a:srgbClr val="0D7C8F"/>
                </a:solidFill>
                <a:latin typeface="Calibri" pitchFamily="34" charset="0"/>
                <a:ea typeface="Calibri" pitchFamily="34" charset="-122"/>
                <a:cs typeface="Calibri" pitchFamily="34" charset="-120"/>
              </a:rPr>
              <a:t>DeepSeek</a:t>
            </a:r>
            <a:endParaRPr lang="en-US" sz="1050" dirty="0"/>
          </a:p>
        </p:txBody>
      </p:sp>
      <p:sp>
        <p:nvSpPr>
          <p:cNvPr id="26" name="Shape 24"/>
          <p:cNvSpPr/>
          <p:nvPr/>
        </p:nvSpPr>
        <p:spPr>
          <a:xfrm>
            <a:off x="6665976" y="1792224"/>
            <a:ext cx="1856232" cy="60350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27" name="Text 25"/>
          <p:cNvSpPr txBox="1"/>
          <p:nvPr/>
        </p:nvSpPr>
        <p:spPr>
          <a:xfrm>
            <a:off x="6848856" y="1847088"/>
            <a:ext cx="1554480" cy="27432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Grok</a:t>
            </a:r>
            <a:endParaRPr lang="en-US" sz="1400" dirty="0"/>
          </a:p>
        </p:txBody>
      </p:sp>
      <p:sp>
        <p:nvSpPr>
          <p:cNvPr id="28" name="Text 26"/>
          <p:cNvSpPr txBox="1"/>
          <p:nvPr/>
        </p:nvSpPr>
        <p:spPr>
          <a:xfrm>
            <a:off x="6848856" y="2112264"/>
            <a:ext cx="1554480" cy="219456"/>
          </a:xfrm>
          <a:prstGeom prst="rect">
            <a:avLst/>
          </a:prstGeom>
          <a:noFill/>
          <a:ln/>
        </p:spPr>
        <p:txBody>
          <a:bodyPr wrap="square" lIns="0" tIns="0" rIns="0" bIns="0" rtlCol="0" anchor="ctr"/>
          <a:lstStyle/>
          <a:p>
            <a:pPr indent="0" marL="0">
              <a:buNone/>
            </a:pPr>
            <a:r>
              <a:rPr lang="en-US" sz="1050" dirty="0">
                <a:solidFill>
                  <a:srgbClr val="0D7C8F"/>
                </a:solidFill>
                <a:latin typeface="Calibri" pitchFamily="34" charset="0"/>
                <a:ea typeface="Calibri" pitchFamily="34" charset="-122"/>
                <a:cs typeface="Calibri" pitchFamily="34" charset="-120"/>
              </a:rPr>
              <a:t>xAI</a:t>
            </a:r>
            <a:endParaRPr lang="en-US" sz="1050" dirty="0"/>
          </a:p>
        </p:txBody>
      </p:sp>
      <p:sp>
        <p:nvSpPr>
          <p:cNvPr id="29" name="Shape 27"/>
          <p:cNvSpPr/>
          <p:nvPr/>
        </p:nvSpPr>
        <p:spPr>
          <a:xfrm>
            <a:off x="548640" y="2606040"/>
            <a:ext cx="8046720" cy="100584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30" name="Text 28"/>
          <p:cNvSpPr txBox="1"/>
          <p:nvPr/>
        </p:nvSpPr>
        <p:spPr>
          <a:xfrm>
            <a:off x="822960" y="2706624"/>
            <a:ext cx="7498080" cy="310896"/>
          </a:xfrm>
          <a:prstGeom prst="rect">
            <a:avLst/>
          </a:prstGeom>
          <a:noFill/>
          <a:ln/>
        </p:spPr>
        <p:txBody>
          <a:bodyPr wrap="square" lIns="0" tIns="0" rIns="0" bIns="0" rtlCol="0" anchor="ctr"/>
          <a:lstStyle/>
          <a:p>
            <a:pPr indent="0" marL="0">
              <a:buNone/>
            </a:pPr>
            <a:r>
              <a:rPr lang="en-US" sz="1700" b="1" dirty="0">
                <a:solidFill>
                  <a:srgbClr val="D4A843"/>
                </a:solidFill>
                <a:latin typeface="Georgia" pitchFamily="34" charset="0"/>
                <a:ea typeface="Georgia" pitchFamily="34" charset="-122"/>
                <a:cs typeface="Georgia" pitchFamily="34" charset="-120"/>
              </a:rPr>
              <a:t>They are all the same kind of thing.</a:t>
            </a:r>
            <a:endParaRPr lang="en-US" sz="1700" dirty="0"/>
          </a:p>
        </p:txBody>
      </p:sp>
      <p:sp>
        <p:nvSpPr>
          <p:cNvPr id="31" name="Text 29"/>
          <p:cNvSpPr txBox="1"/>
          <p:nvPr/>
        </p:nvSpPr>
        <p:spPr>
          <a:xfrm>
            <a:off x="822960" y="3035808"/>
            <a:ext cx="749808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 program that learned language by reading an enormous amount of human writing — every textbook, every manual, every TAPPI paper, every OSHA bulletin — and that you run by asking it a question in plain English instead of clicking buttons.</a:t>
            </a:r>
            <a:endParaRPr lang="en-US" sz="1200" dirty="0"/>
          </a:p>
        </p:txBody>
      </p:sp>
      <p:sp>
        <p:nvSpPr>
          <p:cNvPr id="32" name="Shape 30"/>
          <p:cNvSpPr/>
          <p:nvPr/>
        </p:nvSpPr>
        <p:spPr>
          <a:xfrm>
            <a:off x="548640" y="3703320"/>
            <a:ext cx="8046720" cy="65836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33" name="Text 31"/>
          <p:cNvSpPr txBox="1"/>
          <p:nvPr/>
        </p:nvSpPr>
        <p:spPr>
          <a:xfrm>
            <a:off x="822960" y="3703320"/>
            <a:ext cx="7498080" cy="658368"/>
          </a:xfrm>
          <a:prstGeom prst="rect">
            <a:avLst/>
          </a:prstGeom>
          <a:noFill/>
          <a:ln/>
        </p:spPr>
        <p:txBody>
          <a:bodyPr wrap="square" lIns="0" tIns="0" rIns="0" bIns="0" rtlCol="0" anchor="ctr"/>
          <a:lstStyle/>
          <a:p>
            <a:pPr indent="0" marL="0">
              <a:buNone/>
            </a:pPr>
            <a:r>
              <a:rPr lang="en-US" sz="1250" i="1" dirty="0">
                <a:solidFill>
                  <a:srgbClr val="1E293B"/>
                </a:solidFill>
                <a:latin typeface="Calibri" pitchFamily="34" charset="0"/>
                <a:ea typeface="Calibri" pitchFamily="34" charset="-122"/>
                <a:cs typeface="Calibri" pitchFamily="34" charset="-120"/>
              </a:rPr>
              <a:t>The world's best-read new hire. Read everything. Retained a shocking amount. Never set foot in a mill.</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Why isn't it just another app?</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3931920" cy="219456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70432"/>
            <a:ext cx="3383280" cy="310896"/>
          </a:xfrm>
          <a:prstGeom prst="rect">
            <a:avLst/>
          </a:prstGeom>
          <a:noFill/>
          <a:ln/>
        </p:spPr>
        <p:txBody>
          <a:bodyPr wrap="square" lIns="0" tIns="0" rIns="0" bIns="0" rtlCol="0" anchor="ctr"/>
          <a:lstStyle/>
          <a:p>
            <a:pPr indent="0" marL="0">
              <a:buNone/>
            </a:pPr>
            <a:r>
              <a:rPr lang="en-US" sz="1400" b="1" dirty="0">
                <a:solidFill>
                  <a:srgbClr val="0D7C8F"/>
                </a:solidFill>
                <a:latin typeface="Calibri" pitchFamily="34" charset="0"/>
                <a:ea typeface="Calibri" pitchFamily="34" charset="-122"/>
                <a:cs typeface="Calibri" pitchFamily="34" charset="-120"/>
              </a:rPr>
              <a:t>THE GAME ON YOUR PHONE</a:t>
            </a:r>
            <a:endParaRPr lang="en-US" sz="1400" dirty="0"/>
          </a:p>
        </p:txBody>
      </p:sp>
      <p:sp>
        <p:nvSpPr>
          <p:cNvPr id="7" name="Text 5"/>
          <p:cNvSpPr txBox="1"/>
          <p:nvPr/>
        </p:nvSpPr>
        <p:spPr>
          <a:xfrm>
            <a:off x="822960" y="1536192"/>
            <a:ext cx="3383280" cy="347472"/>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Somebody wrote every rule.</a:t>
            </a:r>
            <a:endParaRPr lang="en-US" sz="1600" dirty="0"/>
          </a:p>
        </p:txBody>
      </p:sp>
      <p:sp>
        <p:nvSpPr>
          <p:cNvPr id="8" name="Text 6"/>
          <p:cNvSpPr txBox="1"/>
          <p:nvPr/>
        </p:nvSpPr>
        <p:spPr>
          <a:xfrm>
            <a:off x="822960" y="1938528"/>
            <a:ext cx="3383280" cy="10972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Every button, every response, every outcome was decided in advance by a programmer. It does exactly what it was written to do and nothing else. Ask it something outside that and nothing happens.</a:t>
            </a:r>
            <a:endParaRPr lang="en-US" sz="1150" dirty="0"/>
          </a:p>
        </p:txBody>
      </p:sp>
      <p:sp>
        <p:nvSpPr>
          <p:cNvPr id="9" name="Shape 7"/>
          <p:cNvSpPr/>
          <p:nvPr/>
        </p:nvSpPr>
        <p:spPr>
          <a:xfrm>
            <a:off x="4663440" y="1051560"/>
            <a:ext cx="3931920" cy="219456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0" name="Text 8"/>
          <p:cNvSpPr txBox="1"/>
          <p:nvPr/>
        </p:nvSpPr>
        <p:spPr>
          <a:xfrm>
            <a:off x="4937760" y="1170432"/>
            <a:ext cx="3383280" cy="310896"/>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A LARGE LANGUAGE MODEL</a:t>
            </a:r>
            <a:endParaRPr lang="en-US" sz="1400" dirty="0"/>
          </a:p>
        </p:txBody>
      </p:sp>
      <p:sp>
        <p:nvSpPr>
          <p:cNvPr id="11" name="Text 9"/>
          <p:cNvSpPr txBox="1"/>
          <p:nvPr/>
        </p:nvSpPr>
        <p:spPr>
          <a:xfrm>
            <a:off x="4937760" y="1536192"/>
            <a:ext cx="3383280" cy="347472"/>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Nobody wrote the rules.</a:t>
            </a:r>
            <a:endParaRPr lang="en-US" sz="1600" dirty="0"/>
          </a:p>
        </p:txBody>
      </p:sp>
      <p:sp>
        <p:nvSpPr>
          <p:cNvPr id="12" name="Text 10"/>
          <p:cNvSpPr txBox="1"/>
          <p:nvPr/>
        </p:nvSpPr>
        <p:spPr>
          <a:xfrm>
            <a:off x="4937760" y="1938528"/>
            <a:ext cx="3383280" cy="109728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It was trained, not programmed. It read an enormous amount of writing and worked out the patterns itself. Which is why it can handle a question nobody ever anticipated — including yours.</a:t>
            </a:r>
            <a:endParaRPr lang="en-US" sz="1150" dirty="0"/>
          </a:p>
        </p:txBody>
      </p:sp>
      <p:sp>
        <p:nvSpPr>
          <p:cNvPr id="13" name="Shape 11"/>
          <p:cNvSpPr/>
          <p:nvPr/>
        </p:nvSpPr>
        <p:spPr>
          <a:xfrm>
            <a:off x="548640" y="3364992"/>
            <a:ext cx="8046720" cy="100584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4" name="Text 12"/>
          <p:cNvSpPr txBox="1"/>
          <p:nvPr/>
        </p:nvSpPr>
        <p:spPr>
          <a:xfrm>
            <a:off x="822960" y="3456432"/>
            <a:ext cx="7498080" cy="292608"/>
          </a:xfrm>
          <a:prstGeom prst="rect">
            <a:avLst/>
          </a:prstGeom>
          <a:noFill/>
          <a:ln/>
        </p:spPr>
        <p:txBody>
          <a:bodyPr wrap="square" lIns="0" tIns="0" rIns="0" bIns="0" rtlCol="0" anchor="ctr"/>
          <a:lstStyle/>
          <a:p>
            <a:pPr indent="0" marL="0">
              <a:buNone/>
            </a:pPr>
            <a:r>
              <a:rPr lang="en-US" sz="1600" b="1" dirty="0">
                <a:solidFill>
                  <a:srgbClr val="D4A843"/>
                </a:solidFill>
                <a:latin typeface="Georgia" pitchFamily="34" charset="0"/>
                <a:ea typeface="Georgia" pitchFamily="34" charset="-122"/>
                <a:cs typeface="Georgia" pitchFamily="34" charset="-120"/>
              </a:rPr>
              <a:t>And that cuts both ways.</a:t>
            </a:r>
            <a:endParaRPr lang="en-US" sz="1600" dirty="0"/>
          </a:p>
        </p:txBody>
      </p:sp>
      <p:sp>
        <p:nvSpPr>
          <p:cNvPr id="15" name="Text 13"/>
          <p:cNvSpPr txBox="1"/>
          <p:nvPr/>
        </p:nvSpPr>
        <p:spPr>
          <a:xfrm>
            <a:off x="822960" y="3767328"/>
            <a:ext cx="7498080" cy="5486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It will answer something nobody planned for. It will also be confidently wrong — it will invent a regulation number, it will invent a part number — and nobody can tell you in advance which one you're getting. That is why every application I show you today needs a human who knows the answer sitting between the machine and the consequence.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Where it falls down</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3931920" cy="210312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70432"/>
            <a:ext cx="3383280" cy="310896"/>
          </a:xfrm>
          <a:prstGeom prst="rect">
            <a:avLst/>
          </a:prstGeom>
          <a:noFill/>
          <a:ln/>
        </p:spPr>
        <p:txBody>
          <a:bodyPr wrap="square" lIns="0" tIns="0" rIns="0" bIns="0" rtlCol="0" anchor="ctr"/>
          <a:lstStyle/>
          <a:p>
            <a:pPr indent="0" marL="0">
              <a:buNone/>
            </a:pPr>
            <a:r>
              <a:rPr lang="en-US" sz="1400" b="1" dirty="0">
                <a:solidFill>
                  <a:srgbClr val="0D7C8F"/>
                </a:solidFill>
                <a:latin typeface="Calibri" pitchFamily="34" charset="0"/>
                <a:ea typeface="Calibri" pitchFamily="34" charset="-122"/>
                <a:cs typeface="Calibri" pitchFamily="34" charset="-120"/>
              </a:rPr>
              <a:t>ASK IT FOR A 24/7 SCHEDULE</a:t>
            </a:r>
            <a:endParaRPr lang="en-US" sz="1400" dirty="0"/>
          </a:p>
        </p:txBody>
      </p:sp>
      <p:sp>
        <p:nvSpPr>
          <p:cNvPr id="7" name="Text 5"/>
          <p:cNvSpPr txBox="1"/>
          <p:nvPr/>
        </p:nvSpPr>
        <p:spPr>
          <a:xfrm>
            <a:off x="822960" y="1536192"/>
            <a:ext cx="338328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It will confidently name you the most common ones:</a:t>
            </a:r>
            <a:endParaRPr lang="en-US" sz="1200" dirty="0"/>
          </a:p>
        </p:txBody>
      </p:sp>
      <p:sp>
        <p:nvSpPr>
          <p:cNvPr id="8" name="Text 6"/>
          <p:cNvSpPr txBox="1"/>
          <p:nvPr/>
        </p:nvSpPr>
        <p:spPr>
          <a:xfrm>
            <a:off x="822960" y="1874520"/>
            <a:ext cx="3383280" cy="301752"/>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The 2-2-3</a:t>
            </a:r>
            <a:endParaRPr lang="en-US" sz="1300" dirty="0"/>
          </a:p>
        </p:txBody>
      </p:sp>
      <p:sp>
        <p:nvSpPr>
          <p:cNvPr id="9" name="Text 7"/>
          <p:cNvSpPr txBox="1"/>
          <p:nvPr/>
        </p:nvSpPr>
        <p:spPr>
          <a:xfrm>
            <a:off x="822960" y="2176272"/>
            <a:ext cx="3383280" cy="301752"/>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The DuPont</a:t>
            </a:r>
            <a:endParaRPr lang="en-US" sz="1300" dirty="0"/>
          </a:p>
        </p:txBody>
      </p:sp>
      <p:sp>
        <p:nvSpPr>
          <p:cNvPr id="10" name="Text 8"/>
          <p:cNvSpPr txBox="1"/>
          <p:nvPr/>
        </p:nvSpPr>
        <p:spPr>
          <a:xfrm>
            <a:off x="822960" y="2478024"/>
            <a:ext cx="3383280" cy="301752"/>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The Southern Swing</a:t>
            </a:r>
            <a:endParaRPr lang="en-US" sz="1300" dirty="0"/>
          </a:p>
        </p:txBody>
      </p:sp>
      <p:sp>
        <p:nvSpPr>
          <p:cNvPr id="11" name="Text 9"/>
          <p:cNvSpPr txBox="1"/>
          <p:nvPr/>
        </p:nvSpPr>
        <p:spPr>
          <a:xfrm>
            <a:off x="822960" y="2788920"/>
            <a:ext cx="3383280" cy="292608"/>
          </a:xfrm>
          <a:prstGeom prst="rect">
            <a:avLst/>
          </a:prstGeom>
          <a:noFill/>
          <a:ln/>
        </p:spPr>
        <p:txBody>
          <a:bodyPr wrap="square" lIns="0" tIns="0" rIns="0" bIns="0" rtlCol="0" anchor="ctr"/>
          <a:lstStyle/>
          <a:p>
            <a:pPr indent="0" marL="0">
              <a:buNone/>
            </a:pPr>
            <a:r>
              <a:rPr lang="en-US" sz="1150" i="1" dirty="0">
                <a:solidFill>
                  <a:srgbClr val="8896A7"/>
                </a:solidFill>
                <a:latin typeface="Calibri" pitchFamily="34" charset="0"/>
                <a:ea typeface="Calibri" pitchFamily="34" charset="-122"/>
                <a:cs typeface="Calibri" pitchFamily="34" charset="-120"/>
              </a:rPr>
              <a:t>A real answer to a real question. It just isn't your question.</a:t>
            </a:r>
            <a:endParaRPr lang="en-US" sz="1150" dirty="0"/>
          </a:p>
        </p:txBody>
      </p:sp>
      <p:sp>
        <p:nvSpPr>
          <p:cNvPr id="12" name="Shape 10"/>
          <p:cNvSpPr/>
          <p:nvPr/>
        </p:nvSpPr>
        <p:spPr>
          <a:xfrm>
            <a:off x="4663440" y="1051560"/>
            <a:ext cx="3931920" cy="210312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3" name="Text 11"/>
          <p:cNvSpPr txBox="1"/>
          <p:nvPr/>
        </p:nvSpPr>
        <p:spPr>
          <a:xfrm>
            <a:off x="4937760" y="1170432"/>
            <a:ext cx="3383280" cy="310896"/>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NOW ASK THE FOLLOW-UP</a:t>
            </a:r>
            <a:endParaRPr lang="en-US" sz="1400" dirty="0"/>
          </a:p>
        </p:txBody>
      </p:sp>
      <p:sp>
        <p:nvSpPr>
          <p:cNvPr id="14" name="Text 12"/>
          <p:cNvSpPr txBox="1"/>
          <p:nvPr/>
        </p:nvSpPr>
        <p:spPr>
          <a:xfrm>
            <a:off x="4937760" y="1517904"/>
            <a:ext cx="3383280" cy="457200"/>
          </a:xfrm>
          <a:prstGeom prst="rect">
            <a:avLst/>
          </a:prstGeom>
          <a:noFill/>
          <a:ln/>
        </p:spPr>
        <p:txBody>
          <a:bodyPr wrap="square" lIns="0" tIns="0" rIns="0" bIns="0" rtlCol="0" anchor="ctr"/>
          <a:lstStyle/>
          <a:p>
            <a:pPr indent="0" marL="0">
              <a:buNone/>
            </a:pPr>
            <a:r>
              <a:rPr lang="en-US" sz="1200" i="1" dirty="0">
                <a:solidFill>
                  <a:srgbClr val="14A3B8"/>
                </a:solidFill>
                <a:latin typeface="Calibri" pitchFamily="34" charset="0"/>
                <a:ea typeface="Calibri" pitchFamily="34" charset="-122"/>
                <a:cs typeface="Calibri" pitchFamily="34" charset="-120"/>
              </a:rPr>
              <a:t>“We already run that one and people are still complaining. Now what?”</a:t>
            </a:r>
            <a:endParaRPr lang="en-US" sz="1200" dirty="0"/>
          </a:p>
        </p:txBody>
      </p:sp>
      <p:sp>
        <p:nvSpPr>
          <p:cNvPr id="15" name="Text 13"/>
          <p:cNvSpPr txBox="1"/>
          <p:nvPr/>
        </p:nvSpPr>
        <p:spPr>
          <a:xfrm>
            <a:off x="4937760" y="2029968"/>
            <a:ext cx="338328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Is it the schedule — or the overtime rules?</a:t>
            </a:r>
            <a:endParaRPr lang="en-US" sz="1100" dirty="0"/>
          </a:p>
        </p:txBody>
      </p:sp>
      <p:sp>
        <p:nvSpPr>
          <p:cNvPr id="16" name="Text 14"/>
          <p:cNvSpPr txBox="1"/>
          <p:nvPr/>
        </p:nvSpPr>
        <p:spPr>
          <a:xfrm>
            <a:off x="4937760" y="2322576"/>
            <a:ext cx="338328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Half the plant, or three loud voices?</a:t>
            </a:r>
            <a:endParaRPr lang="en-US" sz="1100" dirty="0"/>
          </a:p>
        </p:txBody>
      </p:sp>
      <p:sp>
        <p:nvSpPr>
          <p:cNvPr id="17" name="Text 15"/>
          <p:cNvSpPr txBox="1"/>
          <p:nvPr/>
        </p:nvSpPr>
        <p:spPr>
          <a:xfrm>
            <a:off x="4937760" y="2615184"/>
            <a:ext cx="338328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Does it fade, or harden into a grievance?</a:t>
            </a:r>
            <a:endParaRPr lang="en-US" sz="1100" dirty="0"/>
          </a:p>
        </p:txBody>
      </p:sp>
      <p:sp>
        <p:nvSpPr>
          <p:cNvPr id="18" name="Shape 16"/>
          <p:cNvSpPr/>
          <p:nvPr/>
        </p:nvSpPr>
        <p:spPr>
          <a:xfrm>
            <a:off x="548640" y="3310128"/>
            <a:ext cx="8046720" cy="105156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9" name="Text 17"/>
          <p:cNvSpPr txBox="1"/>
          <p:nvPr/>
        </p:nvSpPr>
        <p:spPr>
          <a:xfrm>
            <a:off x="822960" y="3456432"/>
            <a:ext cx="7498080" cy="411480"/>
          </a:xfrm>
          <a:prstGeom prst="rect">
            <a:avLst/>
          </a:prstGeom>
          <a:noFill/>
          <a:ln/>
        </p:spPr>
        <p:txBody>
          <a:bodyPr wrap="square" lIns="0" tIns="0" rIns="0" bIns="0" rtlCol="0" anchor="ctr"/>
          <a:lstStyle/>
          <a:p>
            <a:pPr indent="0" marL="0">
              <a:buNone/>
            </a:pPr>
            <a:r>
              <a:rPr lang="en-US" sz="2000" b="1" dirty="0">
                <a:solidFill>
                  <a:srgbClr val="D4A843"/>
                </a:solidFill>
                <a:latin typeface="Georgia" pitchFamily="34" charset="0"/>
                <a:ea typeface="Georgia" pitchFamily="34" charset="-122"/>
                <a:cs typeface="Georgia" pitchFamily="34" charset="-120"/>
              </a:rPr>
              <a:t>It knows what's common. It doesn't know what's right for you.</a:t>
            </a:r>
            <a:endParaRPr lang="en-US" sz="2000" dirty="0"/>
          </a:p>
        </p:txBody>
      </p:sp>
      <p:sp>
        <p:nvSpPr>
          <p:cNvPr id="20" name="Text 18"/>
          <p:cNvSpPr txBox="1"/>
          <p:nvPr/>
        </p:nvSpPr>
        <p:spPr>
          <a:xfrm>
            <a:off x="822960" y="3913632"/>
            <a:ext cx="74980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Hold onto that. It's the other half of everything I'm going to say for the next fifty minutes.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Chatbots and agents</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3931920" cy="178308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52144"/>
            <a:ext cx="3383280" cy="310896"/>
          </a:xfrm>
          <a:prstGeom prst="rect">
            <a:avLst/>
          </a:prstGeom>
          <a:noFill/>
          <a:ln/>
        </p:spPr>
        <p:txBody>
          <a:bodyPr wrap="square" lIns="0" tIns="0" rIns="0" bIns="0" rtlCol="0" anchor="ctr"/>
          <a:lstStyle/>
          <a:p>
            <a:pPr indent="0" marL="0">
              <a:buNone/>
            </a:pPr>
            <a:r>
              <a:rPr lang="en-US" sz="1400" b="1" dirty="0">
                <a:solidFill>
                  <a:srgbClr val="0D7C8F"/>
                </a:solidFill>
                <a:latin typeface="Calibri" pitchFamily="34" charset="0"/>
                <a:ea typeface="Calibri" pitchFamily="34" charset="-122"/>
                <a:cs typeface="Calibri" pitchFamily="34" charset="-120"/>
              </a:rPr>
              <a:t>WHAT A CHATBOT DOES</a:t>
            </a:r>
            <a:endParaRPr lang="en-US" sz="1400" dirty="0"/>
          </a:p>
        </p:txBody>
      </p:sp>
      <p:sp>
        <p:nvSpPr>
          <p:cNvPr id="7" name="Text 5"/>
          <p:cNvSpPr txBox="1"/>
          <p:nvPr/>
        </p:nvSpPr>
        <p:spPr>
          <a:xfrm>
            <a:off x="822960" y="1481328"/>
            <a:ext cx="3383280" cy="310896"/>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You ask. It answers. Then it stops.</a:t>
            </a:r>
            <a:endParaRPr lang="en-US" sz="1500" dirty="0"/>
          </a:p>
        </p:txBody>
      </p:sp>
      <p:sp>
        <p:nvSpPr>
          <p:cNvPr id="8" name="Text 6"/>
          <p:cNvSpPr txBox="1"/>
          <p:nvPr/>
        </p:nvSpPr>
        <p:spPr>
          <a:xfrm>
            <a:off x="822960" y="1874520"/>
            <a:ext cx="3383280" cy="2743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It can't open your systems</a:t>
            </a:r>
            <a:endParaRPr lang="en-US" sz="1150" dirty="0"/>
          </a:p>
        </p:txBody>
      </p:sp>
      <p:sp>
        <p:nvSpPr>
          <p:cNvPr id="9" name="Text 7"/>
          <p:cNvSpPr txBox="1"/>
          <p:nvPr/>
        </p:nvSpPr>
        <p:spPr>
          <a:xfrm>
            <a:off x="822960" y="2148840"/>
            <a:ext cx="3383280" cy="2743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It doesn't remember yesterday</a:t>
            </a:r>
            <a:endParaRPr lang="en-US" sz="1150" dirty="0"/>
          </a:p>
        </p:txBody>
      </p:sp>
      <p:sp>
        <p:nvSpPr>
          <p:cNvPr id="10" name="Text 8"/>
          <p:cNvSpPr txBox="1"/>
          <p:nvPr/>
        </p:nvSpPr>
        <p:spPr>
          <a:xfrm>
            <a:off x="822960" y="2423160"/>
            <a:ext cx="3383280" cy="2743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Nothing happens between questions</a:t>
            </a:r>
            <a:endParaRPr lang="en-US" sz="1150" dirty="0"/>
          </a:p>
        </p:txBody>
      </p:sp>
      <p:sp>
        <p:nvSpPr>
          <p:cNvPr id="11" name="Shape 9"/>
          <p:cNvSpPr/>
          <p:nvPr/>
        </p:nvSpPr>
        <p:spPr>
          <a:xfrm>
            <a:off x="4663440" y="1051560"/>
            <a:ext cx="3931920" cy="178308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2" name="Text 10"/>
          <p:cNvSpPr txBox="1"/>
          <p:nvPr/>
        </p:nvSpPr>
        <p:spPr>
          <a:xfrm>
            <a:off x="4937760" y="1152144"/>
            <a:ext cx="3383280" cy="310896"/>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WHAT AN AGENT DOES</a:t>
            </a:r>
            <a:endParaRPr lang="en-US" sz="1400" dirty="0"/>
          </a:p>
        </p:txBody>
      </p:sp>
      <p:sp>
        <p:nvSpPr>
          <p:cNvPr id="13" name="Text 11"/>
          <p:cNvSpPr txBox="1"/>
          <p:nvPr/>
        </p:nvSpPr>
        <p:spPr>
          <a:xfrm>
            <a:off x="4937760" y="1481328"/>
            <a:ext cx="3383280" cy="310896"/>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You give it a job. It goes and does it.</a:t>
            </a:r>
            <a:endParaRPr lang="en-US" sz="1500" dirty="0"/>
          </a:p>
        </p:txBody>
      </p:sp>
      <p:sp>
        <p:nvSpPr>
          <p:cNvPr id="14" name="Text 12"/>
          <p:cNvSpPr txBox="1"/>
          <p:nvPr/>
        </p:nvSpPr>
        <p:spPr>
          <a:xfrm>
            <a:off x="4937760" y="1874520"/>
            <a:ext cx="338328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It can open your systems and read them</a:t>
            </a:r>
            <a:endParaRPr lang="en-US" sz="1150" dirty="0"/>
          </a:p>
        </p:txBody>
      </p:sp>
      <p:sp>
        <p:nvSpPr>
          <p:cNvPr id="15" name="Text 13"/>
          <p:cNvSpPr txBox="1"/>
          <p:nvPr/>
        </p:nvSpPr>
        <p:spPr>
          <a:xfrm>
            <a:off x="4937760" y="2148840"/>
            <a:ext cx="338328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It remembers what it already did</a:t>
            </a:r>
            <a:endParaRPr lang="en-US" sz="1150" dirty="0"/>
          </a:p>
        </p:txBody>
      </p:sp>
      <p:sp>
        <p:nvSpPr>
          <p:cNvPr id="16" name="Text 14"/>
          <p:cNvSpPr txBox="1"/>
          <p:nvPr/>
        </p:nvSpPr>
        <p:spPr>
          <a:xfrm>
            <a:off x="4937760" y="2423160"/>
            <a:ext cx="338328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It keeps going until the job is done</a:t>
            </a:r>
            <a:endParaRPr lang="en-US" sz="1150" dirty="0"/>
          </a:p>
        </p:txBody>
      </p:sp>
      <p:sp>
        <p:nvSpPr>
          <p:cNvPr id="17" name="Shape 15"/>
          <p:cNvSpPr/>
          <p:nvPr/>
        </p:nvSpPr>
        <p:spPr>
          <a:xfrm>
            <a:off x="548640" y="2971800"/>
            <a:ext cx="8046720" cy="12344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8" name="Text 16"/>
          <p:cNvSpPr txBox="1"/>
          <p:nvPr/>
        </p:nvSpPr>
        <p:spPr>
          <a:xfrm>
            <a:off x="822960" y="3054096"/>
            <a:ext cx="7498080" cy="2743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Same situation: you're short three people Thursday night.</a:t>
            </a:r>
            <a:endParaRPr lang="en-US" sz="1300" dirty="0"/>
          </a:p>
        </p:txBody>
      </p:sp>
      <p:sp>
        <p:nvSpPr>
          <p:cNvPr id="19" name="Text 17"/>
          <p:cNvSpPr txBox="1"/>
          <p:nvPr/>
        </p:nvSpPr>
        <p:spPr>
          <a:xfrm>
            <a:off x="822960" y="3383280"/>
            <a:ext cx="1188720" cy="274320"/>
          </a:xfrm>
          <a:prstGeom prst="rect">
            <a:avLst/>
          </a:prstGeom>
          <a:noFill/>
          <a:ln/>
        </p:spPr>
        <p:txBody>
          <a:bodyPr wrap="square" lIns="0" tIns="0" rIns="0" bIns="0" rtlCol="0" anchor="ctr"/>
          <a:lstStyle/>
          <a:p>
            <a:pPr indent="0" marL="0">
              <a:buNone/>
            </a:pPr>
            <a:r>
              <a:rPr lang="en-US" sz="1150" b="1" dirty="0">
                <a:solidFill>
                  <a:srgbClr val="0D7C8F"/>
                </a:solidFill>
                <a:latin typeface="Calibri" pitchFamily="34" charset="0"/>
                <a:ea typeface="Calibri" pitchFamily="34" charset="-122"/>
                <a:cs typeface="Calibri" pitchFamily="34" charset="-120"/>
              </a:rPr>
              <a:t>A chatbot</a:t>
            </a:r>
            <a:endParaRPr lang="en-US" sz="1150" dirty="0"/>
          </a:p>
        </p:txBody>
      </p:sp>
      <p:sp>
        <p:nvSpPr>
          <p:cNvPr id="20" name="Text 18"/>
          <p:cNvSpPr txBox="1"/>
          <p:nvPr/>
        </p:nvSpPr>
        <p:spPr>
          <a:xfrm>
            <a:off x="1965960" y="3383280"/>
            <a:ext cx="6400800" cy="2743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tells you what your options generally are.</a:t>
            </a:r>
            <a:endParaRPr lang="en-US" sz="1150" dirty="0"/>
          </a:p>
        </p:txBody>
      </p:sp>
      <p:sp>
        <p:nvSpPr>
          <p:cNvPr id="21" name="Text 19"/>
          <p:cNvSpPr txBox="1"/>
          <p:nvPr/>
        </p:nvSpPr>
        <p:spPr>
          <a:xfrm>
            <a:off x="822960" y="3694176"/>
            <a:ext cx="1188720" cy="274320"/>
          </a:xfrm>
          <a:prstGeom prst="rect">
            <a:avLst/>
          </a:prstGeom>
          <a:noFill/>
          <a:ln/>
        </p:spPr>
        <p:txBody>
          <a:bodyPr wrap="square" lIns="0" tIns="0" rIns="0" bIns="0" rtlCol="0" anchor="ctr"/>
          <a:lstStyle/>
          <a:p>
            <a:pPr indent="0" marL="0">
              <a:buNone/>
            </a:pPr>
            <a:r>
              <a:rPr lang="en-US" sz="1150" b="1" dirty="0">
                <a:solidFill>
                  <a:srgbClr val="D4A843"/>
                </a:solidFill>
                <a:latin typeface="Calibri" pitchFamily="34" charset="0"/>
                <a:ea typeface="Calibri" pitchFamily="34" charset="-122"/>
                <a:cs typeface="Calibri" pitchFamily="34" charset="-120"/>
              </a:rPr>
              <a:t>An agent</a:t>
            </a:r>
            <a:endParaRPr lang="en-US" sz="1150" dirty="0"/>
          </a:p>
        </p:txBody>
      </p:sp>
      <p:sp>
        <p:nvSpPr>
          <p:cNvPr id="22" name="Text 20"/>
          <p:cNvSpPr txBox="1"/>
          <p:nvPr/>
        </p:nvSpPr>
        <p:spPr>
          <a:xfrm>
            <a:off x="1965960" y="3694176"/>
            <a:ext cx="6400800" cy="310896"/>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checks who's qualified, checks who's available, checks who's already deep into overtime, sends the texts — and hands you a decision instead of a problem.</a:t>
            </a:r>
            <a:endParaRPr lang="en-US" sz="1150" dirty="0"/>
          </a:p>
        </p:txBody>
      </p:sp>
      <p:sp>
        <p:nvSpPr>
          <p:cNvPr id="23" name="Text 21"/>
          <p:cNvSpPr txBox="1"/>
          <p:nvPr/>
        </p:nvSpPr>
        <p:spPr>
          <a:xfrm>
            <a:off x="548640" y="4279392"/>
            <a:ext cx="8046720" cy="310896"/>
          </a:xfrm>
          <a:prstGeom prst="rect">
            <a:avLst/>
          </a:prstGeom>
          <a:noFill/>
          <a:ln/>
        </p:spPr>
        <p:txBody>
          <a:bodyPr wrap="square" lIns="0" tIns="0" rIns="0" bIns="0" rtlCol="0" anchor="ctr"/>
          <a:lstStyle/>
          <a:p>
            <a:pPr indent="0" marL="0">
              <a:buNone/>
            </a:pPr>
            <a:r>
              <a:rPr lang="en-US" sz="1100" i="1" dirty="0">
                <a:solidFill>
                  <a:srgbClr val="8896A7"/>
                </a:solidFill>
                <a:latin typeface="Calibri" pitchFamily="34" charset="0"/>
                <a:ea typeface="Calibri" pitchFamily="34" charset="-122"/>
                <a:cs typeface="Calibri" pitchFamily="34" charset="-120"/>
              </a:rPr>
              <a:t>Agents are the newest and least mature piece of this. Most “agentic AI” being sold right now is a demo, not a deployment — but the direction is not in question.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Two things happening off-stage</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3931920" cy="278892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70432"/>
            <a:ext cx="640080" cy="365760"/>
          </a:xfrm>
          <a:prstGeom prst="rect">
            <a:avLst/>
          </a:prstGeom>
          <a:noFill/>
          <a:ln/>
        </p:spPr>
        <p:txBody>
          <a:bodyPr wrap="square" lIns="0" tIns="0" rIns="0" bIns="0" rtlCol="0" anchor="ctr"/>
          <a:lstStyle/>
          <a:p>
            <a:pPr indent="0" marL="0">
              <a:buNone/>
            </a:pPr>
            <a:r>
              <a:rPr lang="en-US" sz="2000" b="1" dirty="0">
                <a:solidFill>
                  <a:srgbClr val="DC4A4A"/>
                </a:solidFill>
                <a:latin typeface="Georgia" pitchFamily="34" charset="0"/>
                <a:ea typeface="Georgia" pitchFamily="34" charset="-122"/>
                <a:cs typeface="Georgia" pitchFamily="34" charset="-120"/>
              </a:rPr>
              <a:t>01</a:t>
            </a:r>
            <a:endParaRPr lang="en-US" sz="2000" dirty="0"/>
          </a:p>
        </p:txBody>
      </p:sp>
      <p:sp>
        <p:nvSpPr>
          <p:cNvPr id="7" name="Text 5"/>
          <p:cNvSpPr txBox="1"/>
          <p:nvPr/>
        </p:nvSpPr>
        <p:spPr>
          <a:xfrm>
            <a:off x="822960" y="1572768"/>
            <a:ext cx="3383280" cy="56692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This is about to be regulated,</a:t>
            </a:r>
            <a:endParaRPr lang="en-US" sz="1400" dirty="0"/>
          </a:p>
          <a:p>
            <a:pPr indent="0" marL="0">
              <a:buNone/>
            </a:pPr>
            <a:r>
              <a:rPr lang="en-US" sz="1400" b="1" dirty="0">
                <a:solidFill>
                  <a:srgbClr val="1B2A4A"/>
                </a:solidFill>
                <a:latin typeface="Calibri" pitchFamily="34" charset="0"/>
                <a:ea typeface="Calibri" pitchFamily="34" charset="-122"/>
                <a:cs typeface="Calibri" pitchFamily="34" charset="-120"/>
              </a:rPr>
              <a:t>for the first time.</a:t>
            </a:r>
            <a:endParaRPr lang="en-US" sz="1400" dirty="0"/>
          </a:p>
        </p:txBody>
      </p:sp>
      <p:sp>
        <p:nvSpPr>
          <p:cNvPr id="8" name="Text 6"/>
          <p:cNvSpPr txBox="1"/>
          <p:nvPr/>
        </p:nvSpPr>
        <p:spPr>
          <a:xfrm>
            <a:off x="822960" y="2212848"/>
            <a:ext cx="3383280" cy="8686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First US export controls on an AI model landed this summer. A bill in Congress would require the biggest labs to build in a government-ordered shutdown capability.</a:t>
            </a:r>
            <a:endParaRPr lang="en-US" sz="1150" dirty="0"/>
          </a:p>
        </p:txBody>
      </p:sp>
      <p:sp>
        <p:nvSpPr>
          <p:cNvPr id="9" name="Text 7"/>
          <p:cNvSpPr txBox="1"/>
          <p:nvPr/>
        </p:nvSpPr>
        <p:spPr>
          <a:xfrm>
            <a:off x="822960" y="3108960"/>
            <a:ext cx="3383280" cy="640080"/>
          </a:xfrm>
          <a:prstGeom prst="rect">
            <a:avLst/>
          </a:prstGeom>
          <a:noFill/>
          <a:ln/>
        </p:spPr>
        <p:txBody>
          <a:bodyPr wrap="square" lIns="0" tIns="0" rIns="0" bIns="0" rtlCol="0" anchor="ctr"/>
          <a:lstStyle/>
          <a:p>
            <a:pPr indent="0" marL="0">
              <a:buNone/>
            </a:pPr>
            <a:r>
              <a:rPr lang="en-US" sz="1150" b="1" dirty="0">
                <a:solidFill>
                  <a:srgbClr val="0D7C8F"/>
                </a:solidFill>
                <a:latin typeface="Calibri" pitchFamily="34" charset="0"/>
                <a:ea typeface="Calibri" pitchFamily="34" charset="-122"/>
                <a:cs typeface="Calibri" pitchFamily="34" charset="-120"/>
              </a:rPr>
              <a:t>In eighteen months, “which AI tools does your company use” is a question somebody answers on paper. Most of you can't answer it today.</a:t>
            </a:r>
            <a:endParaRPr lang="en-US" sz="1150" dirty="0"/>
          </a:p>
        </p:txBody>
      </p:sp>
      <p:sp>
        <p:nvSpPr>
          <p:cNvPr id="10" name="Shape 8"/>
          <p:cNvSpPr/>
          <p:nvPr/>
        </p:nvSpPr>
        <p:spPr>
          <a:xfrm>
            <a:off x="4663440" y="1051560"/>
            <a:ext cx="3931920" cy="278892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1" name="Text 9"/>
          <p:cNvSpPr txBox="1"/>
          <p:nvPr/>
        </p:nvSpPr>
        <p:spPr>
          <a:xfrm>
            <a:off x="4937760" y="1170432"/>
            <a:ext cx="640080" cy="365760"/>
          </a:xfrm>
          <a:prstGeom prst="rect">
            <a:avLst/>
          </a:prstGeom>
          <a:noFill/>
          <a:ln/>
        </p:spPr>
        <p:txBody>
          <a:bodyPr wrap="square" lIns="0" tIns="0" rIns="0" bIns="0" rtlCol="0" anchor="ctr"/>
          <a:lstStyle/>
          <a:p>
            <a:pPr indent="0" marL="0">
              <a:buNone/>
            </a:pPr>
            <a:r>
              <a:rPr lang="en-US" sz="2000" b="1" dirty="0">
                <a:solidFill>
                  <a:srgbClr val="D4A843"/>
                </a:solidFill>
                <a:latin typeface="Georgia" pitchFamily="34" charset="0"/>
                <a:ea typeface="Georgia" pitchFamily="34" charset="-122"/>
                <a:cs typeface="Georgia" pitchFamily="34" charset="-120"/>
              </a:rPr>
              <a:t>02</a:t>
            </a:r>
            <a:endParaRPr lang="en-US" sz="2000" dirty="0"/>
          </a:p>
        </p:txBody>
      </p:sp>
      <p:sp>
        <p:nvSpPr>
          <p:cNvPr id="12" name="Text 10"/>
          <p:cNvSpPr txBox="1"/>
          <p:nvPr/>
        </p:nvSpPr>
        <p:spPr>
          <a:xfrm>
            <a:off x="4937760" y="1572768"/>
            <a:ext cx="338328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good models stopped</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being locked up.</a:t>
            </a:r>
            <a:endParaRPr lang="en-US" sz="1400" dirty="0"/>
          </a:p>
        </p:txBody>
      </p:sp>
      <p:sp>
        <p:nvSpPr>
          <p:cNvPr id="13" name="Text 11"/>
          <p:cNvSpPr txBox="1"/>
          <p:nvPr/>
        </p:nvSpPr>
        <p:spPr>
          <a:xfrm>
            <a:off x="4937760" y="2212848"/>
            <a:ext cx="3383280" cy="86868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 year ago the best AI was something you rented from four American companies. Today there are open models you can download and run on your own hardware, inside your own firewall.</a:t>
            </a:r>
            <a:endParaRPr lang="en-US" sz="1150" dirty="0"/>
          </a:p>
        </p:txBody>
      </p:sp>
      <p:sp>
        <p:nvSpPr>
          <p:cNvPr id="14" name="Text 12"/>
          <p:cNvSpPr txBox="1"/>
          <p:nvPr/>
        </p:nvSpPr>
        <p:spPr>
          <a:xfrm>
            <a:off x="4937760" y="3108960"/>
            <a:ext cx="3383280" cy="640080"/>
          </a:xfrm>
          <a:prstGeom prst="rect">
            <a:avLst/>
          </a:prstGeom>
          <a:noFill/>
          <a:ln/>
        </p:spPr>
        <p:txBody>
          <a:bodyPr wrap="square" lIns="0" tIns="0" rIns="0" bIns="0" rtlCol="0" anchor="ctr"/>
          <a:lstStyle/>
          <a:p>
            <a:pPr indent="0" marL="0">
              <a:buNone/>
            </a:pPr>
            <a:r>
              <a:rPr lang="en-US" sz="1150" b="1" dirty="0">
                <a:solidFill>
                  <a:srgbClr val="14A3B8"/>
                </a:solidFill>
                <a:latin typeface="Calibri" pitchFamily="34" charset="0"/>
                <a:ea typeface="Calibri" pitchFamily="34" charset="-122"/>
                <a:cs typeface="Calibri" pitchFamily="34" charset="-120"/>
              </a:rPr>
              <a:t>The honest reason people don't put process data into AI is that they don't want it leaving the building. That objection is dissolving.</a:t>
            </a:r>
            <a:endParaRPr lang="en-US" sz="1150" dirty="0"/>
          </a:p>
        </p:txBody>
      </p:sp>
      <p:sp>
        <p:nvSpPr>
          <p:cNvPr id="15" name="Text 13"/>
          <p:cNvSpPr txBox="1"/>
          <p:nvPr/>
        </p:nvSpPr>
        <p:spPr>
          <a:xfrm>
            <a:off x="548640" y="3977640"/>
            <a:ext cx="8046720" cy="365760"/>
          </a:xfrm>
          <a:prstGeom prst="rect">
            <a:avLst/>
          </a:prstGeom>
          <a:noFill/>
          <a:ln/>
        </p:spPr>
        <p:txBody>
          <a:bodyPr wrap="square" lIns="0" tIns="0" rIns="0" bIns="0" rtlCol="0" anchor="ctr"/>
          <a:lstStyle/>
          <a:p>
            <a:pPr indent="0" marL="0">
              <a:buNone/>
            </a:pPr>
            <a:r>
              <a:rPr lang="en-US" sz="1200" i="1" dirty="0">
                <a:solidFill>
                  <a:srgbClr val="8896A7"/>
                </a:solidFill>
                <a:latin typeface="Calibri" pitchFamily="34" charset="0"/>
                <a:ea typeface="Calibri" pitchFamily="34" charset="-122"/>
                <a:cs typeface="Calibri" pitchFamily="34" charset="-120"/>
              </a:rPr>
              <a:t>Neither changes what the technology does for you. They change what you're allowed to buy and where your data is allowed to sit.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What AI actually does for you</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8046720" cy="566928"/>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051560"/>
            <a:ext cx="7498080" cy="566928"/>
          </a:xfrm>
          <a:prstGeom prst="rect">
            <a:avLst/>
          </a:prstGeom>
          <a:noFill/>
          <a:ln/>
        </p:spPr>
        <p:txBody>
          <a:bodyPr wrap="square" lIns="0" tIns="0" rIns="0" bIns="0" rtlCol="0" anchor="ctr"/>
          <a:lstStyle/>
          <a:p>
            <a:pPr indent="0" marL="0">
              <a:buNone/>
            </a:pPr>
            <a:r>
              <a:rPr lang="en-US" sz="1350" b="1" dirty="0">
                <a:solidFill>
                  <a:srgbClr val="D4A843"/>
                </a:solidFill>
                <a:latin typeface="Calibri" pitchFamily="34" charset="0"/>
                <a:ea typeface="Calibri" pitchFamily="34" charset="-122"/>
                <a:cs typeface="Calibri" pitchFamily="34" charset="-120"/>
              </a:rPr>
              <a:t>Almost all of it is one thing: planning. Getting ahead of what's coming instead of reacting to it.</a:t>
            </a:r>
            <a:endParaRPr lang="en-US" sz="1350" dirty="0"/>
          </a:p>
        </p:txBody>
      </p:sp>
      <p:sp>
        <p:nvSpPr>
          <p:cNvPr id="7" name="Shape 5"/>
          <p:cNvSpPr/>
          <p:nvPr/>
        </p:nvSpPr>
        <p:spPr>
          <a:xfrm>
            <a:off x="548640" y="1755648"/>
            <a:ext cx="3931920" cy="64008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8" name="Shape 6"/>
          <p:cNvSpPr/>
          <p:nvPr/>
        </p:nvSpPr>
        <p:spPr>
          <a:xfrm>
            <a:off x="749808" y="1892808"/>
            <a:ext cx="54864" cy="365760"/>
          </a:xfrm>
          <a:prstGeom prst="rect">
            <a:avLst/>
          </a:prstGeom>
          <a:solidFill>
            <a:srgbClr val="0D7C8F"/>
          </a:solidFill>
          <a:ln/>
        </p:spPr>
      </p:sp>
      <p:sp>
        <p:nvSpPr>
          <p:cNvPr id="9" name="Text 7"/>
          <p:cNvSpPr txBox="1"/>
          <p:nvPr/>
        </p:nvSpPr>
        <p:spPr>
          <a:xfrm>
            <a:off x="932688" y="1810512"/>
            <a:ext cx="338328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Raw material planning</a:t>
            </a:r>
            <a:endParaRPr lang="en-US" sz="1200" dirty="0"/>
          </a:p>
        </p:txBody>
      </p:sp>
      <p:sp>
        <p:nvSpPr>
          <p:cNvPr id="10" name="Text 8"/>
          <p:cNvSpPr txBox="1"/>
          <p:nvPr/>
        </p:nvSpPr>
        <p:spPr>
          <a:xfrm>
            <a:off x="932688" y="2066544"/>
            <a:ext cx="33832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What you need, when, and what you're exposed on</a:t>
            </a:r>
            <a:endParaRPr lang="en-US" sz="1000" dirty="0"/>
          </a:p>
        </p:txBody>
      </p:sp>
      <p:sp>
        <p:nvSpPr>
          <p:cNvPr id="11" name="Shape 9"/>
          <p:cNvSpPr/>
          <p:nvPr/>
        </p:nvSpPr>
        <p:spPr>
          <a:xfrm>
            <a:off x="4663440" y="1755648"/>
            <a:ext cx="3931920" cy="64008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2" name="Shape 10"/>
          <p:cNvSpPr/>
          <p:nvPr/>
        </p:nvSpPr>
        <p:spPr>
          <a:xfrm>
            <a:off x="4864608" y="1892808"/>
            <a:ext cx="54864" cy="365760"/>
          </a:xfrm>
          <a:prstGeom prst="rect">
            <a:avLst/>
          </a:prstGeom>
          <a:solidFill>
            <a:srgbClr val="3B82F6"/>
          </a:solidFill>
          <a:ln/>
        </p:spPr>
      </p:sp>
      <p:sp>
        <p:nvSpPr>
          <p:cNvPr id="13" name="Text 11"/>
          <p:cNvSpPr txBox="1"/>
          <p:nvPr/>
        </p:nvSpPr>
        <p:spPr>
          <a:xfrm>
            <a:off x="5047488" y="1810512"/>
            <a:ext cx="338328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Maintenance planning</a:t>
            </a:r>
            <a:endParaRPr lang="en-US" sz="1200" dirty="0"/>
          </a:p>
        </p:txBody>
      </p:sp>
      <p:sp>
        <p:nvSpPr>
          <p:cNvPr id="14" name="Text 12"/>
          <p:cNvSpPr txBox="1"/>
          <p:nvPr/>
        </p:nvSpPr>
        <p:spPr>
          <a:xfrm>
            <a:off x="5047488" y="2066544"/>
            <a:ext cx="33832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The failure before the break, and the part on the shelf</a:t>
            </a:r>
            <a:endParaRPr lang="en-US" sz="1000" dirty="0"/>
          </a:p>
        </p:txBody>
      </p:sp>
      <p:sp>
        <p:nvSpPr>
          <p:cNvPr id="15" name="Shape 13"/>
          <p:cNvSpPr/>
          <p:nvPr/>
        </p:nvSpPr>
        <p:spPr>
          <a:xfrm>
            <a:off x="548640" y="2514600"/>
            <a:ext cx="3931920" cy="64008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6" name="Shape 14"/>
          <p:cNvSpPr/>
          <p:nvPr/>
        </p:nvSpPr>
        <p:spPr>
          <a:xfrm>
            <a:off x="749808" y="2651760"/>
            <a:ext cx="54864" cy="365760"/>
          </a:xfrm>
          <a:prstGeom prst="rect">
            <a:avLst/>
          </a:prstGeom>
          <a:solidFill>
            <a:srgbClr val="F59E0B"/>
          </a:solidFill>
          <a:ln/>
        </p:spPr>
      </p:sp>
      <p:sp>
        <p:nvSpPr>
          <p:cNvPr id="17" name="Text 15"/>
          <p:cNvSpPr txBox="1"/>
          <p:nvPr/>
        </p:nvSpPr>
        <p:spPr>
          <a:xfrm>
            <a:off x="932688" y="2569464"/>
            <a:ext cx="338328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Absentee and coverage planning</a:t>
            </a:r>
            <a:endParaRPr lang="en-US" sz="1200" dirty="0"/>
          </a:p>
        </p:txBody>
      </p:sp>
      <p:sp>
        <p:nvSpPr>
          <p:cNvPr id="18" name="Text 16"/>
          <p:cNvSpPr txBox="1"/>
          <p:nvPr/>
        </p:nvSpPr>
        <p:spPr>
          <a:xfrm>
            <a:off x="932688" y="2825496"/>
            <a:ext cx="33832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Thursday night, three call-offs, who's qualified</a:t>
            </a:r>
            <a:endParaRPr lang="en-US" sz="1000" dirty="0"/>
          </a:p>
        </p:txBody>
      </p:sp>
      <p:sp>
        <p:nvSpPr>
          <p:cNvPr id="19" name="Shape 17"/>
          <p:cNvSpPr/>
          <p:nvPr/>
        </p:nvSpPr>
        <p:spPr>
          <a:xfrm>
            <a:off x="4663440" y="2514600"/>
            <a:ext cx="3931920" cy="64008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20" name="Shape 18"/>
          <p:cNvSpPr/>
          <p:nvPr/>
        </p:nvSpPr>
        <p:spPr>
          <a:xfrm>
            <a:off x="4864608" y="2651760"/>
            <a:ext cx="54864" cy="365760"/>
          </a:xfrm>
          <a:prstGeom prst="rect">
            <a:avLst/>
          </a:prstGeom>
          <a:solidFill>
            <a:srgbClr val="0D7C8F"/>
          </a:solidFill>
          <a:ln/>
        </p:spPr>
      </p:sp>
      <p:sp>
        <p:nvSpPr>
          <p:cNvPr id="21" name="Text 19"/>
          <p:cNvSpPr txBox="1"/>
          <p:nvPr/>
        </p:nvSpPr>
        <p:spPr>
          <a:xfrm>
            <a:off x="5047488" y="2569464"/>
            <a:ext cx="338328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Workforce management</a:t>
            </a:r>
            <a:endParaRPr lang="en-US" sz="1200" dirty="0"/>
          </a:p>
        </p:txBody>
      </p:sp>
      <p:sp>
        <p:nvSpPr>
          <p:cNvPr id="22" name="Text 20"/>
          <p:cNvSpPr txBox="1"/>
          <p:nvPr/>
        </p:nvSpPr>
        <p:spPr>
          <a:xfrm>
            <a:off x="5047488" y="2825496"/>
            <a:ext cx="33832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Sequencing the work against the people you actually have</a:t>
            </a:r>
            <a:endParaRPr lang="en-US" sz="1000" dirty="0"/>
          </a:p>
        </p:txBody>
      </p:sp>
      <p:sp>
        <p:nvSpPr>
          <p:cNvPr id="23" name="Shape 21"/>
          <p:cNvSpPr/>
          <p:nvPr/>
        </p:nvSpPr>
        <p:spPr>
          <a:xfrm>
            <a:off x="548640" y="3273552"/>
            <a:ext cx="3931920" cy="64008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24" name="Shape 22"/>
          <p:cNvSpPr/>
          <p:nvPr/>
        </p:nvSpPr>
        <p:spPr>
          <a:xfrm>
            <a:off x="749808" y="3410712"/>
            <a:ext cx="54864" cy="365760"/>
          </a:xfrm>
          <a:prstGeom prst="rect">
            <a:avLst/>
          </a:prstGeom>
          <a:solidFill>
            <a:srgbClr val="3B82F6"/>
          </a:solidFill>
          <a:ln/>
        </p:spPr>
      </p:sp>
      <p:sp>
        <p:nvSpPr>
          <p:cNvPr id="25" name="Text 23"/>
          <p:cNvSpPr txBox="1"/>
          <p:nvPr/>
        </p:nvSpPr>
        <p:spPr>
          <a:xfrm>
            <a:off x="932688" y="3328416"/>
            <a:ext cx="338328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Recruiting</a:t>
            </a:r>
            <a:endParaRPr lang="en-US" sz="1200" dirty="0"/>
          </a:p>
        </p:txBody>
      </p:sp>
      <p:sp>
        <p:nvSpPr>
          <p:cNvPr id="26" name="Text 24"/>
          <p:cNvSpPr txBox="1"/>
          <p:nvPr/>
        </p:nvSpPr>
        <p:spPr>
          <a:xfrm>
            <a:off x="932688" y="3584448"/>
            <a:ext cx="33832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Finding them, screening them, and answering them faster</a:t>
            </a:r>
            <a:endParaRPr lang="en-US" sz="1000" dirty="0"/>
          </a:p>
        </p:txBody>
      </p:sp>
      <p:sp>
        <p:nvSpPr>
          <p:cNvPr id="27" name="Shape 25"/>
          <p:cNvSpPr/>
          <p:nvPr/>
        </p:nvSpPr>
        <p:spPr>
          <a:xfrm>
            <a:off x="4663440" y="3273552"/>
            <a:ext cx="3931920" cy="64008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28" name="Shape 26"/>
          <p:cNvSpPr/>
          <p:nvPr/>
        </p:nvSpPr>
        <p:spPr>
          <a:xfrm>
            <a:off x="4864608" y="3410712"/>
            <a:ext cx="54864" cy="365760"/>
          </a:xfrm>
          <a:prstGeom prst="rect">
            <a:avLst/>
          </a:prstGeom>
          <a:solidFill>
            <a:srgbClr val="D4A843"/>
          </a:solidFill>
          <a:ln/>
        </p:spPr>
      </p:sp>
      <p:sp>
        <p:nvSpPr>
          <p:cNvPr id="29" name="Text 27"/>
          <p:cNvSpPr txBox="1"/>
          <p:nvPr/>
        </p:nvSpPr>
        <p:spPr>
          <a:xfrm>
            <a:off x="5047488" y="3328416"/>
            <a:ext cx="338328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Training</a:t>
            </a:r>
            <a:endParaRPr lang="en-US" sz="1200" dirty="0"/>
          </a:p>
        </p:txBody>
      </p:sp>
      <p:sp>
        <p:nvSpPr>
          <p:cNvPr id="30" name="Text 28"/>
          <p:cNvSpPr txBox="1"/>
          <p:nvPr/>
        </p:nvSpPr>
        <p:spPr>
          <a:xfrm>
            <a:off x="5047488" y="3584448"/>
            <a:ext cx="33832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The 34-year veteran's knowledge, before he walks out</a:t>
            </a:r>
            <a:endParaRPr lang="en-US" sz="1000" dirty="0"/>
          </a:p>
        </p:txBody>
      </p:sp>
      <p:sp>
        <p:nvSpPr>
          <p:cNvPr id="31" name="Text 29"/>
          <p:cNvSpPr txBox="1"/>
          <p:nvPr/>
        </p:nvSpPr>
        <p:spPr>
          <a:xfrm>
            <a:off x="548640" y="4041648"/>
            <a:ext cx="8046720" cy="329184"/>
          </a:xfrm>
          <a:prstGeom prst="rect">
            <a:avLst/>
          </a:prstGeom>
          <a:noFill/>
          <a:ln/>
        </p:spPr>
        <p:txBody>
          <a:bodyPr wrap="square" lIns="0" tIns="0" rIns="0" bIns="0" rtlCol="0" anchor="ctr"/>
          <a:lstStyle/>
          <a:p>
            <a:pPr indent="0" marL="0">
              <a:buNone/>
            </a:pPr>
            <a:r>
              <a:rPr lang="en-US" sz="1150" b="1" i="1" dirty="0">
                <a:solidFill>
                  <a:srgbClr val="0D7C8F"/>
                </a:solidFill>
                <a:latin typeface="Calibri" pitchFamily="34" charset="0"/>
                <a:ea typeface="Calibri" pitchFamily="34" charset="-122"/>
                <a:cs typeface="Calibri" pitchFamily="34" charset="-120"/>
              </a:rPr>
              <a:t>Nothing on that list is a robot. All of it is software that helps you do the job you already have — and we'll spend the middle of this hour on the ones that matter most.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How fast each piece is moving</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Text 3"/>
          <p:cNvSpPr txBox="1"/>
          <p:nvPr/>
        </p:nvSpPr>
        <p:spPr>
          <a:xfrm>
            <a:off x="548640" y="822960"/>
            <a:ext cx="8046720" cy="219456"/>
          </a:xfrm>
          <a:prstGeom prst="rect">
            <a:avLst/>
          </a:prstGeom>
          <a:noFill/>
          <a:ln/>
        </p:spPr>
        <p:txBody>
          <a:bodyPr wrap="square" lIns="0" tIns="0" rIns="0" bIns="0" rtlCol="0" anchor="ctr"/>
          <a:lstStyle/>
          <a:p>
            <a:pPr indent="0" marL="0">
              <a:buNone/>
            </a:pPr>
            <a:r>
              <a:rPr lang="en-US" sz="900" b="1" spc="120" kern="0" dirty="0">
                <a:solidFill>
                  <a:srgbClr val="8896A7"/>
                </a:solidFill>
                <a:latin typeface="Calibri" pitchFamily="34" charset="0"/>
                <a:ea typeface="Calibri" pitchFamily="34" charset="-122"/>
                <a:cs typeface="Calibri" pitchFamily="34" charset="-120"/>
              </a:rPr>
              <a:t>PROJECT SENTINEL  ·  TRAJECTORY ANALYSIS  ·  SEPTEMBER 1, 2026</a:t>
            </a:r>
            <a:endParaRPr lang="en-US" sz="900" dirty="0"/>
          </a:p>
        </p:txBody>
      </p:sp>
      <p:sp>
        <p:nvSpPr>
          <p:cNvPr id="6" name="Text 4"/>
          <p:cNvSpPr txBox="1"/>
          <p:nvPr/>
        </p:nvSpPr>
        <p:spPr>
          <a:xfrm>
            <a:off x="3017520" y="1078992"/>
            <a:ext cx="1600200" cy="219456"/>
          </a:xfrm>
          <a:prstGeom prst="rect">
            <a:avLst/>
          </a:prstGeom>
          <a:noFill/>
          <a:ln/>
        </p:spPr>
        <p:txBody>
          <a:bodyPr wrap="square" lIns="0" tIns="0" rIns="0" bIns="0" rtlCol="0" anchor="ctr"/>
          <a:lstStyle/>
          <a:p>
            <a:pPr indent="0" marL="0">
              <a:buNone/>
            </a:pPr>
            <a:r>
              <a:rPr lang="en-US" sz="850" b="1" spc="100" kern="0" dirty="0">
                <a:solidFill>
                  <a:srgbClr val="8896A7"/>
                </a:solidFill>
                <a:latin typeface="Calibri" pitchFamily="34" charset="0"/>
                <a:ea typeface="Calibri" pitchFamily="34" charset="-122"/>
                <a:cs typeface="Calibri" pitchFamily="34" charset="-120"/>
              </a:rPr>
              <a:t>VELOCITY</a:t>
            </a:r>
            <a:endParaRPr lang="en-US" sz="850" dirty="0"/>
          </a:p>
        </p:txBody>
      </p:sp>
      <p:sp>
        <p:nvSpPr>
          <p:cNvPr id="7" name="Text 5"/>
          <p:cNvSpPr txBox="1"/>
          <p:nvPr/>
        </p:nvSpPr>
        <p:spPr>
          <a:xfrm>
            <a:off x="5943600" y="1078992"/>
            <a:ext cx="2651760" cy="219456"/>
          </a:xfrm>
          <a:prstGeom prst="rect">
            <a:avLst/>
          </a:prstGeom>
          <a:noFill/>
          <a:ln/>
        </p:spPr>
        <p:txBody>
          <a:bodyPr wrap="square" lIns="0" tIns="0" rIns="0" bIns="0" rtlCol="0" anchor="ctr"/>
          <a:lstStyle/>
          <a:p>
            <a:pPr indent="0" marL="0">
              <a:buNone/>
            </a:pPr>
            <a:r>
              <a:rPr lang="en-US" sz="850" b="1" spc="100" kern="0" dirty="0">
                <a:solidFill>
                  <a:srgbClr val="8896A7"/>
                </a:solidFill>
                <a:latin typeface="Calibri" pitchFamily="34" charset="0"/>
                <a:ea typeface="Calibri" pitchFamily="34" charset="-122"/>
                <a:cs typeface="Calibri" pitchFamily="34" charset="-120"/>
              </a:rPr>
              <a:t>DIRECTION</a:t>
            </a:r>
            <a:endParaRPr lang="en-US" sz="850" dirty="0"/>
          </a:p>
        </p:txBody>
      </p:sp>
      <p:sp>
        <p:nvSpPr>
          <p:cNvPr id="8" name="Shape 6"/>
          <p:cNvSpPr/>
          <p:nvPr/>
        </p:nvSpPr>
        <p:spPr>
          <a:xfrm>
            <a:off x="548640" y="1371600"/>
            <a:ext cx="8046720" cy="43891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9" name="Text 7"/>
          <p:cNvSpPr txBox="1"/>
          <p:nvPr/>
        </p:nvSpPr>
        <p:spPr>
          <a:xfrm>
            <a:off x="777240" y="1371600"/>
            <a:ext cx="2148840" cy="43891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Humanoid robots</a:t>
            </a:r>
            <a:endParaRPr lang="en-US" sz="1200" dirty="0"/>
          </a:p>
        </p:txBody>
      </p:sp>
      <p:sp>
        <p:nvSpPr>
          <p:cNvPr id="10" name="Shape 8"/>
          <p:cNvSpPr/>
          <p:nvPr/>
        </p:nvSpPr>
        <p:spPr>
          <a:xfrm>
            <a:off x="3017520" y="1490472"/>
            <a:ext cx="484632" cy="201168"/>
          </a:xfrm>
          <a:prstGeom prst="roundRect">
            <a:avLst>
              <a:gd name="adj" fmla="val 159091"/>
            </a:avLst>
          </a:prstGeom>
          <a:solidFill>
            <a:srgbClr val="C2410C"/>
          </a:solidFill>
          <a:ln/>
        </p:spPr>
      </p:sp>
      <p:sp>
        <p:nvSpPr>
          <p:cNvPr id="11" name="Shape 9"/>
          <p:cNvSpPr/>
          <p:nvPr/>
        </p:nvSpPr>
        <p:spPr>
          <a:xfrm>
            <a:off x="3575304" y="1490472"/>
            <a:ext cx="484632" cy="201168"/>
          </a:xfrm>
          <a:prstGeom prst="roundRect">
            <a:avLst>
              <a:gd name="adj" fmla="val 159091"/>
            </a:avLst>
          </a:prstGeom>
          <a:solidFill>
            <a:srgbClr val="C2410C"/>
          </a:solidFill>
          <a:ln/>
        </p:spPr>
      </p:sp>
      <p:sp>
        <p:nvSpPr>
          <p:cNvPr id="12" name="Shape 10"/>
          <p:cNvSpPr/>
          <p:nvPr/>
        </p:nvSpPr>
        <p:spPr>
          <a:xfrm>
            <a:off x="4133088" y="1490472"/>
            <a:ext cx="484632" cy="201168"/>
          </a:xfrm>
          <a:prstGeom prst="roundRect">
            <a:avLst>
              <a:gd name="adj" fmla="val 159091"/>
            </a:avLst>
          </a:prstGeom>
          <a:solidFill>
            <a:srgbClr val="C2410C"/>
          </a:solidFill>
          <a:ln/>
        </p:spPr>
      </p:sp>
      <p:sp>
        <p:nvSpPr>
          <p:cNvPr id="13" name="Text 11"/>
          <p:cNvSpPr txBox="1"/>
          <p:nvPr/>
        </p:nvSpPr>
        <p:spPr>
          <a:xfrm>
            <a:off x="4800600" y="1371600"/>
            <a:ext cx="1097280" cy="438912"/>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Extremely fast</a:t>
            </a:r>
            <a:endParaRPr lang="en-US" sz="1000" dirty="0"/>
          </a:p>
        </p:txBody>
      </p:sp>
      <p:sp>
        <p:nvSpPr>
          <p:cNvPr id="14" name="Text 12"/>
          <p:cNvSpPr txBox="1"/>
          <p:nvPr/>
        </p:nvSpPr>
        <p:spPr>
          <a:xfrm>
            <a:off x="5943600" y="1371600"/>
            <a:ext cx="2514600" cy="43891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Crossed the commercialization threshold</a:t>
            </a:r>
            <a:endParaRPr lang="en-US" sz="950" dirty="0"/>
          </a:p>
        </p:txBody>
      </p:sp>
      <p:sp>
        <p:nvSpPr>
          <p:cNvPr id="15" name="Shape 13"/>
          <p:cNvSpPr/>
          <p:nvPr/>
        </p:nvSpPr>
        <p:spPr>
          <a:xfrm>
            <a:off x="548640" y="1901952"/>
            <a:ext cx="8046720" cy="43891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6" name="Text 14"/>
          <p:cNvSpPr txBox="1"/>
          <p:nvPr/>
        </p:nvSpPr>
        <p:spPr>
          <a:xfrm>
            <a:off x="777240" y="1901952"/>
            <a:ext cx="2148840" cy="43891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price of AI software</a:t>
            </a:r>
            <a:endParaRPr lang="en-US" sz="1200" dirty="0"/>
          </a:p>
        </p:txBody>
      </p:sp>
      <p:sp>
        <p:nvSpPr>
          <p:cNvPr id="17" name="Shape 15"/>
          <p:cNvSpPr/>
          <p:nvPr/>
        </p:nvSpPr>
        <p:spPr>
          <a:xfrm>
            <a:off x="3017520" y="2020824"/>
            <a:ext cx="484632" cy="201168"/>
          </a:xfrm>
          <a:prstGeom prst="roundRect">
            <a:avLst>
              <a:gd name="adj" fmla="val 159091"/>
            </a:avLst>
          </a:prstGeom>
          <a:solidFill>
            <a:srgbClr val="C2410C"/>
          </a:solidFill>
          <a:ln/>
        </p:spPr>
      </p:sp>
      <p:sp>
        <p:nvSpPr>
          <p:cNvPr id="18" name="Shape 16"/>
          <p:cNvSpPr/>
          <p:nvPr/>
        </p:nvSpPr>
        <p:spPr>
          <a:xfrm>
            <a:off x="3575304" y="2020824"/>
            <a:ext cx="484632" cy="201168"/>
          </a:xfrm>
          <a:prstGeom prst="roundRect">
            <a:avLst>
              <a:gd name="adj" fmla="val 159091"/>
            </a:avLst>
          </a:prstGeom>
          <a:solidFill>
            <a:srgbClr val="C2410C"/>
          </a:solidFill>
          <a:ln/>
        </p:spPr>
      </p:sp>
      <p:sp>
        <p:nvSpPr>
          <p:cNvPr id="19" name="Shape 17"/>
          <p:cNvSpPr/>
          <p:nvPr/>
        </p:nvSpPr>
        <p:spPr>
          <a:xfrm>
            <a:off x="4133088" y="2020824"/>
            <a:ext cx="484632" cy="201168"/>
          </a:xfrm>
          <a:prstGeom prst="roundRect">
            <a:avLst>
              <a:gd name="adj" fmla="val 159091"/>
            </a:avLst>
          </a:prstGeom>
          <a:solidFill>
            <a:srgbClr val="C2410C"/>
          </a:solidFill>
          <a:ln/>
        </p:spPr>
      </p:sp>
      <p:sp>
        <p:nvSpPr>
          <p:cNvPr id="20" name="Text 18"/>
          <p:cNvSpPr txBox="1"/>
          <p:nvPr/>
        </p:nvSpPr>
        <p:spPr>
          <a:xfrm>
            <a:off x="4800600" y="1901952"/>
            <a:ext cx="1097280" cy="438912"/>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Extremely fast</a:t>
            </a:r>
            <a:endParaRPr lang="en-US" sz="1000" dirty="0"/>
          </a:p>
        </p:txBody>
      </p:sp>
      <p:sp>
        <p:nvSpPr>
          <p:cNvPr id="21" name="Text 19"/>
          <p:cNvSpPr txBox="1"/>
          <p:nvPr/>
        </p:nvSpPr>
        <p:spPr>
          <a:xfrm>
            <a:off x="5943600" y="1901952"/>
            <a:ext cx="2514600" cy="43891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3–20× cost drops in a single month</a:t>
            </a:r>
            <a:endParaRPr lang="en-US" sz="950" dirty="0"/>
          </a:p>
        </p:txBody>
      </p:sp>
      <p:sp>
        <p:nvSpPr>
          <p:cNvPr id="22" name="Shape 20"/>
          <p:cNvSpPr/>
          <p:nvPr/>
        </p:nvSpPr>
        <p:spPr>
          <a:xfrm>
            <a:off x="548640" y="2432304"/>
            <a:ext cx="8046720" cy="43891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23" name="Text 21"/>
          <p:cNvSpPr txBox="1"/>
          <p:nvPr/>
        </p:nvSpPr>
        <p:spPr>
          <a:xfrm>
            <a:off x="777240" y="2432304"/>
            <a:ext cx="2148840" cy="43891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Enterprise automation</a:t>
            </a:r>
            <a:endParaRPr lang="en-US" sz="1200" dirty="0"/>
          </a:p>
        </p:txBody>
      </p:sp>
      <p:sp>
        <p:nvSpPr>
          <p:cNvPr id="24" name="Shape 22"/>
          <p:cNvSpPr/>
          <p:nvPr/>
        </p:nvSpPr>
        <p:spPr>
          <a:xfrm>
            <a:off x="3017520" y="2551176"/>
            <a:ext cx="484632" cy="201168"/>
          </a:xfrm>
          <a:prstGeom prst="roundRect">
            <a:avLst>
              <a:gd name="adj" fmla="val 159091"/>
            </a:avLst>
          </a:prstGeom>
          <a:solidFill>
            <a:srgbClr val="F0A427"/>
          </a:solidFill>
          <a:ln/>
        </p:spPr>
      </p:sp>
      <p:sp>
        <p:nvSpPr>
          <p:cNvPr id="25" name="Shape 23"/>
          <p:cNvSpPr/>
          <p:nvPr/>
        </p:nvSpPr>
        <p:spPr>
          <a:xfrm>
            <a:off x="3575304" y="2551176"/>
            <a:ext cx="484632" cy="201168"/>
          </a:xfrm>
          <a:prstGeom prst="roundRect">
            <a:avLst>
              <a:gd name="adj" fmla="val 159091"/>
            </a:avLst>
          </a:prstGeom>
          <a:solidFill>
            <a:srgbClr val="F0A427"/>
          </a:solidFill>
          <a:ln/>
        </p:spPr>
      </p:sp>
      <p:sp>
        <p:nvSpPr>
          <p:cNvPr id="26" name="Shape 24"/>
          <p:cNvSpPr/>
          <p:nvPr/>
        </p:nvSpPr>
        <p:spPr>
          <a:xfrm>
            <a:off x="4133088" y="2551176"/>
            <a:ext cx="484632" cy="201168"/>
          </a:xfrm>
          <a:prstGeom prst="roundRect">
            <a:avLst>
              <a:gd name="adj" fmla="val 159091"/>
            </a:avLst>
          </a:prstGeom>
          <a:solidFill>
            <a:srgbClr val="DCE3EC"/>
          </a:solidFill>
          <a:ln/>
        </p:spPr>
      </p:sp>
      <p:sp>
        <p:nvSpPr>
          <p:cNvPr id="27" name="Text 25"/>
          <p:cNvSpPr txBox="1"/>
          <p:nvPr/>
        </p:nvSpPr>
        <p:spPr>
          <a:xfrm>
            <a:off x="4800600" y="2432304"/>
            <a:ext cx="1097280" cy="438912"/>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Fast</a:t>
            </a:r>
            <a:endParaRPr lang="en-US" sz="1000" dirty="0"/>
          </a:p>
        </p:txBody>
      </p:sp>
      <p:sp>
        <p:nvSpPr>
          <p:cNvPr id="28" name="Text 26"/>
          <p:cNvSpPr txBox="1"/>
          <p:nvPr/>
        </p:nvSpPr>
        <p:spPr>
          <a:xfrm>
            <a:off x="5943600" y="2432304"/>
            <a:ext cx="2514600" cy="43891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Large contracts becoming the template</a:t>
            </a:r>
            <a:endParaRPr lang="en-US" sz="950" dirty="0"/>
          </a:p>
        </p:txBody>
      </p:sp>
      <p:sp>
        <p:nvSpPr>
          <p:cNvPr id="29" name="Shape 27"/>
          <p:cNvSpPr/>
          <p:nvPr/>
        </p:nvSpPr>
        <p:spPr>
          <a:xfrm>
            <a:off x="548640" y="2962656"/>
            <a:ext cx="8046720" cy="43891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30" name="Text 28"/>
          <p:cNvSpPr txBox="1"/>
          <p:nvPr/>
        </p:nvSpPr>
        <p:spPr>
          <a:xfrm>
            <a:off x="777240" y="2962656"/>
            <a:ext cx="2148840" cy="43891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AI regulation</a:t>
            </a:r>
            <a:endParaRPr lang="en-US" sz="1200" dirty="0"/>
          </a:p>
        </p:txBody>
      </p:sp>
      <p:sp>
        <p:nvSpPr>
          <p:cNvPr id="31" name="Shape 29"/>
          <p:cNvSpPr/>
          <p:nvPr/>
        </p:nvSpPr>
        <p:spPr>
          <a:xfrm>
            <a:off x="3017520" y="3081528"/>
            <a:ext cx="484632" cy="201168"/>
          </a:xfrm>
          <a:prstGeom prst="roundRect">
            <a:avLst>
              <a:gd name="adj" fmla="val 159091"/>
            </a:avLst>
          </a:prstGeom>
          <a:solidFill>
            <a:srgbClr val="F0A427"/>
          </a:solidFill>
          <a:ln/>
        </p:spPr>
      </p:sp>
      <p:sp>
        <p:nvSpPr>
          <p:cNvPr id="32" name="Shape 30"/>
          <p:cNvSpPr/>
          <p:nvPr/>
        </p:nvSpPr>
        <p:spPr>
          <a:xfrm>
            <a:off x="3575304" y="3081528"/>
            <a:ext cx="484632" cy="201168"/>
          </a:xfrm>
          <a:prstGeom prst="roundRect">
            <a:avLst>
              <a:gd name="adj" fmla="val 159091"/>
            </a:avLst>
          </a:prstGeom>
          <a:solidFill>
            <a:srgbClr val="F0A427"/>
          </a:solidFill>
          <a:ln/>
        </p:spPr>
      </p:sp>
      <p:sp>
        <p:nvSpPr>
          <p:cNvPr id="33" name="Shape 31"/>
          <p:cNvSpPr/>
          <p:nvPr/>
        </p:nvSpPr>
        <p:spPr>
          <a:xfrm>
            <a:off x="4133088" y="3081528"/>
            <a:ext cx="484632" cy="201168"/>
          </a:xfrm>
          <a:prstGeom prst="roundRect">
            <a:avLst>
              <a:gd name="adj" fmla="val 159091"/>
            </a:avLst>
          </a:prstGeom>
          <a:solidFill>
            <a:srgbClr val="DCE3EC"/>
          </a:solidFill>
          <a:ln/>
        </p:spPr>
      </p:sp>
      <p:sp>
        <p:nvSpPr>
          <p:cNvPr id="34" name="Text 32"/>
          <p:cNvSpPr txBox="1"/>
          <p:nvPr/>
        </p:nvSpPr>
        <p:spPr>
          <a:xfrm>
            <a:off x="4800600" y="2962656"/>
            <a:ext cx="1097280" cy="438912"/>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Fast</a:t>
            </a:r>
            <a:endParaRPr lang="en-US" sz="1000" dirty="0"/>
          </a:p>
        </p:txBody>
      </p:sp>
      <p:sp>
        <p:nvSpPr>
          <p:cNvPr id="35" name="Text 33"/>
          <p:cNvSpPr txBox="1"/>
          <p:nvPr/>
        </p:nvSpPr>
        <p:spPr>
          <a:xfrm>
            <a:off x="5943600" y="2962656"/>
            <a:ext cx="2514600" cy="43891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New — was near zero, now accelerating</a:t>
            </a:r>
            <a:endParaRPr lang="en-US" sz="950" dirty="0"/>
          </a:p>
        </p:txBody>
      </p:sp>
      <p:sp>
        <p:nvSpPr>
          <p:cNvPr id="36" name="Shape 34"/>
          <p:cNvSpPr/>
          <p:nvPr/>
        </p:nvSpPr>
        <p:spPr>
          <a:xfrm>
            <a:off x="548640" y="3493008"/>
            <a:ext cx="8046720" cy="43891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37" name="Text 35"/>
          <p:cNvSpPr txBox="1"/>
          <p:nvPr/>
        </p:nvSpPr>
        <p:spPr>
          <a:xfrm>
            <a:off x="777240" y="3493008"/>
            <a:ext cx="2148840" cy="43891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Raw model capability</a:t>
            </a:r>
            <a:endParaRPr lang="en-US" sz="1200" dirty="0"/>
          </a:p>
        </p:txBody>
      </p:sp>
      <p:sp>
        <p:nvSpPr>
          <p:cNvPr id="38" name="Shape 36"/>
          <p:cNvSpPr/>
          <p:nvPr/>
        </p:nvSpPr>
        <p:spPr>
          <a:xfrm>
            <a:off x="3017520" y="3611880"/>
            <a:ext cx="484632" cy="201168"/>
          </a:xfrm>
          <a:prstGeom prst="roundRect">
            <a:avLst>
              <a:gd name="adj" fmla="val 159091"/>
            </a:avLst>
          </a:prstGeom>
          <a:solidFill>
            <a:srgbClr val="F7C873"/>
          </a:solidFill>
          <a:ln/>
        </p:spPr>
      </p:sp>
      <p:sp>
        <p:nvSpPr>
          <p:cNvPr id="39" name="Shape 37"/>
          <p:cNvSpPr/>
          <p:nvPr/>
        </p:nvSpPr>
        <p:spPr>
          <a:xfrm>
            <a:off x="3575304" y="3611880"/>
            <a:ext cx="484632" cy="201168"/>
          </a:xfrm>
          <a:prstGeom prst="roundRect">
            <a:avLst>
              <a:gd name="adj" fmla="val 159091"/>
            </a:avLst>
          </a:prstGeom>
          <a:solidFill>
            <a:srgbClr val="DCE3EC"/>
          </a:solidFill>
          <a:ln/>
        </p:spPr>
      </p:sp>
      <p:sp>
        <p:nvSpPr>
          <p:cNvPr id="40" name="Shape 38"/>
          <p:cNvSpPr/>
          <p:nvPr/>
        </p:nvSpPr>
        <p:spPr>
          <a:xfrm>
            <a:off x="4133088" y="3611880"/>
            <a:ext cx="484632" cy="201168"/>
          </a:xfrm>
          <a:prstGeom prst="roundRect">
            <a:avLst>
              <a:gd name="adj" fmla="val 159091"/>
            </a:avLst>
          </a:prstGeom>
          <a:solidFill>
            <a:srgbClr val="DCE3EC"/>
          </a:solidFill>
          <a:ln/>
        </p:spPr>
      </p:sp>
      <p:sp>
        <p:nvSpPr>
          <p:cNvPr id="41" name="Text 39"/>
          <p:cNvSpPr txBox="1"/>
          <p:nvPr/>
        </p:nvSpPr>
        <p:spPr>
          <a:xfrm>
            <a:off x="4800600" y="3493008"/>
            <a:ext cx="1097280" cy="438912"/>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Moderate</a:t>
            </a:r>
            <a:endParaRPr lang="en-US" sz="1000" dirty="0"/>
          </a:p>
        </p:txBody>
      </p:sp>
      <p:sp>
        <p:nvSpPr>
          <p:cNvPr id="42" name="Text 40"/>
          <p:cNvSpPr txBox="1"/>
          <p:nvPr/>
        </p:nvSpPr>
        <p:spPr>
          <a:xfrm>
            <a:off x="5943600" y="3493008"/>
            <a:ext cx="2514600" cy="43891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Stabilizing — the ceiling has held 30+ days</a:t>
            </a:r>
            <a:endParaRPr lang="en-US" sz="950" dirty="0"/>
          </a:p>
        </p:txBody>
      </p:sp>
      <p:sp>
        <p:nvSpPr>
          <p:cNvPr id="43" name="Shape 41"/>
          <p:cNvSpPr/>
          <p:nvPr/>
        </p:nvSpPr>
        <p:spPr>
          <a:xfrm>
            <a:off x="548640" y="4023360"/>
            <a:ext cx="8046720" cy="54864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44" name="Text 42"/>
          <p:cNvSpPr txBox="1"/>
          <p:nvPr/>
        </p:nvSpPr>
        <p:spPr>
          <a:xfrm>
            <a:off x="822960" y="4023360"/>
            <a:ext cx="7498080" cy="548640"/>
          </a:xfrm>
          <a:prstGeom prst="rect">
            <a:avLst/>
          </a:prstGeom>
          <a:noFill/>
          <a:ln/>
        </p:spPr>
        <p:txBody>
          <a:bodyPr wrap="square" lIns="0" tIns="0" rIns="0" bIns="0" rtlCol="0" anchor="ctr"/>
          <a:lstStyle/>
          <a:p>
            <a:pPr indent="0" marL="0">
              <a:buNone/>
            </a:pPr>
            <a:r>
              <a:rPr lang="en-US" sz="1150" b="1" dirty="0">
                <a:solidFill>
                  <a:srgbClr val="D4A843"/>
                </a:solidFill>
                <a:latin typeface="Calibri" pitchFamily="34" charset="0"/>
                <a:ea typeface="Calibri" pitchFamily="34" charset="-122"/>
                <a:cs typeface="Calibri" pitchFamily="34" charset="-120"/>
              </a:rPr>
              <a:t>Four of the five are accelerating. The two moving fastest are the two that land in your budget: the robots, and the price of the software.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731520" y="1874520"/>
            <a:ext cx="1097280" cy="54864"/>
          </a:xfrm>
          <a:prstGeom prst="rect">
            <a:avLst/>
          </a:prstGeom>
          <a:solidFill>
            <a:srgbClr val="D4A843"/>
          </a:solidFill>
          <a:ln/>
        </p:spPr>
      </p:sp>
      <p:sp>
        <p:nvSpPr>
          <p:cNvPr id="3" name="Text 1"/>
          <p:cNvSpPr txBox="1"/>
          <p:nvPr/>
        </p:nvSpPr>
        <p:spPr>
          <a:xfrm>
            <a:off x="731520" y="1417320"/>
            <a:ext cx="7680960" cy="365760"/>
          </a:xfrm>
          <a:prstGeom prst="rect">
            <a:avLst/>
          </a:prstGeom>
          <a:noFill/>
          <a:ln/>
        </p:spPr>
        <p:txBody>
          <a:bodyPr wrap="square" lIns="0" tIns="0" rIns="0" bIns="0" rtlCol="0" anchor="ctr"/>
          <a:lstStyle/>
          <a:p>
            <a:pPr indent="0" marL="0">
              <a:buNone/>
            </a:pPr>
            <a:r>
              <a:rPr lang="en-US" sz="1300" b="1" spc="200" kern="0" dirty="0">
                <a:solidFill>
                  <a:srgbClr val="D4A843"/>
                </a:solidFill>
                <a:latin typeface="Calibri" pitchFamily="34" charset="0"/>
                <a:ea typeface="Calibri" pitchFamily="34" charset="-122"/>
                <a:cs typeface="Calibri" pitchFamily="34" charset="-120"/>
              </a:rPr>
              <a:t>PART TWO</a:t>
            </a:r>
            <a:endParaRPr lang="en-US" sz="1300" dirty="0"/>
          </a:p>
        </p:txBody>
      </p:sp>
      <p:sp>
        <p:nvSpPr>
          <p:cNvPr id="4" name="Text 2"/>
          <p:cNvSpPr txBox="1"/>
          <p:nvPr/>
        </p:nvSpPr>
        <p:spPr>
          <a:xfrm>
            <a:off x="731520" y="2084832"/>
            <a:ext cx="7680960" cy="91440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What's New in Robotics</a:t>
            </a:r>
            <a:endParaRPr lang="en-US" sz="3400" dirty="0"/>
          </a:p>
        </p:txBody>
      </p:sp>
      <p:sp>
        <p:nvSpPr>
          <p:cNvPr id="5" name="Text 3"/>
          <p:cNvSpPr txBox="1"/>
          <p:nvPr/>
        </p:nvSpPr>
        <p:spPr>
          <a:xfrm>
            <a:off x="731520" y="3017520"/>
            <a:ext cx="7680960" cy="548640"/>
          </a:xfrm>
          <a:prstGeom prst="rect">
            <a:avLst/>
          </a:prstGeom>
          <a:noFill/>
          <a:ln/>
        </p:spPr>
        <p:txBody>
          <a:bodyPr wrap="square" lIns="0" tIns="0" rIns="0" bIns="0" rtlCol="0" anchor="ctr"/>
          <a:lstStyle/>
          <a:p>
            <a:pPr indent="0" marL="0">
              <a:buNone/>
            </a:pPr>
            <a:r>
              <a:rPr lang="en-US" sz="1500" dirty="0">
                <a:solidFill>
                  <a:srgbClr val="14A3B8"/>
                </a:solidFill>
                <a:latin typeface="Calibri" pitchFamily="34" charset="0"/>
                <a:ea typeface="Calibri" pitchFamily="34" charset="-122"/>
                <a:cs typeface="Calibri" pitchFamily="34" charset="-120"/>
              </a:rPr>
              <a:t>How fast this is actually moving — and what is really running in plants today</a:t>
            </a:r>
            <a:endParaRPr lang="en-US" sz="1500" dirty="0"/>
          </a:p>
        </p:txBody>
      </p:sp>
      <p:sp>
        <p:nvSpPr>
          <p:cNvPr id="6" name="Text 4"/>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6B7FA0"/>
                </a:solidFill>
                <a:latin typeface="Calibri" pitchFamily="34" charset="0"/>
                <a:ea typeface="Calibri" pitchFamily="34" charset="-122"/>
                <a:cs typeface="Calibri" pitchFamily="34" charset="-120"/>
              </a:rPr>
              <a:t>Shiftwork Solutions LLC  |  (415) 265-1621  |  www.shift-work.com</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So what is a robot?</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8046720" cy="86868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051560"/>
            <a:ext cx="7498080" cy="868680"/>
          </a:xfrm>
          <a:prstGeom prst="rect">
            <a:avLst/>
          </a:prstGeom>
          <a:noFill/>
          <a:ln/>
        </p:spPr>
        <p:txBody>
          <a:bodyPr wrap="square" lIns="0" tIns="0" rIns="0" bIns="0" rtlCol="0" anchor="ctr"/>
          <a:lstStyle/>
          <a:p>
            <a:pPr indent="0" marL="0">
              <a:buNone/>
            </a:pPr>
            <a:r>
              <a:rPr lang="en-US" sz="2300" b="1" dirty="0">
                <a:solidFill>
                  <a:srgbClr val="D4A843"/>
                </a:solidFill>
                <a:latin typeface="Georgia" pitchFamily="34" charset="0"/>
                <a:ea typeface="Georgia" pitchFamily="34" charset="-122"/>
                <a:cs typeface="Georgia" pitchFamily="34" charset="-120"/>
              </a:rPr>
              <a:t>A robot is a machine with an AI inside it.</a:t>
            </a:r>
            <a:endParaRPr lang="en-US" sz="2300" dirty="0"/>
          </a:p>
        </p:txBody>
      </p:sp>
      <p:sp>
        <p:nvSpPr>
          <p:cNvPr id="7" name="Shape 5"/>
          <p:cNvSpPr/>
          <p:nvPr/>
        </p:nvSpPr>
        <p:spPr>
          <a:xfrm>
            <a:off x="548640" y="2057400"/>
            <a:ext cx="3931920" cy="12344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8" name="Text 6"/>
          <p:cNvSpPr txBox="1"/>
          <p:nvPr/>
        </p:nvSpPr>
        <p:spPr>
          <a:xfrm>
            <a:off x="822960" y="2157984"/>
            <a:ext cx="3383280" cy="310896"/>
          </a:xfrm>
          <a:prstGeom prst="rect">
            <a:avLst/>
          </a:prstGeom>
          <a:noFill/>
          <a:ln/>
        </p:spPr>
        <p:txBody>
          <a:bodyPr wrap="square" lIns="0" tIns="0" rIns="0" bIns="0" rtlCol="0" anchor="ctr"/>
          <a:lstStyle/>
          <a:p>
            <a:pPr indent="0" marL="0">
              <a:buNone/>
            </a:pPr>
            <a:r>
              <a:rPr lang="en-US" sz="1400" b="1" dirty="0">
                <a:solidFill>
                  <a:srgbClr val="0D7C8F"/>
                </a:solidFill>
                <a:latin typeface="Calibri" pitchFamily="34" charset="0"/>
                <a:ea typeface="Calibri" pitchFamily="34" charset="-122"/>
                <a:cs typeface="Calibri" pitchFamily="34" charset="-120"/>
              </a:rPr>
              <a:t>EVERYTHING SO FAR</a:t>
            </a:r>
            <a:endParaRPr lang="en-US" sz="1400" dirty="0"/>
          </a:p>
        </p:txBody>
      </p:sp>
      <p:sp>
        <p:nvSpPr>
          <p:cNvPr id="9" name="Text 7"/>
          <p:cNvSpPr txBox="1"/>
          <p:nvPr/>
        </p:nvSpPr>
        <p:spPr>
          <a:xfrm>
            <a:off x="822960" y="2514600"/>
            <a:ext cx="3383280" cy="6858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Software. It plans, it drafts, it looks things up, it answers. It does not touch anything.</a:t>
            </a:r>
            <a:endParaRPr lang="en-US" sz="1200" dirty="0"/>
          </a:p>
        </p:txBody>
      </p:sp>
      <p:sp>
        <p:nvSpPr>
          <p:cNvPr id="10" name="Shape 8"/>
          <p:cNvSpPr/>
          <p:nvPr/>
        </p:nvSpPr>
        <p:spPr>
          <a:xfrm>
            <a:off x="4663440" y="2057400"/>
            <a:ext cx="3931920" cy="123444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1" name="Text 9"/>
          <p:cNvSpPr txBox="1"/>
          <p:nvPr/>
        </p:nvSpPr>
        <p:spPr>
          <a:xfrm>
            <a:off x="4937760" y="2157984"/>
            <a:ext cx="3383280" cy="310896"/>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FROM HERE ON</a:t>
            </a:r>
            <a:endParaRPr lang="en-US" sz="1400" dirty="0"/>
          </a:p>
        </p:txBody>
      </p:sp>
      <p:sp>
        <p:nvSpPr>
          <p:cNvPr id="12" name="Text 10"/>
          <p:cNvSpPr txBox="1"/>
          <p:nvPr/>
        </p:nvSpPr>
        <p:spPr>
          <a:xfrm>
            <a:off x="4937760" y="2514600"/>
            <a:ext cx="3383280" cy="6858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Put that same intelligence inside something that can move, and it can act on your floor.</a:t>
            </a:r>
            <a:endParaRPr lang="en-US" sz="1200" dirty="0"/>
          </a:p>
        </p:txBody>
      </p:sp>
      <p:sp>
        <p:nvSpPr>
          <p:cNvPr id="13" name="Shape 11"/>
          <p:cNvSpPr/>
          <p:nvPr/>
        </p:nvSpPr>
        <p:spPr>
          <a:xfrm>
            <a:off x="548640" y="3429000"/>
            <a:ext cx="8046720" cy="94183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4" name="Text 12"/>
          <p:cNvSpPr txBox="1"/>
          <p:nvPr/>
        </p:nvSpPr>
        <p:spPr>
          <a:xfrm>
            <a:off x="822960" y="3520440"/>
            <a:ext cx="749808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And yes — I've seen Terminator too.</a:t>
            </a:r>
            <a:endParaRPr lang="en-US" sz="1250" dirty="0"/>
          </a:p>
        </p:txBody>
      </p:sp>
      <p:sp>
        <p:nvSpPr>
          <p:cNvPr id="15" name="Text 13"/>
          <p:cNvSpPr txBox="1"/>
          <p:nvPr/>
        </p:nvSpPr>
        <p:spPr>
          <a:xfrm>
            <a:off x="822960" y="3813048"/>
            <a:ext cx="7498080" cy="50292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Could robots eventually do everybody's job? That could happen. Ten years is not the unforeseeable future — it's the foreseeable one, and I'm not going to pretend otherwise. But it is not the decision in front of you this year, and the next twenty minutes are about the decision that is.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How fast this is moving</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97280"/>
            <a:ext cx="2560320" cy="16916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777240" y="1298448"/>
            <a:ext cx="2103120" cy="640080"/>
          </a:xfrm>
          <a:prstGeom prst="rect">
            <a:avLst/>
          </a:prstGeom>
          <a:noFill/>
          <a:ln/>
        </p:spPr>
        <p:txBody>
          <a:bodyPr wrap="square" lIns="0" tIns="0" rIns="0" bIns="0" rtlCol="0" anchor="ctr"/>
          <a:lstStyle/>
          <a:p>
            <a:pPr indent="0" marL="0">
              <a:buNone/>
            </a:pPr>
            <a:r>
              <a:rPr lang="en-US" sz="3400" b="1" dirty="0">
                <a:solidFill>
                  <a:srgbClr val="0D7C8F"/>
                </a:solidFill>
                <a:latin typeface="Georgia" pitchFamily="34" charset="0"/>
                <a:ea typeface="Georgia" pitchFamily="34" charset="-122"/>
                <a:cs typeface="Georgia" pitchFamily="34" charset="-120"/>
              </a:rPr>
              <a:t>~300%</a:t>
            </a:r>
            <a:endParaRPr lang="en-US" sz="3400" dirty="0"/>
          </a:p>
        </p:txBody>
      </p:sp>
      <p:sp>
        <p:nvSpPr>
          <p:cNvPr id="7" name="Text 5"/>
          <p:cNvSpPr txBox="1"/>
          <p:nvPr/>
        </p:nvSpPr>
        <p:spPr>
          <a:xfrm>
            <a:off x="777240" y="1993392"/>
            <a:ext cx="2103120" cy="6858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Year-over-year growth in global humanoid shipments, H1 2026</a:t>
            </a:r>
            <a:endParaRPr lang="en-US" sz="1100" dirty="0"/>
          </a:p>
        </p:txBody>
      </p:sp>
      <p:sp>
        <p:nvSpPr>
          <p:cNvPr id="8" name="Shape 6"/>
          <p:cNvSpPr/>
          <p:nvPr/>
        </p:nvSpPr>
        <p:spPr>
          <a:xfrm>
            <a:off x="3291840" y="1097280"/>
            <a:ext cx="2560320" cy="16916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9" name="Text 7"/>
          <p:cNvSpPr txBox="1"/>
          <p:nvPr/>
        </p:nvSpPr>
        <p:spPr>
          <a:xfrm>
            <a:off x="3520440" y="1298448"/>
            <a:ext cx="2103120" cy="640080"/>
          </a:xfrm>
          <a:prstGeom prst="rect">
            <a:avLst/>
          </a:prstGeom>
          <a:noFill/>
          <a:ln/>
        </p:spPr>
        <p:txBody>
          <a:bodyPr wrap="square" lIns="0" tIns="0" rIns="0" bIns="0" rtlCol="0" anchor="ctr"/>
          <a:lstStyle/>
          <a:p>
            <a:pPr indent="0" marL="0">
              <a:buNone/>
            </a:pPr>
            <a:r>
              <a:rPr lang="en-US" sz="3400" b="1" dirty="0">
                <a:solidFill>
                  <a:srgbClr val="F59E0B"/>
                </a:solidFill>
                <a:latin typeface="Georgia" pitchFamily="34" charset="0"/>
                <a:ea typeface="Georgia" pitchFamily="34" charset="-122"/>
                <a:cs typeface="Georgia" pitchFamily="34" charset="-120"/>
              </a:rPr>
              <a:t>22,000+</a:t>
            </a:r>
            <a:endParaRPr lang="en-US" sz="3400" dirty="0"/>
          </a:p>
        </p:txBody>
      </p:sp>
      <p:sp>
        <p:nvSpPr>
          <p:cNvPr id="10" name="Text 8"/>
          <p:cNvSpPr txBox="1"/>
          <p:nvPr/>
        </p:nvSpPr>
        <p:spPr>
          <a:xfrm>
            <a:off x="3520440" y="1993392"/>
            <a:ext cx="2103120" cy="6858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Units shipped in the first half of 2026 alone</a:t>
            </a:r>
            <a:endParaRPr lang="en-US" sz="1100" dirty="0"/>
          </a:p>
        </p:txBody>
      </p:sp>
      <p:sp>
        <p:nvSpPr>
          <p:cNvPr id="11" name="Shape 9"/>
          <p:cNvSpPr/>
          <p:nvPr/>
        </p:nvSpPr>
        <p:spPr>
          <a:xfrm>
            <a:off x="6035040" y="1097280"/>
            <a:ext cx="2560320" cy="16916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2" name="Text 10"/>
          <p:cNvSpPr txBox="1"/>
          <p:nvPr/>
        </p:nvSpPr>
        <p:spPr>
          <a:xfrm>
            <a:off x="6263640" y="1298448"/>
            <a:ext cx="2103120" cy="640080"/>
          </a:xfrm>
          <a:prstGeom prst="rect">
            <a:avLst/>
          </a:prstGeom>
          <a:noFill/>
          <a:ln/>
        </p:spPr>
        <p:txBody>
          <a:bodyPr wrap="square" lIns="0" tIns="0" rIns="0" bIns="0" rtlCol="0" anchor="ctr"/>
          <a:lstStyle/>
          <a:p>
            <a:pPr indent="0" marL="0">
              <a:buNone/>
            </a:pPr>
            <a:r>
              <a:rPr lang="en-US" sz="3400" b="1" dirty="0">
                <a:solidFill>
                  <a:srgbClr val="D4A843"/>
                </a:solidFill>
                <a:latin typeface="Georgia" pitchFamily="34" charset="0"/>
                <a:ea typeface="Georgia" pitchFamily="34" charset="-122"/>
                <a:cs typeface="Georgia" pitchFamily="34" charset="-120"/>
              </a:rPr>
              <a:t>~75%</a:t>
            </a:r>
            <a:endParaRPr lang="en-US" sz="3400" dirty="0"/>
          </a:p>
        </p:txBody>
      </p:sp>
      <p:sp>
        <p:nvSpPr>
          <p:cNvPr id="13" name="Text 11"/>
          <p:cNvSpPr txBox="1"/>
          <p:nvPr/>
        </p:nvSpPr>
        <p:spPr>
          <a:xfrm>
            <a:off x="6263640" y="1993392"/>
            <a:ext cx="2103120" cy="6858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Shipped by just two Chinese makers. All five of the top vendors are Chinese.</a:t>
            </a:r>
            <a:endParaRPr lang="en-US" sz="1100" dirty="0"/>
          </a:p>
        </p:txBody>
      </p:sp>
      <p:sp>
        <p:nvSpPr>
          <p:cNvPr id="14" name="Shape 12"/>
          <p:cNvSpPr/>
          <p:nvPr/>
        </p:nvSpPr>
        <p:spPr>
          <a:xfrm>
            <a:off x="548640" y="2971800"/>
            <a:ext cx="8046720" cy="658368"/>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5" name="Text 13"/>
          <p:cNvSpPr txBox="1"/>
          <p:nvPr/>
        </p:nvSpPr>
        <p:spPr>
          <a:xfrm>
            <a:off x="822960" y="3072384"/>
            <a:ext cx="749808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The top five humanoid makers in the world are all Chinese, and two of them ship three-quarters of the global total. That means the cost curve falls the way flat screens and solar panels fell. What lands in your mill in 2030 will not cost what today's costs.</a:t>
            </a:r>
            <a:endParaRPr lang="en-US" sz="1250" dirty="0"/>
          </a:p>
        </p:txBody>
      </p:sp>
      <p:sp>
        <p:nvSpPr>
          <p:cNvPr id="16" name="Shape 14"/>
          <p:cNvSpPr/>
          <p:nvPr/>
        </p:nvSpPr>
        <p:spPr>
          <a:xfrm>
            <a:off x="548640" y="3776472"/>
            <a:ext cx="8046720" cy="59436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7" name="Text 15"/>
          <p:cNvSpPr txBox="1"/>
          <p:nvPr/>
        </p:nvSpPr>
        <p:spPr>
          <a:xfrm>
            <a:off x="822960" y="3877056"/>
            <a:ext cx="7498080" cy="411480"/>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Almost none of those are doing real production work. Pilots, demos, R&amp;D. Anybody telling you humanoids are about to run your converting line is selling something.</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What a robot could do, and when</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143000"/>
            <a:ext cx="8046720" cy="68580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Shape 4"/>
          <p:cNvSpPr/>
          <p:nvPr/>
        </p:nvSpPr>
        <p:spPr>
          <a:xfrm>
            <a:off x="731520" y="1298448"/>
            <a:ext cx="64008" cy="384048"/>
          </a:xfrm>
          <a:prstGeom prst="rect">
            <a:avLst/>
          </a:prstGeom>
          <a:solidFill>
            <a:srgbClr val="8896A7"/>
          </a:solidFill>
          <a:ln/>
        </p:spPr>
      </p:sp>
      <p:sp>
        <p:nvSpPr>
          <p:cNvPr id="7" name="Text 5"/>
          <p:cNvSpPr txBox="1"/>
          <p:nvPr/>
        </p:nvSpPr>
        <p:spPr>
          <a:xfrm>
            <a:off x="960120" y="1143000"/>
            <a:ext cx="1051560" cy="68580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2002</a:t>
            </a:r>
            <a:endParaRPr lang="en-US" sz="1400" dirty="0"/>
          </a:p>
        </p:txBody>
      </p:sp>
      <p:sp>
        <p:nvSpPr>
          <p:cNvPr id="8" name="Text 6"/>
          <p:cNvSpPr txBox="1"/>
          <p:nvPr/>
        </p:nvSpPr>
        <p:spPr>
          <a:xfrm>
            <a:off x="2103120" y="1143000"/>
            <a:ext cx="3291840" cy="68580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It vacuumed your living room.</a:t>
            </a:r>
            <a:endParaRPr lang="en-US" sz="1200" dirty="0"/>
          </a:p>
        </p:txBody>
      </p:sp>
      <p:sp>
        <p:nvSpPr>
          <p:cNvPr id="9" name="Text 7"/>
          <p:cNvSpPr txBox="1"/>
          <p:nvPr/>
        </p:nvSpPr>
        <p:spPr>
          <a:xfrm>
            <a:off x="5486400" y="1143000"/>
            <a:ext cx="2971800" cy="685800"/>
          </a:xfrm>
          <a:prstGeom prst="rect">
            <a:avLst/>
          </a:prstGeom>
          <a:noFill/>
          <a:ln/>
        </p:spPr>
        <p:txBody>
          <a:bodyPr wrap="square" lIns="0" tIns="0" rIns="0" bIns="0" rtlCol="0" anchor="ctr"/>
          <a:lstStyle/>
          <a:p>
            <a:pPr indent="0" marL="0">
              <a:buNone/>
            </a:pPr>
            <a:r>
              <a:rPr lang="en-US" sz="1050" dirty="0">
                <a:solidFill>
                  <a:srgbClr val="8896A7"/>
                </a:solidFill>
                <a:latin typeface="Calibri" pitchFamily="34" charset="0"/>
                <a:ea typeface="Calibri" pitchFamily="34" charset="-122"/>
                <a:cs typeface="Calibri" pitchFamily="34" charset="-120"/>
              </a:rPr>
              <a:t>One task. Flat floor. Bumped into the furniture.</a:t>
            </a:r>
            <a:endParaRPr lang="en-US" sz="1050" dirty="0"/>
          </a:p>
        </p:txBody>
      </p:sp>
      <p:sp>
        <p:nvSpPr>
          <p:cNvPr id="10" name="Shape 8"/>
          <p:cNvSpPr/>
          <p:nvPr/>
        </p:nvSpPr>
        <p:spPr>
          <a:xfrm>
            <a:off x="548640" y="1938528"/>
            <a:ext cx="8046720" cy="68580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1" name="Shape 9"/>
          <p:cNvSpPr/>
          <p:nvPr/>
        </p:nvSpPr>
        <p:spPr>
          <a:xfrm>
            <a:off x="731520" y="2093976"/>
            <a:ext cx="64008" cy="384048"/>
          </a:xfrm>
          <a:prstGeom prst="rect">
            <a:avLst/>
          </a:prstGeom>
          <a:solidFill>
            <a:srgbClr val="0D7C8F"/>
          </a:solidFill>
          <a:ln/>
        </p:spPr>
      </p:sp>
      <p:sp>
        <p:nvSpPr>
          <p:cNvPr id="12" name="Text 10"/>
          <p:cNvSpPr txBox="1"/>
          <p:nvPr/>
        </p:nvSpPr>
        <p:spPr>
          <a:xfrm>
            <a:off x="960120" y="1938528"/>
            <a:ext cx="1051560" cy="68580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2013</a:t>
            </a:r>
            <a:endParaRPr lang="en-US" sz="1400" dirty="0"/>
          </a:p>
        </p:txBody>
      </p:sp>
      <p:sp>
        <p:nvSpPr>
          <p:cNvPr id="13" name="Text 11"/>
          <p:cNvSpPr txBox="1"/>
          <p:nvPr/>
        </p:nvSpPr>
        <p:spPr>
          <a:xfrm>
            <a:off x="2103120" y="1938528"/>
            <a:ext cx="3291840" cy="68580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Boston Dynamics unveils Atlas.</a:t>
            </a:r>
            <a:endParaRPr lang="en-US" sz="1200" dirty="0"/>
          </a:p>
        </p:txBody>
      </p:sp>
      <p:sp>
        <p:nvSpPr>
          <p:cNvPr id="14" name="Text 12"/>
          <p:cNvSpPr txBox="1"/>
          <p:nvPr/>
        </p:nvSpPr>
        <p:spPr>
          <a:xfrm>
            <a:off x="5486400" y="1938528"/>
            <a:ext cx="2971800" cy="685800"/>
          </a:xfrm>
          <a:prstGeom prst="rect">
            <a:avLst/>
          </a:prstGeom>
          <a:noFill/>
          <a:ln/>
        </p:spPr>
        <p:txBody>
          <a:bodyPr wrap="square" lIns="0" tIns="0" rIns="0" bIns="0" rtlCol="0" anchor="ctr"/>
          <a:lstStyle/>
          <a:p>
            <a:pPr indent="0" marL="0">
              <a:buNone/>
            </a:pPr>
            <a:r>
              <a:rPr lang="en-US" sz="1050" dirty="0">
                <a:solidFill>
                  <a:srgbClr val="8896A7"/>
                </a:solidFill>
                <a:latin typeface="Calibri" pitchFamily="34" charset="0"/>
                <a:ea typeface="Calibri" pitchFamily="34" charset="-122"/>
                <a:cs typeface="Calibri" pitchFamily="34" charset="-120"/>
              </a:rPr>
              <a:t>It could walk. Tethered, in a lab, and it fell over a lot.</a:t>
            </a:r>
            <a:endParaRPr lang="en-US" sz="1050" dirty="0"/>
          </a:p>
        </p:txBody>
      </p:sp>
      <p:sp>
        <p:nvSpPr>
          <p:cNvPr id="15" name="Shape 13"/>
          <p:cNvSpPr/>
          <p:nvPr/>
        </p:nvSpPr>
        <p:spPr>
          <a:xfrm>
            <a:off x="548640" y="2734056"/>
            <a:ext cx="8046720" cy="68580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6" name="Shape 14"/>
          <p:cNvSpPr/>
          <p:nvPr/>
        </p:nvSpPr>
        <p:spPr>
          <a:xfrm>
            <a:off x="731520" y="2889504"/>
            <a:ext cx="64008" cy="384048"/>
          </a:xfrm>
          <a:prstGeom prst="rect">
            <a:avLst/>
          </a:prstGeom>
          <a:solidFill>
            <a:srgbClr val="3B82F6"/>
          </a:solidFill>
          <a:ln/>
        </p:spPr>
      </p:sp>
      <p:sp>
        <p:nvSpPr>
          <p:cNvPr id="17" name="Text 15"/>
          <p:cNvSpPr txBox="1"/>
          <p:nvPr/>
        </p:nvSpPr>
        <p:spPr>
          <a:xfrm>
            <a:off x="960120" y="2734056"/>
            <a:ext cx="1051560" cy="68580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2017–21</a:t>
            </a:r>
            <a:endParaRPr lang="en-US" sz="1400" dirty="0"/>
          </a:p>
        </p:txBody>
      </p:sp>
      <p:sp>
        <p:nvSpPr>
          <p:cNvPr id="18" name="Text 16"/>
          <p:cNvSpPr txBox="1"/>
          <p:nvPr/>
        </p:nvSpPr>
        <p:spPr>
          <a:xfrm>
            <a:off x="2103120" y="2734056"/>
            <a:ext cx="3291840" cy="68580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Backflips. Parkour. Opening doors.</a:t>
            </a:r>
            <a:endParaRPr lang="en-US" sz="1200" dirty="0"/>
          </a:p>
        </p:txBody>
      </p:sp>
      <p:sp>
        <p:nvSpPr>
          <p:cNvPr id="19" name="Text 17"/>
          <p:cNvSpPr txBox="1"/>
          <p:nvPr/>
        </p:nvSpPr>
        <p:spPr>
          <a:xfrm>
            <a:off x="5486400" y="2734056"/>
            <a:ext cx="2971800" cy="685800"/>
          </a:xfrm>
          <a:prstGeom prst="rect">
            <a:avLst/>
          </a:prstGeom>
          <a:noFill/>
          <a:ln/>
        </p:spPr>
        <p:txBody>
          <a:bodyPr wrap="square" lIns="0" tIns="0" rIns="0" bIns="0" rtlCol="0" anchor="ctr"/>
          <a:lstStyle/>
          <a:p>
            <a:pPr indent="0" marL="0">
              <a:buNone/>
            </a:pPr>
            <a:r>
              <a:rPr lang="en-US" sz="1050" dirty="0">
                <a:solidFill>
                  <a:srgbClr val="8896A7"/>
                </a:solidFill>
                <a:latin typeface="Calibri" pitchFamily="34" charset="0"/>
                <a:ea typeface="Calibri" pitchFamily="34" charset="-122"/>
                <a:cs typeface="Calibri" pitchFamily="34" charset="-120"/>
              </a:rPr>
              <a:t>Still videos — but balance stopped being the hard problem.</a:t>
            </a:r>
            <a:endParaRPr lang="en-US" sz="1050" dirty="0"/>
          </a:p>
        </p:txBody>
      </p:sp>
      <p:sp>
        <p:nvSpPr>
          <p:cNvPr id="20" name="Shape 18"/>
          <p:cNvSpPr/>
          <p:nvPr/>
        </p:nvSpPr>
        <p:spPr>
          <a:xfrm>
            <a:off x="548640" y="3529584"/>
            <a:ext cx="8046720" cy="68580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21" name="Shape 19"/>
          <p:cNvSpPr/>
          <p:nvPr/>
        </p:nvSpPr>
        <p:spPr>
          <a:xfrm>
            <a:off x="731520" y="3685032"/>
            <a:ext cx="64008" cy="384048"/>
          </a:xfrm>
          <a:prstGeom prst="rect">
            <a:avLst/>
          </a:prstGeom>
          <a:solidFill>
            <a:srgbClr val="D4A843"/>
          </a:solidFill>
          <a:ln/>
        </p:spPr>
      </p:sp>
      <p:sp>
        <p:nvSpPr>
          <p:cNvPr id="22" name="Text 20"/>
          <p:cNvSpPr txBox="1"/>
          <p:nvPr/>
        </p:nvSpPr>
        <p:spPr>
          <a:xfrm>
            <a:off x="960120" y="3529584"/>
            <a:ext cx="1051560" cy="685800"/>
          </a:xfrm>
          <a:prstGeom prst="rect">
            <a:avLst/>
          </a:prstGeom>
          <a:noFill/>
          <a:ln/>
        </p:spPr>
        <p:txBody>
          <a:bodyPr wrap="square" lIns="0" tIns="0" rIns="0" bIns="0" rtlCol="0" anchor="ctr"/>
          <a:lstStyle/>
          <a:p>
            <a:pPr indent="0" marL="0">
              <a:buNone/>
            </a:pPr>
            <a:r>
              <a:rPr lang="en-US" sz="1400" b="1" dirty="0">
                <a:solidFill>
                  <a:srgbClr val="D4A843"/>
                </a:solidFill>
                <a:latin typeface="Georgia" pitchFamily="34" charset="0"/>
                <a:ea typeface="Georgia" pitchFamily="34" charset="-122"/>
                <a:cs typeface="Georgia" pitchFamily="34" charset="-120"/>
              </a:rPr>
              <a:t>2026</a:t>
            </a:r>
            <a:endParaRPr lang="en-US" sz="1400" dirty="0"/>
          </a:p>
        </p:txBody>
      </p:sp>
      <p:sp>
        <p:nvSpPr>
          <p:cNvPr id="23" name="Text 21"/>
          <p:cNvSpPr txBox="1"/>
          <p:nvPr/>
        </p:nvSpPr>
        <p:spPr>
          <a:xfrm>
            <a:off x="2103120" y="3529584"/>
            <a:ext cx="3291840" cy="6858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Folds a towel. Loads a dishwasher.</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Moves totes at Amazon all shift long.</a:t>
            </a:r>
            <a:endParaRPr lang="en-US" sz="1200" dirty="0"/>
          </a:p>
        </p:txBody>
      </p:sp>
      <p:sp>
        <p:nvSpPr>
          <p:cNvPr id="24" name="Text 22"/>
          <p:cNvSpPr txBox="1"/>
          <p:nvPr/>
        </p:nvSpPr>
        <p:spPr>
          <a:xfrm>
            <a:off x="5486400" y="3529584"/>
            <a:ext cx="2971800" cy="685800"/>
          </a:xfrm>
          <a:prstGeom prst="rect">
            <a:avLst/>
          </a:prstGeom>
          <a:noFill/>
          <a:ln/>
        </p:spPr>
        <p:txBody>
          <a:bodyPr wrap="square" lIns="0" tIns="0" rIns="0" bIns="0" rtlCol="0" anchor="ctr"/>
          <a:lstStyle/>
          <a:p>
            <a:pPr indent="0" marL="0">
              <a:buNone/>
            </a:pPr>
            <a:r>
              <a:rPr lang="en-US" sz="1050" dirty="0">
                <a:solidFill>
                  <a:srgbClr val="14A3B8"/>
                </a:solidFill>
                <a:latin typeface="Calibri" pitchFamily="34" charset="0"/>
                <a:ea typeface="Calibri" pitchFamily="34" charset="-122"/>
                <a:cs typeface="Calibri" pitchFamily="34" charset="-120"/>
              </a:rPr>
              <a:t>Two of those are demos. One of them is a job.</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What they can actually do today</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3931920" cy="294436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52144"/>
            <a:ext cx="3383280" cy="310896"/>
          </a:xfrm>
          <a:prstGeom prst="rect">
            <a:avLst/>
          </a:prstGeom>
          <a:noFill/>
          <a:ln/>
        </p:spPr>
        <p:txBody>
          <a:bodyPr wrap="square" lIns="0" tIns="0" rIns="0" bIns="0" rtlCol="0" anchor="ctr"/>
          <a:lstStyle/>
          <a:p>
            <a:pPr indent="0" marL="0">
              <a:buNone/>
            </a:pPr>
            <a:r>
              <a:rPr lang="en-US" sz="1400" b="1" dirty="0">
                <a:solidFill>
                  <a:srgbClr val="0D7C8F"/>
                </a:solidFill>
                <a:latin typeface="Calibri" pitchFamily="34" charset="0"/>
                <a:ea typeface="Calibri" pitchFamily="34" charset="-122"/>
                <a:cs typeface="Calibri" pitchFamily="34" charset="-120"/>
              </a:rPr>
              <a:t>VERIFIED, RUNNING NOW</a:t>
            </a:r>
            <a:endParaRPr lang="en-US" sz="1400" dirty="0"/>
          </a:p>
        </p:txBody>
      </p:sp>
      <p:sp>
        <p:nvSpPr>
          <p:cNvPr id="7" name="Text 5"/>
          <p:cNvSpPr txBox="1"/>
          <p:nvPr/>
        </p:nvSpPr>
        <p:spPr>
          <a:xfrm>
            <a:off x="822960" y="1536192"/>
            <a:ext cx="338328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Move totes between conveyors — running in Amazon fulfillment today</a:t>
            </a:r>
            <a:endParaRPr lang="en-US" sz="1050" dirty="0"/>
          </a:p>
        </p:txBody>
      </p:sp>
      <p:sp>
        <p:nvSpPr>
          <p:cNvPr id="8" name="Text 6"/>
          <p:cNvSpPr txBox="1"/>
          <p:nvPr/>
        </p:nvSpPr>
        <p:spPr>
          <a:xfrm>
            <a:off x="822960" y="1993392"/>
            <a:ext cx="338328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Pick and place from bins, in controlled settings</a:t>
            </a:r>
            <a:endParaRPr lang="en-US" sz="1050" dirty="0"/>
          </a:p>
        </p:txBody>
      </p:sp>
      <p:sp>
        <p:nvSpPr>
          <p:cNvPr id="9" name="Text 7"/>
          <p:cNvSpPr txBox="1"/>
          <p:nvPr/>
        </p:nvSpPr>
        <p:spPr>
          <a:xfrm>
            <a:off x="822960" y="2450592"/>
            <a:ext cx="338328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Carry scanners on an inspection route</a:t>
            </a:r>
            <a:endParaRPr lang="en-US" sz="1050" dirty="0"/>
          </a:p>
        </p:txBody>
      </p:sp>
      <p:sp>
        <p:nvSpPr>
          <p:cNvPr id="10" name="Text 8"/>
          <p:cNvSpPr txBox="1"/>
          <p:nvPr/>
        </p:nvSpPr>
        <p:spPr>
          <a:xfrm>
            <a:off x="822960" y="2907792"/>
            <a:ext cx="338328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Load and unload a CNC machine in a fixed setup</a:t>
            </a:r>
            <a:endParaRPr lang="en-US" sz="1050" dirty="0"/>
          </a:p>
        </p:txBody>
      </p:sp>
      <p:sp>
        <p:nvSpPr>
          <p:cNvPr id="11" name="Text 9"/>
          <p:cNvSpPr txBox="1"/>
          <p:nvPr/>
        </p:nvSpPr>
        <p:spPr>
          <a:xfrm>
            <a:off x="822960" y="3364992"/>
            <a:ext cx="3383280" cy="4572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Fold a towel, load a dishwasher — flat surface, demo conditions</a:t>
            </a:r>
            <a:endParaRPr lang="en-US" sz="1050" dirty="0"/>
          </a:p>
        </p:txBody>
      </p:sp>
      <p:sp>
        <p:nvSpPr>
          <p:cNvPr id="12" name="Shape 10"/>
          <p:cNvSpPr/>
          <p:nvPr/>
        </p:nvSpPr>
        <p:spPr>
          <a:xfrm>
            <a:off x="4663440" y="1051560"/>
            <a:ext cx="3931920" cy="2944368"/>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3" name="Text 11"/>
          <p:cNvSpPr txBox="1"/>
          <p:nvPr/>
        </p:nvSpPr>
        <p:spPr>
          <a:xfrm>
            <a:off x="4937760" y="1152144"/>
            <a:ext cx="3383280" cy="310896"/>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CANNOT — AND THIS IS YOUR COLUMN</a:t>
            </a:r>
            <a:endParaRPr lang="en-US" sz="1400" dirty="0"/>
          </a:p>
        </p:txBody>
      </p:sp>
      <p:sp>
        <p:nvSpPr>
          <p:cNvPr id="14" name="Text 12"/>
          <p:cNvSpPr txBox="1"/>
          <p:nvPr/>
        </p:nvSpPr>
        <p:spPr>
          <a:xfrm>
            <a:off x="4937760" y="1536192"/>
            <a:ext cx="3383280" cy="56692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High-speed precision assembly. Auto lines run seconds per cycle at ±0.1 mm. No humanoid publishes those numbers.</a:t>
            </a:r>
            <a:endParaRPr lang="en-US" sz="1050" dirty="0"/>
          </a:p>
        </p:txBody>
      </p:sp>
      <p:sp>
        <p:nvSpPr>
          <p:cNvPr id="15" name="Text 13"/>
          <p:cNvSpPr txBox="1"/>
          <p:nvPr/>
        </p:nvSpPr>
        <p:spPr>
          <a:xfrm>
            <a:off x="4937760" y="2103120"/>
            <a:ext cx="3383280" cy="56692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Payload is 3–10 kg per arm. An industrial arm does 800+.</a:t>
            </a:r>
            <a:endParaRPr lang="en-US" sz="1050" dirty="0"/>
          </a:p>
        </p:txBody>
      </p:sp>
      <p:sp>
        <p:nvSpPr>
          <p:cNvPr id="16" name="Text 14"/>
          <p:cNvSpPr txBox="1"/>
          <p:nvPr/>
        </p:nvSpPr>
        <p:spPr>
          <a:xfrm>
            <a:off x="4937760" y="2670048"/>
            <a:ext cx="3383280" cy="56692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Zero explosion-proof rating. Not one platform is ATEX certified.</a:t>
            </a:r>
            <a:endParaRPr lang="en-US" sz="1050" dirty="0"/>
          </a:p>
        </p:txBody>
      </p:sp>
      <p:sp>
        <p:nvSpPr>
          <p:cNvPr id="17" name="Text 15"/>
          <p:cNvSpPr txBox="1"/>
          <p:nvPr/>
        </p:nvSpPr>
        <p:spPr>
          <a:xfrm>
            <a:off x="4937760" y="3236976"/>
            <a:ext cx="3383280" cy="56692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No published reliability data. You'd want 50,000 hours MTTF before production approval.</a:t>
            </a:r>
            <a:endParaRPr lang="en-US" sz="1050" dirty="0"/>
          </a:p>
        </p:txBody>
      </p:sp>
      <p:sp>
        <p:nvSpPr>
          <p:cNvPr id="18" name="Shape 16"/>
          <p:cNvSpPr/>
          <p:nvPr/>
        </p:nvSpPr>
        <p:spPr>
          <a:xfrm>
            <a:off x="548640" y="4114800"/>
            <a:ext cx="8046720" cy="402336"/>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9" name="Text 17"/>
          <p:cNvSpPr txBox="1"/>
          <p:nvPr/>
        </p:nvSpPr>
        <p:spPr>
          <a:xfrm>
            <a:off x="822960" y="4114800"/>
            <a:ext cx="7498080" cy="402336"/>
          </a:xfrm>
          <a:prstGeom prst="rect">
            <a:avLst/>
          </a:prstGeom>
          <a:noFill/>
          <a:ln/>
        </p:spPr>
        <p:txBody>
          <a:bodyPr wrap="square" lIns="0" tIns="0" rIns="0" bIns="0" rtlCol="0" anchor="ctr"/>
          <a:lstStyle/>
          <a:p>
            <a:pPr indent="0" marL="0">
              <a:buNone/>
            </a:pPr>
            <a:r>
              <a:rPr lang="en-US" sz="1200" b="1" dirty="0">
                <a:solidFill>
                  <a:srgbClr val="D4A843"/>
                </a:solidFill>
                <a:latin typeface="Calibri" pitchFamily="34" charset="0"/>
                <a:ea typeface="Calibri" pitchFamily="34" charset="-122"/>
                <a:cs typeface="Calibri" pitchFamily="34" charset="-120"/>
              </a:rPr>
              <a:t>That right-hand column isn't a capability gap. It's a certification gap and a reliability gap — and those close slower than software.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One year out, and five years out</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3931920" cy="28346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70432"/>
            <a:ext cx="3383280" cy="310896"/>
          </a:xfrm>
          <a:prstGeom prst="rect">
            <a:avLst/>
          </a:prstGeom>
          <a:noFill/>
          <a:ln/>
        </p:spPr>
        <p:txBody>
          <a:bodyPr wrap="square" lIns="0" tIns="0" rIns="0" bIns="0" rtlCol="0" anchor="ctr"/>
          <a:lstStyle/>
          <a:p>
            <a:pPr indent="0" marL="0">
              <a:buNone/>
            </a:pPr>
            <a:r>
              <a:rPr lang="en-US" sz="1400" b="1" dirty="0">
                <a:solidFill>
                  <a:srgbClr val="0D7C8F"/>
                </a:solidFill>
                <a:latin typeface="Calibri" pitchFamily="34" charset="0"/>
                <a:ea typeface="Calibri" pitchFamily="34" charset="-122"/>
                <a:cs typeface="Calibri" pitchFamily="34" charset="-120"/>
              </a:rPr>
              <a:t>ONE YEAR — SEPTEMBER 2027</a:t>
            </a:r>
            <a:endParaRPr lang="en-US" sz="1400" dirty="0"/>
          </a:p>
        </p:txBody>
      </p:sp>
      <p:sp>
        <p:nvSpPr>
          <p:cNvPr id="7" name="Text 5"/>
          <p:cNvSpPr txBox="1"/>
          <p:nvPr/>
        </p:nvSpPr>
        <p:spPr>
          <a:xfrm>
            <a:off x="822960" y="1600200"/>
            <a:ext cx="33832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 same tasks, at more sites, for less money — the Chinese cost curve arrives</a:t>
            </a:r>
            <a:endParaRPr lang="en-US" sz="1100" dirty="0"/>
          </a:p>
        </p:txBody>
      </p:sp>
      <p:sp>
        <p:nvSpPr>
          <p:cNvPr id="8" name="Text 6"/>
          <p:cNvSpPr txBox="1"/>
          <p:nvPr/>
        </p:nvSpPr>
        <p:spPr>
          <a:xfrm>
            <a:off x="822960" y="2167128"/>
            <a:ext cx="33832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Better hands: more reliable grasping in a cluttered bin</a:t>
            </a:r>
            <a:endParaRPr lang="en-US" sz="1100" dirty="0"/>
          </a:p>
        </p:txBody>
      </p:sp>
      <p:sp>
        <p:nvSpPr>
          <p:cNvPr id="9" name="Text 7"/>
          <p:cNvSpPr txBox="1"/>
          <p:nvPr/>
        </p:nvSpPr>
        <p:spPr>
          <a:xfrm>
            <a:off x="822960" y="2734056"/>
            <a:ext cx="33832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First European production deployments</a:t>
            </a:r>
            <a:endParaRPr lang="en-US" sz="1100" dirty="0"/>
          </a:p>
        </p:txBody>
      </p:sp>
      <p:sp>
        <p:nvSpPr>
          <p:cNvPr id="10" name="Text 8"/>
          <p:cNvSpPr txBox="1"/>
          <p:nvPr/>
        </p:nvSpPr>
        <p:spPr>
          <a:xfrm>
            <a:off x="822960" y="3300984"/>
            <a:ext cx="33832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Still no explosion-proof rating. Still not on your critical path.</a:t>
            </a:r>
            <a:endParaRPr lang="en-US" sz="1100" dirty="0"/>
          </a:p>
        </p:txBody>
      </p:sp>
      <p:sp>
        <p:nvSpPr>
          <p:cNvPr id="11" name="Shape 9"/>
          <p:cNvSpPr/>
          <p:nvPr/>
        </p:nvSpPr>
        <p:spPr>
          <a:xfrm>
            <a:off x="4663440" y="1051560"/>
            <a:ext cx="3931920" cy="283464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2" name="Text 10"/>
          <p:cNvSpPr txBox="1"/>
          <p:nvPr/>
        </p:nvSpPr>
        <p:spPr>
          <a:xfrm>
            <a:off x="4937760" y="1170432"/>
            <a:ext cx="3383280" cy="310896"/>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FIVE YEARS — 2031</a:t>
            </a:r>
            <a:endParaRPr lang="en-US" sz="1400" dirty="0"/>
          </a:p>
        </p:txBody>
      </p:sp>
      <p:sp>
        <p:nvSpPr>
          <p:cNvPr id="13" name="Text 11"/>
          <p:cNvSpPr txBox="1"/>
          <p:nvPr/>
        </p:nvSpPr>
        <p:spPr>
          <a:xfrm>
            <a:off x="4937760" y="1600200"/>
            <a:ext cx="3383280" cy="56692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Mobile inspection in tanks, digesters and confined spaces — the highest-value one for you</a:t>
            </a:r>
            <a:endParaRPr lang="en-US" sz="1100" dirty="0"/>
          </a:p>
        </p:txBody>
      </p:sp>
      <p:sp>
        <p:nvSpPr>
          <p:cNvPr id="14" name="Text 12"/>
          <p:cNvSpPr txBox="1"/>
          <p:nvPr/>
        </p:nvSpPr>
        <p:spPr>
          <a:xfrm>
            <a:off x="4937760" y="2167128"/>
            <a:ext cx="3383280" cy="56692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Routine material movement and roll handling, largely automated</a:t>
            </a:r>
            <a:endParaRPr lang="en-US" sz="1100" dirty="0"/>
          </a:p>
        </p:txBody>
      </p:sp>
      <p:sp>
        <p:nvSpPr>
          <p:cNvPr id="15" name="Text 13"/>
          <p:cNvSpPr txBox="1"/>
          <p:nvPr/>
        </p:nvSpPr>
        <p:spPr>
          <a:xfrm>
            <a:off x="4937760" y="2734056"/>
            <a:ext cx="3383280" cy="56692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Semi-autonomous machine tending in fixed configurations</a:t>
            </a:r>
            <a:endParaRPr lang="en-US" sz="1100" dirty="0"/>
          </a:p>
        </p:txBody>
      </p:sp>
      <p:sp>
        <p:nvSpPr>
          <p:cNvPr id="16" name="Text 14"/>
          <p:cNvSpPr txBox="1"/>
          <p:nvPr/>
        </p:nvSpPr>
        <p:spPr>
          <a:xfrm>
            <a:off x="4937760" y="3300984"/>
            <a:ext cx="3383280" cy="56692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General-purpose humanoids doing varied work — possible, not promised</a:t>
            </a:r>
            <a:endParaRPr lang="en-US" sz="1100" dirty="0"/>
          </a:p>
        </p:txBody>
      </p:sp>
      <p:sp>
        <p:nvSpPr>
          <p:cNvPr id="17" name="Shape 15"/>
          <p:cNvSpPr/>
          <p:nvPr/>
        </p:nvSpPr>
        <p:spPr>
          <a:xfrm>
            <a:off x="548640" y="3995928"/>
            <a:ext cx="8046720" cy="38404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8" name="Text 16"/>
          <p:cNvSpPr txBox="1"/>
          <p:nvPr/>
        </p:nvSpPr>
        <p:spPr>
          <a:xfrm>
            <a:off x="822960" y="3995928"/>
            <a:ext cx="7498080" cy="384048"/>
          </a:xfrm>
          <a:prstGeom prst="rect">
            <a:avLst/>
          </a:prstGeom>
          <a:noFill/>
          <a:ln/>
        </p:spPr>
        <p:txBody>
          <a:bodyPr wrap="square" lIns="0" tIns="0" rIns="0" bIns="0" rtlCol="0" anchor="ctr"/>
          <a:lstStyle/>
          <a:p>
            <a:pPr indent="0" marL="0">
              <a:buNone/>
            </a:pPr>
            <a:r>
              <a:rPr lang="en-US" sz="1150" b="1" i="1" dirty="0">
                <a:solidFill>
                  <a:srgbClr val="0D7C8F"/>
                </a:solidFill>
                <a:latin typeface="Calibri" pitchFamily="34" charset="0"/>
                <a:ea typeface="Calibri" pitchFamily="34" charset="-122"/>
                <a:cs typeface="Calibri" pitchFamily="34" charset="-120"/>
              </a:rPr>
              <a:t>Anybody who gives you a date for that last one is selling something. I'm giving you a direction, not a schedule.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What the headlines leave out</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24128"/>
            <a:ext cx="8046720" cy="658368"/>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15568"/>
            <a:ext cx="7498080" cy="475488"/>
          </a:xfrm>
          <a:prstGeom prst="rect">
            <a:avLst/>
          </a:prstGeom>
          <a:noFill/>
          <a:ln/>
        </p:spPr>
        <p:txBody>
          <a:bodyPr wrap="square" lIns="0" tIns="0" rIns="0" bIns="0" rtlCol="0" anchor="ctr"/>
          <a:lstStyle/>
          <a:p>
            <a:pPr indent="0" marL="0">
              <a:buNone/>
            </a:pPr>
            <a:r>
              <a:rPr lang="en-US" sz="1250" b="1" dirty="0">
                <a:solidFill>
                  <a:srgbClr val="D4A843"/>
                </a:solidFill>
                <a:latin typeface="Calibri" pitchFamily="34" charset="0"/>
                <a:ea typeface="Calibri" pitchFamily="34" charset="-122"/>
                <a:cs typeface="Calibri" pitchFamily="34" charset="-120"/>
              </a:rPr>
              <a:t>In July my tracking model marked almost every major humanoid DOWN. In August it marked every one of them UP. Nothing about the machines changed either month.</a:t>
            </a:r>
            <a:endParaRPr lang="en-US" sz="1250" dirty="0"/>
          </a:p>
        </p:txBody>
      </p:sp>
      <p:sp>
        <p:nvSpPr>
          <p:cNvPr id="7" name="Text 5"/>
          <p:cNvSpPr txBox="1"/>
          <p:nvPr/>
        </p:nvSpPr>
        <p:spPr>
          <a:xfrm>
            <a:off x="2377440" y="1783080"/>
            <a:ext cx="2743200" cy="256032"/>
          </a:xfrm>
          <a:prstGeom prst="rect">
            <a:avLst/>
          </a:prstGeom>
          <a:noFill/>
          <a:ln/>
        </p:spPr>
        <p:txBody>
          <a:bodyPr wrap="square" lIns="0" tIns="0" rIns="0" bIns="0" rtlCol="0" anchor="ctr"/>
          <a:lstStyle/>
          <a:p>
            <a:pPr indent="0" marL="0">
              <a:buNone/>
            </a:pPr>
            <a:r>
              <a:rPr lang="en-US" sz="1050" b="1" spc="150" kern="0" dirty="0">
                <a:solidFill>
                  <a:srgbClr val="8896A7"/>
                </a:solidFill>
                <a:latin typeface="Calibri" pitchFamily="34" charset="0"/>
                <a:ea typeface="Calibri" pitchFamily="34" charset="-122"/>
                <a:cs typeface="Calibri" pitchFamily="34" charset="-120"/>
              </a:rPr>
              <a:t>HEADLINE</a:t>
            </a:r>
            <a:endParaRPr lang="en-US" sz="1050" dirty="0"/>
          </a:p>
        </p:txBody>
      </p:sp>
      <p:sp>
        <p:nvSpPr>
          <p:cNvPr id="8" name="Text 6"/>
          <p:cNvSpPr txBox="1"/>
          <p:nvPr/>
        </p:nvSpPr>
        <p:spPr>
          <a:xfrm>
            <a:off x="5257800" y="1783080"/>
            <a:ext cx="3200400" cy="256032"/>
          </a:xfrm>
          <a:prstGeom prst="rect">
            <a:avLst/>
          </a:prstGeom>
          <a:noFill/>
          <a:ln/>
        </p:spPr>
        <p:txBody>
          <a:bodyPr wrap="square" lIns="0" tIns="0" rIns="0" bIns="0" rtlCol="0" anchor="ctr"/>
          <a:lstStyle/>
          <a:p>
            <a:pPr indent="0" marL="0">
              <a:buNone/>
            </a:pPr>
            <a:r>
              <a:rPr lang="en-US" sz="1050" b="1" spc="150" kern="0" dirty="0">
                <a:solidFill>
                  <a:srgbClr val="0D7C8F"/>
                </a:solidFill>
                <a:latin typeface="Calibri" pitchFamily="34" charset="0"/>
                <a:ea typeface="Calibri" pitchFamily="34" charset="-122"/>
                <a:cs typeface="Calibri" pitchFamily="34" charset="-120"/>
              </a:rPr>
              <a:t>THE FLOOR</a:t>
            </a:r>
            <a:endParaRPr lang="en-US" sz="1050" dirty="0"/>
          </a:p>
        </p:txBody>
      </p:sp>
      <p:sp>
        <p:nvSpPr>
          <p:cNvPr id="9" name="Shape 7"/>
          <p:cNvSpPr/>
          <p:nvPr/>
        </p:nvSpPr>
        <p:spPr>
          <a:xfrm>
            <a:off x="548640" y="2084832"/>
            <a:ext cx="8046720" cy="50292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0" name="Text 8"/>
          <p:cNvSpPr txBox="1"/>
          <p:nvPr/>
        </p:nvSpPr>
        <p:spPr>
          <a:xfrm>
            <a:off x="731520" y="2084832"/>
            <a:ext cx="1600200" cy="50292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Tesla Optimus</a:t>
            </a:r>
            <a:endParaRPr lang="en-US" sz="1150" dirty="0"/>
          </a:p>
        </p:txBody>
      </p:sp>
      <p:sp>
        <p:nvSpPr>
          <p:cNvPr id="11" name="Text 9"/>
          <p:cNvSpPr txBox="1"/>
          <p:nvPr/>
        </p:nvSpPr>
        <p:spPr>
          <a:xfrm>
            <a:off x="2377440" y="2084832"/>
            <a:ext cx="2788920" cy="502920"/>
          </a:xfrm>
          <a:prstGeom prst="rect">
            <a:avLst/>
          </a:prstGeom>
          <a:noFill/>
          <a:ln/>
        </p:spPr>
        <p:txBody>
          <a:bodyPr wrap="square" lIns="0" tIns="0" rIns="0" bIns="0" rtlCol="0" anchor="ctr"/>
          <a:lstStyle/>
          <a:p>
            <a:pPr indent="0" marL="0">
              <a:buNone/>
            </a:pPr>
            <a:r>
              <a:rPr lang="en-US" sz="1000" dirty="0">
                <a:solidFill>
                  <a:srgbClr val="8896A7"/>
                </a:solidFill>
                <a:latin typeface="Calibri" pitchFamily="34" charset="0"/>
                <a:ea typeface="Calibri" pitchFamily="34" charset="-122"/>
                <a:cs typeface="Calibri" pitchFamily="34" charset="-120"/>
              </a:rPr>
              <a:t>A Fremont line designed for a million units a year.</a:t>
            </a:r>
            <a:endParaRPr lang="en-US" sz="1000" dirty="0"/>
          </a:p>
        </p:txBody>
      </p:sp>
      <p:sp>
        <p:nvSpPr>
          <p:cNvPr id="12" name="Text 10"/>
          <p:cNvSpPr txBox="1"/>
          <p:nvPr/>
        </p:nvSpPr>
        <p:spPr>
          <a:xfrm>
            <a:off x="5257800" y="2084832"/>
            <a:ext cx="3200400" cy="502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Tesla has never published a production number. Outside estimates are in the hundreds — all internal. First units off the line go to Tesla's own training academy, not a customer.</a:t>
            </a:r>
            <a:endParaRPr lang="en-US" sz="1000" dirty="0"/>
          </a:p>
        </p:txBody>
      </p:sp>
      <p:sp>
        <p:nvSpPr>
          <p:cNvPr id="13" name="Shape 11"/>
          <p:cNvSpPr/>
          <p:nvPr/>
        </p:nvSpPr>
        <p:spPr>
          <a:xfrm>
            <a:off x="548640" y="2660904"/>
            <a:ext cx="8046720" cy="50292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4" name="Text 12"/>
          <p:cNvSpPr txBox="1"/>
          <p:nvPr/>
        </p:nvSpPr>
        <p:spPr>
          <a:xfrm>
            <a:off x="731520" y="2660904"/>
            <a:ext cx="1600200" cy="50292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Figure AI</a:t>
            </a:r>
            <a:endParaRPr lang="en-US" sz="1150" dirty="0"/>
          </a:p>
        </p:txBody>
      </p:sp>
      <p:sp>
        <p:nvSpPr>
          <p:cNvPr id="15" name="Text 13"/>
          <p:cNvSpPr txBox="1"/>
          <p:nvPr/>
        </p:nvSpPr>
        <p:spPr>
          <a:xfrm>
            <a:off x="2377440" y="2660904"/>
            <a:ext cx="2788920" cy="502920"/>
          </a:xfrm>
          <a:prstGeom prst="rect">
            <a:avLst/>
          </a:prstGeom>
          <a:noFill/>
          <a:ln/>
        </p:spPr>
        <p:txBody>
          <a:bodyPr wrap="square" lIns="0" tIns="0" rIns="0" bIns="0" rtlCol="0" anchor="ctr"/>
          <a:lstStyle/>
          <a:p>
            <a:pPr indent="0" marL="0">
              <a:buNone/>
            </a:pPr>
            <a:r>
              <a:rPr lang="en-US" sz="1000" dirty="0">
                <a:solidFill>
                  <a:srgbClr val="8896A7"/>
                </a:solidFill>
                <a:latin typeface="Calibri" pitchFamily="34" charset="0"/>
                <a:ea typeface="Calibri" pitchFamily="34" charset="-122"/>
                <a:cs typeface="Calibri" pitchFamily="34" charset="-120"/>
              </a:rPr>
              <a:t>10,000+ deployments; $39B valuation</a:t>
            </a:r>
            <a:endParaRPr lang="en-US" sz="1000" dirty="0"/>
          </a:p>
        </p:txBody>
      </p:sp>
      <p:sp>
        <p:nvSpPr>
          <p:cNvPr id="16" name="Text 14"/>
          <p:cNvSpPr txBox="1"/>
          <p:nvPr/>
        </p:nvSpPr>
        <p:spPr>
          <a:xfrm>
            <a:off x="5257800" y="2660904"/>
            <a:ext cx="3200400" cy="502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The clearest verified US industrial install is 40 units at BMW. Shipped and verifiably working are two different numbers.</a:t>
            </a:r>
            <a:endParaRPr lang="en-US" sz="1000" dirty="0"/>
          </a:p>
        </p:txBody>
      </p:sp>
      <p:sp>
        <p:nvSpPr>
          <p:cNvPr id="17" name="Shape 15"/>
          <p:cNvSpPr/>
          <p:nvPr/>
        </p:nvSpPr>
        <p:spPr>
          <a:xfrm>
            <a:off x="548640" y="3236976"/>
            <a:ext cx="8046720" cy="50292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8" name="Text 16"/>
          <p:cNvSpPr txBox="1"/>
          <p:nvPr/>
        </p:nvSpPr>
        <p:spPr>
          <a:xfrm>
            <a:off x="731520" y="3236976"/>
            <a:ext cx="1600200" cy="50292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Agility Digit</a:t>
            </a:r>
            <a:endParaRPr lang="en-US" sz="1150" dirty="0"/>
          </a:p>
        </p:txBody>
      </p:sp>
      <p:sp>
        <p:nvSpPr>
          <p:cNvPr id="19" name="Text 17"/>
          <p:cNvSpPr txBox="1"/>
          <p:nvPr/>
        </p:nvSpPr>
        <p:spPr>
          <a:xfrm>
            <a:off x="2377440" y="3236976"/>
            <a:ext cx="2788920" cy="502920"/>
          </a:xfrm>
          <a:prstGeom prst="rect">
            <a:avLst/>
          </a:prstGeom>
          <a:noFill/>
          <a:ln/>
        </p:spPr>
        <p:txBody>
          <a:bodyPr wrap="square" lIns="0" tIns="0" rIns="0" bIns="0" rtlCol="0" anchor="ctr"/>
          <a:lstStyle/>
          <a:p>
            <a:pPr indent="0" marL="0">
              <a:buNone/>
            </a:pPr>
            <a:r>
              <a:rPr lang="en-US" sz="1000" dirty="0">
                <a:solidFill>
                  <a:srgbClr val="8896A7"/>
                </a:solidFill>
                <a:latin typeface="Calibri" pitchFamily="34" charset="0"/>
                <a:ea typeface="Calibri" pitchFamily="34" charset="-122"/>
                <a:cs typeface="Calibri" pitchFamily="34" charset="-120"/>
              </a:rPr>
              <a:t>The most-proven humanoid in logistics</a:t>
            </a:r>
            <a:endParaRPr lang="en-US" sz="1000" dirty="0"/>
          </a:p>
        </p:txBody>
      </p:sp>
      <p:sp>
        <p:nvSpPr>
          <p:cNvPr id="20" name="Text 18"/>
          <p:cNvSpPr txBox="1"/>
          <p:nvPr/>
        </p:nvSpPr>
        <p:spPr>
          <a:xfrm>
            <a:off x="5257800" y="3236976"/>
            <a:ext cx="3200400" cy="502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And it's real: 65,000+ hours, 9 facilities, Amazon/GXO/Toyota. At roughly $250,000 a unit.</a:t>
            </a:r>
            <a:endParaRPr lang="en-US" sz="1000" dirty="0"/>
          </a:p>
        </p:txBody>
      </p:sp>
      <p:sp>
        <p:nvSpPr>
          <p:cNvPr id="21" name="Shape 19"/>
          <p:cNvSpPr/>
          <p:nvPr/>
        </p:nvSpPr>
        <p:spPr>
          <a:xfrm>
            <a:off x="548640" y="3813048"/>
            <a:ext cx="8046720" cy="50292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22" name="Text 20"/>
          <p:cNvSpPr txBox="1"/>
          <p:nvPr/>
        </p:nvSpPr>
        <p:spPr>
          <a:xfrm>
            <a:off x="731520" y="3813048"/>
            <a:ext cx="1600200" cy="50292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Boston Dynamics</a:t>
            </a:r>
            <a:endParaRPr lang="en-US" sz="1150" dirty="0"/>
          </a:p>
        </p:txBody>
      </p:sp>
      <p:sp>
        <p:nvSpPr>
          <p:cNvPr id="23" name="Text 21"/>
          <p:cNvSpPr txBox="1"/>
          <p:nvPr/>
        </p:nvSpPr>
        <p:spPr>
          <a:xfrm>
            <a:off x="2377440" y="3813048"/>
            <a:ext cx="2788920" cy="502920"/>
          </a:xfrm>
          <a:prstGeom prst="rect">
            <a:avLst/>
          </a:prstGeom>
          <a:noFill/>
          <a:ln/>
        </p:spPr>
        <p:txBody>
          <a:bodyPr wrap="square" lIns="0" tIns="0" rIns="0" bIns="0" rtlCol="0" anchor="ctr"/>
          <a:lstStyle/>
          <a:p>
            <a:pPr indent="0" marL="0">
              <a:buNone/>
            </a:pPr>
            <a:r>
              <a:rPr lang="en-US" sz="1000" dirty="0">
                <a:solidFill>
                  <a:srgbClr val="8896A7"/>
                </a:solidFill>
                <a:latin typeface="Calibri" pitchFamily="34" charset="0"/>
                <a:ea typeface="Calibri" pitchFamily="34" charset="-122"/>
                <a:cs typeface="Calibri" pitchFamily="34" charset="-120"/>
              </a:rPr>
              <a:t>The most impressive machine on video</a:t>
            </a:r>
            <a:endParaRPr lang="en-US" sz="1000" dirty="0"/>
          </a:p>
        </p:txBody>
      </p:sp>
      <p:sp>
        <p:nvSpPr>
          <p:cNvPr id="24" name="Text 22"/>
          <p:cNvSpPr txBox="1"/>
          <p:nvPr/>
        </p:nvSpPr>
        <p:spPr>
          <a:xfrm>
            <a:off x="5257800" y="3813048"/>
            <a:ext cx="3200400" cy="502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Now a production platform at Hyundai's own plant. The hardware was never the problem — the brain was, and somebody just shipped one.</a:t>
            </a:r>
            <a:endParaRPr lang="en-US" sz="1000" dirty="0"/>
          </a:p>
        </p:txBody>
      </p:sp>
      <p:sp>
        <p:nvSpPr>
          <p:cNvPr id="25" name="Text 23"/>
          <p:cNvSpPr txBox="1"/>
          <p:nvPr/>
        </p:nvSpPr>
        <p:spPr>
          <a:xfrm>
            <a:off x="548640" y="4443984"/>
            <a:ext cx="8046720" cy="237744"/>
          </a:xfrm>
          <a:prstGeom prst="rect">
            <a:avLst/>
          </a:prstGeom>
          <a:noFill/>
          <a:ln/>
        </p:spPr>
        <p:txBody>
          <a:bodyPr wrap="square" lIns="0" tIns="0" rIns="0" bIns="0" rtlCol="0" anchor="ctr"/>
          <a:lstStyle/>
          <a:p>
            <a:pPr indent="0" marL="0">
              <a:buNone/>
            </a:pPr>
            <a:r>
              <a:rPr lang="en-US" sz="1150" b="1" i="1" dirty="0">
                <a:solidFill>
                  <a:srgbClr val="0D7C8F"/>
                </a:solidFill>
                <a:latin typeface="Calibri" pitchFamily="34" charset="0"/>
                <a:ea typeface="Calibri" pitchFamily="34" charset="-122"/>
                <a:cs typeface="Calibri" pitchFamily="34" charset="-120"/>
              </a:rPr>
              <a:t>First I stopped scoring spec sheets. Then they started showing up in real plants.</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Where robots actually start</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3931920" cy="288036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70432"/>
            <a:ext cx="3383280" cy="310896"/>
          </a:xfrm>
          <a:prstGeom prst="rect">
            <a:avLst/>
          </a:prstGeom>
          <a:noFill/>
          <a:ln/>
        </p:spPr>
        <p:txBody>
          <a:bodyPr wrap="square" lIns="0" tIns="0" rIns="0" bIns="0" rtlCol="0" anchor="ctr"/>
          <a:lstStyle/>
          <a:p>
            <a:pPr indent="0" marL="0">
              <a:buNone/>
            </a:pPr>
            <a:r>
              <a:rPr lang="en-US" sz="1400" b="1" dirty="0">
                <a:solidFill>
                  <a:srgbClr val="0D7C8F"/>
                </a:solidFill>
                <a:latin typeface="Calibri" pitchFamily="34" charset="0"/>
                <a:ea typeface="Calibri" pitchFamily="34" charset="-122"/>
                <a:cs typeface="Calibri" pitchFamily="34" charset="-120"/>
              </a:rPr>
              <a:t>THEY START AT THE BOTTOM</a:t>
            </a:r>
            <a:endParaRPr lang="en-US" sz="1400" dirty="0"/>
          </a:p>
        </p:txBody>
      </p:sp>
      <p:sp>
        <p:nvSpPr>
          <p:cNvPr id="7" name="Shape 5"/>
          <p:cNvSpPr/>
          <p:nvPr/>
        </p:nvSpPr>
        <p:spPr>
          <a:xfrm>
            <a:off x="822960" y="1591056"/>
            <a:ext cx="54864" cy="310896"/>
          </a:xfrm>
          <a:prstGeom prst="rect">
            <a:avLst/>
          </a:prstGeom>
          <a:solidFill>
            <a:srgbClr val="8896A7"/>
          </a:solidFill>
          <a:ln/>
        </p:spPr>
      </p:sp>
      <p:sp>
        <p:nvSpPr>
          <p:cNvPr id="8" name="Text 6"/>
          <p:cNvSpPr txBox="1"/>
          <p:nvPr/>
        </p:nvSpPr>
        <p:spPr>
          <a:xfrm>
            <a:off x="987552" y="1554480"/>
            <a:ext cx="685800" cy="38404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First</a:t>
            </a:r>
            <a:endParaRPr lang="en-US" sz="1100" dirty="0"/>
          </a:p>
        </p:txBody>
      </p:sp>
      <p:sp>
        <p:nvSpPr>
          <p:cNvPr id="9" name="Text 7"/>
          <p:cNvSpPr txBox="1"/>
          <p:nvPr/>
        </p:nvSpPr>
        <p:spPr>
          <a:xfrm>
            <a:off x="987552" y="1755648"/>
            <a:ext cx="310896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Janitorial work. Sweeping, scrubbing, hauling. Roomba-grade, at plant scale.</a:t>
            </a:r>
            <a:endParaRPr lang="en-US" sz="1000" dirty="0"/>
          </a:p>
        </p:txBody>
      </p:sp>
      <p:sp>
        <p:nvSpPr>
          <p:cNvPr id="10" name="Shape 8"/>
          <p:cNvSpPr/>
          <p:nvPr/>
        </p:nvSpPr>
        <p:spPr>
          <a:xfrm>
            <a:off x="822960" y="2167128"/>
            <a:ext cx="54864" cy="310896"/>
          </a:xfrm>
          <a:prstGeom prst="rect">
            <a:avLst/>
          </a:prstGeom>
          <a:solidFill>
            <a:srgbClr val="3B82F6"/>
          </a:solidFill>
          <a:ln/>
        </p:spPr>
      </p:sp>
      <p:sp>
        <p:nvSpPr>
          <p:cNvPr id="11" name="Text 9"/>
          <p:cNvSpPr txBox="1"/>
          <p:nvPr/>
        </p:nvSpPr>
        <p:spPr>
          <a:xfrm>
            <a:off x="987552" y="2130552"/>
            <a:ext cx="685800" cy="38404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Then</a:t>
            </a:r>
            <a:endParaRPr lang="en-US" sz="1100" dirty="0"/>
          </a:p>
        </p:txBody>
      </p:sp>
      <p:sp>
        <p:nvSpPr>
          <p:cNvPr id="12" name="Text 10"/>
          <p:cNvSpPr txBox="1"/>
          <p:nvPr/>
        </p:nvSpPr>
        <p:spPr>
          <a:xfrm>
            <a:off x="987552" y="2331720"/>
            <a:ext cx="310896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Outside the building. Grounds, yard, perimeter, the walk-around nobody wants in February.</a:t>
            </a:r>
            <a:endParaRPr lang="en-US" sz="1000" dirty="0"/>
          </a:p>
        </p:txBody>
      </p:sp>
      <p:sp>
        <p:nvSpPr>
          <p:cNvPr id="13" name="Shape 11"/>
          <p:cNvSpPr/>
          <p:nvPr/>
        </p:nvSpPr>
        <p:spPr>
          <a:xfrm>
            <a:off x="822960" y="2743200"/>
            <a:ext cx="54864" cy="310896"/>
          </a:xfrm>
          <a:prstGeom prst="rect">
            <a:avLst/>
          </a:prstGeom>
          <a:solidFill>
            <a:srgbClr val="F59E0B"/>
          </a:solidFill>
          <a:ln/>
        </p:spPr>
      </p:sp>
      <p:sp>
        <p:nvSpPr>
          <p:cNvPr id="14" name="Text 12"/>
          <p:cNvSpPr txBox="1"/>
          <p:nvPr/>
        </p:nvSpPr>
        <p:spPr>
          <a:xfrm>
            <a:off x="987552" y="2706624"/>
            <a:ext cx="685800" cy="38404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Then</a:t>
            </a:r>
            <a:endParaRPr lang="en-US" sz="1100" dirty="0"/>
          </a:p>
        </p:txBody>
      </p:sp>
      <p:sp>
        <p:nvSpPr>
          <p:cNvPr id="15" name="Text 13"/>
          <p:cNvSpPr txBox="1"/>
          <p:nvPr/>
        </p:nvSpPr>
        <p:spPr>
          <a:xfrm>
            <a:off x="987552" y="2907792"/>
            <a:ext cx="310896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The first level of machine helper. Fetching, staging, holding, cleaning up after.</a:t>
            </a:r>
            <a:endParaRPr lang="en-US" sz="1000" dirty="0"/>
          </a:p>
        </p:txBody>
      </p:sp>
      <p:sp>
        <p:nvSpPr>
          <p:cNvPr id="16" name="Shape 14"/>
          <p:cNvSpPr/>
          <p:nvPr/>
        </p:nvSpPr>
        <p:spPr>
          <a:xfrm>
            <a:off x="822960" y="3319272"/>
            <a:ext cx="54864" cy="310896"/>
          </a:xfrm>
          <a:prstGeom prst="rect">
            <a:avLst/>
          </a:prstGeom>
          <a:solidFill>
            <a:srgbClr val="D4A843"/>
          </a:solidFill>
          <a:ln/>
        </p:spPr>
      </p:sp>
      <p:sp>
        <p:nvSpPr>
          <p:cNvPr id="17" name="Text 15"/>
          <p:cNvSpPr txBox="1"/>
          <p:nvPr/>
        </p:nvSpPr>
        <p:spPr>
          <a:xfrm>
            <a:off x="987552" y="3282696"/>
            <a:ext cx="685800" cy="38404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Maybe</a:t>
            </a:r>
            <a:endParaRPr lang="en-US" sz="1100" dirty="0"/>
          </a:p>
        </p:txBody>
      </p:sp>
      <p:sp>
        <p:nvSpPr>
          <p:cNvPr id="18" name="Text 16"/>
          <p:cNvSpPr txBox="1"/>
          <p:nvPr/>
        </p:nvSpPr>
        <p:spPr>
          <a:xfrm>
            <a:off x="987552" y="3483864"/>
            <a:ext cx="3108960" cy="38404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Further than that. Nobody credible knows how much further, or how fast.</a:t>
            </a:r>
            <a:endParaRPr lang="en-US" sz="1000" dirty="0"/>
          </a:p>
        </p:txBody>
      </p:sp>
      <p:sp>
        <p:nvSpPr>
          <p:cNvPr id="19" name="Shape 17"/>
          <p:cNvSpPr/>
          <p:nvPr/>
        </p:nvSpPr>
        <p:spPr>
          <a:xfrm>
            <a:off x="4663440" y="1051560"/>
            <a:ext cx="3931920" cy="288036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20" name="Text 18"/>
          <p:cNvSpPr txBox="1"/>
          <p:nvPr/>
        </p:nvSpPr>
        <p:spPr>
          <a:xfrm>
            <a:off x="4937760" y="1170432"/>
            <a:ext cx="3383280" cy="310896"/>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AND MOST WON'T LOOK LIKE PEOPLE</a:t>
            </a:r>
            <a:endParaRPr lang="en-US" sz="1400" dirty="0"/>
          </a:p>
        </p:txBody>
      </p:sp>
      <p:sp>
        <p:nvSpPr>
          <p:cNvPr id="21" name="Text 19"/>
          <p:cNvSpPr txBox="1"/>
          <p:nvPr/>
        </p:nvSpPr>
        <p:spPr>
          <a:xfrm>
            <a:off x="4937760" y="1554480"/>
            <a:ext cx="3383280" cy="5029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On wheels, not legs. Often it's nothing but optics and a microphone on a cart.</a:t>
            </a:r>
            <a:endParaRPr lang="en-US" sz="1150" dirty="0"/>
          </a:p>
        </p:txBody>
      </p:sp>
      <p:sp>
        <p:nvSpPr>
          <p:cNvPr id="22" name="Text 20"/>
          <p:cNvSpPr txBox="1"/>
          <p:nvPr/>
        </p:nvSpPr>
        <p:spPr>
          <a:xfrm>
            <a:off x="4937760" y="2103120"/>
            <a:ext cx="3383280" cy="6858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It sits with a machine all shift and listens. It watches a bearing. It has heard that machine ten thousand hours and you haven't.</a:t>
            </a:r>
            <a:endParaRPr lang="en-US" sz="1150" dirty="0"/>
          </a:p>
        </p:txBody>
      </p:sp>
      <p:sp>
        <p:nvSpPr>
          <p:cNvPr id="23" name="Text 21"/>
          <p:cNvSpPr txBox="1"/>
          <p:nvPr/>
        </p:nvSpPr>
        <p:spPr>
          <a:xfrm>
            <a:off x="4937760" y="2880360"/>
            <a:ext cx="3383280" cy="640080"/>
          </a:xfrm>
          <a:prstGeom prst="rect">
            <a:avLst/>
          </a:prstGeom>
          <a:noFill/>
          <a:ln/>
        </p:spPr>
        <p:txBody>
          <a:bodyPr wrap="square" lIns="0" tIns="0" rIns="0" bIns="0" rtlCol="0" anchor="ctr"/>
          <a:lstStyle/>
          <a:p>
            <a:pPr indent="0" marL="0">
              <a:buNone/>
            </a:pPr>
            <a:r>
              <a:rPr lang="en-US" sz="1250" i="1" dirty="0">
                <a:solidFill>
                  <a:srgbClr val="14A3B8"/>
                </a:solidFill>
                <a:latin typeface="Georgia" pitchFamily="34" charset="0"/>
                <a:ea typeface="Georgia" pitchFamily="34" charset="-122"/>
                <a:cs typeface="Georgia" pitchFamily="34" charset="-120"/>
              </a:rPr>
              <a:t>“I've been listening all day. The sound just changed — and that usually means this.”</a:t>
            </a:r>
            <a:endParaRPr lang="en-US" sz="1250" dirty="0"/>
          </a:p>
        </p:txBody>
      </p:sp>
      <p:sp>
        <p:nvSpPr>
          <p:cNvPr id="24" name="Text 22"/>
          <p:cNvSpPr txBox="1"/>
          <p:nvPr/>
        </p:nvSpPr>
        <p:spPr>
          <a:xfrm>
            <a:off x="548640" y="4041648"/>
            <a:ext cx="8046720" cy="329184"/>
          </a:xfrm>
          <a:prstGeom prst="rect">
            <a:avLst/>
          </a:prstGeom>
          <a:noFill/>
          <a:ln/>
        </p:spPr>
        <p:txBody>
          <a:bodyPr wrap="square" lIns="0" tIns="0" rIns="0" bIns="0" rtlCol="0" anchor="ctr"/>
          <a:lstStyle/>
          <a:p>
            <a:pPr indent="0" marL="0">
              <a:buNone/>
            </a:pPr>
            <a:r>
              <a:rPr lang="en-US" sz="1200" b="1" dirty="0">
                <a:solidFill>
                  <a:srgbClr val="0D7C8F"/>
                </a:solidFill>
                <a:latin typeface="Calibri" pitchFamily="34" charset="0"/>
                <a:ea typeface="Calibri" pitchFamily="34" charset="-122"/>
                <a:cs typeface="Calibri" pitchFamily="34" charset="-120"/>
              </a:rPr>
              <a:t>The robot that shows up in your mill first is shaped like the job, not like a person — and it starts on the bottom rung.</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What it knows, and what it doesn't</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3931920" cy="228600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70432"/>
            <a:ext cx="3383280" cy="310896"/>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IT CAN LEARN BY READING</a:t>
            </a:r>
            <a:endParaRPr lang="en-US" sz="1400" dirty="0"/>
          </a:p>
        </p:txBody>
      </p:sp>
      <p:sp>
        <p:nvSpPr>
          <p:cNvPr id="7" name="Text 5"/>
          <p:cNvSpPr txBox="1"/>
          <p:nvPr/>
        </p:nvSpPr>
        <p:spPr>
          <a:xfrm>
            <a:off x="822960" y="1554480"/>
            <a:ext cx="3383280" cy="45720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Hand it the manual and it knows everything in it.</a:t>
            </a:r>
            <a:endParaRPr lang="en-US" sz="1400" dirty="0"/>
          </a:p>
        </p:txBody>
      </p:sp>
      <p:sp>
        <p:nvSpPr>
          <p:cNvPr id="8" name="Text 6"/>
          <p:cNvSpPr txBox="1"/>
          <p:nvPr/>
        </p:nvSpPr>
        <p:spPr>
          <a:xfrm>
            <a:off x="822960" y="2057400"/>
            <a:ext cx="3383280" cy="10058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Sit it in the chair I used to sit in and it will read every gauge on the board and tell you whether the numbers are where they belong. Knowing is the part it's good at.</a:t>
            </a:r>
            <a:endParaRPr lang="en-US" sz="1150" dirty="0"/>
          </a:p>
        </p:txBody>
      </p:sp>
      <p:sp>
        <p:nvSpPr>
          <p:cNvPr id="9" name="Shape 7"/>
          <p:cNvSpPr/>
          <p:nvPr/>
        </p:nvSpPr>
        <p:spPr>
          <a:xfrm>
            <a:off x="4663440" y="1051560"/>
            <a:ext cx="3931920" cy="228600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0" name="Text 8"/>
          <p:cNvSpPr txBox="1"/>
          <p:nvPr/>
        </p:nvSpPr>
        <p:spPr>
          <a:xfrm>
            <a:off x="4937760" y="1170432"/>
            <a:ext cx="3383280" cy="310896"/>
          </a:xfrm>
          <a:prstGeom prst="rect">
            <a:avLst/>
          </a:prstGeom>
          <a:noFill/>
          <a:ln/>
        </p:spPr>
        <p:txBody>
          <a:bodyPr wrap="square" lIns="0" tIns="0" rIns="0" bIns="0" rtlCol="0" anchor="ctr"/>
          <a:lstStyle/>
          <a:p>
            <a:pPr indent="0" marL="0">
              <a:buNone/>
            </a:pPr>
            <a:r>
              <a:rPr lang="en-US" sz="1400" b="1" dirty="0">
                <a:solidFill>
                  <a:srgbClr val="DC4A4A"/>
                </a:solidFill>
                <a:latin typeface="Calibri" pitchFamily="34" charset="0"/>
                <a:ea typeface="Calibri" pitchFamily="34" charset="-122"/>
                <a:cs typeface="Calibri" pitchFamily="34" charset="-120"/>
              </a:rPr>
              <a:t>BUT</a:t>
            </a:r>
            <a:endParaRPr lang="en-US" sz="1400" dirty="0"/>
          </a:p>
        </p:txBody>
      </p:sp>
      <p:sp>
        <p:nvSpPr>
          <p:cNvPr id="11" name="Text 9"/>
          <p:cNvSpPr txBox="1"/>
          <p:nvPr/>
        </p:nvSpPr>
        <p:spPr>
          <a:xfrm>
            <a:off x="4937760" y="1572768"/>
            <a:ext cx="3383280" cy="566928"/>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Could it smell the air?</a:t>
            </a:r>
            <a:endParaRPr lang="en-US" sz="1300" dirty="0"/>
          </a:p>
        </p:txBody>
      </p:sp>
      <p:sp>
        <p:nvSpPr>
          <p:cNvPr id="12" name="Text 10"/>
          <p:cNvSpPr txBox="1"/>
          <p:nvPr/>
        </p:nvSpPr>
        <p:spPr>
          <a:xfrm>
            <a:off x="4937760" y="2139696"/>
            <a:ext cx="3383280" cy="566928"/>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Could it hear the small sound that didn't belong?</a:t>
            </a:r>
            <a:endParaRPr lang="en-US" sz="1300" dirty="0"/>
          </a:p>
        </p:txBody>
      </p:sp>
      <p:sp>
        <p:nvSpPr>
          <p:cNvPr id="13" name="Text 11"/>
          <p:cNvSpPr txBox="1"/>
          <p:nvPr/>
        </p:nvSpPr>
        <p:spPr>
          <a:xfrm>
            <a:off x="4937760" y="2706624"/>
            <a:ext cx="3383280" cy="566928"/>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Could it feel a vibration that wasn't there yesterday?</a:t>
            </a:r>
            <a:endParaRPr lang="en-US" sz="1300" dirty="0"/>
          </a:p>
        </p:txBody>
      </p:sp>
      <p:sp>
        <p:nvSpPr>
          <p:cNvPr id="14" name="Shape 12"/>
          <p:cNvSpPr/>
          <p:nvPr/>
        </p:nvSpPr>
        <p:spPr>
          <a:xfrm>
            <a:off x="548640" y="3429000"/>
            <a:ext cx="8046720" cy="96012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5" name="Text 13"/>
          <p:cNvSpPr txBox="1"/>
          <p:nvPr/>
        </p:nvSpPr>
        <p:spPr>
          <a:xfrm>
            <a:off x="822960" y="3511296"/>
            <a:ext cx="7498080" cy="548640"/>
          </a:xfrm>
          <a:prstGeom prst="rect">
            <a:avLst/>
          </a:prstGeom>
          <a:noFill/>
          <a:ln/>
        </p:spPr>
        <p:txBody>
          <a:bodyPr wrap="square" lIns="0" tIns="0" rIns="0" bIns="0" rtlCol="0" anchor="ctr"/>
          <a:lstStyle/>
          <a:p>
            <a:pPr indent="0" marL="0">
              <a:lnSpc>
                <a:spcPct val="110000"/>
              </a:lnSpc>
              <a:buNone/>
            </a:pPr>
            <a:r>
              <a:rPr lang="en-US" sz="1400" b="1" dirty="0">
                <a:solidFill>
                  <a:srgbClr val="D4A843"/>
                </a:solidFill>
                <a:latin typeface="Georgia" pitchFamily="34" charset="0"/>
                <a:ea typeface="Georgia" pitchFamily="34" charset="-122"/>
                <a:cs typeface="Georgia" pitchFamily="34" charset="-120"/>
              </a:rPr>
              <a:t>A sensor finds what you told it to look for.</a:t>
            </a:r>
            <a:endParaRPr lang="en-US" sz="1400" dirty="0"/>
          </a:p>
          <a:p>
            <a:pPr indent="0" marL="0">
              <a:lnSpc>
                <a:spcPct val="110000"/>
              </a:lnSpc>
              <a:buNone/>
            </a:pPr>
            <a:r>
              <a:rPr lang="en-US" sz="1400" b="1" dirty="0">
                <a:solidFill>
                  <a:srgbClr val="D4A843"/>
                </a:solidFill>
                <a:latin typeface="Georgia" pitchFamily="34" charset="0"/>
                <a:ea typeface="Georgia" pitchFamily="34" charset="-122"/>
                <a:cs typeface="Georgia" pitchFamily="34" charset="-120"/>
              </a:rPr>
              <a:t>A seasoned operator notices what nobody told him to look for.</a:t>
            </a:r>
            <a:endParaRPr lang="en-US" sz="1400" dirty="0"/>
          </a:p>
        </p:txBody>
      </p:sp>
      <p:sp>
        <p:nvSpPr>
          <p:cNvPr id="16" name="Text 14"/>
          <p:cNvSpPr txBox="1"/>
          <p:nvPr/>
        </p:nvSpPr>
        <p:spPr>
          <a:xfrm>
            <a:off x="822960" y="4059936"/>
            <a:ext cx="749808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That gap is not closing any time soon — and it is the best argument you have for why the people you already have are worth training and keeping.</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731520" y="1874520"/>
            <a:ext cx="1097280" cy="54864"/>
          </a:xfrm>
          <a:prstGeom prst="rect">
            <a:avLst/>
          </a:prstGeom>
          <a:solidFill>
            <a:srgbClr val="D4A843"/>
          </a:solidFill>
          <a:ln/>
        </p:spPr>
      </p:sp>
      <p:sp>
        <p:nvSpPr>
          <p:cNvPr id="3" name="Text 1"/>
          <p:cNvSpPr txBox="1"/>
          <p:nvPr/>
        </p:nvSpPr>
        <p:spPr>
          <a:xfrm>
            <a:off x="731520" y="1417320"/>
            <a:ext cx="7680960" cy="365760"/>
          </a:xfrm>
          <a:prstGeom prst="rect">
            <a:avLst/>
          </a:prstGeom>
          <a:noFill/>
          <a:ln/>
        </p:spPr>
        <p:txBody>
          <a:bodyPr wrap="square" lIns="0" tIns="0" rIns="0" bIns="0" rtlCol="0" anchor="ctr"/>
          <a:lstStyle/>
          <a:p>
            <a:pPr indent="0" marL="0">
              <a:buNone/>
            </a:pPr>
            <a:r>
              <a:rPr lang="en-US" sz="1300" b="1" spc="200" kern="0" dirty="0">
                <a:solidFill>
                  <a:srgbClr val="D4A843"/>
                </a:solidFill>
                <a:latin typeface="Calibri" pitchFamily="34" charset="0"/>
                <a:ea typeface="Calibri" pitchFamily="34" charset="-122"/>
                <a:cs typeface="Calibri" pitchFamily="34" charset="-120"/>
              </a:rPr>
              <a:t>PART THREE</a:t>
            </a:r>
            <a:endParaRPr lang="en-US" sz="1300" dirty="0"/>
          </a:p>
        </p:txBody>
      </p:sp>
      <p:sp>
        <p:nvSpPr>
          <p:cNvPr id="4" name="Text 2"/>
          <p:cNvSpPr txBox="1"/>
          <p:nvPr/>
        </p:nvSpPr>
        <p:spPr>
          <a:xfrm>
            <a:off x="731520" y="2084832"/>
            <a:ext cx="7680960" cy="91440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How It Affects</a:t>
            </a:r>
            <a:endParaRPr lang="en-US" sz="3400" dirty="0"/>
          </a:p>
          <a:p>
            <a:pPr indent="0" marL="0">
              <a:buNone/>
            </a:pPr>
            <a:r>
              <a:rPr lang="en-US" sz="3400" b="1" dirty="0">
                <a:solidFill>
                  <a:srgbClr val="FFFFFF"/>
                </a:solidFill>
                <a:latin typeface="Georgia" pitchFamily="34" charset="0"/>
                <a:ea typeface="Georgia" pitchFamily="34" charset="-122"/>
                <a:cs typeface="Georgia" pitchFamily="34" charset="-120"/>
              </a:rPr>
              <a:t>the Leadership Team</a:t>
            </a:r>
            <a:endParaRPr lang="en-US" sz="3400" dirty="0"/>
          </a:p>
        </p:txBody>
      </p:sp>
      <p:sp>
        <p:nvSpPr>
          <p:cNvPr id="5" name="Text 3"/>
          <p:cNvSpPr txBox="1"/>
          <p:nvPr/>
        </p:nvSpPr>
        <p:spPr>
          <a:xfrm>
            <a:off x="731520" y="3017520"/>
            <a:ext cx="7680960" cy="548640"/>
          </a:xfrm>
          <a:prstGeom prst="rect">
            <a:avLst/>
          </a:prstGeom>
          <a:noFill/>
          <a:ln/>
        </p:spPr>
        <p:txBody>
          <a:bodyPr wrap="square" lIns="0" tIns="0" rIns="0" bIns="0" rtlCol="0" anchor="ctr"/>
          <a:lstStyle/>
          <a:p>
            <a:pPr indent="0" marL="0">
              <a:buNone/>
            </a:pPr>
            <a:r>
              <a:rPr lang="en-US" sz="1500" dirty="0">
                <a:solidFill>
                  <a:srgbClr val="14A3B8"/>
                </a:solidFill>
                <a:latin typeface="Calibri" pitchFamily="34" charset="0"/>
                <a:ea typeface="Calibri" pitchFamily="34" charset="-122"/>
                <a:cs typeface="Calibri" pitchFamily="34" charset="-120"/>
              </a:rPr>
              <a:t>Planning, maintenance, supply chain — the work on your desk</a:t>
            </a:r>
            <a:endParaRPr lang="en-US" sz="1500" dirty="0"/>
          </a:p>
        </p:txBody>
      </p:sp>
      <p:sp>
        <p:nvSpPr>
          <p:cNvPr id="6" name="Text 4"/>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6B7FA0"/>
                </a:solidFill>
                <a:latin typeface="Calibri" pitchFamily="34" charset="0"/>
                <a:ea typeface="Calibri" pitchFamily="34" charset="-122"/>
                <a:cs typeface="Calibri" pitchFamily="34" charset="-120"/>
              </a:rPr>
              <a:t>Shiftwork Solutions LLC  |  (415) 265-1621  |  www.shift-work.com</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The planner's impossible job</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78992"/>
            <a:ext cx="3931920" cy="47548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Shape 4"/>
          <p:cNvSpPr/>
          <p:nvPr/>
        </p:nvSpPr>
        <p:spPr>
          <a:xfrm>
            <a:off x="731520" y="1179576"/>
            <a:ext cx="54864" cy="274320"/>
          </a:xfrm>
          <a:prstGeom prst="rect">
            <a:avLst/>
          </a:prstGeom>
          <a:solidFill>
            <a:srgbClr val="DC4A4A"/>
          </a:solidFill>
          <a:ln/>
        </p:spPr>
      </p:sp>
      <p:sp>
        <p:nvSpPr>
          <p:cNvPr id="7" name="Text 5"/>
          <p:cNvSpPr txBox="1"/>
          <p:nvPr/>
        </p:nvSpPr>
        <p:spPr>
          <a:xfrm>
            <a:off x="914400" y="1078992"/>
            <a:ext cx="342900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Supply chain volatility</a:t>
            </a:r>
            <a:endParaRPr lang="en-US" sz="1150" dirty="0"/>
          </a:p>
        </p:txBody>
      </p:sp>
      <p:sp>
        <p:nvSpPr>
          <p:cNvPr id="8" name="Shape 6"/>
          <p:cNvSpPr/>
          <p:nvPr/>
        </p:nvSpPr>
        <p:spPr>
          <a:xfrm>
            <a:off x="548640" y="1645920"/>
            <a:ext cx="3931920" cy="47548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9" name="Shape 7"/>
          <p:cNvSpPr/>
          <p:nvPr/>
        </p:nvSpPr>
        <p:spPr>
          <a:xfrm>
            <a:off x="731520" y="1746504"/>
            <a:ext cx="54864" cy="274320"/>
          </a:xfrm>
          <a:prstGeom prst="rect">
            <a:avLst/>
          </a:prstGeom>
          <a:solidFill>
            <a:srgbClr val="F59E0B"/>
          </a:solidFill>
          <a:ln/>
        </p:spPr>
      </p:sp>
      <p:sp>
        <p:nvSpPr>
          <p:cNvPr id="10" name="Text 8"/>
          <p:cNvSpPr txBox="1"/>
          <p:nvPr/>
        </p:nvSpPr>
        <p:spPr>
          <a:xfrm>
            <a:off x="914400" y="1645920"/>
            <a:ext cx="342900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Equipment breakdowns and changeover windows</a:t>
            </a:r>
            <a:endParaRPr lang="en-US" sz="1150" dirty="0"/>
          </a:p>
        </p:txBody>
      </p:sp>
      <p:sp>
        <p:nvSpPr>
          <p:cNvPr id="11" name="Shape 9"/>
          <p:cNvSpPr/>
          <p:nvPr/>
        </p:nvSpPr>
        <p:spPr>
          <a:xfrm>
            <a:off x="548640" y="2212848"/>
            <a:ext cx="3931920" cy="47548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2" name="Shape 10"/>
          <p:cNvSpPr/>
          <p:nvPr/>
        </p:nvSpPr>
        <p:spPr>
          <a:xfrm>
            <a:off x="731520" y="2313432"/>
            <a:ext cx="54864" cy="274320"/>
          </a:xfrm>
          <a:prstGeom prst="rect">
            <a:avLst/>
          </a:prstGeom>
          <a:solidFill>
            <a:srgbClr val="3B82F6"/>
          </a:solidFill>
          <a:ln/>
        </p:spPr>
      </p:sp>
      <p:sp>
        <p:nvSpPr>
          <p:cNvPr id="13" name="Text 11"/>
          <p:cNvSpPr txBox="1"/>
          <p:nvPr/>
        </p:nvSpPr>
        <p:spPr>
          <a:xfrm>
            <a:off x="914400" y="2212848"/>
            <a:ext cx="342900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Three call-offs and a skill gap on nights</a:t>
            </a:r>
            <a:endParaRPr lang="en-US" sz="1150" dirty="0"/>
          </a:p>
        </p:txBody>
      </p:sp>
      <p:sp>
        <p:nvSpPr>
          <p:cNvPr id="14" name="Shape 12"/>
          <p:cNvSpPr/>
          <p:nvPr/>
        </p:nvSpPr>
        <p:spPr>
          <a:xfrm>
            <a:off x="548640" y="2779776"/>
            <a:ext cx="3931920" cy="47548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5" name="Shape 13"/>
          <p:cNvSpPr/>
          <p:nvPr/>
        </p:nvSpPr>
        <p:spPr>
          <a:xfrm>
            <a:off x="731520" y="2880360"/>
            <a:ext cx="54864" cy="274320"/>
          </a:xfrm>
          <a:prstGeom prst="rect">
            <a:avLst/>
          </a:prstGeom>
          <a:solidFill>
            <a:srgbClr val="0D7C8F"/>
          </a:solidFill>
          <a:ln/>
        </p:spPr>
      </p:sp>
      <p:sp>
        <p:nvSpPr>
          <p:cNvPr id="16" name="Text 14"/>
          <p:cNvSpPr txBox="1"/>
          <p:nvPr/>
        </p:nvSpPr>
        <p:spPr>
          <a:xfrm>
            <a:off x="914400" y="2779776"/>
            <a:ext cx="342900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Demand swinging on a big order that landed Tuesday</a:t>
            </a:r>
            <a:endParaRPr lang="en-US" sz="1150" dirty="0"/>
          </a:p>
        </p:txBody>
      </p:sp>
      <p:sp>
        <p:nvSpPr>
          <p:cNvPr id="17" name="Shape 15"/>
          <p:cNvSpPr/>
          <p:nvPr/>
        </p:nvSpPr>
        <p:spPr>
          <a:xfrm>
            <a:off x="4663440" y="1078992"/>
            <a:ext cx="3931920" cy="2231136"/>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8" name="Text 16"/>
          <p:cNvSpPr txBox="1"/>
          <p:nvPr/>
        </p:nvSpPr>
        <p:spPr>
          <a:xfrm>
            <a:off x="4937760" y="1207008"/>
            <a:ext cx="3383280" cy="914400"/>
          </a:xfrm>
          <a:prstGeom prst="rect">
            <a:avLst/>
          </a:prstGeom>
          <a:noFill/>
          <a:ln/>
        </p:spPr>
        <p:txBody>
          <a:bodyPr wrap="square" lIns="0" tIns="0" rIns="0" bIns="0" rtlCol="0" anchor="ctr"/>
          <a:lstStyle/>
          <a:p>
            <a:pPr indent="0" marL="0">
              <a:buNone/>
            </a:pPr>
            <a:r>
              <a:rPr lang="en-US" sz="1350" b="1" dirty="0">
                <a:solidFill>
                  <a:srgbClr val="D4A843"/>
                </a:solidFill>
                <a:latin typeface="Georgia" pitchFamily="34" charset="0"/>
                <a:ea typeface="Georgia" pitchFamily="34" charset="-122"/>
                <a:cs typeface="Georgia" pitchFamily="34" charset="-120"/>
              </a:rPr>
              <a:t>Every plan in this room is a best guess held together by experience, intuition, and caffeine.</a:t>
            </a:r>
            <a:endParaRPr lang="en-US" sz="1350" dirty="0"/>
          </a:p>
        </p:txBody>
      </p:sp>
      <p:sp>
        <p:nvSpPr>
          <p:cNvPr id="19" name="Text 17"/>
          <p:cNvSpPr txBox="1"/>
          <p:nvPr/>
        </p:nvSpPr>
        <p:spPr>
          <a:xfrm>
            <a:off x="4937760" y="2194560"/>
            <a:ext cx="3383280" cy="100584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And the system is reactive BY DESIGN — not because your planners are bad, but because no human can hold that many moving variables and re-solve them every time one moves.</a:t>
            </a:r>
            <a:endParaRPr lang="en-US" sz="1100" dirty="0"/>
          </a:p>
        </p:txBody>
      </p:sp>
      <p:sp>
        <p:nvSpPr>
          <p:cNvPr id="20" name="Shape 18"/>
          <p:cNvSpPr/>
          <p:nvPr/>
        </p:nvSpPr>
        <p:spPr>
          <a:xfrm>
            <a:off x="548640" y="3346704"/>
            <a:ext cx="8046720" cy="1060704"/>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21" name="Text 19"/>
          <p:cNvSpPr txBox="1"/>
          <p:nvPr/>
        </p:nvSpPr>
        <p:spPr>
          <a:xfrm>
            <a:off x="822960" y="3456432"/>
            <a:ext cx="7498080" cy="292608"/>
          </a:xfrm>
          <a:prstGeom prst="rect">
            <a:avLst/>
          </a:prstGeom>
          <a:noFill/>
          <a:ln/>
        </p:spPr>
        <p:txBody>
          <a:bodyPr wrap="square" lIns="0" tIns="0" rIns="0" bIns="0" rtlCol="0" anchor="ctr"/>
          <a:lstStyle/>
          <a:p>
            <a:pPr indent="0" marL="0">
              <a:buNone/>
            </a:pPr>
            <a:r>
              <a:rPr lang="en-US" sz="1400" b="1" dirty="0">
                <a:solidFill>
                  <a:srgbClr val="0D7C8F"/>
                </a:solidFill>
                <a:latin typeface="Calibri" pitchFamily="34" charset="0"/>
                <a:ea typeface="Calibri" pitchFamily="34" charset="-122"/>
                <a:cs typeface="Calibri" pitchFamily="34" charset="-120"/>
              </a:rPr>
              <a:t>AI does not replace your planner. It replaces the SEARCHING.</a:t>
            </a:r>
            <a:endParaRPr lang="en-US" sz="1400" dirty="0"/>
          </a:p>
        </p:txBody>
      </p:sp>
      <p:sp>
        <p:nvSpPr>
          <p:cNvPr id="22" name="Text 20"/>
          <p:cNvSpPr txBox="1"/>
          <p:nvPr/>
        </p:nvSpPr>
        <p:spPr>
          <a:xfrm>
            <a:off x="822960" y="3749040"/>
            <a:ext cx="749808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Today he spends most of the day figuring out what the options even are, and about twenty minutes deciding. Flip that ratio. Same person, same salary — now looking at next quarter instead of next Tuesday.</a:t>
            </a:r>
            <a:endParaRPr lang="en-US" sz="1100" dirty="0"/>
          </a:p>
        </p:txBody>
      </p:sp>
      <p:sp>
        <p:nvSpPr>
          <p:cNvPr id="23" name="Text 21"/>
          <p:cNvSpPr txBox="1"/>
          <p:nvPr/>
        </p:nvSpPr>
        <p:spPr>
          <a:xfrm>
            <a:off x="822960" y="4041648"/>
            <a:ext cx="7498080" cy="274320"/>
          </a:xfrm>
          <a:prstGeom prst="rect">
            <a:avLst/>
          </a:prstGeom>
          <a:noFill/>
          <a:ln/>
        </p:spPr>
        <p:txBody>
          <a:bodyPr wrap="square" lIns="0" tIns="0" rIns="0" bIns="0" rtlCol="0" anchor="ctr"/>
          <a:lstStyle/>
          <a:p>
            <a:pPr indent="0" marL="0">
              <a:buNone/>
            </a:pPr>
            <a:r>
              <a:rPr lang="en-US" sz="1100" b="1" i="1" dirty="0">
                <a:solidFill>
                  <a:srgbClr val="1B2A4A"/>
                </a:solidFill>
                <a:latin typeface="Calibri" pitchFamily="34" charset="0"/>
                <a:ea typeface="Calibri" pitchFamily="34" charset="-122"/>
                <a:cs typeface="Calibri" pitchFamily="34" charset="-120"/>
              </a:rPr>
              <a:t>Not hypothetical: last month an airline signed a five-year contract covering crew scheduling for 35,000 employees.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Four real applications</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8046720" cy="68580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Shape 4"/>
          <p:cNvSpPr/>
          <p:nvPr/>
        </p:nvSpPr>
        <p:spPr>
          <a:xfrm>
            <a:off x="731520" y="1197864"/>
            <a:ext cx="54864" cy="384048"/>
          </a:xfrm>
          <a:prstGeom prst="rect">
            <a:avLst/>
          </a:prstGeom>
          <a:solidFill>
            <a:srgbClr val="0D7C8F"/>
          </a:solidFill>
          <a:ln/>
        </p:spPr>
      </p:sp>
      <p:sp>
        <p:nvSpPr>
          <p:cNvPr id="7" name="Text 5"/>
          <p:cNvSpPr txBox="1"/>
          <p:nvPr/>
        </p:nvSpPr>
        <p:spPr>
          <a:xfrm>
            <a:off x="914400" y="1106424"/>
            <a:ext cx="265176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Predictive maintenance</a:t>
            </a:r>
            <a:endParaRPr lang="en-US" sz="1300" dirty="0"/>
          </a:p>
        </p:txBody>
      </p:sp>
      <p:sp>
        <p:nvSpPr>
          <p:cNvPr id="8" name="Text 6"/>
          <p:cNvSpPr txBox="1"/>
          <p:nvPr/>
        </p:nvSpPr>
        <p:spPr>
          <a:xfrm>
            <a:off x="914400" y="1380744"/>
            <a:ext cx="7452360" cy="31089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Vibration, temperature, load and current across rotating equipment, watched continuously — flagging the failure before the break. Paper is one of the more mature adopters. Not speculative.</a:t>
            </a:r>
            <a:endParaRPr lang="en-US" sz="1050" dirty="0"/>
          </a:p>
        </p:txBody>
      </p:sp>
      <p:sp>
        <p:nvSpPr>
          <p:cNvPr id="9" name="Shape 7"/>
          <p:cNvSpPr/>
          <p:nvPr/>
        </p:nvSpPr>
        <p:spPr>
          <a:xfrm>
            <a:off x="548640" y="1847088"/>
            <a:ext cx="8046720" cy="68580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0" name="Shape 8"/>
          <p:cNvSpPr/>
          <p:nvPr/>
        </p:nvSpPr>
        <p:spPr>
          <a:xfrm>
            <a:off x="731520" y="1993392"/>
            <a:ext cx="54864" cy="384048"/>
          </a:xfrm>
          <a:prstGeom prst="rect">
            <a:avLst/>
          </a:prstGeom>
          <a:solidFill>
            <a:srgbClr val="3B82F6"/>
          </a:solidFill>
          <a:ln/>
        </p:spPr>
      </p:sp>
      <p:sp>
        <p:nvSpPr>
          <p:cNvPr id="11" name="Text 9"/>
          <p:cNvSpPr txBox="1"/>
          <p:nvPr/>
        </p:nvSpPr>
        <p:spPr>
          <a:xfrm>
            <a:off x="914400" y="1901952"/>
            <a:ext cx="265176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Process optimization</a:t>
            </a:r>
            <a:endParaRPr lang="en-US" sz="1300" dirty="0"/>
          </a:p>
        </p:txBody>
      </p:sp>
      <p:sp>
        <p:nvSpPr>
          <p:cNvPr id="12" name="Text 10"/>
          <p:cNvSpPr txBox="1"/>
          <p:nvPr/>
        </p:nvSpPr>
        <p:spPr>
          <a:xfrm>
            <a:off x="914400" y="2176272"/>
            <a:ext cx="7452360" cy="31089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Refiner load, chemical dosing, dryer profiles, moisture targets — held closer to spec with less variability and less energy.</a:t>
            </a:r>
            <a:endParaRPr lang="en-US" sz="1050" dirty="0"/>
          </a:p>
        </p:txBody>
      </p:sp>
      <p:sp>
        <p:nvSpPr>
          <p:cNvPr id="13" name="Shape 11"/>
          <p:cNvSpPr/>
          <p:nvPr/>
        </p:nvSpPr>
        <p:spPr>
          <a:xfrm>
            <a:off x="548640" y="2642616"/>
            <a:ext cx="8046720" cy="68580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4" name="Shape 12"/>
          <p:cNvSpPr/>
          <p:nvPr/>
        </p:nvSpPr>
        <p:spPr>
          <a:xfrm>
            <a:off x="731520" y="2788920"/>
            <a:ext cx="54864" cy="384048"/>
          </a:xfrm>
          <a:prstGeom prst="rect">
            <a:avLst/>
          </a:prstGeom>
          <a:solidFill>
            <a:srgbClr val="F59E0B"/>
          </a:solidFill>
          <a:ln/>
        </p:spPr>
      </p:sp>
      <p:sp>
        <p:nvSpPr>
          <p:cNvPr id="15" name="Text 13"/>
          <p:cNvSpPr txBox="1"/>
          <p:nvPr/>
        </p:nvSpPr>
        <p:spPr>
          <a:xfrm>
            <a:off x="914400" y="2697480"/>
            <a:ext cx="265176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Demand and supply forecasting</a:t>
            </a:r>
            <a:endParaRPr lang="en-US" sz="1300" dirty="0"/>
          </a:p>
        </p:txBody>
      </p:sp>
      <p:sp>
        <p:nvSpPr>
          <p:cNvPr id="16" name="Text 14"/>
          <p:cNvSpPr txBox="1"/>
          <p:nvPr/>
        </p:nvSpPr>
        <p:spPr>
          <a:xfrm>
            <a:off x="914400" y="2971800"/>
            <a:ext cx="7452360" cy="31089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Less safety stock, fewer emergency changeovers, and fewer of the swings that wreck your schedule downstream.</a:t>
            </a:r>
            <a:endParaRPr lang="en-US" sz="1050" dirty="0"/>
          </a:p>
        </p:txBody>
      </p:sp>
      <p:sp>
        <p:nvSpPr>
          <p:cNvPr id="17" name="Shape 15"/>
          <p:cNvSpPr/>
          <p:nvPr/>
        </p:nvSpPr>
        <p:spPr>
          <a:xfrm>
            <a:off x="548640" y="3438144"/>
            <a:ext cx="8046720" cy="68580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8" name="Shape 16"/>
          <p:cNvSpPr/>
          <p:nvPr/>
        </p:nvSpPr>
        <p:spPr>
          <a:xfrm>
            <a:off x="731520" y="3584448"/>
            <a:ext cx="54864" cy="384048"/>
          </a:xfrm>
          <a:prstGeom prst="rect">
            <a:avLst/>
          </a:prstGeom>
          <a:solidFill>
            <a:srgbClr val="D4A843"/>
          </a:solidFill>
          <a:ln/>
        </p:spPr>
      </p:sp>
      <p:sp>
        <p:nvSpPr>
          <p:cNvPr id="19" name="Text 17"/>
          <p:cNvSpPr txBox="1"/>
          <p:nvPr/>
        </p:nvSpPr>
        <p:spPr>
          <a:xfrm>
            <a:off x="914400" y="3493008"/>
            <a:ext cx="265176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Integrated production scheduling</a:t>
            </a:r>
            <a:endParaRPr lang="en-US" sz="1300" dirty="0"/>
          </a:p>
        </p:txBody>
      </p:sp>
      <p:sp>
        <p:nvSpPr>
          <p:cNvPr id="20" name="Text 18"/>
          <p:cNvSpPr txBox="1"/>
          <p:nvPr/>
        </p:nvSpPr>
        <p:spPr>
          <a:xfrm>
            <a:off x="914400" y="3767328"/>
            <a:ext cx="7452360" cy="31089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Sequencing grades against the order book, inventory, maintenance windows AND crew qualifications — re-solved whenever anything moves.</a:t>
            </a:r>
            <a:endParaRPr lang="en-US" sz="1050" dirty="0"/>
          </a:p>
        </p:txBody>
      </p:sp>
      <p:sp>
        <p:nvSpPr>
          <p:cNvPr id="21" name="Text 19"/>
          <p:cNvSpPr txBox="1"/>
          <p:nvPr/>
        </p:nvSpPr>
        <p:spPr>
          <a:xfrm>
            <a:off x="548640" y="4315968"/>
            <a:ext cx="8046720" cy="292608"/>
          </a:xfrm>
          <a:prstGeom prst="rect">
            <a:avLst/>
          </a:prstGeom>
          <a:noFill/>
          <a:ln/>
        </p:spPr>
        <p:txBody>
          <a:bodyPr wrap="square" lIns="0" tIns="0" rIns="0" bIns="0" rtlCol="0" anchor="ctr"/>
          <a:lstStyle/>
          <a:p>
            <a:pPr indent="0" marL="0">
              <a:buNone/>
            </a:pPr>
            <a:r>
              <a:rPr lang="en-US" sz="1100" i="1" dirty="0">
                <a:solidFill>
                  <a:srgbClr val="8896A7"/>
                </a:solidFill>
                <a:latin typeface="Calibri" pitchFamily="34" charset="0"/>
                <a:ea typeface="Calibri" pitchFamily="34" charset="-122"/>
                <a:cs typeface="Calibri" pitchFamily="34" charset="-120"/>
              </a:rPr>
              <a:t>The shape of problem machines beat people at: enormous numbers of variables, constantly moving, where the right answer is a trade-off and not a fact.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The parts agent</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8046720" cy="56692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749808" y="1051560"/>
            <a:ext cx="411480" cy="566928"/>
          </a:xfrm>
          <a:prstGeom prst="rect">
            <a:avLst/>
          </a:prstGeom>
          <a:noFill/>
          <a:ln/>
        </p:spPr>
        <p:txBody>
          <a:bodyPr wrap="square" lIns="0" tIns="0" rIns="0" bIns="0" rtlCol="0" anchor="ctr"/>
          <a:lstStyle/>
          <a:p>
            <a:pPr indent="0" marL="0">
              <a:buNone/>
            </a:pPr>
            <a:r>
              <a:rPr lang="en-US" sz="1500" b="1" dirty="0">
                <a:solidFill>
                  <a:srgbClr val="0D7C8F"/>
                </a:solidFill>
                <a:latin typeface="Georgia" pitchFamily="34" charset="0"/>
                <a:ea typeface="Georgia" pitchFamily="34" charset="-122"/>
                <a:cs typeface="Georgia" pitchFamily="34" charset="-120"/>
              </a:rPr>
              <a:t>01</a:t>
            </a:r>
            <a:endParaRPr lang="en-US" sz="1500" dirty="0"/>
          </a:p>
        </p:txBody>
      </p:sp>
      <p:sp>
        <p:nvSpPr>
          <p:cNvPr id="7" name="Text 5"/>
          <p:cNvSpPr txBox="1"/>
          <p:nvPr/>
        </p:nvSpPr>
        <p:spPr>
          <a:xfrm>
            <a:off x="1207008" y="1051560"/>
            <a:ext cx="1965960" cy="566928"/>
          </a:xfrm>
          <a:prstGeom prst="rect">
            <a:avLst/>
          </a:prstGeom>
          <a:noFill/>
          <a:ln/>
        </p:spPr>
        <p:txBody>
          <a:bodyPr wrap="square" lIns="0" tIns="0" rIns="0" bIns="0" rtlCol="0" anchor="ctr"/>
          <a:lstStyle/>
          <a:p>
            <a:pPr indent="0" marL="0">
              <a:buNone/>
            </a:pPr>
            <a:r>
              <a:rPr lang="en-US" sz="1100" b="1" spc="50" kern="0" dirty="0">
                <a:solidFill>
                  <a:srgbClr val="1B2A4A"/>
                </a:solidFill>
                <a:latin typeface="Calibri" pitchFamily="34" charset="0"/>
                <a:ea typeface="Calibri" pitchFamily="34" charset="-122"/>
                <a:cs typeface="Calibri" pitchFamily="34" charset="-120"/>
              </a:rPr>
              <a:t>FEED IT IN</a:t>
            </a:r>
            <a:endParaRPr lang="en-US" sz="1100" dirty="0"/>
          </a:p>
        </p:txBody>
      </p:sp>
      <p:sp>
        <p:nvSpPr>
          <p:cNvPr id="8" name="Text 6"/>
          <p:cNvSpPr txBox="1"/>
          <p:nvPr/>
        </p:nvSpPr>
        <p:spPr>
          <a:xfrm>
            <a:off x="3200400" y="1051560"/>
            <a:ext cx="5212080" cy="56692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The whole owner's manual. Three thousand pages. Drawings, parts lists, bills of material, service bulletins. It reads all of it in minutes and it does not skim.</a:t>
            </a:r>
            <a:endParaRPr lang="en-US" sz="1000" dirty="0"/>
          </a:p>
        </p:txBody>
      </p:sp>
      <p:sp>
        <p:nvSpPr>
          <p:cNvPr id="9" name="Shape 7"/>
          <p:cNvSpPr/>
          <p:nvPr/>
        </p:nvSpPr>
        <p:spPr>
          <a:xfrm>
            <a:off x="548640" y="1719072"/>
            <a:ext cx="8046720" cy="56692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0" name="Text 8"/>
          <p:cNvSpPr txBox="1"/>
          <p:nvPr/>
        </p:nvSpPr>
        <p:spPr>
          <a:xfrm>
            <a:off x="749808" y="1719072"/>
            <a:ext cx="411480" cy="566928"/>
          </a:xfrm>
          <a:prstGeom prst="rect">
            <a:avLst/>
          </a:prstGeom>
          <a:noFill/>
          <a:ln/>
        </p:spPr>
        <p:txBody>
          <a:bodyPr wrap="square" lIns="0" tIns="0" rIns="0" bIns="0" rtlCol="0" anchor="ctr"/>
          <a:lstStyle/>
          <a:p>
            <a:pPr indent="0" marL="0">
              <a:buNone/>
            </a:pPr>
            <a:r>
              <a:rPr lang="en-US" sz="1500" b="1" dirty="0">
                <a:solidFill>
                  <a:srgbClr val="0D7C8F"/>
                </a:solidFill>
                <a:latin typeface="Georgia" pitchFamily="34" charset="0"/>
                <a:ea typeface="Georgia" pitchFamily="34" charset="-122"/>
                <a:cs typeface="Georgia" pitchFamily="34" charset="-120"/>
              </a:rPr>
              <a:t>02</a:t>
            </a:r>
            <a:endParaRPr lang="en-US" sz="1500" dirty="0"/>
          </a:p>
        </p:txBody>
      </p:sp>
      <p:sp>
        <p:nvSpPr>
          <p:cNvPr id="11" name="Text 9"/>
          <p:cNvSpPr txBox="1"/>
          <p:nvPr/>
        </p:nvSpPr>
        <p:spPr>
          <a:xfrm>
            <a:off x="1207008" y="1719072"/>
            <a:ext cx="1965960" cy="566928"/>
          </a:xfrm>
          <a:prstGeom prst="rect">
            <a:avLst/>
          </a:prstGeom>
          <a:noFill/>
          <a:ln/>
        </p:spPr>
        <p:txBody>
          <a:bodyPr wrap="square" lIns="0" tIns="0" rIns="0" bIns="0" rtlCol="0" anchor="ctr"/>
          <a:lstStyle/>
          <a:p>
            <a:pPr indent="0" marL="0">
              <a:buNone/>
            </a:pPr>
            <a:r>
              <a:rPr lang="en-US" sz="1100" b="1" spc="50" kern="0" dirty="0">
                <a:solidFill>
                  <a:srgbClr val="1B2A4A"/>
                </a:solidFill>
                <a:latin typeface="Calibri" pitchFamily="34" charset="0"/>
                <a:ea typeface="Calibri" pitchFamily="34" charset="-122"/>
                <a:cs typeface="Calibri" pitchFamily="34" charset="-120"/>
              </a:rPr>
              <a:t>ASK IT ANYTHING</a:t>
            </a:r>
            <a:endParaRPr lang="en-US" sz="1100" dirty="0"/>
          </a:p>
        </p:txBody>
      </p:sp>
      <p:sp>
        <p:nvSpPr>
          <p:cNvPr id="12" name="Text 10"/>
          <p:cNvSpPr txBox="1"/>
          <p:nvPr/>
        </p:nvSpPr>
        <p:spPr>
          <a:xfrm>
            <a:off x="3200400" y="1719072"/>
            <a:ext cx="5212080" cy="56692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“Part number for the doctor blade holder on number three?” Instant, sourced to a page — and it tells you the seven other places that part number shows up.</a:t>
            </a:r>
            <a:endParaRPr lang="en-US" sz="1000" dirty="0"/>
          </a:p>
        </p:txBody>
      </p:sp>
      <p:sp>
        <p:nvSpPr>
          <p:cNvPr id="13" name="Shape 11"/>
          <p:cNvSpPr/>
          <p:nvPr/>
        </p:nvSpPr>
        <p:spPr>
          <a:xfrm>
            <a:off x="548640" y="2386584"/>
            <a:ext cx="8046720" cy="56692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4" name="Text 12"/>
          <p:cNvSpPr txBox="1"/>
          <p:nvPr/>
        </p:nvSpPr>
        <p:spPr>
          <a:xfrm>
            <a:off x="749808" y="2386584"/>
            <a:ext cx="411480" cy="566928"/>
          </a:xfrm>
          <a:prstGeom prst="rect">
            <a:avLst/>
          </a:prstGeom>
          <a:noFill/>
          <a:ln/>
        </p:spPr>
        <p:txBody>
          <a:bodyPr wrap="square" lIns="0" tIns="0" rIns="0" bIns="0" rtlCol="0" anchor="ctr"/>
          <a:lstStyle/>
          <a:p>
            <a:pPr indent="0" marL="0">
              <a:buNone/>
            </a:pPr>
            <a:r>
              <a:rPr lang="en-US" sz="1500" b="1" dirty="0">
                <a:solidFill>
                  <a:srgbClr val="0D7C8F"/>
                </a:solidFill>
                <a:latin typeface="Georgia" pitchFamily="34" charset="0"/>
                <a:ea typeface="Georgia" pitchFamily="34" charset="-122"/>
                <a:cs typeface="Georgia" pitchFamily="34" charset="-120"/>
              </a:rPr>
              <a:t>03</a:t>
            </a:r>
            <a:endParaRPr lang="en-US" sz="1500" dirty="0"/>
          </a:p>
        </p:txBody>
      </p:sp>
      <p:sp>
        <p:nvSpPr>
          <p:cNvPr id="15" name="Text 13"/>
          <p:cNvSpPr txBox="1"/>
          <p:nvPr/>
        </p:nvSpPr>
        <p:spPr>
          <a:xfrm>
            <a:off x="1207008" y="2386584"/>
            <a:ext cx="1965960" cy="566928"/>
          </a:xfrm>
          <a:prstGeom prst="rect">
            <a:avLst/>
          </a:prstGeom>
          <a:noFill/>
          <a:ln/>
        </p:spPr>
        <p:txBody>
          <a:bodyPr wrap="square" lIns="0" tIns="0" rIns="0" bIns="0" rtlCol="0" anchor="ctr"/>
          <a:lstStyle/>
          <a:p>
            <a:pPr indent="0" marL="0">
              <a:buNone/>
            </a:pPr>
            <a:r>
              <a:rPr lang="en-US" sz="1100" b="1" spc="50" kern="0" dirty="0">
                <a:solidFill>
                  <a:srgbClr val="1B2A4A"/>
                </a:solidFill>
                <a:latin typeface="Calibri" pitchFamily="34" charset="0"/>
                <a:ea typeface="Calibri" pitchFamily="34" charset="-122"/>
                <a:cs typeface="Calibri" pitchFamily="34" charset="-120"/>
              </a:rPr>
              <a:t>CONNECT YOUR INVENTORY</a:t>
            </a:r>
            <a:endParaRPr lang="en-US" sz="1100" dirty="0"/>
          </a:p>
        </p:txBody>
      </p:sp>
      <p:sp>
        <p:nvSpPr>
          <p:cNvPr id="16" name="Text 14"/>
          <p:cNvSpPr txBox="1"/>
          <p:nvPr/>
        </p:nvSpPr>
        <p:spPr>
          <a:xfrm>
            <a:off x="3200400" y="2386584"/>
            <a:ext cx="5212080" cy="56692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Now it knows what the machine needs AND what's on the shelf. “You have one. Lead time is fourteen weeks. Critical path, no redundancy.”</a:t>
            </a:r>
            <a:endParaRPr lang="en-US" sz="1000" dirty="0"/>
          </a:p>
        </p:txBody>
      </p:sp>
      <p:sp>
        <p:nvSpPr>
          <p:cNvPr id="17" name="Shape 15"/>
          <p:cNvSpPr/>
          <p:nvPr/>
        </p:nvSpPr>
        <p:spPr>
          <a:xfrm>
            <a:off x="548640" y="3054096"/>
            <a:ext cx="8046720" cy="566928"/>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8" name="Text 16"/>
          <p:cNvSpPr txBox="1"/>
          <p:nvPr/>
        </p:nvSpPr>
        <p:spPr>
          <a:xfrm>
            <a:off x="749808" y="3054096"/>
            <a:ext cx="411480" cy="566928"/>
          </a:xfrm>
          <a:prstGeom prst="rect">
            <a:avLst/>
          </a:prstGeom>
          <a:noFill/>
          <a:ln/>
        </p:spPr>
        <p:txBody>
          <a:bodyPr wrap="square" lIns="0" tIns="0" rIns="0" bIns="0" rtlCol="0" anchor="ctr"/>
          <a:lstStyle/>
          <a:p>
            <a:pPr indent="0" marL="0">
              <a:buNone/>
            </a:pPr>
            <a:r>
              <a:rPr lang="en-US" sz="1500" b="1" dirty="0">
                <a:solidFill>
                  <a:srgbClr val="D4A843"/>
                </a:solidFill>
                <a:latin typeface="Georgia" pitchFamily="34" charset="0"/>
                <a:ea typeface="Georgia" pitchFamily="34" charset="-122"/>
                <a:cs typeface="Georgia" pitchFamily="34" charset="-120"/>
              </a:rPr>
              <a:t>04</a:t>
            </a:r>
            <a:endParaRPr lang="en-US" sz="1500" dirty="0"/>
          </a:p>
        </p:txBody>
      </p:sp>
      <p:sp>
        <p:nvSpPr>
          <p:cNvPr id="19" name="Text 17"/>
          <p:cNvSpPr txBox="1"/>
          <p:nvPr/>
        </p:nvSpPr>
        <p:spPr>
          <a:xfrm>
            <a:off x="1207008" y="3054096"/>
            <a:ext cx="1965960" cy="566928"/>
          </a:xfrm>
          <a:prstGeom prst="rect">
            <a:avLst/>
          </a:prstGeom>
          <a:noFill/>
          <a:ln/>
        </p:spPr>
        <p:txBody>
          <a:bodyPr wrap="square" lIns="0" tIns="0" rIns="0" bIns="0" rtlCol="0" anchor="ctr"/>
          <a:lstStyle/>
          <a:p>
            <a:pPr indent="0" marL="0">
              <a:buNone/>
            </a:pPr>
            <a:r>
              <a:rPr lang="en-US" sz="1100" b="1" spc="50" kern="0" dirty="0">
                <a:solidFill>
                  <a:srgbClr val="FFFFFF"/>
                </a:solidFill>
                <a:latin typeface="Calibri" pitchFamily="34" charset="0"/>
                <a:ea typeface="Calibri" pitchFamily="34" charset="-122"/>
                <a:cs typeface="Calibri" pitchFamily="34" charset="-120"/>
              </a:rPr>
              <a:t>GIVE IT AUTHORITY TO ACT</a:t>
            </a:r>
            <a:endParaRPr lang="en-US" sz="1100" dirty="0"/>
          </a:p>
        </p:txBody>
      </p:sp>
      <p:sp>
        <p:nvSpPr>
          <p:cNvPr id="20" name="Text 18"/>
          <p:cNvSpPr txBox="1"/>
          <p:nvPr/>
        </p:nvSpPr>
        <p:spPr>
          <a:xfrm>
            <a:off x="3200400" y="3054096"/>
            <a:ext cx="5212080" cy="56692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It sees the bearing trending toward failure in nine weeks, checks the shelf, checks lead time, checks your maintenance window — and puts the order in front of you.</a:t>
            </a:r>
            <a:endParaRPr lang="en-US" sz="1000" dirty="0"/>
          </a:p>
        </p:txBody>
      </p:sp>
      <p:sp>
        <p:nvSpPr>
          <p:cNvPr id="21" name="Text 19"/>
          <p:cNvSpPr txBox="1"/>
          <p:nvPr/>
        </p:nvSpPr>
        <p:spPr>
          <a:xfrm>
            <a:off x="548640" y="3822192"/>
            <a:ext cx="8046720" cy="274320"/>
          </a:xfrm>
          <a:prstGeom prst="rect">
            <a:avLst/>
          </a:prstGeom>
          <a:noFill/>
          <a:ln/>
        </p:spPr>
        <p:txBody>
          <a:bodyPr wrap="square" lIns="0" tIns="0" rIns="0" bIns="0" rtlCol="0" anchor="ctr"/>
          <a:lstStyle/>
          <a:p>
            <a:pPr indent="0" marL="0">
              <a:buNone/>
            </a:pPr>
            <a:r>
              <a:rPr lang="en-US" sz="1300" b="1" dirty="0">
                <a:solidFill>
                  <a:srgbClr val="0D7C8F"/>
                </a:solidFill>
                <a:latin typeface="Georgia" pitchFamily="34" charset="0"/>
                <a:ea typeface="Georgia" pitchFamily="34" charset="-122"/>
                <a:cs typeface="Georgia" pitchFamily="34" charset="-120"/>
              </a:rPr>
              <a:t>One knows the part number. The other makes sure it is on the shelf.</a:t>
            </a:r>
            <a:endParaRPr lang="en-US" sz="1300" dirty="0"/>
          </a:p>
        </p:txBody>
      </p:sp>
      <p:sp>
        <p:nvSpPr>
          <p:cNvPr id="22" name="Text 20"/>
          <p:cNvSpPr txBox="1"/>
          <p:nvPr/>
        </p:nvSpPr>
        <p:spPr>
          <a:xfrm>
            <a:off x="548640" y="4114800"/>
            <a:ext cx="8046720" cy="292608"/>
          </a:xfrm>
          <a:prstGeom prst="rect">
            <a:avLst/>
          </a:prstGeom>
          <a:noFill/>
          <a:ln/>
        </p:spPr>
        <p:txBody>
          <a:bodyPr wrap="square" lIns="0" tIns="0" rIns="0" bIns="0" rtlCol="0" anchor="ctr"/>
          <a:lstStyle/>
          <a:p>
            <a:pPr indent="0" marL="0">
              <a:buNone/>
            </a:pPr>
            <a:r>
              <a:rPr lang="en-US" sz="1150" i="1" dirty="0">
                <a:solidFill>
                  <a:srgbClr val="8896A7"/>
                </a:solidFill>
                <a:latin typeface="Calibri" pitchFamily="34" charset="0"/>
                <a:ea typeface="Calibri" pitchFamily="34" charset="-122"/>
                <a:cs typeface="Calibri" pitchFamily="34" charset="-120"/>
              </a:rPr>
              <a:t>Your maintenance manager did not lose his job in that story. He stopped discovering at 2 a.m. that he's out of the part.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One caution before the money</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8046720" cy="96012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70432"/>
            <a:ext cx="749808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Every application I just showed you optimizes on your data.</a:t>
            </a:r>
            <a:endParaRPr lang="en-US" sz="1450" dirty="0"/>
          </a:p>
        </p:txBody>
      </p:sp>
      <p:sp>
        <p:nvSpPr>
          <p:cNvPr id="7" name="Text 5"/>
          <p:cNvSpPr txBox="1"/>
          <p:nvPr/>
        </p:nvSpPr>
        <p:spPr>
          <a:xfrm>
            <a:off x="822960" y="1517904"/>
            <a:ext cx="7498080" cy="411480"/>
          </a:xfrm>
          <a:prstGeom prst="rect">
            <a:avLst/>
          </a:prstGeom>
          <a:noFill/>
          <a:ln/>
        </p:spPr>
        <p:txBody>
          <a:bodyPr wrap="square" lIns="0" tIns="0" rIns="0" bIns="0" rtlCol="0" anchor="ctr"/>
          <a:lstStyle/>
          <a:p>
            <a:pPr indent="0" marL="0">
              <a:buNone/>
            </a:pPr>
            <a:r>
              <a:rPr lang="en-US" sz="1200" dirty="0">
                <a:solidFill>
                  <a:srgbClr val="14A3B8"/>
                </a:solidFill>
                <a:latin typeface="Calibri" pitchFamily="34" charset="0"/>
                <a:ea typeface="Calibri" pitchFamily="34" charset="-122"/>
                <a:cs typeface="Calibri" pitchFamily="34" charset="-120"/>
              </a:rPr>
              <a:t>Which means it can only see what your data contains. And the thing actually wrecking an operation is very often not in the data at all.</a:t>
            </a:r>
            <a:endParaRPr lang="en-US" sz="1200" dirty="0"/>
          </a:p>
        </p:txBody>
      </p:sp>
      <p:sp>
        <p:nvSpPr>
          <p:cNvPr id="8" name="Shape 6"/>
          <p:cNvSpPr/>
          <p:nvPr/>
        </p:nvSpPr>
        <p:spPr>
          <a:xfrm>
            <a:off x="548640" y="2121408"/>
            <a:ext cx="8046720" cy="89611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9" name="Text 7"/>
          <p:cNvSpPr txBox="1"/>
          <p:nvPr/>
        </p:nvSpPr>
        <p:spPr>
          <a:xfrm>
            <a:off x="822960" y="2212848"/>
            <a:ext cx="749808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I've been called in to fix a schedule and found the schedule was fine.</a:t>
            </a:r>
            <a:endParaRPr lang="en-US" sz="1250" dirty="0"/>
          </a:p>
        </p:txBody>
      </p:sp>
      <p:sp>
        <p:nvSpPr>
          <p:cNvPr id="10" name="Text 8"/>
          <p:cNvSpPr txBox="1"/>
          <p:nvPr/>
        </p:nvSpPr>
        <p:spPr>
          <a:xfrm>
            <a:off x="822960" y="2505456"/>
            <a:ext cx="749808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 real problem was how overtime got handed out. Or the vacation policy. Or one supervisor nobody would name in writing. None of that is in your HRIS. None of it is in your production history.</a:t>
            </a:r>
            <a:endParaRPr lang="en-US" sz="1100" dirty="0"/>
          </a:p>
        </p:txBody>
      </p:sp>
      <p:sp>
        <p:nvSpPr>
          <p:cNvPr id="11" name="Text 9"/>
          <p:cNvSpPr txBox="1"/>
          <p:nvPr/>
        </p:nvSpPr>
        <p:spPr>
          <a:xfrm>
            <a:off x="548640" y="3127248"/>
            <a:ext cx="8046720" cy="310896"/>
          </a:xfrm>
          <a:prstGeom prst="rect">
            <a:avLst/>
          </a:prstGeom>
          <a:noFill/>
          <a:ln/>
        </p:spPr>
        <p:txBody>
          <a:bodyPr wrap="square" lIns="0" tIns="0" rIns="0" bIns="0" rtlCol="0" anchor="ctr"/>
          <a:lstStyle/>
          <a:p>
            <a:pPr indent="0" marL="0">
              <a:buNone/>
            </a:pPr>
            <a:r>
              <a:rPr lang="en-US" sz="1550" b="1" dirty="0">
                <a:solidFill>
                  <a:srgbClr val="0D7C8F"/>
                </a:solidFill>
                <a:latin typeface="Georgia" pitchFamily="34" charset="0"/>
                <a:ea typeface="Georgia" pitchFamily="34" charset="-122"/>
                <a:cs typeface="Georgia" pitchFamily="34" charset="-120"/>
              </a:rPr>
              <a:t>Your AI will optimize beautifully around a problem it cannot see.</a:t>
            </a:r>
            <a:endParaRPr lang="en-US" sz="1550" dirty="0"/>
          </a:p>
        </p:txBody>
      </p:sp>
      <p:sp>
        <p:nvSpPr>
          <p:cNvPr id="12" name="Shape 10"/>
          <p:cNvSpPr/>
          <p:nvPr/>
        </p:nvSpPr>
        <p:spPr>
          <a:xfrm>
            <a:off x="548640" y="3520440"/>
            <a:ext cx="8046720" cy="850392"/>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3" name="Text 11"/>
          <p:cNvSpPr txBox="1"/>
          <p:nvPr/>
        </p:nvSpPr>
        <p:spPr>
          <a:xfrm>
            <a:off x="822960" y="3611880"/>
            <a:ext cx="7498080" cy="438912"/>
          </a:xfrm>
          <a:prstGeom prst="rect">
            <a:avLst/>
          </a:prstGeom>
          <a:noFill/>
          <a:ln/>
        </p:spPr>
        <p:txBody>
          <a:bodyPr wrap="square" lIns="0" tIns="0" rIns="0" bIns="0" rtlCol="0" anchor="ctr"/>
          <a:lstStyle/>
          <a:p>
            <a:pPr indent="0" marL="0">
              <a:buNone/>
            </a:pPr>
            <a:r>
              <a:rPr lang="en-US" sz="1400" i="1" dirty="0">
                <a:solidFill>
                  <a:srgbClr val="D4A843"/>
                </a:solidFill>
                <a:latin typeface="Georgia" pitchFamily="34" charset="0"/>
                <a:ea typeface="Georgia" pitchFamily="34" charset="-122"/>
                <a:cs typeface="Georgia" pitchFamily="34" charset="-120"/>
              </a:rPr>
              <a:t>“A weak input doesn't just produce one weak output anymore — it gets operationalized at scale, without asking.”</a:t>
            </a:r>
            <a:endParaRPr lang="en-US" sz="1400" dirty="0"/>
          </a:p>
        </p:txBody>
      </p:sp>
      <p:sp>
        <p:nvSpPr>
          <p:cNvPr id="14" name="Text 12"/>
          <p:cNvSpPr txBox="1"/>
          <p:nvPr/>
        </p:nvSpPr>
        <p:spPr>
          <a:xfrm>
            <a:off x="822960" y="4069080"/>
            <a:ext cx="7498080" cy="237744"/>
          </a:xfrm>
          <a:prstGeom prst="rect">
            <a:avLst/>
          </a:prstGeom>
          <a:noFill/>
          <a:ln/>
        </p:spPr>
        <p:txBody>
          <a:bodyPr wrap="square" lIns="0" tIns="0" rIns="0" bIns="0" rtlCol="0" anchor="ctr"/>
          <a:lstStyle/>
          <a:p>
            <a:pPr indent="0" marL="0">
              <a:buNone/>
            </a:pPr>
            <a:r>
              <a:rPr lang="en-US" sz="1000" dirty="0">
                <a:solidFill>
                  <a:srgbClr val="8896A7"/>
                </a:solidFill>
                <a:latin typeface="Calibri" pitchFamily="34" charset="0"/>
                <a:ea typeface="Calibri" pitchFamily="34" charset="-122"/>
                <a:cs typeface="Calibri" pitchFamily="34" charset="-120"/>
              </a:rPr>
              <a:t>Jim Dillingham  ·  “From Talkers to Agents,” shift-work.com, April 2026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731520" y="1874520"/>
            <a:ext cx="1097280" cy="54864"/>
          </a:xfrm>
          <a:prstGeom prst="rect">
            <a:avLst/>
          </a:prstGeom>
          <a:solidFill>
            <a:srgbClr val="D4A843"/>
          </a:solidFill>
          <a:ln/>
        </p:spPr>
      </p:sp>
      <p:sp>
        <p:nvSpPr>
          <p:cNvPr id="3" name="Text 1"/>
          <p:cNvSpPr txBox="1"/>
          <p:nvPr/>
        </p:nvSpPr>
        <p:spPr>
          <a:xfrm>
            <a:off x="731520" y="1417320"/>
            <a:ext cx="7680960" cy="365760"/>
          </a:xfrm>
          <a:prstGeom prst="rect">
            <a:avLst/>
          </a:prstGeom>
          <a:noFill/>
          <a:ln/>
        </p:spPr>
        <p:txBody>
          <a:bodyPr wrap="square" lIns="0" tIns="0" rIns="0" bIns="0" rtlCol="0" anchor="ctr"/>
          <a:lstStyle/>
          <a:p>
            <a:pPr indent="0" marL="0">
              <a:buNone/>
            </a:pPr>
            <a:r>
              <a:rPr lang="en-US" sz="1300" b="1" spc="200" kern="0" dirty="0">
                <a:solidFill>
                  <a:srgbClr val="D4A843"/>
                </a:solidFill>
                <a:latin typeface="Calibri" pitchFamily="34" charset="0"/>
                <a:ea typeface="Calibri" pitchFamily="34" charset="-122"/>
                <a:cs typeface="Calibri" pitchFamily="34" charset="-120"/>
              </a:rPr>
              <a:t>PART FOUR</a:t>
            </a:r>
            <a:endParaRPr lang="en-US" sz="1300" dirty="0"/>
          </a:p>
        </p:txBody>
      </p:sp>
      <p:sp>
        <p:nvSpPr>
          <p:cNvPr id="4" name="Text 2"/>
          <p:cNvSpPr txBox="1"/>
          <p:nvPr/>
        </p:nvSpPr>
        <p:spPr>
          <a:xfrm>
            <a:off x="731520" y="2084832"/>
            <a:ext cx="7680960" cy="91440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How It Affects</a:t>
            </a:r>
            <a:endParaRPr lang="en-US" sz="3400" dirty="0"/>
          </a:p>
          <a:p>
            <a:pPr indent="0" marL="0">
              <a:buNone/>
            </a:pPr>
            <a:r>
              <a:rPr lang="en-US" sz="3400" b="1" dirty="0">
                <a:solidFill>
                  <a:srgbClr val="FFFFFF"/>
                </a:solidFill>
                <a:latin typeface="Georgia" pitchFamily="34" charset="0"/>
                <a:ea typeface="Georgia" pitchFamily="34" charset="-122"/>
                <a:cs typeface="Georgia" pitchFamily="34" charset="-120"/>
              </a:rPr>
              <a:t>the Shift Workers</a:t>
            </a:r>
            <a:endParaRPr lang="en-US" sz="3400" dirty="0"/>
          </a:p>
        </p:txBody>
      </p:sp>
      <p:sp>
        <p:nvSpPr>
          <p:cNvPr id="5" name="Text 3"/>
          <p:cNvSpPr txBox="1"/>
          <p:nvPr/>
        </p:nvSpPr>
        <p:spPr>
          <a:xfrm>
            <a:off x="731520" y="3017520"/>
            <a:ext cx="7680960" cy="548640"/>
          </a:xfrm>
          <a:prstGeom prst="rect">
            <a:avLst/>
          </a:prstGeom>
          <a:noFill/>
          <a:ln/>
        </p:spPr>
        <p:txBody>
          <a:bodyPr wrap="square" lIns="0" tIns="0" rIns="0" bIns="0" rtlCol="0" anchor="ctr"/>
          <a:lstStyle/>
          <a:p>
            <a:pPr indent="0" marL="0">
              <a:buNone/>
            </a:pPr>
            <a:r>
              <a:rPr lang="en-US" sz="1500" dirty="0">
                <a:solidFill>
                  <a:srgbClr val="14A3B8"/>
                </a:solidFill>
                <a:latin typeface="Calibri" pitchFamily="34" charset="0"/>
                <a:ea typeface="Calibri" pitchFamily="34" charset="-122"/>
                <a:cs typeface="Calibri" pitchFamily="34" charset="-120"/>
              </a:rPr>
              <a:t>Training, coverage, and the job on the floor</a:t>
            </a:r>
            <a:endParaRPr lang="en-US" sz="1500" dirty="0"/>
          </a:p>
        </p:txBody>
      </p:sp>
      <p:sp>
        <p:nvSpPr>
          <p:cNvPr id="6" name="Text 4"/>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6B7FA0"/>
                </a:solidFill>
                <a:latin typeface="Calibri" pitchFamily="34" charset="0"/>
                <a:ea typeface="Calibri" pitchFamily="34" charset="-122"/>
                <a:cs typeface="Calibri" pitchFamily="34" charset="-120"/>
              </a:rPr>
              <a:t>Shiftwork Solutions LLC  |  (415) 265-1621  |  www.shift-work.com</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Name the problem first</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3931920" cy="196596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70432"/>
            <a:ext cx="3383280" cy="310896"/>
          </a:xfrm>
          <a:prstGeom prst="rect">
            <a:avLst/>
          </a:prstGeom>
          <a:noFill/>
          <a:ln/>
        </p:spPr>
        <p:txBody>
          <a:bodyPr wrap="square" lIns="0" tIns="0" rIns="0" bIns="0" rtlCol="0" anchor="ctr"/>
          <a:lstStyle/>
          <a:p>
            <a:pPr indent="0" marL="0">
              <a:buNone/>
            </a:pPr>
            <a:r>
              <a:rPr lang="en-US" sz="1400" b="1" dirty="0">
                <a:solidFill>
                  <a:srgbClr val="0D7C8F"/>
                </a:solidFill>
                <a:latin typeface="Calibri" pitchFamily="34" charset="0"/>
                <a:ea typeface="Calibri" pitchFamily="34" charset="-122"/>
                <a:cs typeface="Calibri" pitchFamily="34" charset="-120"/>
              </a:rPr>
              <a:t>YOUR BEST OPERATOR</a:t>
            </a:r>
            <a:endParaRPr lang="en-US" sz="1400" dirty="0"/>
          </a:p>
        </p:txBody>
      </p:sp>
      <p:sp>
        <p:nvSpPr>
          <p:cNvPr id="7" name="Text 5"/>
          <p:cNvSpPr txBox="1"/>
          <p:nvPr/>
        </p:nvSpPr>
        <p:spPr>
          <a:xfrm>
            <a:off x="822960" y="1536192"/>
            <a:ext cx="3383280" cy="32004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34 years on the machine.</a:t>
            </a:r>
            <a:endParaRPr lang="en-US" sz="1600" dirty="0"/>
          </a:p>
        </p:txBody>
      </p:sp>
      <p:sp>
        <p:nvSpPr>
          <p:cNvPr id="8" name="Text 6"/>
          <p:cNvSpPr txBox="1"/>
          <p:nvPr/>
        </p:nvSpPr>
        <p:spPr>
          <a:xfrm>
            <a:off x="822960" y="1901952"/>
            <a:ext cx="3383280" cy="5486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Everything he knows that matters is not in a manual. It's in his hands and his ears.</a:t>
            </a:r>
            <a:endParaRPr lang="en-US" sz="1200" dirty="0"/>
          </a:p>
        </p:txBody>
      </p:sp>
      <p:sp>
        <p:nvSpPr>
          <p:cNvPr id="9" name="Text 7"/>
          <p:cNvSpPr txBox="1"/>
          <p:nvPr/>
        </p:nvSpPr>
        <p:spPr>
          <a:xfrm>
            <a:off x="822960" y="2487168"/>
            <a:ext cx="3383280" cy="320040"/>
          </a:xfrm>
          <a:prstGeom prst="rect">
            <a:avLst/>
          </a:prstGeom>
          <a:noFill/>
          <a:ln/>
        </p:spPr>
        <p:txBody>
          <a:bodyPr wrap="square" lIns="0" tIns="0" rIns="0" bIns="0" rtlCol="0" anchor="ctr"/>
          <a:lstStyle/>
          <a:p>
            <a:pPr indent="0" marL="0">
              <a:buNone/>
            </a:pPr>
            <a:r>
              <a:rPr lang="en-US" sz="1250" b="1" dirty="0">
                <a:solidFill>
                  <a:srgbClr val="DC4A4A"/>
                </a:solidFill>
                <a:latin typeface="Calibri" pitchFamily="34" charset="0"/>
                <a:ea typeface="Calibri" pitchFamily="34" charset="-122"/>
                <a:cs typeface="Calibri" pitchFamily="34" charset="-120"/>
              </a:rPr>
              <a:t>He retires in eighteen months.</a:t>
            </a:r>
            <a:endParaRPr lang="en-US" sz="1250" dirty="0"/>
          </a:p>
        </p:txBody>
      </p:sp>
      <p:sp>
        <p:nvSpPr>
          <p:cNvPr id="10" name="Shape 8"/>
          <p:cNvSpPr/>
          <p:nvPr/>
        </p:nvSpPr>
        <p:spPr>
          <a:xfrm>
            <a:off x="4663440" y="1051560"/>
            <a:ext cx="3931920" cy="196596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1" name="Text 9"/>
          <p:cNvSpPr txBox="1"/>
          <p:nvPr/>
        </p:nvSpPr>
        <p:spPr>
          <a:xfrm>
            <a:off x="4937760" y="1170432"/>
            <a:ext cx="3383280" cy="310896"/>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YOUR NEW HIRE</a:t>
            </a:r>
            <a:endParaRPr lang="en-US" sz="1400" dirty="0"/>
          </a:p>
        </p:txBody>
      </p:sp>
      <p:sp>
        <p:nvSpPr>
          <p:cNvPr id="12" name="Text 10"/>
          <p:cNvSpPr txBox="1"/>
          <p:nvPr/>
        </p:nvSpPr>
        <p:spPr>
          <a:xfrm>
            <a:off x="4937760" y="1536192"/>
            <a:ext cx="338328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24 years old.</a:t>
            </a:r>
            <a:endParaRPr lang="en-US" sz="1600" dirty="0"/>
          </a:p>
        </p:txBody>
      </p:sp>
      <p:sp>
        <p:nvSpPr>
          <p:cNvPr id="13" name="Text 11"/>
          <p:cNvSpPr txBox="1"/>
          <p:nvPr/>
        </p:nvSpPr>
        <p:spPr>
          <a:xfrm>
            <a:off x="4937760" y="1901952"/>
            <a:ext cx="338328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He learns from a two-minute video on his phone. You hand him a three-inch binder.</a:t>
            </a:r>
            <a:endParaRPr lang="en-US" sz="1200" dirty="0"/>
          </a:p>
        </p:txBody>
      </p:sp>
      <p:sp>
        <p:nvSpPr>
          <p:cNvPr id="14" name="Text 12"/>
          <p:cNvSpPr txBox="1"/>
          <p:nvPr/>
        </p:nvSpPr>
        <p:spPr>
          <a:xfrm>
            <a:off x="4937760" y="2487168"/>
            <a:ext cx="3383280" cy="457200"/>
          </a:xfrm>
          <a:prstGeom prst="rect">
            <a:avLst/>
          </a:prstGeom>
          <a:noFill/>
          <a:ln/>
        </p:spPr>
        <p:txBody>
          <a:bodyPr wrap="square" lIns="0" tIns="0" rIns="0" bIns="0" rtlCol="0" anchor="ctr"/>
          <a:lstStyle/>
          <a:p>
            <a:pPr indent="0" marL="0">
              <a:buNone/>
            </a:pPr>
            <a:r>
              <a:rPr lang="en-US" sz="1200" dirty="0">
                <a:solidFill>
                  <a:srgbClr val="14A3B8"/>
                </a:solidFill>
                <a:latin typeface="Calibri" pitchFamily="34" charset="0"/>
                <a:ea typeface="Calibri" pitchFamily="34" charset="-122"/>
                <a:cs typeface="Calibri" pitchFamily="34" charset="-120"/>
              </a:rPr>
              <a:t>Then you put him on nights with a partner who's also running the machine.</a:t>
            </a:r>
            <a:endParaRPr lang="en-US" sz="1200" dirty="0"/>
          </a:p>
        </p:txBody>
      </p:sp>
      <p:sp>
        <p:nvSpPr>
          <p:cNvPr id="15" name="Shape 13"/>
          <p:cNvSpPr/>
          <p:nvPr/>
        </p:nvSpPr>
        <p:spPr>
          <a:xfrm>
            <a:off x="548640" y="3200400"/>
            <a:ext cx="3931920" cy="117043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6" name="Text 14"/>
          <p:cNvSpPr txBox="1"/>
          <p:nvPr/>
        </p:nvSpPr>
        <p:spPr>
          <a:xfrm>
            <a:off x="822960" y="3291840"/>
            <a:ext cx="1371600" cy="502920"/>
          </a:xfrm>
          <a:prstGeom prst="rect">
            <a:avLst/>
          </a:prstGeom>
          <a:noFill/>
          <a:ln/>
        </p:spPr>
        <p:txBody>
          <a:bodyPr wrap="square" lIns="0" tIns="0" rIns="0" bIns="0" rtlCol="0" anchor="ctr"/>
          <a:lstStyle/>
          <a:p>
            <a:pPr indent="0" marL="0">
              <a:buNone/>
            </a:pPr>
            <a:r>
              <a:rPr lang="en-US" sz="3000" b="1" dirty="0">
                <a:solidFill>
                  <a:srgbClr val="0D7C8F"/>
                </a:solidFill>
                <a:latin typeface="Georgia" pitchFamily="34" charset="0"/>
                <a:ea typeface="Georgia" pitchFamily="34" charset="-122"/>
                <a:cs typeface="Georgia" pitchFamily="34" charset="-120"/>
              </a:rPr>
              <a:t>~50%</a:t>
            </a:r>
            <a:endParaRPr lang="en-US" sz="3000" dirty="0"/>
          </a:p>
        </p:txBody>
      </p:sp>
      <p:sp>
        <p:nvSpPr>
          <p:cNvPr id="17" name="Text 15"/>
          <p:cNvSpPr txBox="1"/>
          <p:nvPr/>
        </p:nvSpPr>
        <p:spPr>
          <a:xfrm>
            <a:off x="2148840" y="3310128"/>
            <a:ext cx="2148840" cy="9144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of shift workers say they feel like part of the company — from our normative database of 20,000+</a:t>
            </a:r>
            <a:endParaRPr lang="en-US" sz="1050" dirty="0"/>
          </a:p>
        </p:txBody>
      </p:sp>
      <p:sp>
        <p:nvSpPr>
          <p:cNvPr id="18" name="Shape 16"/>
          <p:cNvSpPr/>
          <p:nvPr/>
        </p:nvSpPr>
        <p:spPr>
          <a:xfrm>
            <a:off x="4663440" y="3200400"/>
            <a:ext cx="3931920" cy="1170432"/>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9" name="Text 17"/>
          <p:cNvSpPr txBox="1"/>
          <p:nvPr/>
        </p:nvSpPr>
        <p:spPr>
          <a:xfrm>
            <a:off x="4937760" y="3310128"/>
            <a:ext cx="3383280" cy="457200"/>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People quit jobs they don't feel good at.</a:t>
            </a:r>
            <a:endParaRPr lang="en-US" sz="1400" dirty="0"/>
          </a:p>
        </p:txBody>
      </p:sp>
      <p:sp>
        <p:nvSpPr>
          <p:cNvPr id="20" name="Text 18"/>
          <p:cNvSpPr txBox="1"/>
          <p:nvPr/>
        </p:nvSpPr>
        <p:spPr>
          <a:xfrm>
            <a:off x="4937760" y="3749040"/>
            <a:ext cx="3383280" cy="54864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And the fastest way to make someone feel good at a job is to train them properly — the exact thing you don't have the people to do.</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What AI changes — four shifts</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3931920" cy="141732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Shape 4"/>
          <p:cNvSpPr/>
          <p:nvPr/>
        </p:nvSpPr>
        <p:spPr>
          <a:xfrm>
            <a:off x="822960" y="1197864"/>
            <a:ext cx="54864" cy="274320"/>
          </a:xfrm>
          <a:prstGeom prst="rect">
            <a:avLst/>
          </a:prstGeom>
          <a:solidFill>
            <a:srgbClr val="0D7C8F"/>
          </a:solidFill>
          <a:ln/>
        </p:spPr>
      </p:sp>
      <p:sp>
        <p:nvSpPr>
          <p:cNvPr id="7" name="Text 5"/>
          <p:cNvSpPr txBox="1"/>
          <p:nvPr/>
        </p:nvSpPr>
        <p:spPr>
          <a:xfrm>
            <a:off x="1005840" y="1170432"/>
            <a:ext cx="3291840" cy="31089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From one pace to every pace</a:t>
            </a:r>
            <a:endParaRPr lang="en-US" sz="1300" dirty="0"/>
          </a:p>
        </p:txBody>
      </p:sp>
      <p:sp>
        <p:nvSpPr>
          <p:cNvPr id="8" name="Text 6"/>
          <p:cNvSpPr txBox="1"/>
          <p:nvPr/>
        </p:nvSpPr>
        <p:spPr>
          <a:xfrm>
            <a:off x="822960" y="1554480"/>
            <a:ext cx="3383280" cy="8229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 binder moves at one speed. An AI tutor moves at the learner's — and never sighs at the fourth repeat of the same question.</a:t>
            </a:r>
            <a:endParaRPr lang="en-US" sz="1100" dirty="0"/>
          </a:p>
        </p:txBody>
      </p:sp>
      <p:sp>
        <p:nvSpPr>
          <p:cNvPr id="9" name="Shape 7"/>
          <p:cNvSpPr/>
          <p:nvPr/>
        </p:nvSpPr>
        <p:spPr>
          <a:xfrm>
            <a:off x="4663440" y="1051560"/>
            <a:ext cx="3931920" cy="141732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0" name="Shape 8"/>
          <p:cNvSpPr/>
          <p:nvPr/>
        </p:nvSpPr>
        <p:spPr>
          <a:xfrm>
            <a:off x="4937760" y="1197864"/>
            <a:ext cx="54864" cy="274320"/>
          </a:xfrm>
          <a:prstGeom prst="rect">
            <a:avLst/>
          </a:prstGeom>
          <a:solidFill>
            <a:srgbClr val="3B82F6"/>
          </a:solidFill>
          <a:ln/>
        </p:spPr>
      </p:sp>
      <p:sp>
        <p:nvSpPr>
          <p:cNvPr id="11" name="Text 9"/>
          <p:cNvSpPr txBox="1"/>
          <p:nvPr/>
        </p:nvSpPr>
        <p:spPr>
          <a:xfrm>
            <a:off x="5120640" y="1170432"/>
            <a:ext cx="3291840" cy="31089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From generic to contextual</a:t>
            </a:r>
            <a:endParaRPr lang="en-US" sz="1300" dirty="0"/>
          </a:p>
        </p:txBody>
      </p:sp>
      <p:sp>
        <p:nvSpPr>
          <p:cNvPr id="12" name="Text 10"/>
          <p:cNvSpPr txBox="1"/>
          <p:nvPr/>
        </p:nvSpPr>
        <p:spPr>
          <a:xfrm>
            <a:off x="4937760" y="1554480"/>
            <a:ext cx="3383280" cy="8229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Not “how a paper machine works.” YOUR machine, YOUR SOPs, YOUR grade changes — because you feed it your own documentation.</a:t>
            </a:r>
            <a:endParaRPr lang="en-US" sz="1100" dirty="0"/>
          </a:p>
        </p:txBody>
      </p:sp>
      <p:sp>
        <p:nvSpPr>
          <p:cNvPr id="13" name="Shape 11"/>
          <p:cNvSpPr/>
          <p:nvPr/>
        </p:nvSpPr>
        <p:spPr>
          <a:xfrm>
            <a:off x="548640" y="2624328"/>
            <a:ext cx="3931920" cy="141732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4" name="Shape 12"/>
          <p:cNvSpPr/>
          <p:nvPr/>
        </p:nvSpPr>
        <p:spPr>
          <a:xfrm>
            <a:off x="822960" y="2770632"/>
            <a:ext cx="54864" cy="274320"/>
          </a:xfrm>
          <a:prstGeom prst="rect">
            <a:avLst/>
          </a:prstGeom>
          <a:solidFill>
            <a:srgbClr val="F59E0B"/>
          </a:solidFill>
          <a:ln/>
        </p:spPr>
      </p:sp>
      <p:sp>
        <p:nvSpPr>
          <p:cNvPr id="15" name="Text 13"/>
          <p:cNvSpPr txBox="1"/>
          <p:nvPr/>
        </p:nvSpPr>
        <p:spPr>
          <a:xfrm>
            <a:off x="1005840" y="2743200"/>
            <a:ext cx="3291840" cy="31089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From scheduled to on-demand</a:t>
            </a:r>
            <a:endParaRPr lang="en-US" sz="1300" dirty="0"/>
          </a:p>
        </p:txBody>
      </p:sp>
      <p:sp>
        <p:nvSpPr>
          <p:cNvPr id="16" name="Text 14"/>
          <p:cNvSpPr txBox="1"/>
          <p:nvPr/>
        </p:nvSpPr>
        <p:spPr>
          <a:xfrm>
            <a:off x="822960" y="3127248"/>
            <a:ext cx="3383280" cy="8229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3 a.m. on nights, no supervisor on the floor, operator has a question. Today he guesses. That's a training window you've never been able to staff.</a:t>
            </a:r>
            <a:endParaRPr lang="en-US" sz="1100" dirty="0"/>
          </a:p>
        </p:txBody>
      </p:sp>
      <p:sp>
        <p:nvSpPr>
          <p:cNvPr id="17" name="Shape 15"/>
          <p:cNvSpPr/>
          <p:nvPr/>
        </p:nvSpPr>
        <p:spPr>
          <a:xfrm>
            <a:off x="4663440" y="2624328"/>
            <a:ext cx="3931920" cy="141732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8" name="Shape 16"/>
          <p:cNvSpPr/>
          <p:nvPr/>
        </p:nvSpPr>
        <p:spPr>
          <a:xfrm>
            <a:off x="4937760" y="2770632"/>
            <a:ext cx="54864" cy="274320"/>
          </a:xfrm>
          <a:prstGeom prst="rect">
            <a:avLst/>
          </a:prstGeom>
          <a:solidFill>
            <a:srgbClr val="D4A843"/>
          </a:solidFill>
          <a:ln/>
        </p:spPr>
      </p:sp>
      <p:sp>
        <p:nvSpPr>
          <p:cNvPr id="19" name="Text 17"/>
          <p:cNvSpPr txBox="1"/>
          <p:nvPr/>
        </p:nvSpPr>
        <p:spPr>
          <a:xfrm>
            <a:off x="5120640" y="2743200"/>
            <a:ext cx="3291840" cy="31089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From tribal knowledge to captured knowledge</a:t>
            </a:r>
            <a:endParaRPr lang="en-US" sz="1300" dirty="0"/>
          </a:p>
        </p:txBody>
      </p:sp>
      <p:sp>
        <p:nvSpPr>
          <p:cNvPr id="20" name="Text 18"/>
          <p:cNvSpPr txBox="1"/>
          <p:nvPr/>
        </p:nvSpPr>
        <p:spPr>
          <a:xfrm>
            <a:off x="4937760" y="3127248"/>
            <a:ext cx="3383280" cy="8229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Interview the 34-year veteran before he walks out. The highest-value AI project available to most mills — and almost nobody is doing it.</a:t>
            </a:r>
            <a:endParaRPr lang="en-US" sz="1100" dirty="0"/>
          </a:p>
        </p:txBody>
      </p:sp>
      <p:sp>
        <p:nvSpPr>
          <p:cNvPr id="21" name="Text 19"/>
          <p:cNvSpPr txBox="1"/>
          <p:nvPr/>
        </p:nvSpPr>
        <p:spPr>
          <a:xfrm>
            <a:off x="548640" y="4261104"/>
            <a:ext cx="8046720" cy="365760"/>
          </a:xfrm>
          <a:prstGeom prst="rect">
            <a:avLst/>
          </a:prstGeom>
          <a:noFill/>
          <a:ln/>
        </p:spPr>
        <p:txBody>
          <a:bodyPr wrap="square" lIns="0" tIns="0" rIns="0" bIns="0" rtlCol="0" anchor="ctr"/>
          <a:lstStyle/>
          <a:p>
            <a:pPr indent="0" marL="0">
              <a:buNone/>
            </a:pPr>
            <a:r>
              <a:rPr lang="en-US" sz="1150" b="1" i="1" dirty="0">
                <a:solidFill>
                  <a:srgbClr val="0D7C8F"/>
                </a:solidFill>
                <a:latin typeface="Calibri" pitchFamily="34" charset="0"/>
                <a:ea typeface="Calibri" pitchFamily="34" charset="-122"/>
                <a:cs typeface="Calibri" pitchFamily="34" charset="-120"/>
              </a:rPr>
              <a:t>Notice the trainer didn't disappear in any of those. He stopped repeating himself for the ninth time and started coaching the things that are actually hard.</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Mr. Cadabra — and why it's on this slide</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8046720" cy="932688"/>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33856"/>
            <a:ext cx="7498080" cy="310896"/>
          </a:xfrm>
          <a:prstGeom prst="rect">
            <a:avLst/>
          </a:prstGeom>
          <a:noFill/>
          <a:ln/>
        </p:spPr>
        <p:txBody>
          <a:bodyPr wrap="square" lIns="0" tIns="0" rIns="0" bIns="0" rtlCol="0" anchor="ctr"/>
          <a:lstStyle/>
          <a:p>
            <a:pPr indent="0" marL="0">
              <a:buNone/>
            </a:pPr>
            <a:r>
              <a:rPr lang="en-US" sz="1400" i="1" dirty="0">
                <a:solidFill>
                  <a:srgbClr val="D4A843"/>
                </a:solidFill>
                <a:latin typeface="Georgia" pitchFamily="34" charset="0"/>
                <a:ea typeface="Georgia" pitchFamily="34" charset="-122"/>
                <a:cs typeface="Georgia" pitchFamily="34" charset="-120"/>
              </a:rPr>
              <a:t>“Something I built that has nothing to do with paper. It teaches math to kids.”</a:t>
            </a:r>
            <a:endParaRPr lang="en-US" sz="1400" dirty="0"/>
          </a:p>
        </p:txBody>
      </p:sp>
      <p:sp>
        <p:nvSpPr>
          <p:cNvPr id="7" name="Text 5"/>
          <p:cNvSpPr txBox="1"/>
          <p:nvPr/>
        </p:nvSpPr>
        <p:spPr>
          <a:xfrm>
            <a:off x="822960" y="1481328"/>
            <a:ext cx="7498080" cy="41148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 built it to understand adaptive training from the inside. A kid learning fractions and an operator learning a wet end are the same problem in different clothes.</a:t>
            </a:r>
            <a:endParaRPr lang="en-US" sz="1150" dirty="0"/>
          </a:p>
        </p:txBody>
      </p:sp>
      <p:sp>
        <p:nvSpPr>
          <p:cNvPr id="8" name="Shape 6"/>
          <p:cNvSpPr/>
          <p:nvPr/>
        </p:nvSpPr>
        <p:spPr>
          <a:xfrm>
            <a:off x="548640" y="2084832"/>
            <a:ext cx="3931920" cy="12344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9" name="Text 7"/>
          <p:cNvSpPr txBox="1"/>
          <p:nvPr/>
        </p:nvSpPr>
        <p:spPr>
          <a:xfrm>
            <a:off x="822960" y="2194560"/>
            <a:ext cx="3383280" cy="310896"/>
          </a:xfrm>
          <a:prstGeom prst="rect">
            <a:avLst/>
          </a:prstGeom>
          <a:noFill/>
          <a:ln/>
        </p:spPr>
        <p:txBody>
          <a:bodyPr wrap="square" lIns="0" tIns="0" rIns="0" bIns="0" rtlCol="0" anchor="ctr"/>
          <a:lstStyle/>
          <a:p>
            <a:pPr indent="0" marL="0">
              <a:buNone/>
            </a:pPr>
            <a:r>
              <a:rPr lang="en-US" sz="1400" b="1" dirty="0">
                <a:solidFill>
                  <a:srgbClr val="0D7C8F"/>
                </a:solidFill>
                <a:latin typeface="Calibri" pitchFamily="34" charset="0"/>
                <a:ea typeface="Calibri" pitchFamily="34" charset="-122"/>
                <a:cs typeface="Calibri" pitchFamily="34" charset="-120"/>
              </a:rPr>
              <a:t>DEMONSTRATE TWO THINGS</a:t>
            </a:r>
            <a:endParaRPr lang="en-US" sz="1400" dirty="0"/>
          </a:p>
        </p:txBody>
      </p:sp>
      <p:sp>
        <p:nvSpPr>
          <p:cNvPr id="10" name="Text 8"/>
          <p:cNvSpPr txBox="1"/>
          <p:nvPr/>
        </p:nvSpPr>
        <p:spPr>
          <a:xfrm>
            <a:off x="822960" y="2542032"/>
            <a:ext cx="3383280" cy="32918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Give it a wrong answer — watch it diagnose WHY</a:t>
            </a:r>
            <a:endParaRPr lang="en-US" sz="1150" dirty="0"/>
          </a:p>
        </p:txBody>
      </p:sp>
      <p:sp>
        <p:nvSpPr>
          <p:cNvPr id="11" name="Text 9"/>
          <p:cNvSpPr txBox="1"/>
          <p:nvPr/>
        </p:nvSpPr>
        <p:spPr>
          <a:xfrm>
            <a:off x="822960" y="2871216"/>
            <a:ext cx="3383280" cy="32918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Watch it adapt difficulty in real time</a:t>
            </a:r>
            <a:endParaRPr lang="en-US" sz="1150" dirty="0"/>
          </a:p>
        </p:txBody>
      </p:sp>
      <p:sp>
        <p:nvSpPr>
          <p:cNvPr id="12" name="Shape 10"/>
          <p:cNvSpPr/>
          <p:nvPr/>
        </p:nvSpPr>
        <p:spPr>
          <a:xfrm>
            <a:off x="4663440" y="2084832"/>
            <a:ext cx="3931920" cy="123444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3" name="Text 11"/>
          <p:cNvSpPr txBox="1"/>
          <p:nvPr/>
        </p:nvSpPr>
        <p:spPr>
          <a:xfrm>
            <a:off x="4937760" y="2194560"/>
            <a:ext cx="3383280" cy="310896"/>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THE TRANSFER LINE</a:t>
            </a:r>
            <a:endParaRPr lang="en-US" sz="1400" dirty="0"/>
          </a:p>
        </p:txBody>
      </p:sp>
      <p:sp>
        <p:nvSpPr>
          <p:cNvPr id="14" name="Text 12"/>
          <p:cNvSpPr txBox="1"/>
          <p:nvPr/>
        </p:nvSpPr>
        <p:spPr>
          <a:xfrm>
            <a:off x="4937760" y="2542032"/>
            <a:ext cx="3383280" cy="64008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Swap the fractions for a grade change and the ten-year-old for a six-month operator. Same engine.</a:t>
            </a:r>
            <a:endParaRPr lang="en-US" sz="1150" dirty="0"/>
          </a:p>
        </p:txBody>
      </p:sp>
      <p:sp>
        <p:nvSpPr>
          <p:cNvPr id="15" name="Shape 13"/>
          <p:cNvSpPr/>
          <p:nvPr/>
        </p:nvSpPr>
        <p:spPr>
          <a:xfrm>
            <a:off x="548640" y="3493008"/>
            <a:ext cx="8046720" cy="86868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6" name="Text 14"/>
          <p:cNvSpPr txBox="1"/>
          <p:nvPr/>
        </p:nvSpPr>
        <p:spPr>
          <a:xfrm>
            <a:off x="822960" y="3584448"/>
            <a:ext cx="7498080" cy="274320"/>
          </a:xfrm>
          <a:prstGeom prst="rect">
            <a:avLst/>
          </a:prstGeom>
          <a:noFill/>
          <a:ln/>
        </p:spPr>
        <p:txBody>
          <a:bodyPr wrap="square" lIns="0" tIns="0" rIns="0" bIns="0" rtlCol="0" anchor="ctr"/>
          <a:lstStyle/>
          <a:p>
            <a:pPr indent="0" marL="0">
              <a:buNone/>
            </a:pPr>
            <a:r>
              <a:rPr lang="en-US" sz="1250" b="1" dirty="0">
                <a:solidFill>
                  <a:srgbClr val="DC4A4A"/>
                </a:solidFill>
                <a:latin typeface="Calibri" pitchFamily="34" charset="0"/>
                <a:ea typeface="Calibri" pitchFamily="34" charset="-122"/>
                <a:cs typeface="Calibri" pitchFamily="34" charset="-120"/>
              </a:rPr>
              <a:t>Two cautions — say them, they protect you</a:t>
            </a:r>
            <a:endParaRPr lang="en-US" sz="1250" dirty="0"/>
          </a:p>
        </p:txBody>
      </p:sp>
      <p:sp>
        <p:nvSpPr>
          <p:cNvPr id="17" name="Text 15"/>
          <p:cNvSpPr txBox="1"/>
          <p:nvPr/>
        </p:nvSpPr>
        <p:spPr>
          <a:xfrm>
            <a:off x="822960" y="3877056"/>
            <a:ext cx="7498080" cy="4114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This does not replace hands-on time — nobody learns to feel a sheet from a screen.  ·  And it is only as good as what you feed it. If your documentation is a mess, that's the project BEFORE this project.</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Why a scheduling guy cares about training</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97280"/>
            <a:ext cx="8046720" cy="137160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234440"/>
            <a:ext cx="7498080" cy="36576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Almost every schedule improvement I recommend depends on cross-training.</a:t>
            </a:r>
            <a:endParaRPr lang="en-US" sz="1600" dirty="0"/>
          </a:p>
        </p:txBody>
      </p:sp>
      <p:sp>
        <p:nvSpPr>
          <p:cNvPr id="7" name="Text 5"/>
          <p:cNvSpPr txBox="1"/>
          <p:nvPr/>
        </p:nvSpPr>
        <p:spPr>
          <a:xfrm>
            <a:off x="822960" y="1645920"/>
            <a:ext cx="7498080" cy="73152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Consolidating sanitation into operating crews. Moving to five crews. Flexing hours instead of cutting people. All of it needs more people qualified on more jobs — and the reason mills don't do it is that cross-training is slow and expensive.</a:t>
            </a:r>
            <a:endParaRPr lang="en-US" sz="1250" dirty="0"/>
          </a:p>
        </p:txBody>
      </p:sp>
      <p:sp>
        <p:nvSpPr>
          <p:cNvPr id="8" name="Shape 6"/>
          <p:cNvSpPr/>
          <p:nvPr/>
        </p:nvSpPr>
        <p:spPr>
          <a:xfrm>
            <a:off x="548640" y="2670048"/>
            <a:ext cx="8046720" cy="123444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9" name="Text 7"/>
          <p:cNvSpPr txBox="1"/>
          <p:nvPr/>
        </p:nvSpPr>
        <p:spPr>
          <a:xfrm>
            <a:off x="822960" y="2816352"/>
            <a:ext cx="74980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If AI cuts time-to-qualify by a third, it doesn't just improve your training program.</a:t>
            </a:r>
            <a:endParaRPr lang="en-US" sz="1500" dirty="0"/>
          </a:p>
        </p:txBody>
      </p:sp>
      <p:sp>
        <p:nvSpPr>
          <p:cNvPr id="10" name="Text 8"/>
          <p:cNvSpPr txBox="1"/>
          <p:nvPr/>
        </p:nvSpPr>
        <p:spPr>
          <a:xfrm>
            <a:off x="822960" y="3218688"/>
            <a:ext cx="7498080" cy="457200"/>
          </a:xfrm>
          <a:prstGeom prst="rect">
            <a:avLst/>
          </a:prstGeom>
          <a:noFill/>
          <a:ln/>
        </p:spPr>
        <p:txBody>
          <a:bodyPr wrap="square" lIns="0" tIns="0" rIns="0" bIns="0" rtlCol="0" anchor="ctr"/>
          <a:lstStyle/>
          <a:p>
            <a:pPr indent="0" marL="0">
              <a:buNone/>
            </a:pPr>
            <a:r>
              <a:rPr lang="en-US" sz="2100" b="1" dirty="0">
                <a:solidFill>
                  <a:srgbClr val="D4A843"/>
                </a:solidFill>
                <a:latin typeface="Georgia" pitchFamily="34" charset="0"/>
                <a:ea typeface="Georgia" pitchFamily="34" charset="-122"/>
                <a:cs typeface="Georgia" pitchFamily="34" charset="-120"/>
              </a:rPr>
              <a:t>It unlocks schedules you cannot run today.</a:t>
            </a:r>
            <a:endParaRPr lang="en-US" sz="2100" dirty="0"/>
          </a:p>
        </p:txBody>
      </p:sp>
      <p:sp>
        <p:nvSpPr>
          <p:cNvPr id="11" name="Text 9"/>
          <p:cNvSpPr txBox="1"/>
          <p:nvPr/>
        </p:nvSpPr>
        <p:spPr>
          <a:xfrm>
            <a:off x="548640" y="4041648"/>
            <a:ext cx="8046720" cy="320040"/>
          </a:xfrm>
          <a:prstGeom prst="rect">
            <a:avLst/>
          </a:prstGeom>
          <a:noFill/>
          <a:ln/>
        </p:spPr>
        <p:txBody>
          <a:bodyPr wrap="square" lIns="0" tIns="0" rIns="0" bIns="0" rtlCol="0" anchor="ctr"/>
          <a:lstStyle/>
          <a:p>
            <a:pPr indent="0" marL="0">
              <a:buNone/>
            </a:pPr>
            <a:r>
              <a:rPr lang="en-US" sz="1200" i="1" dirty="0">
                <a:solidFill>
                  <a:srgbClr val="0D7C8F"/>
                </a:solidFill>
                <a:latin typeface="Calibri" pitchFamily="34" charset="0"/>
                <a:ea typeface="Calibri" pitchFamily="34" charset="-122"/>
                <a:cs typeface="Calibri" pitchFamily="34" charset="-120"/>
              </a:rPr>
              <a:t>Hold that thought — it comes back in the money section.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731520" y="1874520"/>
            <a:ext cx="1097280" cy="54864"/>
          </a:xfrm>
          <a:prstGeom prst="rect">
            <a:avLst/>
          </a:prstGeom>
          <a:solidFill>
            <a:srgbClr val="D4A843"/>
          </a:solidFill>
          <a:ln/>
        </p:spPr>
      </p:sp>
      <p:sp>
        <p:nvSpPr>
          <p:cNvPr id="3" name="Text 1"/>
          <p:cNvSpPr txBox="1"/>
          <p:nvPr/>
        </p:nvSpPr>
        <p:spPr>
          <a:xfrm>
            <a:off x="731520" y="1417320"/>
            <a:ext cx="7680960" cy="365760"/>
          </a:xfrm>
          <a:prstGeom prst="rect">
            <a:avLst/>
          </a:prstGeom>
          <a:noFill/>
          <a:ln/>
        </p:spPr>
        <p:txBody>
          <a:bodyPr wrap="square" lIns="0" tIns="0" rIns="0" bIns="0" rtlCol="0" anchor="ctr"/>
          <a:lstStyle/>
          <a:p>
            <a:pPr indent="0" marL="0">
              <a:buNone/>
            </a:pPr>
            <a:r>
              <a:rPr lang="en-US" sz="1300" b="1" spc="200" kern="0" dirty="0">
                <a:solidFill>
                  <a:srgbClr val="D4A843"/>
                </a:solidFill>
                <a:latin typeface="Calibri" pitchFamily="34" charset="0"/>
                <a:ea typeface="Calibri" pitchFamily="34" charset="-122"/>
                <a:cs typeface="Calibri" pitchFamily="34" charset="-120"/>
              </a:rPr>
              <a:t>PART FIVE</a:t>
            </a:r>
            <a:endParaRPr lang="en-US" sz="1300" dirty="0"/>
          </a:p>
        </p:txBody>
      </p:sp>
      <p:sp>
        <p:nvSpPr>
          <p:cNvPr id="4" name="Text 2"/>
          <p:cNvSpPr txBox="1"/>
          <p:nvPr/>
        </p:nvSpPr>
        <p:spPr>
          <a:xfrm>
            <a:off x="731520" y="2084832"/>
            <a:ext cx="7680960" cy="91440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Crew Math</a:t>
            </a:r>
            <a:endParaRPr lang="en-US" sz="3400" dirty="0"/>
          </a:p>
        </p:txBody>
      </p:sp>
      <p:sp>
        <p:nvSpPr>
          <p:cNvPr id="5" name="Text 3"/>
          <p:cNvSpPr txBox="1"/>
          <p:nvPr/>
        </p:nvSpPr>
        <p:spPr>
          <a:xfrm>
            <a:off x="731520" y="3017520"/>
            <a:ext cx="7680960" cy="548640"/>
          </a:xfrm>
          <a:prstGeom prst="rect">
            <a:avLst/>
          </a:prstGeom>
          <a:noFill/>
          <a:ln/>
        </p:spPr>
        <p:txBody>
          <a:bodyPr wrap="square" lIns="0" tIns="0" rIns="0" bIns="0" rtlCol="0" anchor="ctr"/>
          <a:lstStyle/>
          <a:p>
            <a:pPr indent="0" marL="0">
              <a:buNone/>
            </a:pPr>
            <a:r>
              <a:rPr lang="en-US" sz="1500" dirty="0">
                <a:solidFill>
                  <a:srgbClr val="14A3B8"/>
                </a:solidFill>
                <a:latin typeface="Calibri" pitchFamily="34" charset="0"/>
                <a:ea typeface="Calibri" pitchFamily="34" charset="-122"/>
                <a:cs typeface="Calibri" pitchFamily="34" charset="-120"/>
              </a:rPr>
              <a:t>What four crews of a hundred actually costs you</a:t>
            </a:r>
            <a:endParaRPr lang="en-US" sz="1500" dirty="0"/>
          </a:p>
        </p:txBody>
      </p:sp>
      <p:sp>
        <p:nvSpPr>
          <p:cNvPr id="6" name="Text 4"/>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6B7FA0"/>
                </a:solidFill>
                <a:latin typeface="Calibri" pitchFamily="34" charset="0"/>
                <a:ea typeface="Calibri" pitchFamily="34" charset="-122"/>
                <a:cs typeface="Calibri" pitchFamily="34" charset="-120"/>
              </a:rPr>
              <a:t>Shiftwork Solutions LLC  |  (415) 265-1621  |  www.shift-work.com</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731520" y="1234440"/>
            <a:ext cx="1371600" cy="54864"/>
          </a:xfrm>
          <a:prstGeom prst="rect">
            <a:avLst/>
          </a:prstGeom>
          <a:solidFill>
            <a:srgbClr val="D4A843"/>
          </a:solidFill>
          <a:ln/>
        </p:spPr>
      </p:sp>
      <p:sp>
        <p:nvSpPr>
          <p:cNvPr id="3" name="Text 1"/>
          <p:cNvSpPr txBox="1"/>
          <p:nvPr/>
        </p:nvSpPr>
        <p:spPr>
          <a:xfrm>
            <a:off x="731520" y="146304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Four crews of a hundred people.</a:t>
            </a:r>
            <a:endParaRPr lang="en-US" sz="2800" dirty="0"/>
          </a:p>
        </p:txBody>
      </p:sp>
      <p:sp>
        <p:nvSpPr>
          <p:cNvPr id="4" name="Text 2"/>
          <p:cNvSpPr txBox="1"/>
          <p:nvPr/>
        </p:nvSpPr>
        <p:spPr>
          <a:xfrm>
            <a:off x="731520" y="2011680"/>
            <a:ext cx="7680960" cy="365760"/>
          </a:xfrm>
          <a:prstGeom prst="rect">
            <a:avLst/>
          </a:prstGeom>
          <a:noFill/>
          <a:ln/>
        </p:spPr>
        <p:txBody>
          <a:bodyPr wrap="square" lIns="0" tIns="0" rIns="0" bIns="0" rtlCol="0" anchor="ctr"/>
          <a:lstStyle/>
          <a:p>
            <a:pPr indent="0" marL="0">
              <a:buNone/>
            </a:pPr>
            <a:r>
              <a:rPr lang="en-US" sz="1600" dirty="0">
                <a:solidFill>
                  <a:srgbClr val="14A3B8"/>
                </a:solidFill>
                <a:latin typeface="Calibri" pitchFamily="34" charset="0"/>
                <a:ea typeface="Calibri" pitchFamily="34" charset="-122"/>
                <a:cs typeface="Calibri" pitchFamily="34" charset="-120"/>
              </a:rPr>
              <a:t>Four hundred employees running your operation around the clock.</a:t>
            </a:r>
            <a:endParaRPr lang="en-US" sz="1600" dirty="0"/>
          </a:p>
        </p:txBody>
      </p:sp>
      <p:sp>
        <p:nvSpPr>
          <p:cNvPr id="5" name="Text 3"/>
          <p:cNvSpPr txBox="1"/>
          <p:nvPr/>
        </p:nvSpPr>
        <p:spPr>
          <a:xfrm>
            <a:off x="731520" y="2697480"/>
            <a:ext cx="7680960" cy="640080"/>
          </a:xfrm>
          <a:prstGeom prst="rect">
            <a:avLst/>
          </a:prstGeom>
          <a:noFill/>
          <a:ln/>
        </p:spPr>
        <p:txBody>
          <a:bodyPr wrap="square" lIns="0" tIns="0" rIns="0" bIns="0" rtlCol="0" anchor="ctr"/>
          <a:lstStyle/>
          <a:p>
            <a:pPr indent="0" marL="0">
              <a:buNone/>
            </a:pPr>
            <a:r>
              <a:rPr lang="en-US" sz="3200" b="1" dirty="0">
                <a:solidFill>
                  <a:srgbClr val="D4A843"/>
                </a:solidFill>
                <a:latin typeface="Georgia" pitchFamily="34" charset="0"/>
                <a:ea typeface="Georgia" pitchFamily="34" charset="-122"/>
                <a:cs typeface="Georgia" pitchFamily="34" charset="-120"/>
              </a:rPr>
              <a:t>What does that cost you a year?</a:t>
            </a:r>
            <a:endParaRPr lang="en-US" sz="3200" dirty="0"/>
          </a:p>
        </p:txBody>
      </p:sp>
      <p:sp>
        <p:nvSpPr>
          <p:cNvPr id="6" name="Text 4"/>
          <p:cNvSpPr txBox="1"/>
          <p:nvPr/>
        </p:nvSpPr>
        <p:spPr>
          <a:xfrm>
            <a:off x="731520" y="3383280"/>
            <a:ext cx="7680960" cy="365760"/>
          </a:xfrm>
          <a:prstGeom prst="rect">
            <a:avLst/>
          </a:prstGeom>
          <a:noFill/>
          <a:ln/>
        </p:spPr>
        <p:txBody>
          <a:bodyPr wrap="square" lIns="0" tIns="0" rIns="0" bIns="0" rtlCol="0" anchor="ctr"/>
          <a:lstStyle/>
          <a:p>
            <a:pPr indent="0" marL="0">
              <a:buNone/>
            </a:pPr>
            <a:r>
              <a:rPr lang="en-US" sz="1500" i="1" dirty="0">
                <a:solidFill>
                  <a:srgbClr val="8896A7"/>
                </a:solidFill>
                <a:latin typeface="Calibri" pitchFamily="34" charset="0"/>
                <a:ea typeface="Calibri" pitchFamily="34" charset="-122"/>
                <a:cs typeface="Calibri" pitchFamily="34" charset="-120"/>
              </a:rPr>
              <a:t>Shout it out.</a:t>
            </a:r>
            <a:endParaRPr lang="en-US" sz="1500" dirty="0"/>
          </a:p>
        </p:txBody>
      </p:sp>
      <p:sp>
        <p:nvSpPr>
          <p:cNvPr id="7" name="Text 5"/>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6B7FA0"/>
                </a:solidFill>
                <a:latin typeface="Calibri" pitchFamily="34" charset="0"/>
                <a:ea typeface="Calibri" pitchFamily="34" charset="-122"/>
                <a:cs typeface="Calibri" pitchFamily="34" charset="-120"/>
              </a:rPr>
              <a:t>Shiftwork Solutions LLC  |  (415) 265-1621  |  www.shift-work.com</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Build it one line at a time</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325880"/>
            <a:ext cx="8046720" cy="5486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777240" y="1325880"/>
            <a:ext cx="53035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Base wage</a:t>
            </a:r>
            <a:endParaRPr lang="en-US" sz="1300" dirty="0"/>
          </a:p>
        </p:txBody>
      </p:sp>
      <p:sp>
        <p:nvSpPr>
          <p:cNvPr id="7" name="Text 5"/>
          <p:cNvSpPr txBox="1"/>
          <p:nvPr/>
        </p:nvSpPr>
        <p:spPr>
          <a:xfrm>
            <a:off x="6035040" y="1325880"/>
            <a:ext cx="2377440" cy="548640"/>
          </a:xfrm>
          <a:prstGeom prst="rect">
            <a:avLst/>
          </a:prstGeom>
          <a:noFill/>
          <a:ln/>
        </p:spPr>
        <p:txBody>
          <a:bodyPr wrap="square" lIns="0" tIns="0" rIns="0" bIns="0" rtlCol="0" anchor="ctr"/>
          <a:lstStyle/>
          <a:p>
            <a:pPr algn="r" indent="0" marL="0">
              <a:buNone/>
            </a:pPr>
            <a:r>
              <a:rPr lang="en-US" sz="1600" b="1" dirty="0">
                <a:solidFill>
                  <a:srgbClr val="1B2A4A"/>
                </a:solidFill>
                <a:latin typeface="Georgia" pitchFamily="34" charset="0"/>
                <a:ea typeface="Georgia" pitchFamily="34" charset="-122"/>
                <a:cs typeface="Georgia" pitchFamily="34" charset="-120"/>
              </a:rPr>
              <a:t>$38.00 / hr</a:t>
            </a:r>
            <a:endParaRPr lang="en-US" sz="1600" dirty="0"/>
          </a:p>
        </p:txBody>
      </p:sp>
      <p:sp>
        <p:nvSpPr>
          <p:cNvPr id="8" name="Shape 6"/>
          <p:cNvSpPr/>
          <p:nvPr/>
        </p:nvSpPr>
        <p:spPr>
          <a:xfrm>
            <a:off x="548640" y="1984248"/>
            <a:ext cx="8046720" cy="5486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9" name="Text 7"/>
          <p:cNvSpPr txBox="1"/>
          <p:nvPr/>
        </p:nvSpPr>
        <p:spPr>
          <a:xfrm>
            <a:off x="777240" y="1984248"/>
            <a:ext cx="53035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Wages — 2,288 pay hours a year</a:t>
            </a:r>
            <a:endParaRPr lang="en-US" sz="1300" dirty="0"/>
          </a:p>
        </p:txBody>
      </p:sp>
      <p:sp>
        <p:nvSpPr>
          <p:cNvPr id="10" name="Text 8"/>
          <p:cNvSpPr txBox="1"/>
          <p:nvPr/>
        </p:nvSpPr>
        <p:spPr>
          <a:xfrm>
            <a:off x="6035040" y="1984248"/>
            <a:ext cx="2377440" cy="548640"/>
          </a:xfrm>
          <a:prstGeom prst="rect">
            <a:avLst/>
          </a:prstGeom>
          <a:noFill/>
          <a:ln/>
        </p:spPr>
        <p:txBody>
          <a:bodyPr wrap="square" lIns="0" tIns="0" rIns="0" bIns="0" rtlCol="0" anchor="ctr"/>
          <a:lstStyle/>
          <a:p>
            <a:pPr algn="r" indent="0" marL="0">
              <a:buNone/>
            </a:pPr>
            <a:r>
              <a:rPr lang="en-US" sz="1600" b="1" dirty="0">
                <a:solidFill>
                  <a:srgbClr val="1B2A4A"/>
                </a:solidFill>
                <a:latin typeface="Georgia" pitchFamily="34" charset="0"/>
                <a:ea typeface="Georgia" pitchFamily="34" charset="-122"/>
                <a:cs typeface="Georgia" pitchFamily="34" charset="-120"/>
              </a:rPr>
              <a:t>$86,944</a:t>
            </a:r>
            <a:endParaRPr lang="en-US" sz="1600" dirty="0"/>
          </a:p>
        </p:txBody>
      </p:sp>
      <p:sp>
        <p:nvSpPr>
          <p:cNvPr id="11" name="Shape 9"/>
          <p:cNvSpPr/>
          <p:nvPr/>
        </p:nvSpPr>
        <p:spPr>
          <a:xfrm>
            <a:off x="548640" y="2642616"/>
            <a:ext cx="8046720" cy="5486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2" name="Text 10"/>
          <p:cNvSpPr txBox="1"/>
          <p:nvPr/>
        </p:nvSpPr>
        <p:spPr>
          <a:xfrm>
            <a:off x="777240" y="2642616"/>
            <a:ext cx="53035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payroll load, healthcare, PPE, admin</a:t>
            </a:r>
            <a:endParaRPr lang="en-US" sz="1300" dirty="0"/>
          </a:p>
        </p:txBody>
      </p:sp>
      <p:sp>
        <p:nvSpPr>
          <p:cNvPr id="13" name="Text 11"/>
          <p:cNvSpPr txBox="1"/>
          <p:nvPr/>
        </p:nvSpPr>
        <p:spPr>
          <a:xfrm>
            <a:off x="6035040" y="2642616"/>
            <a:ext cx="2377440" cy="548640"/>
          </a:xfrm>
          <a:prstGeom prst="rect">
            <a:avLst/>
          </a:prstGeom>
          <a:noFill/>
          <a:ln/>
        </p:spPr>
        <p:txBody>
          <a:bodyPr wrap="square" lIns="0" tIns="0" rIns="0" bIns="0" rtlCol="0" anchor="ctr"/>
          <a:lstStyle/>
          <a:p>
            <a:pPr algn="r" indent="0" marL="0">
              <a:buNone/>
            </a:pPr>
            <a:r>
              <a:rPr lang="en-US" sz="1600" b="1" dirty="0">
                <a:solidFill>
                  <a:srgbClr val="1B2A4A"/>
                </a:solidFill>
                <a:latin typeface="Georgia" pitchFamily="34" charset="0"/>
                <a:ea typeface="Georgia" pitchFamily="34" charset="-122"/>
                <a:cs typeface="Georgia" pitchFamily="34" charset="-120"/>
              </a:rPr>
              <a:t>$35,911</a:t>
            </a:r>
            <a:endParaRPr lang="en-US" sz="1600" dirty="0"/>
          </a:p>
        </p:txBody>
      </p:sp>
      <p:sp>
        <p:nvSpPr>
          <p:cNvPr id="14" name="Shape 12"/>
          <p:cNvSpPr/>
          <p:nvPr/>
        </p:nvSpPr>
        <p:spPr>
          <a:xfrm>
            <a:off x="548640" y="3300984"/>
            <a:ext cx="8046720" cy="54864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5" name="Text 13"/>
          <p:cNvSpPr txBox="1"/>
          <p:nvPr/>
        </p:nvSpPr>
        <p:spPr>
          <a:xfrm>
            <a:off x="777240" y="3300984"/>
            <a:ext cx="530352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Fully loaded — ONE employee</a:t>
            </a:r>
            <a:endParaRPr lang="en-US" sz="1500" dirty="0"/>
          </a:p>
        </p:txBody>
      </p:sp>
      <p:sp>
        <p:nvSpPr>
          <p:cNvPr id="16" name="Text 14"/>
          <p:cNvSpPr txBox="1"/>
          <p:nvPr/>
        </p:nvSpPr>
        <p:spPr>
          <a:xfrm>
            <a:off x="6035040" y="3300984"/>
            <a:ext cx="2377440" cy="548640"/>
          </a:xfrm>
          <a:prstGeom prst="rect">
            <a:avLst/>
          </a:prstGeom>
          <a:noFill/>
          <a:ln/>
        </p:spPr>
        <p:txBody>
          <a:bodyPr wrap="square" lIns="0" tIns="0" rIns="0" bIns="0" rtlCol="0" anchor="ctr"/>
          <a:lstStyle/>
          <a:p>
            <a:pPr algn="r" indent="0" marL="0">
              <a:buNone/>
            </a:pPr>
            <a:r>
              <a:rPr lang="en-US" sz="2000" b="1" dirty="0">
                <a:solidFill>
                  <a:srgbClr val="D4A843"/>
                </a:solidFill>
                <a:latin typeface="Georgia" pitchFamily="34" charset="0"/>
                <a:ea typeface="Georgia" pitchFamily="34" charset="-122"/>
                <a:cs typeface="Georgia" pitchFamily="34" charset="-120"/>
              </a:rPr>
              <a:t>$122,855</a:t>
            </a:r>
            <a:endParaRPr lang="en-US" sz="2000" dirty="0"/>
          </a:p>
        </p:txBody>
      </p:sp>
      <p:sp>
        <p:nvSpPr>
          <p:cNvPr id="17" name="Text 15"/>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150" b="1" i="1" dirty="0">
                <a:solidFill>
                  <a:srgbClr val="0D7C8F"/>
                </a:solidFill>
                <a:latin typeface="Calibri" pitchFamily="34" charset="0"/>
                <a:ea typeface="Calibri" pitchFamily="34" charset="-122"/>
                <a:cs typeface="Calibri" pitchFamily="34" charset="-120"/>
              </a:rPr>
              <a:t>The wage is only 71% of it. When somebody says “we pay them thirty-eight an hour,” they're describing about two-thirds of what that person actually costs.</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B33"/>
        </a:solidFill>
      </p:bgPr>
    </p:bg>
    <p:spTree>
      <p:nvGrpSpPr>
        <p:cNvPr id="1" name=""/>
        <p:cNvGrpSpPr/>
        <p:nvPr/>
      </p:nvGrpSpPr>
      <p:grpSpPr>
        <a:xfrm>
          <a:off x="0" y="0"/>
          <a:ext cx="0" cy="0"/>
          <a:chOff x="0" y="0"/>
          <a:chExt cx="0" cy="0"/>
        </a:xfrm>
      </p:grpSpPr>
      <p:sp>
        <p:nvSpPr>
          <p:cNvPr id="2" name="Text 0"/>
          <p:cNvSpPr txBox="1"/>
          <p:nvPr/>
        </p:nvSpPr>
        <p:spPr>
          <a:xfrm>
            <a:off x="731520" y="1188720"/>
            <a:ext cx="7680960" cy="365760"/>
          </a:xfrm>
          <a:prstGeom prst="rect">
            <a:avLst/>
          </a:prstGeom>
          <a:noFill/>
          <a:ln/>
        </p:spPr>
        <p:txBody>
          <a:bodyPr wrap="square" lIns="0" tIns="0" rIns="0" bIns="0" rtlCol="0" anchor="ctr"/>
          <a:lstStyle/>
          <a:p>
            <a:pPr indent="0" marL="0">
              <a:buNone/>
            </a:pPr>
            <a:r>
              <a:rPr lang="en-US" sz="1600" dirty="0">
                <a:solidFill>
                  <a:srgbClr val="14A3B8"/>
                </a:solidFill>
                <a:latin typeface="Calibri" pitchFamily="34" charset="0"/>
                <a:ea typeface="Calibri" pitchFamily="34" charset="-122"/>
                <a:cs typeface="Calibri" pitchFamily="34" charset="-120"/>
              </a:rPr>
              <a:t>400 employees, fully loaded</a:t>
            </a:r>
            <a:endParaRPr lang="en-US" sz="1600" dirty="0"/>
          </a:p>
        </p:txBody>
      </p:sp>
      <p:sp>
        <p:nvSpPr>
          <p:cNvPr id="3" name="Text 1"/>
          <p:cNvSpPr txBox="1"/>
          <p:nvPr/>
        </p:nvSpPr>
        <p:spPr>
          <a:xfrm>
            <a:off x="731520" y="1600200"/>
            <a:ext cx="7680960" cy="1188720"/>
          </a:xfrm>
          <a:prstGeom prst="rect">
            <a:avLst/>
          </a:prstGeom>
          <a:noFill/>
          <a:ln/>
        </p:spPr>
        <p:txBody>
          <a:bodyPr wrap="square" lIns="0" tIns="0" rIns="0" bIns="0" rtlCol="0" anchor="ctr"/>
          <a:lstStyle/>
          <a:p>
            <a:pPr indent="0" marL="0">
              <a:buNone/>
            </a:pPr>
            <a:r>
              <a:rPr lang="en-US" sz="6600" b="1" dirty="0">
                <a:solidFill>
                  <a:srgbClr val="D4A843"/>
                </a:solidFill>
                <a:latin typeface="Georgia" pitchFamily="34" charset="0"/>
                <a:ea typeface="Georgia" pitchFamily="34" charset="-122"/>
                <a:cs typeface="Georgia" pitchFamily="34" charset="-120"/>
              </a:rPr>
              <a:t>$49,141,958</a:t>
            </a:r>
            <a:endParaRPr lang="en-US" sz="6600" dirty="0"/>
          </a:p>
        </p:txBody>
      </p:sp>
      <p:sp>
        <p:nvSpPr>
          <p:cNvPr id="4" name="Shape 2"/>
          <p:cNvSpPr/>
          <p:nvPr/>
        </p:nvSpPr>
        <p:spPr>
          <a:xfrm>
            <a:off x="731520" y="2880360"/>
            <a:ext cx="7680960" cy="10973"/>
          </a:xfrm>
          <a:prstGeom prst="rect">
            <a:avLst/>
          </a:prstGeom>
          <a:solidFill>
            <a:srgbClr val="2A3D60"/>
          </a:solidFill>
          <a:ln/>
        </p:spPr>
      </p:sp>
      <p:sp>
        <p:nvSpPr>
          <p:cNvPr id="5" name="Text 3"/>
          <p:cNvSpPr txBox="1"/>
          <p:nvPr/>
        </p:nvSpPr>
        <p:spPr>
          <a:xfrm>
            <a:off x="731520" y="3063240"/>
            <a:ext cx="768096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Forty-nine million dollars. That is the number your CFO has never seen written down in one place.</a:t>
            </a:r>
            <a:endParaRPr lang="en-US" sz="1500" dirty="0"/>
          </a:p>
        </p:txBody>
      </p:sp>
      <p:sp>
        <p:nvSpPr>
          <p:cNvPr id="6" name="Text 4"/>
          <p:cNvSpPr txBox="1"/>
          <p:nvPr/>
        </p:nvSpPr>
        <p:spPr>
          <a:xfrm>
            <a:off x="731520" y="3611880"/>
            <a:ext cx="7680960" cy="365760"/>
          </a:xfrm>
          <a:prstGeom prst="rect">
            <a:avLst/>
          </a:prstGeom>
          <a:noFill/>
          <a:ln/>
        </p:spPr>
        <p:txBody>
          <a:bodyPr wrap="square" lIns="0" tIns="0" rIns="0" bIns="0" rtlCol="0" anchor="ctr"/>
          <a:lstStyle/>
          <a:p>
            <a:pPr indent="0" marL="0">
              <a:buNone/>
            </a:pPr>
            <a:r>
              <a:rPr lang="en-US" sz="1200" dirty="0">
                <a:solidFill>
                  <a:srgbClr val="8896A7"/>
                </a:solidFill>
                <a:latin typeface="Calibri" pitchFamily="34" charset="0"/>
                <a:ea typeface="Calibri" pitchFamily="34" charset="-122"/>
                <a:cs typeface="Calibri" pitchFamily="34" charset="-120"/>
              </a:rPr>
              <a:t>$122,855 fully loaded  ×  400 people</a:t>
            </a:r>
            <a:endParaRPr lang="en-US" sz="1200" dirty="0"/>
          </a:p>
        </p:txBody>
      </p:sp>
      <p:sp>
        <p:nvSpPr>
          <p:cNvPr id="7" name="Text 5"/>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6B7FA0"/>
                </a:solidFill>
                <a:latin typeface="Calibri" pitchFamily="34" charset="0"/>
                <a:ea typeface="Calibri" pitchFamily="34" charset="-122"/>
                <a:cs typeface="Calibri" pitchFamily="34" charset="-120"/>
              </a:rPr>
              <a:t>Shiftwork Solutions LLC  |  (415) 265-1621  |  www.shift-work.com</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731520" y="1051560"/>
            <a:ext cx="1371600" cy="54864"/>
          </a:xfrm>
          <a:prstGeom prst="rect">
            <a:avLst/>
          </a:prstGeom>
          <a:solidFill>
            <a:srgbClr val="D4A843"/>
          </a:solidFill>
          <a:ln/>
        </p:spPr>
      </p:sp>
      <p:sp>
        <p:nvSpPr>
          <p:cNvPr id="3" name="Text 1"/>
          <p:cNvSpPr txBox="1"/>
          <p:nvPr/>
        </p:nvSpPr>
        <p:spPr>
          <a:xfrm>
            <a:off x="731520" y="1325880"/>
            <a:ext cx="7680960" cy="2011680"/>
          </a:xfrm>
          <a:prstGeom prst="rect">
            <a:avLst/>
          </a:prstGeom>
          <a:noFill/>
          <a:ln/>
        </p:spPr>
        <p:txBody>
          <a:bodyPr wrap="square" lIns="0" tIns="0" rIns="0" bIns="0" rtlCol="0" anchor="ctr"/>
          <a:lstStyle/>
          <a:p>
            <a:pPr indent="0" marL="0">
              <a:lnSpc>
                <a:spcPct val="115000"/>
              </a:lnSpc>
              <a:buNone/>
            </a:pPr>
            <a:r>
              <a:rPr lang="en-US" sz="3000" b="1" dirty="0">
                <a:solidFill>
                  <a:srgbClr val="FFFFFF"/>
                </a:solidFill>
                <a:latin typeface="Georgia" pitchFamily="34" charset="0"/>
                <a:ea typeface="Georgia" pitchFamily="34" charset="-122"/>
                <a:cs typeface="Georgia" pitchFamily="34" charset="-120"/>
              </a:rPr>
              <a:t>You buy people by the crew.</a:t>
            </a:r>
            <a:endParaRPr lang="en-US" sz="3000" dirty="0"/>
          </a:p>
          <a:p>
            <a:pPr indent="0" marL="0">
              <a:lnSpc>
                <a:spcPct val="115000"/>
              </a:lnSpc>
              <a:buNone/>
            </a:pPr>
            <a:r>
              <a:rPr lang="en-US" sz="3000" b="1" dirty="0">
                <a:solidFill>
                  <a:srgbClr val="FFFFFF"/>
                </a:solidFill>
                <a:latin typeface="Georgia" pitchFamily="34" charset="0"/>
                <a:ea typeface="Georgia" pitchFamily="34" charset="-122"/>
                <a:cs typeface="Georgia" pitchFamily="34" charset="-120"/>
              </a:rPr>
              <a:t>You buy robots by the position.</a:t>
            </a:r>
            <a:endParaRPr lang="en-US" sz="3000" dirty="0"/>
          </a:p>
        </p:txBody>
      </p:sp>
      <p:sp>
        <p:nvSpPr>
          <p:cNvPr id="4" name="Text 2"/>
          <p:cNvSpPr txBox="1"/>
          <p:nvPr/>
        </p:nvSpPr>
        <p:spPr>
          <a:xfrm>
            <a:off x="731520" y="3520440"/>
            <a:ext cx="7680960" cy="822960"/>
          </a:xfrm>
          <a:prstGeom prst="rect">
            <a:avLst/>
          </a:prstGeom>
          <a:noFill/>
          <a:ln/>
        </p:spPr>
        <p:txBody>
          <a:bodyPr wrap="square" lIns="0" tIns="0" rIns="0" bIns="0" rtlCol="0" anchor="ctr"/>
          <a:lstStyle/>
          <a:p>
            <a:pPr indent="0" marL="0">
              <a:buNone/>
            </a:pPr>
            <a:r>
              <a:rPr lang="en-US" sz="1500" dirty="0">
                <a:solidFill>
                  <a:srgbClr val="14A3B8"/>
                </a:solidFill>
                <a:latin typeface="Calibri" pitchFamily="34" charset="0"/>
                <a:ea typeface="Calibri" pitchFamily="34" charset="-122"/>
                <a:cs typeface="Calibri" pitchFamily="34" charset="-120"/>
              </a:rPr>
              <a:t>A robot doesn't work a shift. It doesn't rotate. It doesn't call off, and it doesn't want weekends.</a:t>
            </a:r>
            <a:endParaRPr lang="en-US" sz="1500" dirty="0"/>
          </a:p>
        </p:txBody>
      </p:sp>
      <p:sp>
        <p:nvSpPr>
          <p:cNvPr id="5" name="Text 3"/>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6B7FA0"/>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6" name="Text 4"/>
          <p:cNvSpPr txBox="1"/>
          <p:nvPr/>
        </p:nvSpPr>
        <p:spPr>
          <a:xfrm>
            <a:off x="731520" y="4160520"/>
            <a:ext cx="7680960" cy="411480"/>
          </a:xfrm>
          <a:prstGeom prst="rect">
            <a:avLst/>
          </a:prstGeom>
          <a:noFill/>
          <a:ln/>
        </p:spPr>
        <p:txBody>
          <a:bodyPr wrap="square" lIns="0" tIns="0" rIns="0" bIns="0" rtlCol="0" anchor="ctr"/>
          <a:lstStyle/>
          <a:p>
            <a:pPr indent="0" marL="0">
              <a:buNone/>
            </a:pPr>
            <a:r>
              <a:rPr lang="en-US" sz="1700" b="1" dirty="0">
                <a:solidFill>
                  <a:srgbClr val="D4A843"/>
                </a:solidFill>
                <a:latin typeface="Georgia" pitchFamily="34" charset="0"/>
                <a:ea typeface="Georgia" pitchFamily="34" charset="-122"/>
                <a:cs typeface="Georgia" pitchFamily="34" charset="-120"/>
              </a:rPr>
              <a:t>So a robot never replaces one person. In a 24/7 operation, a robot replaces four.</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Cover one position, around the clock</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97280"/>
            <a:ext cx="2560320" cy="192024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6" name="Text 4"/>
          <p:cNvSpPr txBox="1"/>
          <p:nvPr/>
        </p:nvSpPr>
        <p:spPr>
          <a:xfrm>
            <a:off x="777240" y="1234440"/>
            <a:ext cx="2103120" cy="320040"/>
          </a:xfrm>
          <a:prstGeom prst="rect">
            <a:avLst/>
          </a:prstGeom>
          <a:noFill/>
          <a:ln/>
        </p:spPr>
        <p:txBody>
          <a:bodyPr wrap="square" lIns="0" tIns="0" rIns="0" bIns="0" rtlCol="0" anchor="ctr"/>
          <a:lstStyle/>
          <a:p>
            <a:pPr indent="0" marL="0">
              <a:buNone/>
            </a:pPr>
            <a:r>
              <a:rPr lang="en-US" sz="1300" b="1" dirty="0">
                <a:solidFill>
                  <a:srgbClr val="D4A843"/>
                </a:solidFill>
                <a:latin typeface="Calibri" pitchFamily="34" charset="0"/>
                <a:ea typeface="Calibri" pitchFamily="34" charset="-122"/>
                <a:cs typeface="Calibri" pitchFamily="34" charset="-120"/>
              </a:rPr>
              <a:t>With people</a:t>
            </a:r>
            <a:endParaRPr lang="en-US" sz="1300" dirty="0"/>
          </a:p>
        </p:txBody>
      </p:sp>
      <p:sp>
        <p:nvSpPr>
          <p:cNvPr id="7" name="Text 5"/>
          <p:cNvSpPr txBox="1"/>
          <p:nvPr/>
        </p:nvSpPr>
        <p:spPr>
          <a:xfrm>
            <a:off x="777240" y="1554480"/>
            <a:ext cx="2103120" cy="36576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4 employees</a:t>
            </a:r>
            <a:endParaRPr lang="en-US" sz="1050" dirty="0"/>
          </a:p>
        </p:txBody>
      </p:sp>
      <p:sp>
        <p:nvSpPr>
          <p:cNvPr id="8" name="Text 6"/>
          <p:cNvSpPr txBox="1"/>
          <p:nvPr/>
        </p:nvSpPr>
        <p:spPr>
          <a:xfrm>
            <a:off x="777240" y="2057400"/>
            <a:ext cx="2103120" cy="64008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$491,420</a:t>
            </a:r>
            <a:endParaRPr lang="en-US" sz="2400" dirty="0"/>
          </a:p>
        </p:txBody>
      </p:sp>
      <p:sp>
        <p:nvSpPr>
          <p:cNvPr id="9" name="Shape 7"/>
          <p:cNvSpPr/>
          <p:nvPr/>
        </p:nvSpPr>
        <p:spPr>
          <a:xfrm>
            <a:off x="3291840" y="1097280"/>
            <a:ext cx="2560320" cy="19202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0" name="Text 8"/>
          <p:cNvSpPr txBox="1"/>
          <p:nvPr/>
        </p:nvSpPr>
        <p:spPr>
          <a:xfrm>
            <a:off x="3520440" y="1234440"/>
            <a:ext cx="210312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$100,000 robot</a:t>
            </a:r>
            <a:endParaRPr lang="en-US" sz="1300" dirty="0"/>
          </a:p>
        </p:txBody>
      </p:sp>
      <p:sp>
        <p:nvSpPr>
          <p:cNvPr id="11" name="Text 9"/>
          <p:cNvSpPr txBox="1"/>
          <p:nvPr/>
        </p:nvSpPr>
        <p:spPr>
          <a:xfrm>
            <a:off x="3520440" y="1554480"/>
            <a:ext cx="2103120" cy="365760"/>
          </a:xfrm>
          <a:prstGeom prst="rect">
            <a:avLst/>
          </a:prstGeom>
          <a:noFill/>
          <a:ln/>
        </p:spPr>
        <p:txBody>
          <a:bodyPr wrap="square" lIns="0" tIns="0" rIns="0" bIns="0" rtlCol="0" anchor="ctr"/>
          <a:lstStyle/>
          <a:p>
            <a:pPr indent="0" marL="0">
              <a:buNone/>
            </a:pPr>
            <a:r>
              <a:rPr lang="en-US" sz="1050" dirty="0">
                <a:solidFill>
                  <a:srgbClr val="8896A7"/>
                </a:solidFill>
                <a:latin typeface="Calibri" pitchFamily="34" charset="0"/>
                <a:ea typeface="Calibri" pitchFamily="34" charset="-122"/>
                <a:cs typeface="Calibri" pitchFamily="34" charset="-120"/>
              </a:rPr>
              <a:t>fully deployed &amp; maintained</a:t>
            </a:r>
            <a:endParaRPr lang="en-US" sz="1050" dirty="0"/>
          </a:p>
        </p:txBody>
      </p:sp>
      <p:sp>
        <p:nvSpPr>
          <p:cNvPr id="12" name="Text 10"/>
          <p:cNvSpPr txBox="1"/>
          <p:nvPr/>
        </p:nvSpPr>
        <p:spPr>
          <a:xfrm>
            <a:off x="3520440" y="2057400"/>
            <a:ext cx="2103120" cy="640080"/>
          </a:xfrm>
          <a:prstGeom prst="rect">
            <a:avLst/>
          </a:prstGeom>
          <a:noFill/>
          <a:ln/>
        </p:spPr>
        <p:txBody>
          <a:bodyPr wrap="square" lIns="0" tIns="0" rIns="0" bIns="0" rtlCol="0" anchor="ctr"/>
          <a:lstStyle/>
          <a:p>
            <a:pPr indent="0" marL="0">
              <a:buNone/>
            </a:pPr>
            <a:r>
              <a:rPr lang="en-US" sz="2400" b="1" dirty="0">
                <a:solidFill>
                  <a:srgbClr val="0D7C8F"/>
                </a:solidFill>
                <a:latin typeface="Georgia" pitchFamily="34" charset="0"/>
                <a:ea typeface="Georgia" pitchFamily="34" charset="-122"/>
                <a:cs typeface="Georgia" pitchFamily="34" charset="-120"/>
              </a:rPr>
              <a:t>$62,714</a:t>
            </a:r>
            <a:endParaRPr lang="en-US" sz="2400" dirty="0"/>
          </a:p>
        </p:txBody>
      </p:sp>
      <p:sp>
        <p:nvSpPr>
          <p:cNvPr id="13" name="Shape 11"/>
          <p:cNvSpPr/>
          <p:nvPr/>
        </p:nvSpPr>
        <p:spPr>
          <a:xfrm>
            <a:off x="6035040" y="1097280"/>
            <a:ext cx="2560320" cy="19202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4" name="Text 12"/>
          <p:cNvSpPr txBox="1"/>
          <p:nvPr/>
        </p:nvSpPr>
        <p:spPr>
          <a:xfrm>
            <a:off x="6263640" y="1234440"/>
            <a:ext cx="210312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$30,000 robot</a:t>
            </a:r>
            <a:endParaRPr lang="en-US" sz="1300" dirty="0"/>
          </a:p>
        </p:txBody>
      </p:sp>
      <p:sp>
        <p:nvSpPr>
          <p:cNvPr id="15" name="Text 13"/>
          <p:cNvSpPr txBox="1"/>
          <p:nvPr/>
        </p:nvSpPr>
        <p:spPr>
          <a:xfrm>
            <a:off x="6263640" y="1554480"/>
            <a:ext cx="2103120" cy="365760"/>
          </a:xfrm>
          <a:prstGeom prst="rect">
            <a:avLst/>
          </a:prstGeom>
          <a:noFill/>
          <a:ln/>
        </p:spPr>
        <p:txBody>
          <a:bodyPr wrap="square" lIns="0" tIns="0" rIns="0" bIns="0" rtlCol="0" anchor="ctr"/>
          <a:lstStyle/>
          <a:p>
            <a:pPr indent="0" marL="0">
              <a:buNone/>
            </a:pPr>
            <a:r>
              <a:rPr lang="en-US" sz="1050" dirty="0">
                <a:solidFill>
                  <a:srgbClr val="8896A7"/>
                </a:solidFill>
                <a:latin typeface="Calibri" pitchFamily="34" charset="0"/>
                <a:ea typeface="Calibri" pitchFamily="34" charset="-122"/>
                <a:cs typeface="Calibri" pitchFamily="34" charset="-120"/>
              </a:rPr>
              <a:t>fully deployed &amp; maintained</a:t>
            </a:r>
            <a:endParaRPr lang="en-US" sz="1050" dirty="0"/>
          </a:p>
        </p:txBody>
      </p:sp>
      <p:sp>
        <p:nvSpPr>
          <p:cNvPr id="16" name="Text 14"/>
          <p:cNvSpPr txBox="1"/>
          <p:nvPr/>
        </p:nvSpPr>
        <p:spPr>
          <a:xfrm>
            <a:off x="6263640" y="2057400"/>
            <a:ext cx="2103120" cy="640080"/>
          </a:xfrm>
          <a:prstGeom prst="rect">
            <a:avLst/>
          </a:prstGeom>
          <a:noFill/>
          <a:ln/>
        </p:spPr>
        <p:txBody>
          <a:bodyPr wrap="square" lIns="0" tIns="0" rIns="0" bIns="0" rtlCol="0" anchor="ctr"/>
          <a:lstStyle/>
          <a:p>
            <a:pPr indent="0" marL="0">
              <a:buNone/>
            </a:pPr>
            <a:r>
              <a:rPr lang="en-US" sz="2400" b="1" dirty="0">
                <a:solidFill>
                  <a:srgbClr val="2D9D5C"/>
                </a:solidFill>
                <a:latin typeface="Georgia" pitchFamily="34" charset="0"/>
                <a:ea typeface="Georgia" pitchFamily="34" charset="-122"/>
                <a:cs typeface="Georgia" pitchFamily="34" charset="-120"/>
              </a:rPr>
              <a:t>$29,314</a:t>
            </a:r>
            <a:endParaRPr lang="en-US" sz="2400" dirty="0"/>
          </a:p>
        </p:txBody>
      </p:sp>
      <p:sp>
        <p:nvSpPr>
          <p:cNvPr id="17" name="Shape 15"/>
          <p:cNvSpPr/>
          <p:nvPr/>
        </p:nvSpPr>
        <p:spPr>
          <a:xfrm>
            <a:off x="548640" y="3200400"/>
            <a:ext cx="8046720" cy="68580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8" name="Text 16"/>
          <p:cNvSpPr txBox="1"/>
          <p:nvPr/>
        </p:nvSpPr>
        <p:spPr>
          <a:xfrm>
            <a:off x="822960" y="3291840"/>
            <a:ext cx="7498080" cy="502920"/>
          </a:xfrm>
          <a:prstGeom prst="rect">
            <a:avLst/>
          </a:prstGeom>
          <a:noFill/>
          <a:ln/>
        </p:spPr>
        <p:txBody>
          <a:bodyPr wrap="square" lIns="0" tIns="0" rIns="0" bIns="0" rtlCol="0" anchor="ctr"/>
          <a:lstStyle/>
          <a:p>
            <a:pPr indent="0" marL="0">
              <a:buNone/>
            </a:pPr>
            <a:r>
              <a:rPr lang="en-US" sz="1700" b="1" dirty="0">
                <a:solidFill>
                  <a:srgbClr val="D4A843"/>
                </a:solidFill>
                <a:latin typeface="Georgia" pitchFamily="34" charset="0"/>
                <a:ea typeface="Georgia" pitchFamily="34" charset="-122"/>
                <a:cs typeface="Georgia" pitchFamily="34" charset="-120"/>
              </a:rPr>
              <a:t>Eight to one at a hundred thousand. Seventeen to one at thirty.</a:t>
            </a:r>
            <a:endParaRPr lang="en-US" sz="1700" dirty="0"/>
          </a:p>
        </p:txBody>
      </p:sp>
      <p:sp>
        <p:nvSpPr>
          <p:cNvPr id="19" name="Text 17"/>
          <p:cNvSpPr txBox="1"/>
          <p:nvPr/>
        </p:nvSpPr>
        <p:spPr>
          <a:xfrm>
            <a:off x="548640" y="4023360"/>
            <a:ext cx="8046720" cy="36576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A hundred-thousand-dollar robot, fully deployed, costs about half of one of your operators — and it covers all four crews.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The sticker price is the small number</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Text 3"/>
          <p:cNvSpPr txBox="1"/>
          <p:nvPr/>
        </p:nvSpPr>
        <p:spPr>
          <a:xfrm>
            <a:off x="4480560" y="1188720"/>
            <a:ext cx="1920240" cy="274320"/>
          </a:xfrm>
          <a:prstGeom prst="rect">
            <a:avLst/>
          </a:prstGeom>
          <a:noFill/>
          <a:ln/>
        </p:spPr>
        <p:txBody>
          <a:bodyPr wrap="square" lIns="0" tIns="0" rIns="0" bIns="0" rtlCol="0" anchor="ctr"/>
          <a:lstStyle/>
          <a:p>
            <a:pPr algn="r" indent="0" marL="0">
              <a:buNone/>
            </a:pPr>
            <a:r>
              <a:rPr lang="en-US" sz="1300" b="1" dirty="0">
                <a:solidFill>
                  <a:srgbClr val="0D7C8F"/>
                </a:solidFill>
                <a:latin typeface="Calibri" pitchFamily="34" charset="0"/>
                <a:ea typeface="Calibri" pitchFamily="34" charset="-122"/>
                <a:cs typeface="Calibri" pitchFamily="34" charset="-120"/>
              </a:rPr>
              <a:t>$100k robot</a:t>
            </a:r>
            <a:endParaRPr lang="en-US" sz="1300" dirty="0"/>
          </a:p>
        </p:txBody>
      </p:sp>
      <p:sp>
        <p:nvSpPr>
          <p:cNvPr id="6" name="Text 4"/>
          <p:cNvSpPr txBox="1"/>
          <p:nvPr/>
        </p:nvSpPr>
        <p:spPr>
          <a:xfrm>
            <a:off x="6492240" y="1188720"/>
            <a:ext cx="1920240" cy="274320"/>
          </a:xfrm>
          <a:prstGeom prst="rect">
            <a:avLst/>
          </a:prstGeom>
          <a:noFill/>
          <a:ln/>
        </p:spPr>
        <p:txBody>
          <a:bodyPr wrap="square" lIns="0" tIns="0" rIns="0" bIns="0" rtlCol="0" anchor="ctr"/>
          <a:lstStyle/>
          <a:p>
            <a:pPr algn="r" indent="0" marL="0">
              <a:buNone/>
            </a:pPr>
            <a:r>
              <a:rPr lang="en-US" sz="1300" b="1" dirty="0">
                <a:solidFill>
                  <a:srgbClr val="2D9D5C"/>
                </a:solidFill>
                <a:latin typeface="Calibri" pitchFamily="34" charset="0"/>
                <a:ea typeface="Calibri" pitchFamily="34" charset="-122"/>
                <a:cs typeface="Calibri" pitchFamily="34" charset="-120"/>
              </a:rPr>
              <a:t>$30k robot</a:t>
            </a:r>
            <a:endParaRPr lang="en-US" sz="1300" dirty="0"/>
          </a:p>
        </p:txBody>
      </p:sp>
      <p:sp>
        <p:nvSpPr>
          <p:cNvPr id="7" name="Shape 5"/>
          <p:cNvSpPr/>
          <p:nvPr/>
        </p:nvSpPr>
        <p:spPr>
          <a:xfrm>
            <a:off x="548640" y="1572768"/>
            <a:ext cx="8046720" cy="65836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8" name="Text 6"/>
          <p:cNvSpPr txBox="1"/>
          <p:nvPr/>
        </p:nvSpPr>
        <p:spPr>
          <a:xfrm>
            <a:off x="777240" y="1572768"/>
            <a:ext cx="3566160" cy="65836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Hardware — the price they quote you</a:t>
            </a:r>
            <a:endParaRPr lang="en-US" sz="1300" dirty="0"/>
          </a:p>
        </p:txBody>
      </p:sp>
      <p:sp>
        <p:nvSpPr>
          <p:cNvPr id="9" name="Text 7"/>
          <p:cNvSpPr txBox="1"/>
          <p:nvPr/>
        </p:nvSpPr>
        <p:spPr>
          <a:xfrm>
            <a:off x="4480560" y="1572768"/>
            <a:ext cx="1920240" cy="658368"/>
          </a:xfrm>
          <a:prstGeom prst="rect">
            <a:avLst/>
          </a:prstGeom>
          <a:noFill/>
          <a:ln/>
        </p:spPr>
        <p:txBody>
          <a:bodyPr wrap="square" lIns="0" tIns="0" rIns="0" bIns="0" rtlCol="0" anchor="ctr"/>
          <a:lstStyle/>
          <a:p>
            <a:pPr algn="r" indent="0" marL="0">
              <a:buNone/>
            </a:pPr>
            <a:r>
              <a:rPr lang="en-US" sz="1700" b="1" dirty="0">
                <a:solidFill>
                  <a:srgbClr val="1B2A4A"/>
                </a:solidFill>
                <a:latin typeface="Georgia" pitchFamily="34" charset="0"/>
                <a:ea typeface="Georgia" pitchFamily="34" charset="-122"/>
                <a:cs typeface="Georgia" pitchFamily="34" charset="-120"/>
              </a:rPr>
              <a:t>$100,000</a:t>
            </a:r>
            <a:endParaRPr lang="en-US" sz="1700" dirty="0"/>
          </a:p>
        </p:txBody>
      </p:sp>
      <p:sp>
        <p:nvSpPr>
          <p:cNvPr id="10" name="Text 8"/>
          <p:cNvSpPr txBox="1"/>
          <p:nvPr/>
        </p:nvSpPr>
        <p:spPr>
          <a:xfrm>
            <a:off x="6492240" y="1572768"/>
            <a:ext cx="1920240" cy="658368"/>
          </a:xfrm>
          <a:prstGeom prst="rect">
            <a:avLst/>
          </a:prstGeom>
          <a:noFill/>
          <a:ln/>
        </p:spPr>
        <p:txBody>
          <a:bodyPr wrap="square" lIns="0" tIns="0" rIns="0" bIns="0" rtlCol="0" anchor="ctr"/>
          <a:lstStyle/>
          <a:p>
            <a:pPr algn="r" indent="0" marL="0">
              <a:buNone/>
            </a:pPr>
            <a:r>
              <a:rPr lang="en-US" sz="1700" b="1" dirty="0">
                <a:solidFill>
                  <a:srgbClr val="1B2A4A"/>
                </a:solidFill>
                <a:latin typeface="Georgia" pitchFamily="34" charset="0"/>
                <a:ea typeface="Georgia" pitchFamily="34" charset="-122"/>
                <a:cs typeface="Georgia" pitchFamily="34" charset="-120"/>
              </a:rPr>
              <a:t>$30,000</a:t>
            </a:r>
            <a:endParaRPr lang="en-US" sz="1700" dirty="0"/>
          </a:p>
        </p:txBody>
      </p:sp>
      <p:sp>
        <p:nvSpPr>
          <p:cNvPr id="11" name="Shape 9"/>
          <p:cNvSpPr/>
          <p:nvPr/>
        </p:nvSpPr>
        <p:spPr>
          <a:xfrm>
            <a:off x="548640" y="2359152"/>
            <a:ext cx="8046720" cy="658368"/>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2" name="Text 10"/>
          <p:cNvSpPr txBox="1"/>
          <p:nvPr/>
        </p:nvSpPr>
        <p:spPr>
          <a:xfrm>
            <a:off x="777240" y="2359152"/>
            <a:ext cx="356616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Actually deployed (2.5x)</a:t>
            </a:r>
            <a:endParaRPr lang="en-US" sz="1300" dirty="0"/>
          </a:p>
        </p:txBody>
      </p:sp>
      <p:sp>
        <p:nvSpPr>
          <p:cNvPr id="13" name="Text 11"/>
          <p:cNvSpPr txBox="1"/>
          <p:nvPr/>
        </p:nvSpPr>
        <p:spPr>
          <a:xfrm>
            <a:off x="4480560" y="2359152"/>
            <a:ext cx="1920240" cy="658368"/>
          </a:xfrm>
          <a:prstGeom prst="rect">
            <a:avLst/>
          </a:prstGeom>
          <a:noFill/>
          <a:ln/>
        </p:spPr>
        <p:txBody>
          <a:bodyPr wrap="square" lIns="0" tIns="0" rIns="0" bIns="0" rtlCol="0" anchor="ctr"/>
          <a:lstStyle/>
          <a:p>
            <a:pPr algn="r" indent="0" marL="0">
              <a:buNone/>
            </a:pPr>
            <a:r>
              <a:rPr lang="en-US" sz="1700" b="1" dirty="0">
                <a:solidFill>
                  <a:srgbClr val="D4A843"/>
                </a:solidFill>
                <a:latin typeface="Georgia" pitchFamily="34" charset="0"/>
                <a:ea typeface="Georgia" pitchFamily="34" charset="-122"/>
                <a:cs typeface="Georgia" pitchFamily="34" charset="-120"/>
              </a:rPr>
              <a:t>$250,000</a:t>
            </a:r>
            <a:endParaRPr lang="en-US" sz="1700" dirty="0"/>
          </a:p>
        </p:txBody>
      </p:sp>
      <p:sp>
        <p:nvSpPr>
          <p:cNvPr id="14" name="Text 12"/>
          <p:cNvSpPr txBox="1"/>
          <p:nvPr/>
        </p:nvSpPr>
        <p:spPr>
          <a:xfrm>
            <a:off x="6492240" y="2359152"/>
            <a:ext cx="1920240" cy="658368"/>
          </a:xfrm>
          <a:prstGeom prst="rect">
            <a:avLst/>
          </a:prstGeom>
          <a:noFill/>
          <a:ln/>
        </p:spPr>
        <p:txBody>
          <a:bodyPr wrap="square" lIns="0" tIns="0" rIns="0" bIns="0" rtlCol="0" anchor="ctr"/>
          <a:lstStyle/>
          <a:p>
            <a:pPr algn="r" indent="0" marL="0">
              <a:buNone/>
            </a:pPr>
            <a:r>
              <a:rPr lang="en-US" sz="1700" b="1" dirty="0">
                <a:solidFill>
                  <a:srgbClr val="D4A843"/>
                </a:solidFill>
                <a:latin typeface="Georgia" pitchFamily="34" charset="0"/>
                <a:ea typeface="Georgia" pitchFamily="34" charset="-122"/>
                <a:cs typeface="Georgia" pitchFamily="34" charset="-120"/>
              </a:rPr>
              <a:t>$75,000</a:t>
            </a:r>
            <a:endParaRPr lang="en-US" sz="1700" dirty="0"/>
          </a:p>
        </p:txBody>
      </p:sp>
      <p:sp>
        <p:nvSpPr>
          <p:cNvPr id="15" name="Shape 13"/>
          <p:cNvSpPr/>
          <p:nvPr/>
        </p:nvSpPr>
        <p:spPr>
          <a:xfrm>
            <a:off x="548640" y="3145536"/>
            <a:ext cx="8046720" cy="658368"/>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6" name="Text 14"/>
          <p:cNvSpPr txBox="1"/>
          <p:nvPr/>
        </p:nvSpPr>
        <p:spPr>
          <a:xfrm>
            <a:off x="777240" y="3145536"/>
            <a:ext cx="356616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Annual cost of ownership</a:t>
            </a:r>
            <a:endParaRPr lang="en-US" sz="1300" dirty="0"/>
          </a:p>
        </p:txBody>
      </p:sp>
      <p:sp>
        <p:nvSpPr>
          <p:cNvPr id="17" name="Text 15"/>
          <p:cNvSpPr txBox="1"/>
          <p:nvPr/>
        </p:nvSpPr>
        <p:spPr>
          <a:xfrm>
            <a:off x="4480560" y="3145536"/>
            <a:ext cx="1920240" cy="658368"/>
          </a:xfrm>
          <a:prstGeom prst="rect">
            <a:avLst/>
          </a:prstGeom>
          <a:noFill/>
          <a:ln/>
        </p:spPr>
        <p:txBody>
          <a:bodyPr wrap="square" lIns="0" tIns="0" rIns="0" bIns="0" rtlCol="0" anchor="ctr"/>
          <a:lstStyle/>
          <a:p>
            <a:pPr algn="r" indent="0" marL="0">
              <a:buNone/>
            </a:pPr>
            <a:r>
              <a:rPr lang="en-US" sz="1700" b="1" dirty="0">
                <a:solidFill>
                  <a:srgbClr val="D4A843"/>
                </a:solidFill>
                <a:latin typeface="Georgia" pitchFamily="34" charset="0"/>
                <a:ea typeface="Georgia" pitchFamily="34" charset="-122"/>
                <a:cs typeface="Georgia" pitchFamily="34" charset="-120"/>
              </a:rPr>
              <a:t>$62,714</a:t>
            </a:r>
            <a:endParaRPr lang="en-US" sz="1700" dirty="0"/>
          </a:p>
        </p:txBody>
      </p:sp>
      <p:sp>
        <p:nvSpPr>
          <p:cNvPr id="18" name="Text 16"/>
          <p:cNvSpPr txBox="1"/>
          <p:nvPr/>
        </p:nvSpPr>
        <p:spPr>
          <a:xfrm>
            <a:off x="6492240" y="3145536"/>
            <a:ext cx="1920240" cy="658368"/>
          </a:xfrm>
          <a:prstGeom prst="rect">
            <a:avLst/>
          </a:prstGeom>
          <a:noFill/>
          <a:ln/>
        </p:spPr>
        <p:txBody>
          <a:bodyPr wrap="square" lIns="0" tIns="0" rIns="0" bIns="0" rtlCol="0" anchor="ctr"/>
          <a:lstStyle/>
          <a:p>
            <a:pPr algn="r" indent="0" marL="0">
              <a:buNone/>
            </a:pPr>
            <a:r>
              <a:rPr lang="en-US" sz="1700" b="1" dirty="0">
                <a:solidFill>
                  <a:srgbClr val="D4A843"/>
                </a:solidFill>
                <a:latin typeface="Georgia" pitchFamily="34" charset="0"/>
                <a:ea typeface="Georgia" pitchFamily="34" charset="-122"/>
                <a:cs typeface="Georgia" pitchFamily="34" charset="-120"/>
              </a:rPr>
              <a:t>$29,314</a:t>
            </a:r>
            <a:endParaRPr lang="en-US" sz="1700" dirty="0"/>
          </a:p>
        </p:txBody>
      </p:sp>
      <p:sp>
        <p:nvSpPr>
          <p:cNvPr id="19" name="Text 17"/>
          <p:cNvSpPr txBox="1"/>
          <p:nvPr/>
        </p:nvSpPr>
        <p:spPr>
          <a:xfrm>
            <a:off x="548640" y="3977640"/>
            <a:ext cx="8046720" cy="411480"/>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A deployed robot costs two to four times the hardware — integration, safety systems, tooling, programming. Anybody who quotes you the robot price and stops has not told you what it costs.</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Where the robot's money actually goes</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graphicFrame>
        <p:nvGraphicFramePr>
          <p:cNvPr id="5" name="Chart 0" descr=""/>
          <p:cNvGraphicFramePr/>
          <p:nvPr/>
        </p:nvGraphicFramePr>
        <p:xfrm>
          <a:off x="502920" y="1024128"/>
          <a:ext cx="4892040" cy="29260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02920" y="841248"/>
            <a:ext cx="4892040" cy="201168"/>
          </a:xfrm>
          <a:prstGeom prst="rect">
            <a:avLst/>
          </a:prstGeom>
          <a:noFill/>
          <a:ln/>
        </p:spPr>
        <p:txBody>
          <a:bodyPr wrap="square" lIns="0" tIns="0" rIns="0" bIns="0" rtlCol="0" anchor="ctr"/>
          <a:lstStyle/>
          <a:p>
            <a:pPr indent="0" marL="0">
              <a:buNone/>
            </a:pPr>
            <a:r>
              <a:rPr lang="en-US" sz="950" b="1" spc="120" kern="0" dirty="0">
                <a:solidFill>
                  <a:srgbClr val="8896A7"/>
                </a:solidFill>
                <a:latin typeface="Calibri" pitchFamily="34" charset="0"/>
                <a:ea typeface="Calibri" pitchFamily="34" charset="-122"/>
                <a:cs typeface="Calibri" pitchFamily="34" charset="-120"/>
              </a:rPr>
              <a:t>ANNUAL COST OF OWNERSHIP</a:t>
            </a:r>
            <a:endParaRPr lang="en-US" sz="950" dirty="0"/>
          </a:p>
        </p:txBody>
      </p:sp>
      <p:sp>
        <p:nvSpPr>
          <p:cNvPr id="7" name="Shape 4"/>
          <p:cNvSpPr/>
          <p:nvPr/>
        </p:nvSpPr>
        <p:spPr>
          <a:xfrm>
            <a:off x="5532120" y="1024128"/>
            <a:ext cx="3063240" cy="137160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8" name="Text 5"/>
          <p:cNvSpPr txBox="1"/>
          <p:nvPr/>
        </p:nvSpPr>
        <p:spPr>
          <a:xfrm>
            <a:off x="5760720" y="1115568"/>
            <a:ext cx="2651760" cy="310896"/>
          </a:xfrm>
          <a:prstGeom prst="rect">
            <a:avLst/>
          </a:prstGeom>
          <a:noFill/>
          <a:ln/>
        </p:spPr>
        <p:txBody>
          <a:bodyPr wrap="square" lIns="0" tIns="0" rIns="0" bIns="0" rtlCol="0" anchor="ctr"/>
          <a:lstStyle/>
          <a:p>
            <a:pPr indent="0" marL="0">
              <a:buNone/>
            </a:pPr>
            <a:r>
              <a:rPr lang="en-US" sz="1400" b="1" dirty="0">
                <a:solidFill>
                  <a:srgbClr val="0D7C8F"/>
                </a:solidFill>
                <a:latin typeface="Calibri" pitchFamily="34" charset="0"/>
                <a:ea typeface="Calibri" pitchFamily="34" charset="-122"/>
                <a:cs typeface="Calibri" pitchFamily="34" charset="-120"/>
              </a:rPr>
              <a:t>WHY $100,000 BECOMES $250,000</a:t>
            </a:r>
            <a:endParaRPr lang="en-US" sz="1400" dirty="0"/>
          </a:p>
        </p:txBody>
      </p:sp>
      <p:sp>
        <p:nvSpPr>
          <p:cNvPr id="9" name="Text 6"/>
          <p:cNvSpPr txBox="1"/>
          <p:nvPr/>
        </p:nvSpPr>
        <p:spPr>
          <a:xfrm>
            <a:off x="5760720" y="1481328"/>
            <a:ext cx="2651760" cy="21945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Integration into your line</a:t>
            </a:r>
            <a:endParaRPr lang="en-US" sz="1000" dirty="0"/>
          </a:p>
        </p:txBody>
      </p:sp>
      <p:sp>
        <p:nvSpPr>
          <p:cNvPr id="10" name="Text 7"/>
          <p:cNvSpPr txBox="1"/>
          <p:nvPr/>
        </p:nvSpPr>
        <p:spPr>
          <a:xfrm>
            <a:off x="5760720" y="1700784"/>
            <a:ext cx="2651760" cy="21945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Safety systems — guarding, e-stops</a:t>
            </a:r>
            <a:endParaRPr lang="en-US" sz="1000" dirty="0"/>
          </a:p>
        </p:txBody>
      </p:sp>
      <p:sp>
        <p:nvSpPr>
          <p:cNvPr id="11" name="Text 8"/>
          <p:cNvSpPr txBox="1"/>
          <p:nvPr/>
        </p:nvSpPr>
        <p:spPr>
          <a:xfrm>
            <a:off x="5760720" y="1920240"/>
            <a:ext cx="2651760" cy="21945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Tooling and end effectors</a:t>
            </a:r>
            <a:endParaRPr lang="en-US" sz="1000" dirty="0"/>
          </a:p>
        </p:txBody>
      </p:sp>
      <p:sp>
        <p:nvSpPr>
          <p:cNvPr id="12" name="Text 9"/>
          <p:cNvSpPr txBox="1"/>
          <p:nvPr/>
        </p:nvSpPr>
        <p:spPr>
          <a:xfrm>
            <a:off x="5760720" y="2139696"/>
            <a:ext cx="2651760" cy="219456"/>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Programming and commissioning</a:t>
            </a:r>
            <a:endParaRPr lang="en-US" sz="1000" dirty="0"/>
          </a:p>
        </p:txBody>
      </p:sp>
      <p:sp>
        <p:nvSpPr>
          <p:cNvPr id="13" name="Shape 10"/>
          <p:cNvSpPr/>
          <p:nvPr/>
        </p:nvSpPr>
        <p:spPr>
          <a:xfrm>
            <a:off x="5532120" y="2514600"/>
            <a:ext cx="3063240" cy="1435608"/>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4" name="Text 11"/>
          <p:cNvSpPr txBox="1"/>
          <p:nvPr/>
        </p:nvSpPr>
        <p:spPr>
          <a:xfrm>
            <a:off x="5760720" y="2606040"/>
            <a:ext cx="2651760" cy="310896"/>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WHAT DOESN'T CHANGE</a:t>
            </a:r>
            <a:endParaRPr lang="en-US" sz="1400" dirty="0"/>
          </a:p>
        </p:txBody>
      </p:sp>
      <p:sp>
        <p:nvSpPr>
          <p:cNvPr id="15" name="Text 12"/>
          <p:cNvSpPr txBox="1"/>
          <p:nvPr/>
        </p:nvSpPr>
        <p:spPr>
          <a:xfrm>
            <a:off x="5760720" y="2944368"/>
            <a:ext cx="2651760" cy="4572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Energy is $3,000 either way. The technician is $12,000 either way.</a:t>
            </a:r>
            <a:endParaRPr lang="en-US" sz="1050" dirty="0"/>
          </a:p>
        </p:txBody>
      </p:sp>
      <p:sp>
        <p:nvSpPr>
          <p:cNvPr id="16" name="Text 13"/>
          <p:cNvSpPr txBox="1"/>
          <p:nvPr/>
        </p:nvSpPr>
        <p:spPr>
          <a:xfrm>
            <a:off x="5760720" y="3429000"/>
            <a:ext cx="2651760" cy="457200"/>
          </a:xfrm>
          <a:prstGeom prst="rect">
            <a:avLst/>
          </a:prstGeom>
          <a:noFill/>
          <a:ln/>
        </p:spPr>
        <p:txBody>
          <a:bodyPr wrap="square" lIns="0" tIns="0" rIns="0" bIns="0" rtlCol="0" anchor="ctr"/>
          <a:lstStyle/>
          <a:p>
            <a:pPr indent="0" marL="0">
              <a:buNone/>
            </a:pPr>
            <a:r>
              <a:rPr lang="en-US" sz="1050" b="1" dirty="0">
                <a:solidFill>
                  <a:srgbClr val="14A3B8"/>
                </a:solidFill>
                <a:latin typeface="Calibri" pitchFamily="34" charset="0"/>
                <a:ea typeface="Calibri" pitchFamily="34" charset="-122"/>
                <a:cs typeface="Calibri" pitchFamily="34" charset="-120"/>
              </a:rPr>
              <a:t>Buy a robot for 70% less and your annual cost only falls 53%.</a:t>
            </a:r>
            <a:endParaRPr lang="en-US" sz="1050" dirty="0"/>
          </a:p>
        </p:txBody>
      </p:sp>
      <p:sp>
        <p:nvSpPr>
          <p:cNvPr id="17" name="Shape 14"/>
          <p:cNvSpPr/>
          <p:nvPr/>
        </p:nvSpPr>
        <p:spPr>
          <a:xfrm>
            <a:off x="502920" y="4041648"/>
            <a:ext cx="8092440" cy="45720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8" name="Text 15"/>
          <p:cNvSpPr txBox="1"/>
          <p:nvPr/>
        </p:nvSpPr>
        <p:spPr>
          <a:xfrm>
            <a:off x="777240" y="4041648"/>
            <a:ext cx="7589520" cy="457200"/>
          </a:xfrm>
          <a:prstGeom prst="rect">
            <a:avLst/>
          </a:prstGeom>
          <a:noFill/>
          <a:ln/>
        </p:spPr>
        <p:txBody>
          <a:bodyPr wrap="square" lIns="0" tIns="0" rIns="0" bIns="0" rtlCol="0" anchor="ctr"/>
          <a:lstStyle/>
          <a:p>
            <a:pPr indent="0" marL="0">
              <a:buNone/>
            </a:pPr>
            <a:r>
              <a:rPr lang="en-US" sz="1400" b="1" dirty="0">
                <a:solidFill>
                  <a:srgbClr val="D4A843"/>
                </a:solidFill>
                <a:latin typeface="Georgia" pitchFamily="34" charset="0"/>
                <a:ea typeface="Georgia" pitchFamily="34" charset="-122"/>
                <a:cs typeface="Georgia" pitchFamily="34" charset="-120"/>
              </a:rPr>
              <a:t>On the $30,000 robot, the technician costs more than the robot.</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“But a humanoid costs a quarter million.”</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8046720" cy="566928"/>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33856"/>
            <a:ext cx="7498080" cy="411480"/>
          </a:xfrm>
          <a:prstGeom prst="rect">
            <a:avLst/>
          </a:prstGeom>
          <a:noFill/>
          <a:ln/>
        </p:spPr>
        <p:txBody>
          <a:bodyPr wrap="square" lIns="0" tIns="0" rIns="0" bIns="0" rtlCol="0" anchor="ctr"/>
          <a:lstStyle/>
          <a:p>
            <a:pPr indent="0" marL="0">
              <a:buNone/>
            </a:pPr>
            <a:r>
              <a:rPr lang="en-US" sz="1200" i="1" dirty="0">
                <a:solidFill>
                  <a:srgbClr val="D4A843"/>
                </a:solidFill>
                <a:latin typeface="Calibri" pitchFamily="34" charset="0"/>
                <a:ea typeface="Calibri" pitchFamily="34" charset="-122"/>
                <a:cs typeface="Calibri" pitchFamily="34" charset="-120"/>
              </a:rPr>
              <a:t>Answer this before somebody asks it. You planted the $250,000 Agility number twenty minutes ago on purpose.</a:t>
            </a:r>
            <a:endParaRPr lang="en-US" sz="1200" dirty="0"/>
          </a:p>
        </p:txBody>
      </p:sp>
      <p:sp>
        <p:nvSpPr>
          <p:cNvPr id="7" name="Shape 5"/>
          <p:cNvSpPr/>
          <p:nvPr/>
        </p:nvSpPr>
        <p:spPr>
          <a:xfrm>
            <a:off x="548640" y="1783080"/>
            <a:ext cx="3931920" cy="16916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8" name="Text 6"/>
          <p:cNvSpPr txBox="1"/>
          <p:nvPr/>
        </p:nvSpPr>
        <p:spPr>
          <a:xfrm>
            <a:off x="822960" y="1892808"/>
            <a:ext cx="640080" cy="320040"/>
          </a:xfrm>
          <a:prstGeom prst="rect">
            <a:avLst/>
          </a:prstGeom>
          <a:noFill/>
          <a:ln/>
        </p:spPr>
        <p:txBody>
          <a:bodyPr wrap="square" lIns="0" tIns="0" rIns="0" bIns="0" rtlCol="0" anchor="ctr"/>
          <a:lstStyle/>
          <a:p>
            <a:pPr indent="0" marL="0">
              <a:buNone/>
            </a:pPr>
            <a:r>
              <a:rPr lang="en-US" sz="1700" b="1" dirty="0">
                <a:solidFill>
                  <a:srgbClr val="0D7C8F"/>
                </a:solidFill>
                <a:latin typeface="Georgia" pitchFamily="34" charset="0"/>
                <a:ea typeface="Georgia" pitchFamily="34" charset="-122"/>
                <a:cs typeface="Georgia" pitchFamily="34" charset="-120"/>
              </a:rPr>
              <a:t>01</a:t>
            </a:r>
            <a:endParaRPr lang="en-US" sz="1700" dirty="0"/>
          </a:p>
        </p:txBody>
      </p:sp>
      <p:sp>
        <p:nvSpPr>
          <p:cNvPr id="9" name="Text 7"/>
          <p:cNvSpPr txBox="1"/>
          <p:nvPr/>
        </p:nvSpPr>
        <p:spPr>
          <a:xfrm>
            <a:off x="822960" y="2240280"/>
            <a:ext cx="338328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I'm not modeling a humanoid.</a:t>
            </a:r>
            <a:endParaRPr lang="en-US" sz="1300" dirty="0"/>
          </a:p>
        </p:txBody>
      </p:sp>
      <p:sp>
        <p:nvSpPr>
          <p:cNvPr id="10" name="Text 8"/>
          <p:cNvSpPr txBox="1"/>
          <p:nvPr/>
        </p:nvSpPr>
        <p:spPr>
          <a:xfrm>
            <a:off x="822960" y="2606040"/>
            <a:ext cx="3383280" cy="8229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I'm modeling a POSITION covered by a machine. Almost every machine that covers a position in a paper mill today is purpose-built — a palletizer, an AMR, a crawler. Those are the ones in the $100k range.</a:t>
            </a:r>
            <a:endParaRPr lang="en-US" sz="1100" dirty="0"/>
          </a:p>
        </p:txBody>
      </p:sp>
      <p:sp>
        <p:nvSpPr>
          <p:cNvPr id="11" name="Shape 9"/>
          <p:cNvSpPr/>
          <p:nvPr/>
        </p:nvSpPr>
        <p:spPr>
          <a:xfrm>
            <a:off x="4663440" y="1783080"/>
            <a:ext cx="3931920" cy="169164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2" name="Text 10"/>
          <p:cNvSpPr txBox="1"/>
          <p:nvPr/>
        </p:nvSpPr>
        <p:spPr>
          <a:xfrm>
            <a:off x="4937760" y="1892808"/>
            <a:ext cx="640080" cy="320040"/>
          </a:xfrm>
          <a:prstGeom prst="rect">
            <a:avLst/>
          </a:prstGeom>
          <a:noFill/>
          <a:ln/>
        </p:spPr>
        <p:txBody>
          <a:bodyPr wrap="square" lIns="0" tIns="0" rIns="0" bIns="0" rtlCol="0" anchor="ctr"/>
          <a:lstStyle/>
          <a:p>
            <a:pPr indent="0" marL="0">
              <a:buNone/>
            </a:pPr>
            <a:r>
              <a:rPr lang="en-US" sz="1700" b="1" dirty="0">
                <a:solidFill>
                  <a:srgbClr val="D4A843"/>
                </a:solidFill>
                <a:latin typeface="Georgia" pitchFamily="34" charset="0"/>
                <a:ea typeface="Georgia" pitchFamily="34" charset="-122"/>
                <a:cs typeface="Georgia" pitchFamily="34" charset="-120"/>
              </a:rPr>
              <a:t>02</a:t>
            </a:r>
            <a:endParaRPr lang="en-US" sz="1700" dirty="0"/>
          </a:p>
        </p:txBody>
      </p:sp>
      <p:sp>
        <p:nvSpPr>
          <p:cNvPr id="13" name="Text 11"/>
          <p:cNvSpPr txBox="1"/>
          <p:nvPr/>
        </p:nvSpPr>
        <p:spPr>
          <a:xfrm>
            <a:off x="4937760" y="2240280"/>
            <a:ext cx="3383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Look at my own table.</a:t>
            </a:r>
            <a:endParaRPr lang="en-US" sz="1300" dirty="0"/>
          </a:p>
        </p:txBody>
      </p:sp>
      <p:sp>
        <p:nvSpPr>
          <p:cNvPr id="14" name="Text 12"/>
          <p:cNvSpPr txBox="1"/>
          <p:nvPr/>
        </p:nvSpPr>
        <p:spPr>
          <a:xfrm>
            <a:off x="4937760" y="2606040"/>
            <a:ext cx="3383280" cy="8229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My fully-deployed figure for the $100k case IS $250,000 — which is, to the dollar, what a humanoid costs you today before you integrate it.</a:t>
            </a:r>
            <a:endParaRPr lang="en-US" sz="1100" dirty="0"/>
          </a:p>
        </p:txBody>
      </p:sp>
      <p:sp>
        <p:nvSpPr>
          <p:cNvPr id="15" name="Shape 13"/>
          <p:cNvSpPr/>
          <p:nvPr/>
        </p:nvSpPr>
        <p:spPr>
          <a:xfrm>
            <a:off x="548640" y="3639312"/>
            <a:ext cx="8046720" cy="73152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6" name="Text 14"/>
          <p:cNvSpPr txBox="1"/>
          <p:nvPr/>
        </p:nvSpPr>
        <p:spPr>
          <a:xfrm>
            <a:off x="822960" y="3739896"/>
            <a:ext cx="7498080" cy="274320"/>
          </a:xfrm>
          <a:prstGeom prst="rect">
            <a:avLst/>
          </a:prstGeom>
          <a:noFill/>
          <a:ln/>
        </p:spPr>
        <p:txBody>
          <a:bodyPr wrap="square" lIns="0" tIns="0" rIns="0" bIns="0" rtlCol="0" anchor="ctr"/>
          <a:lstStyle/>
          <a:p>
            <a:pPr indent="0" marL="0">
              <a:buNone/>
            </a:pPr>
            <a:r>
              <a:rPr lang="en-US" sz="1200" b="1" dirty="0">
                <a:solidFill>
                  <a:srgbClr val="0D7C8F"/>
                </a:solidFill>
                <a:latin typeface="Calibri" pitchFamily="34" charset="0"/>
                <a:ea typeface="Calibri" pitchFamily="34" charset="-122"/>
                <a:cs typeface="Calibri" pitchFamily="34" charset="-120"/>
              </a:rPr>
              <a:t>The $100k row is what a humanoid costs now. The $30k row is what the Chinese cost curve does to it.</a:t>
            </a:r>
            <a:endParaRPr lang="en-US" sz="1200" dirty="0"/>
          </a:p>
        </p:txBody>
      </p:sp>
      <p:sp>
        <p:nvSpPr>
          <p:cNvPr id="17" name="Text 15"/>
          <p:cNvSpPr txBox="1"/>
          <p:nvPr/>
        </p:nvSpPr>
        <p:spPr>
          <a:xfrm>
            <a:off x="822960" y="4041648"/>
            <a:ext cx="7498080" cy="2743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97% of the world's humanoids are already built in China. Pick whichever row you believe — the argument still works. That's the point of showing you both.</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The obvious move</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Text 3"/>
          <p:cNvSpPr txBox="1"/>
          <p:nvPr/>
        </p:nvSpPr>
        <p:spPr>
          <a:xfrm>
            <a:off x="548640" y="1024128"/>
            <a:ext cx="8046720" cy="27432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Four crews of fifty, plus fifty robots:</a:t>
            </a:r>
            <a:endParaRPr lang="en-US" sz="1250" dirty="0"/>
          </a:p>
        </p:txBody>
      </p:sp>
      <p:sp>
        <p:nvSpPr>
          <p:cNvPr id="6" name="Shape 4"/>
          <p:cNvSpPr/>
          <p:nvPr/>
        </p:nvSpPr>
        <p:spPr>
          <a:xfrm>
            <a:off x="548640" y="1353312"/>
            <a:ext cx="8046720" cy="5486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7" name="Text 5"/>
          <p:cNvSpPr txBox="1"/>
          <p:nvPr/>
        </p:nvSpPr>
        <p:spPr>
          <a:xfrm>
            <a:off x="777240" y="1353312"/>
            <a:ext cx="457200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200 people + 50 robots</a:t>
            </a:r>
            <a:endParaRPr lang="en-US" sz="1300" dirty="0"/>
          </a:p>
        </p:txBody>
      </p:sp>
      <p:sp>
        <p:nvSpPr>
          <p:cNvPr id="8" name="Text 6"/>
          <p:cNvSpPr txBox="1"/>
          <p:nvPr/>
        </p:nvSpPr>
        <p:spPr>
          <a:xfrm>
            <a:off x="5212080" y="1353312"/>
            <a:ext cx="1554480" cy="548640"/>
          </a:xfrm>
          <a:prstGeom prst="rect">
            <a:avLst/>
          </a:prstGeom>
          <a:noFill/>
          <a:ln/>
        </p:spPr>
        <p:txBody>
          <a:bodyPr wrap="square" lIns="0" tIns="0" rIns="0" bIns="0" rtlCol="0" anchor="ctr"/>
          <a:lstStyle/>
          <a:p>
            <a:pPr algn="r" indent="0" marL="0">
              <a:buNone/>
            </a:pPr>
            <a:r>
              <a:rPr lang="en-US" sz="1700" b="1" dirty="0">
                <a:solidFill>
                  <a:srgbClr val="1B2A4A"/>
                </a:solidFill>
                <a:latin typeface="Georgia" pitchFamily="34" charset="0"/>
                <a:ea typeface="Georgia" pitchFamily="34" charset="-122"/>
                <a:cs typeface="Georgia" pitchFamily="34" charset="-120"/>
              </a:rPr>
              <a:t>$27.7M</a:t>
            </a:r>
            <a:endParaRPr lang="en-US" sz="1700" dirty="0"/>
          </a:p>
        </p:txBody>
      </p:sp>
      <p:sp>
        <p:nvSpPr>
          <p:cNvPr id="9" name="Text 7"/>
          <p:cNvSpPr txBox="1"/>
          <p:nvPr/>
        </p:nvSpPr>
        <p:spPr>
          <a:xfrm>
            <a:off x="6858000" y="1353312"/>
            <a:ext cx="1554480" cy="548640"/>
          </a:xfrm>
          <a:prstGeom prst="rect">
            <a:avLst/>
          </a:prstGeom>
          <a:noFill/>
          <a:ln/>
        </p:spPr>
        <p:txBody>
          <a:bodyPr wrap="square" lIns="0" tIns="0" rIns="0" bIns="0" rtlCol="0" anchor="ctr"/>
          <a:lstStyle/>
          <a:p>
            <a:pPr algn="r" indent="0" marL="0">
              <a:buNone/>
            </a:pPr>
            <a:r>
              <a:rPr lang="en-US" sz="1300" b="1" dirty="0">
                <a:solidFill>
                  <a:srgbClr val="2D9D5C"/>
                </a:solidFill>
                <a:latin typeface="Calibri" pitchFamily="34" charset="0"/>
                <a:ea typeface="Calibri" pitchFamily="34" charset="-122"/>
                <a:cs typeface="Calibri" pitchFamily="34" charset="-120"/>
              </a:rPr>
              <a:t>saves 44%</a:t>
            </a:r>
            <a:endParaRPr lang="en-US" sz="1300" dirty="0"/>
          </a:p>
        </p:txBody>
      </p:sp>
      <p:sp>
        <p:nvSpPr>
          <p:cNvPr id="10" name="Shape 8"/>
          <p:cNvSpPr/>
          <p:nvPr/>
        </p:nvSpPr>
        <p:spPr>
          <a:xfrm>
            <a:off x="548640" y="2377440"/>
            <a:ext cx="8046720" cy="713232"/>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1" name="Text 9"/>
          <p:cNvSpPr txBox="1"/>
          <p:nvPr/>
        </p:nvSpPr>
        <p:spPr>
          <a:xfrm>
            <a:off x="822960" y="2468880"/>
            <a:ext cx="7498080" cy="292608"/>
          </a:xfrm>
          <a:prstGeom prst="rect">
            <a:avLst/>
          </a:prstGeom>
          <a:noFill/>
          <a:ln/>
        </p:spPr>
        <p:txBody>
          <a:bodyPr wrap="square" lIns="0" tIns="0" rIns="0" bIns="0" rtlCol="0" anchor="ctr"/>
          <a:lstStyle/>
          <a:p>
            <a:pPr indent="0" marL="0">
              <a:buNone/>
            </a:pPr>
            <a:r>
              <a:rPr lang="en-US" sz="1300" b="1" dirty="0">
                <a:solidFill>
                  <a:srgbClr val="D4A843"/>
                </a:solidFill>
                <a:latin typeface="Calibri" pitchFamily="34" charset="0"/>
                <a:ea typeface="Calibri" pitchFamily="34" charset="-122"/>
                <a:cs typeface="Calibri" pitchFamily="34" charset="-120"/>
              </a:rPr>
              <a:t>If I put that up and sat down, I'd be doing exactly what the vendors do.</a:t>
            </a:r>
            <a:endParaRPr lang="en-US" sz="1300" dirty="0"/>
          </a:p>
        </p:txBody>
      </p:sp>
      <p:sp>
        <p:nvSpPr>
          <p:cNvPr id="12" name="Text 10"/>
          <p:cNvSpPr txBox="1"/>
          <p:nvPr/>
        </p:nvSpPr>
        <p:spPr>
          <a:xfrm>
            <a:off x="822960" y="2761488"/>
            <a:ext cx="749808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Almost all of that “saving” isn't robots being cheap. It's deleting two hundred people. I could get the same number with a spreadsheet and a layoff and no technology at all.</a:t>
            </a:r>
            <a:endParaRPr lang="en-US" sz="1150" dirty="0"/>
          </a:p>
        </p:txBody>
      </p:sp>
      <p:sp>
        <p:nvSpPr>
          <p:cNvPr id="13" name="Text 11"/>
          <p:cNvSpPr txBox="1"/>
          <p:nvPr/>
        </p:nvSpPr>
        <p:spPr>
          <a:xfrm>
            <a:off x="548640" y="3246120"/>
            <a:ext cx="8046720" cy="320040"/>
          </a:xfrm>
          <a:prstGeom prst="rect">
            <a:avLst/>
          </a:prstGeom>
          <a:noFill/>
          <a:ln/>
        </p:spPr>
        <p:txBody>
          <a:bodyPr wrap="square" lIns="0" tIns="0" rIns="0" bIns="0" rtlCol="0" anchor="ctr"/>
          <a:lstStyle/>
          <a:p>
            <a:pPr indent="0" marL="0">
              <a:buNone/>
            </a:pPr>
            <a:r>
              <a:rPr lang="en-US" sz="1700" b="1" dirty="0">
                <a:solidFill>
                  <a:srgbClr val="DC4A4A"/>
                </a:solidFill>
                <a:latin typeface="Georgia" pitchFamily="34" charset="0"/>
                <a:ea typeface="Georgia" pitchFamily="34" charset="-122"/>
                <a:cs typeface="Georgia" pitchFamily="34" charset="-120"/>
              </a:rPr>
              <a:t>A robot replaces tasks, not positions.</a:t>
            </a:r>
            <a:endParaRPr lang="en-US" sz="1700" dirty="0"/>
          </a:p>
        </p:txBody>
      </p:sp>
      <p:sp>
        <p:nvSpPr>
          <p:cNvPr id="14" name="Shape 12"/>
          <p:cNvSpPr/>
          <p:nvPr/>
        </p:nvSpPr>
        <p:spPr>
          <a:xfrm>
            <a:off x="548640" y="3611880"/>
            <a:ext cx="2560320" cy="75895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5" name="Text 13"/>
          <p:cNvSpPr txBox="1"/>
          <p:nvPr/>
        </p:nvSpPr>
        <p:spPr>
          <a:xfrm>
            <a:off x="749808" y="3657600"/>
            <a:ext cx="2194560" cy="237744"/>
          </a:xfrm>
          <a:prstGeom prst="rect">
            <a:avLst/>
          </a:prstGeom>
          <a:noFill/>
          <a:ln/>
        </p:spPr>
        <p:txBody>
          <a:bodyPr wrap="square" lIns="0" tIns="0" rIns="0" bIns="0" rtlCol="0" anchor="ctr"/>
          <a:lstStyle/>
          <a:p>
            <a:pPr indent="0" marL="0">
              <a:buNone/>
            </a:pPr>
            <a:r>
              <a:rPr lang="en-US" sz="1100" b="1" dirty="0">
                <a:solidFill>
                  <a:srgbClr val="8896A7"/>
                </a:solidFill>
                <a:latin typeface="Calibri" pitchFamily="34" charset="0"/>
                <a:ea typeface="Calibri" pitchFamily="34" charset="-122"/>
                <a:cs typeface="Calibri" pitchFamily="34" charset="-120"/>
              </a:rPr>
              <a:t>If it covers 100%</a:t>
            </a:r>
            <a:endParaRPr lang="en-US" sz="1100" dirty="0"/>
          </a:p>
        </p:txBody>
      </p:sp>
      <p:sp>
        <p:nvSpPr>
          <p:cNvPr id="16" name="Text 14"/>
          <p:cNvSpPr txBox="1"/>
          <p:nvPr/>
        </p:nvSpPr>
        <p:spPr>
          <a:xfrm>
            <a:off x="749808" y="3895344"/>
            <a:ext cx="2194560" cy="292608"/>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$27.7M</a:t>
            </a:r>
            <a:endParaRPr lang="en-US" sz="1600" dirty="0"/>
          </a:p>
        </p:txBody>
      </p:sp>
      <p:sp>
        <p:nvSpPr>
          <p:cNvPr id="17" name="Text 15"/>
          <p:cNvSpPr txBox="1"/>
          <p:nvPr/>
        </p:nvSpPr>
        <p:spPr>
          <a:xfrm>
            <a:off x="749808" y="4187952"/>
            <a:ext cx="2194560" cy="182880"/>
          </a:xfrm>
          <a:prstGeom prst="rect">
            <a:avLst/>
          </a:prstGeom>
          <a:noFill/>
          <a:ln/>
        </p:spPr>
        <p:txBody>
          <a:bodyPr wrap="square" lIns="0" tIns="0" rIns="0" bIns="0" rtlCol="0" anchor="ctr"/>
          <a:lstStyle/>
          <a:p>
            <a:pPr indent="0" marL="0">
              <a:buNone/>
            </a:pPr>
            <a:r>
              <a:rPr lang="en-US" sz="1050" dirty="0">
                <a:solidFill>
                  <a:srgbClr val="8896A7"/>
                </a:solidFill>
                <a:latin typeface="Calibri" pitchFamily="34" charset="0"/>
                <a:ea typeface="Calibri" pitchFamily="34" charset="-122"/>
                <a:cs typeface="Calibri" pitchFamily="34" charset="-120"/>
              </a:rPr>
              <a:t>saves 44%</a:t>
            </a:r>
            <a:endParaRPr lang="en-US" sz="1050" dirty="0"/>
          </a:p>
        </p:txBody>
      </p:sp>
      <p:sp>
        <p:nvSpPr>
          <p:cNvPr id="18" name="Shape 16"/>
          <p:cNvSpPr/>
          <p:nvPr/>
        </p:nvSpPr>
        <p:spPr>
          <a:xfrm>
            <a:off x="3291840" y="3611880"/>
            <a:ext cx="2560320" cy="758952"/>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9" name="Text 17"/>
          <p:cNvSpPr txBox="1"/>
          <p:nvPr/>
        </p:nvSpPr>
        <p:spPr>
          <a:xfrm>
            <a:off x="3493008" y="3657600"/>
            <a:ext cx="2194560" cy="237744"/>
          </a:xfrm>
          <a:prstGeom prst="rect">
            <a:avLst/>
          </a:prstGeom>
          <a:noFill/>
          <a:ln/>
        </p:spPr>
        <p:txBody>
          <a:bodyPr wrap="square" lIns="0" tIns="0" rIns="0" bIns="0" rtlCol="0" anchor="ctr"/>
          <a:lstStyle/>
          <a:p>
            <a:pPr indent="0" marL="0">
              <a:buNone/>
            </a:pPr>
            <a:r>
              <a:rPr lang="en-US" sz="1100" b="1" dirty="0">
                <a:solidFill>
                  <a:srgbClr val="D4A843"/>
                </a:solidFill>
                <a:latin typeface="Calibri" pitchFamily="34" charset="0"/>
                <a:ea typeface="Calibri" pitchFamily="34" charset="-122"/>
                <a:cs typeface="Calibri" pitchFamily="34" charset="-120"/>
              </a:rPr>
              <a:t>60%</a:t>
            </a:r>
            <a:endParaRPr lang="en-US" sz="1100" dirty="0"/>
          </a:p>
        </p:txBody>
      </p:sp>
      <p:sp>
        <p:nvSpPr>
          <p:cNvPr id="20" name="Text 18"/>
          <p:cNvSpPr txBox="1"/>
          <p:nvPr/>
        </p:nvSpPr>
        <p:spPr>
          <a:xfrm>
            <a:off x="3493008" y="3895344"/>
            <a:ext cx="2194560" cy="292608"/>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$37.5M</a:t>
            </a:r>
            <a:endParaRPr lang="en-US" sz="1600" dirty="0"/>
          </a:p>
        </p:txBody>
      </p:sp>
      <p:sp>
        <p:nvSpPr>
          <p:cNvPr id="21" name="Text 19"/>
          <p:cNvSpPr txBox="1"/>
          <p:nvPr/>
        </p:nvSpPr>
        <p:spPr>
          <a:xfrm>
            <a:off x="3493008" y="4187952"/>
            <a:ext cx="2194560" cy="182880"/>
          </a:xfrm>
          <a:prstGeom prst="rect">
            <a:avLst/>
          </a:prstGeom>
          <a:noFill/>
          <a:ln/>
        </p:spPr>
        <p:txBody>
          <a:bodyPr wrap="square" lIns="0" tIns="0" rIns="0" bIns="0" rtlCol="0" anchor="ctr"/>
          <a:lstStyle/>
          <a:p>
            <a:pPr indent="0" marL="0">
              <a:buNone/>
            </a:pPr>
            <a:r>
              <a:rPr lang="en-US" sz="1050" dirty="0">
                <a:solidFill>
                  <a:srgbClr val="14A3B8"/>
                </a:solidFill>
                <a:latin typeface="Calibri" pitchFamily="34" charset="0"/>
                <a:ea typeface="Calibri" pitchFamily="34" charset="-122"/>
                <a:cs typeface="Calibri" pitchFamily="34" charset="-120"/>
              </a:rPr>
              <a:t>saves 24%</a:t>
            </a:r>
            <a:endParaRPr lang="en-US" sz="1050" dirty="0"/>
          </a:p>
        </p:txBody>
      </p:sp>
      <p:sp>
        <p:nvSpPr>
          <p:cNvPr id="22" name="Shape 20"/>
          <p:cNvSpPr/>
          <p:nvPr/>
        </p:nvSpPr>
        <p:spPr>
          <a:xfrm>
            <a:off x="6035040" y="3611880"/>
            <a:ext cx="2560320" cy="758952"/>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23" name="Text 21"/>
          <p:cNvSpPr txBox="1"/>
          <p:nvPr/>
        </p:nvSpPr>
        <p:spPr>
          <a:xfrm>
            <a:off x="6236208" y="3657600"/>
            <a:ext cx="2194560" cy="237744"/>
          </a:xfrm>
          <a:prstGeom prst="rect">
            <a:avLst/>
          </a:prstGeom>
          <a:noFill/>
          <a:ln/>
        </p:spPr>
        <p:txBody>
          <a:bodyPr wrap="square" lIns="0" tIns="0" rIns="0" bIns="0" rtlCol="0" anchor="ctr"/>
          <a:lstStyle/>
          <a:p>
            <a:pPr indent="0" marL="0">
              <a:buNone/>
            </a:pPr>
            <a:r>
              <a:rPr lang="en-US" sz="1100" b="1" dirty="0">
                <a:solidFill>
                  <a:srgbClr val="D4A843"/>
                </a:solidFill>
                <a:latin typeface="Calibri" pitchFamily="34" charset="0"/>
                <a:ea typeface="Calibri" pitchFamily="34" charset="-122"/>
                <a:cs typeface="Calibri" pitchFamily="34" charset="-120"/>
              </a:rPr>
              <a:t>40%</a:t>
            </a:r>
            <a:endParaRPr lang="en-US" sz="1100" dirty="0"/>
          </a:p>
        </p:txBody>
      </p:sp>
      <p:sp>
        <p:nvSpPr>
          <p:cNvPr id="24" name="Text 22"/>
          <p:cNvSpPr txBox="1"/>
          <p:nvPr/>
        </p:nvSpPr>
        <p:spPr>
          <a:xfrm>
            <a:off x="6236208" y="3895344"/>
            <a:ext cx="2194560" cy="292608"/>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$42.4M</a:t>
            </a:r>
            <a:endParaRPr lang="en-US" sz="1600" dirty="0"/>
          </a:p>
        </p:txBody>
      </p:sp>
      <p:sp>
        <p:nvSpPr>
          <p:cNvPr id="25" name="Text 23"/>
          <p:cNvSpPr txBox="1"/>
          <p:nvPr/>
        </p:nvSpPr>
        <p:spPr>
          <a:xfrm>
            <a:off x="6236208" y="4187952"/>
            <a:ext cx="2194560" cy="182880"/>
          </a:xfrm>
          <a:prstGeom prst="rect">
            <a:avLst/>
          </a:prstGeom>
          <a:noFill/>
          <a:ln/>
        </p:spPr>
        <p:txBody>
          <a:bodyPr wrap="square" lIns="0" tIns="0" rIns="0" bIns="0" rtlCol="0" anchor="ctr"/>
          <a:lstStyle/>
          <a:p>
            <a:pPr indent="0" marL="0">
              <a:buNone/>
            </a:pPr>
            <a:r>
              <a:rPr lang="en-US" sz="1050" dirty="0">
                <a:solidFill>
                  <a:srgbClr val="14A3B8"/>
                </a:solidFill>
                <a:latin typeface="Calibri" pitchFamily="34" charset="0"/>
                <a:ea typeface="Calibri" pitchFamily="34" charset="-122"/>
                <a:cs typeface="Calibri" pitchFamily="34" charset="-120"/>
              </a:rPr>
              <a:t>saves 14%</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Why would you want a fifth crew?</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78992"/>
            <a:ext cx="8046720" cy="73152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70432"/>
            <a:ext cx="7498080" cy="548640"/>
          </a:xfrm>
          <a:prstGeom prst="rect">
            <a:avLst/>
          </a:prstGeom>
          <a:noFill/>
          <a:ln/>
        </p:spPr>
        <p:txBody>
          <a:bodyPr wrap="square" lIns="0" tIns="0" rIns="0" bIns="0" rtlCol="0" anchor="ctr"/>
          <a:lstStyle/>
          <a:p>
            <a:pPr indent="0" marL="0">
              <a:buNone/>
            </a:pPr>
            <a:r>
              <a:rPr lang="en-US" sz="1350" b="1" dirty="0">
                <a:solidFill>
                  <a:srgbClr val="D4A843"/>
                </a:solidFill>
                <a:latin typeface="Calibri" pitchFamily="34" charset="0"/>
                <a:ea typeface="Calibri" pitchFamily="34" charset="-122"/>
                <a:cs typeface="Calibri" pitchFamily="34" charset="-120"/>
              </a:rPr>
              <a:t>Every time I stand up here somebody asks about the fifth crew. Almost nobody asks what it's FOR.</a:t>
            </a:r>
            <a:endParaRPr lang="en-US" sz="1350" dirty="0"/>
          </a:p>
        </p:txBody>
      </p:sp>
      <p:sp>
        <p:nvSpPr>
          <p:cNvPr id="7" name="Shape 5"/>
          <p:cNvSpPr/>
          <p:nvPr/>
        </p:nvSpPr>
        <p:spPr>
          <a:xfrm>
            <a:off x="548640" y="1965960"/>
            <a:ext cx="3931920" cy="150876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8" name="Shape 6"/>
          <p:cNvSpPr/>
          <p:nvPr/>
        </p:nvSpPr>
        <p:spPr>
          <a:xfrm>
            <a:off x="822960" y="2130552"/>
            <a:ext cx="54864" cy="274320"/>
          </a:xfrm>
          <a:prstGeom prst="rect">
            <a:avLst/>
          </a:prstGeom>
          <a:solidFill>
            <a:srgbClr val="0D7C8F"/>
          </a:solidFill>
          <a:ln/>
        </p:spPr>
      </p:sp>
      <p:sp>
        <p:nvSpPr>
          <p:cNvPr id="9" name="Text 7"/>
          <p:cNvSpPr txBox="1"/>
          <p:nvPr/>
        </p:nvSpPr>
        <p:spPr>
          <a:xfrm>
            <a:off x="1005840" y="2103120"/>
            <a:ext cx="3291840" cy="310896"/>
          </a:xfrm>
          <a:prstGeom prst="rect">
            <a:avLst/>
          </a:prstGeom>
          <a:noFill/>
          <a:ln/>
        </p:spPr>
        <p:txBody>
          <a:bodyPr wrap="square" lIns="0" tIns="0" rIns="0" bIns="0" rtlCol="0" anchor="ctr"/>
          <a:lstStyle/>
          <a:p>
            <a:pPr indent="0" marL="0">
              <a:buNone/>
            </a:pPr>
            <a:r>
              <a:rPr lang="en-US" sz="1350" b="1" spc="100" kern="0" dirty="0">
                <a:solidFill>
                  <a:srgbClr val="1B2A4A"/>
                </a:solidFill>
                <a:latin typeface="Calibri" pitchFamily="34" charset="0"/>
                <a:ea typeface="Calibri" pitchFamily="34" charset="-122"/>
                <a:cs typeface="Calibri" pitchFamily="34" charset="-120"/>
              </a:rPr>
              <a:t>RELIEF</a:t>
            </a:r>
            <a:endParaRPr lang="en-US" sz="1350" dirty="0"/>
          </a:p>
        </p:txBody>
      </p:sp>
      <p:sp>
        <p:nvSpPr>
          <p:cNvPr id="10" name="Text 8"/>
          <p:cNvSpPr txBox="1"/>
          <p:nvPr/>
        </p:nvSpPr>
        <p:spPr>
          <a:xfrm>
            <a:off x="822960" y="2514600"/>
            <a:ext cx="3383280" cy="8686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Somebody has to cover vacation, sickness, and the call-off. Today that somebody is an extra body you carry on every crew — or it's overtime.</a:t>
            </a:r>
            <a:endParaRPr lang="en-US" sz="1150" dirty="0"/>
          </a:p>
        </p:txBody>
      </p:sp>
      <p:sp>
        <p:nvSpPr>
          <p:cNvPr id="11" name="Shape 9"/>
          <p:cNvSpPr/>
          <p:nvPr/>
        </p:nvSpPr>
        <p:spPr>
          <a:xfrm>
            <a:off x="4663440" y="1965960"/>
            <a:ext cx="3931920" cy="150876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2" name="Shape 10"/>
          <p:cNvSpPr/>
          <p:nvPr/>
        </p:nvSpPr>
        <p:spPr>
          <a:xfrm>
            <a:off x="4937760" y="2130552"/>
            <a:ext cx="54864" cy="274320"/>
          </a:xfrm>
          <a:prstGeom prst="rect">
            <a:avLst/>
          </a:prstGeom>
          <a:solidFill>
            <a:srgbClr val="F59E0B"/>
          </a:solidFill>
          <a:ln/>
        </p:spPr>
      </p:sp>
      <p:sp>
        <p:nvSpPr>
          <p:cNvPr id="13" name="Text 11"/>
          <p:cNvSpPr txBox="1"/>
          <p:nvPr/>
        </p:nvSpPr>
        <p:spPr>
          <a:xfrm>
            <a:off x="5120640" y="2103120"/>
            <a:ext cx="3291840" cy="310896"/>
          </a:xfrm>
          <a:prstGeom prst="rect">
            <a:avLst/>
          </a:prstGeom>
          <a:noFill/>
          <a:ln/>
        </p:spPr>
        <p:txBody>
          <a:bodyPr wrap="square" lIns="0" tIns="0" rIns="0" bIns="0" rtlCol="0" anchor="ctr"/>
          <a:lstStyle/>
          <a:p>
            <a:pPr indent="0" marL="0">
              <a:buNone/>
            </a:pPr>
            <a:r>
              <a:rPr lang="en-US" sz="1350" b="1" spc="100" kern="0" dirty="0">
                <a:solidFill>
                  <a:srgbClr val="1B2A4A"/>
                </a:solidFill>
                <a:latin typeface="Calibri" pitchFamily="34" charset="0"/>
                <a:ea typeface="Calibri" pitchFamily="34" charset="-122"/>
                <a:cs typeface="Calibri" pitchFamily="34" charset="-120"/>
              </a:rPr>
              <a:t>TRAINING</a:t>
            </a:r>
            <a:endParaRPr lang="en-US" sz="1350" dirty="0"/>
          </a:p>
        </p:txBody>
      </p:sp>
      <p:sp>
        <p:nvSpPr>
          <p:cNvPr id="14" name="Text 12"/>
          <p:cNvSpPr txBox="1"/>
          <p:nvPr/>
        </p:nvSpPr>
        <p:spPr>
          <a:xfrm>
            <a:off x="4937760" y="2514600"/>
            <a:ext cx="3383280" cy="8686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 4-crew schedule has no structural slack. Every crew is needed for coverage, so pulling a man off the floor to learn a job means running short or paying overtime.</a:t>
            </a:r>
            <a:endParaRPr lang="en-US" sz="1150" dirty="0"/>
          </a:p>
        </p:txBody>
      </p:sp>
      <p:sp>
        <p:nvSpPr>
          <p:cNvPr id="15" name="Shape 13"/>
          <p:cNvSpPr/>
          <p:nvPr/>
        </p:nvSpPr>
        <p:spPr>
          <a:xfrm>
            <a:off x="548640" y="3611880"/>
            <a:ext cx="8046720" cy="75895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6" name="Text 14"/>
          <p:cNvSpPr txBox="1"/>
          <p:nvPr/>
        </p:nvSpPr>
        <p:spPr>
          <a:xfrm>
            <a:off x="822960" y="3703320"/>
            <a:ext cx="7498080" cy="292608"/>
          </a:xfrm>
          <a:prstGeom prst="rect">
            <a:avLst/>
          </a:prstGeom>
          <a:noFill/>
          <a:ln/>
        </p:spPr>
        <p:txBody>
          <a:bodyPr wrap="square" lIns="0" tIns="0" rIns="0" bIns="0" rtlCol="0" anchor="ctr"/>
          <a:lstStyle/>
          <a:p>
            <a:pPr indent="0" marL="0">
              <a:buNone/>
            </a:pPr>
            <a:r>
              <a:rPr lang="en-US" sz="1400" b="1" dirty="0">
                <a:solidFill>
                  <a:srgbClr val="0D7C8F"/>
                </a:solidFill>
                <a:latin typeface="Georgia" pitchFamily="34" charset="0"/>
                <a:ea typeface="Georgia" pitchFamily="34" charset="-122"/>
                <a:cs typeface="Georgia" pitchFamily="34" charset="-120"/>
              </a:rPr>
              <a:t>That's it. That's the whole job of the fifth crew — cover the absence, and create the room to train.</a:t>
            </a:r>
            <a:endParaRPr lang="en-US" sz="1400" dirty="0"/>
          </a:p>
        </p:txBody>
      </p:sp>
      <p:sp>
        <p:nvSpPr>
          <p:cNvPr id="17" name="Text 15"/>
          <p:cNvSpPr txBox="1"/>
          <p:nvPr/>
        </p:nvSpPr>
        <p:spPr>
          <a:xfrm>
            <a:off x="822960" y="4005072"/>
            <a:ext cx="7498080" cy="29260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So before we price a fifth crew, let's price what you're already paying for relief. Because you are already paying for it.</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What relief costs you today</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3931920" cy="248716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70432"/>
            <a:ext cx="3383280" cy="384048"/>
          </a:xfrm>
          <a:prstGeom prst="rect">
            <a:avLst/>
          </a:prstGeom>
          <a:noFill/>
          <a:ln/>
        </p:spPr>
        <p:txBody>
          <a:bodyPr wrap="square" lIns="0" tIns="0" rIns="0" bIns="0" rtlCol="0" anchor="ctr"/>
          <a:lstStyle/>
          <a:p>
            <a:pPr indent="0" marL="0">
              <a:buNone/>
            </a:pPr>
            <a:r>
              <a:rPr lang="en-US" sz="2000" b="1" dirty="0">
                <a:solidFill>
                  <a:srgbClr val="1B2A4A"/>
                </a:solidFill>
                <a:latin typeface="Georgia" pitchFamily="34" charset="0"/>
                <a:ea typeface="Georgia" pitchFamily="34" charset="-122"/>
                <a:cs typeface="Georgia" pitchFamily="34" charset="-120"/>
              </a:rPr>
              <a:t>40 relief bodies</a:t>
            </a:r>
            <a:endParaRPr lang="en-US" sz="2000" dirty="0"/>
          </a:p>
        </p:txBody>
      </p:sp>
      <p:sp>
        <p:nvSpPr>
          <p:cNvPr id="7" name="Text 5"/>
          <p:cNvSpPr txBox="1"/>
          <p:nvPr/>
        </p:nvSpPr>
        <p:spPr>
          <a:xfrm>
            <a:off x="822960" y="1572768"/>
            <a:ext cx="33832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10% relief on 100 positions = 10 extra people per crew. Four crews.</a:t>
            </a:r>
            <a:endParaRPr lang="en-US" sz="1150" dirty="0"/>
          </a:p>
        </p:txBody>
      </p:sp>
      <p:sp>
        <p:nvSpPr>
          <p:cNvPr id="8" name="Shape 6"/>
          <p:cNvSpPr/>
          <p:nvPr/>
        </p:nvSpPr>
        <p:spPr>
          <a:xfrm>
            <a:off x="868680" y="2148840"/>
            <a:ext cx="182880" cy="182880"/>
          </a:xfrm>
          <a:prstGeom prst="ellipse">
            <a:avLst/>
          </a:prstGeom>
          <a:solidFill>
            <a:srgbClr val="9AA9BC"/>
          </a:solidFill>
          <a:ln/>
        </p:spPr>
      </p:sp>
      <p:sp>
        <p:nvSpPr>
          <p:cNvPr id="9" name="Shape 7"/>
          <p:cNvSpPr/>
          <p:nvPr/>
        </p:nvSpPr>
        <p:spPr>
          <a:xfrm>
            <a:off x="1280160" y="2148840"/>
            <a:ext cx="182880" cy="182880"/>
          </a:xfrm>
          <a:prstGeom prst="ellipse">
            <a:avLst/>
          </a:prstGeom>
          <a:solidFill>
            <a:srgbClr val="9AA9BC"/>
          </a:solidFill>
          <a:ln/>
        </p:spPr>
      </p:sp>
      <p:sp>
        <p:nvSpPr>
          <p:cNvPr id="10" name="Shape 8"/>
          <p:cNvSpPr/>
          <p:nvPr/>
        </p:nvSpPr>
        <p:spPr>
          <a:xfrm>
            <a:off x="1691640" y="2148840"/>
            <a:ext cx="182880" cy="182880"/>
          </a:xfrm>
          <a:prstGeom prst="ellipse">
            <a:avLst/>
          </a:prstGeom>
          <a:solidFill>
            <a:srgbClr val="9AA9BC"/>
          </a:solidFill>
          <a:ln/>
        </p:spPr>
      </p:sp>
      <p:sp>
        <p:nvSpPr>
          <p:cNvPr id="11" name="Shape 9"/>
          <p:cNvSpPr/>
          <p:nvPr/>
        </p:nvSpPr>
        <p:spPr>
          <a:xfrm>
            <a:off x="2103120" y="2148840"/>
            <a:ext cx="182880" cy="182880"/>
          </a:xfrm>
          <a:prstGeom prst="ellipse">
            <a:avLst/>
          </a:prstGeom>
          <a:solidFill>
            <a:srgbClr val="9AA9BC"/>
          </a:solidFill>
          <a:ln/>
        </p:spPr>
      </p:sp>
      <p:sp>
        <p:nvSpPr>
          <p:cNvPr id="12" name="Shape 10"/>
          <p:cNvSpPr/>
          <p:nvPr/>
        </p:nvSpPr>
        <p:spPr>
          <a:xfrm>
            <a:off x="2514600" y="2148840"/>
            <a:ext cx="182880" cy="182880"/>
          </a:xfrm>
          <a:prstGeom prst="ellipse">
            <a:avLst/>
          </a:prstGeom>
          <a:solidFill>
            <a:srgbClr val="9AA9BC"/>
          </a:solidFill>
          <a:ln/>
        </p:spPr>
      </p:sp>
      <p:sp>
        <p:nvSpPr>
          <p:cNvPr id="13" name="Shape 11"/>
          <p:cNvSpPr/>
          <p:nvPr/>
        </p:nvSpPr>
        <p:spPr>
          <a:xfrm>
            <a:off x="2926080" y="2148840"/>
            <a:ext cx="182880" cy="182880"/>
          </a:xfrm>
          <a:prstGeom prst="ellipse">
            <a:avLst/>
          </a:prstGeom>
          <a:solidFill>
            <a:srgbClr val="9AA9BC"/>
          </a:solidFill>
          <a:ln/>
        </p:spPr>
      </p:sp>
      <p:sp>
        <p:nvSpPr>
          <p:cNvPr id="14" name="Shape 12"/>
          <p:cNvSpPr/>
          <p:nvPr/>
        </p:nvSpPr>
        <p:spPr>
          <a:xfrm>
            <a:off x="3337560" y="2148840"/>
            <a:ext cx="182880" cy="182880"/>
          </a:xfrm>
          <a:prstGeom prst="ellipse">
            <a:avLst/>
          </a:prstGeom>
          <a:solidFill>
            <a:srgbClr val="9AA9BC"/>
          </a:solidFill>
          <a:ln/>
        </p:spPr>
      </p:sp>
      <p:sp>
        <p:nvSpPr>
          <p:cNvPr id="15" name="Shape 13"/>
          <p:cNvSpPr/>
          <p:nvPr/>
        </p:nvSpPr>
        <p:spPr>
          <a:xfrm>
            <a:off x="3749040" y="2148840"/>
            <a:ext cx="182880" cy="182880"/>
          </a:xfrm>
          <a:prstGeom prst="ellipse">
            <a:avLst/>
          </a:prstGeom>
          <a:solidFill>
            <a:srgbClr val="9AA9BC"/>
          </a:solidFill>
          <a:ln/>
        </p:spPr>
      </p:sp>
      <p:sp>
        <p:nvSpPr>
          <p:cNvPr id="16" name="Shape 14"/>
          <p:cNvSpPr/>
          <p:nvPr/>
        </p:nvSpPr>
        <p:spPr>
          <a:xfrm>
            <a:off x="868680" y="2414016"/>
            <a:ext cx="182880" cy="182880"/>
          </a:xfrm>
          <a:prstGeom prst="ellipse">
            <a:avLst/>
          </a:prstGeom>
          <a:solidFill>
            <a:srgbClr val="9AA9BC"/>
          </a:solidFill>
          <a:ln/>
        </p:spPr>
      </p:sp>
      <p:sp>
        <p:nvSpPr>
          <p:cNvPr id="17" name="Shape 15"/>
          <p:cNvSpPr/>
          <p:nvPr/>
        </p:nvSpPr>
        <p:spPr>
          <a:xfrm>
            <a:off x="1280160" y="2414016"/>
            <a:ext cx="182880" cy="182880"/>
          </a:xfrm>
          <a:prstGeom prst="ellipse">
            <a:avLst/>
          </a:prstGeom>
          <a:solidFill>
            <a:srgbClr val="9AA9BC"/>
          </a:solidFill>
          <a:ln/>
        </p:spPr>
      </p:sp>
      <p:sp>
        <p:nvSpPr>
          <p:cNvPr id="18" name="Shape 16"/>
          <p:cNvSpPr/>
          <p:nvPr/>
        </p:nvSpPr>
        <p:spPr>
          <a:xfrm>
            <a:off x="1691640" y="2414016"/>
            <a:ext cx="182880" cy="182880"/>
          </a:xfrm>
          <a:prstGeom prst="ellipse">
            <a:avLst/>
          </a:prstGeom>
          <a:solidFill>
            <a:srgbClr val="9AA9BC"/>
          </a:solidFill>
          <a:ln/>
        </p:spPr>
      </p:sp>
      <p:sp>
        <p:nvSpPr>
          <p:cNvPr id="19" name="Shape 17"/>
          <p:cNvSpPr/>
          <p:nvPr/>
        </p:nvSpPr>
        <p:spPr>
          <a:xfrm>
            <a:off x="2103120" y="2414016"/>
            <a:ext cx="182880" cy="182880"/>
          </a:xfrm>
          <a:prstGeom prst="ellipse">
            <a:avLst/>
          </a:prstGeom>
          <a:solidFill>
            <a:srgbClr val="9AA9BC"/>
          </a:solidFill>
          <a:ln/>
        </p:spPr>
      </p:sp>
      <p:sp>
        <p:nvSpPr>
          <p:cNvPr id="20" name="Shape 18"/>
          <p:cNvSpPr/>
          <p:nvPr/>
        </p:nvSpPr>
        <p:spPr>
          <a:xfrm>
            <a:off x="2514600" y="2414016"/>
            <a:ext cx="182880" cy="182880"/>
          </a:xfrm>
          <a:prstGeom prst="ellipse">
            <a:avLst/>
          </a:prstGeom>
          <a:solidFill>
            <a:srgbClr val="9AA9BC"/>
          </a:solidFill>
          <a:ln/>
        </p:spPr>
      </p:sp>
      <p:sp>
        <p:nvSpPr>
          <p:cNvPr id="21" name="Shape 19"/>
          <p:cNvSpPr/>
          <p:nvPr/>
        </p:nvSpPr>
        <p:spPr>
          <a:xfrm>
            <a:off x="2926080" y="2414016"/>
            <a:ext cx="182880" cy="182880"/>
          </a:xfrm>
          <a:prstGeom prst="ellipse">
            <a:avLst/>
          </a:prstGeom>
          <a:solidFill>
            <a:srgbClr val="9AA9BC"/>
          </a:solidFill>
          <a:ln/>
        </p:spPr>
      </p:sp>
      <p:sp>
        <p:nvSpPr>
          <p:cNvPr id="22" name="Shape 20"/>
          <p:cNvSpPr/>
          <p:nvPr/>
        </p:nvSpPr>
        <p:spPr>
          <a:xfrm>
            <a:off x="3337560" y="2414016"/>
            <a:ext cx="182880" cy="182880"/>
          </a:xfrm>
          <a:prstGeom prst="ellipse">
            <a:avLst/>
          </a:prstGeom>
          <a:solidFill>
            <a:srgbClr val="9AA9BC"/>
          </a:solidFill>
          <a:ln/>
        </p:spPr>
      </p:sp>
      <p:sp>
        <p:nvSpPr>
          <p:cNvPr id="23" name="Shape 21"/>
          <p:cNvSpPr/>
          <p:nvPr/>
        </p:nvSpPr>
        <p:spPr>
          <a:xfrm>
            <a:off x="3749040" y="2414016"/>
            <a:ext cx="182880" cy="182880"/>
          </a:xfrm>
          <a:prstGeom prst="ellipse">
            <a:avLst/>
          </a:prstGeom>
          <a:solidFill>
            <a:srgbClr val="9AA9BC"/>
          </a:solidFill>
          <a:ln/>
        </p:spPr>
      </p:sp>
      <p:sp>
        <p:nvSpPr>
          <p:cNvPr id="24" name="Shape 22"/>
          <p:cNvSpPr/>
          <p:nvPr/>
        </p:nvSpPr>
        <p:spPr>
          <a:xfrm>
            <a:off x="868680" y="2679192"/>
            <a:ext cx="182880" cy="182880"/>
          </a:xfrm>
          <a:prstGeom prst="ellipse">
            <a:avLst/>
          </a:prstGeom>
          <a:solidFill>
            <a:srgbClr val="9AA9BC"/>
          </a:solidFill>
          <a:ln/>
        </p:spPr>
      </p:sp>
      <p:sp>
        <p:nvSpPr>
          <p:cNvPr id="25" name="Shape 23"/>
          <p:cNvSpPr/>
          <p:nvPr/>
        </p:nvSpPr>
        <p:spPr>
          <a:xfrm>
            <a:off x="1280160" y="2679192"/>
            <a:ext cx="182880" cy="182880"/>
          </a:xfrm>
          <a:prstGeom prst="ellipse">
            <a:avLst/>
          </a:prstGeom>
          <a:solidFill>
            <a:srgbClr val="9AA9BC"/>
          </a:solidFill>
          <a:ln/>
        </p:spPr>
      </p:sp>
      <p:sp>
        <p:nvSpPr>
          <p:cNvPr id="26" name="Shape 24"/>
          <p:cNvSpPr/>
          <p:nvPr/>
        </p:nvSpPr>
        <p:spPr>
          <a:xfrm>
            <a:off x="1691640" y="2679192"/>
            <a:ext cx="182880" cy="182880"/>
          </a:xfrm>
          <a:prstGeom prst="ellipse">
            <a:avLst/>
          </a:prstGeom>
          <a:solidFill>
            <a:srgbClr val="9AA9BC"/>
          </a:solidFill>
          <a:ln/>
        </p:spPr>
      </p:sp>
      <p:sp>
        <p:nvSpPr>
          <p:cNvPr id="27" name="Shape 25"/>
          <p:cNvSpPr/>
          <p:nvPr/>
        </p:nvSpPr>
        <p:spPr>
          <a:xfrm>
            <a:off x="2103120" y="2679192"/>
            <a:ext cx="182880" cy="182880"/>
          </a:xfrm>
          <a:prstGeom prst="ellipse">
            <a:avLst/>
          </a:prstGeom>
          <a:solidFill>
            <a:srgbClr val="9AA9BC"/>
          </a:solidFill>
          <a:ln/>
        </p:spPr>
      </p:sp>
      <p:sp>
        <p:nvSpPr>
          <p:cNvPr id="28" name="Shape 26"/>
          <p:cNvSpPr/>
          <p:nvPr/>
        </p:nvSpPr>
        <p:spPr>
          <a:xfrm>
            <a:off x="2514600" y="2679192"/>
            <a:ext cx="182880" cy="182880"/>
          </a:xfrm>
          <a:prstGeom prst="ellipse">
            <a:avLst/>
          </a:prstGeom>
          <a:solidFill>
            <a:srgbClr val="9AA9BC"/>
          </a:solidFill>
          <a:ln/>
        </p:spPr>
      </p:sp>
      <p:sp>
        <p:nvSpPr>
          <p:cNvPr id="29" name="Shape 27"/>
          <p:cNvSpPr/>
          <p:nvPr/>
        </p:nvSpPr>
        <p:spPr>
          <a:xfrm>
            <a:off x="2926080" y="2679192"/>
            <a:ext cx="182880" cy="182880"/>
          </a:xfrm>
          <a:prstGeom prst="ellipse">
            <a:avLst/>
          </a:prstGeom>
          <a:solidFill>
            <a:srgbClr val="9AA9BC"/>
          </a:solidFill>
          <a:ln/>
        </p:spPr>
      </p:sp>
      <p:sp>
        <p:nvSpPr>
          <p:cNvPr id="30" name="Shape 28"/>
          <p:cNvSpPr/>
          <p:nvPr/>
        </p:nvSpPr>
        <p:spPr>
          <a:xfrm>
            <a:off x="3337560" y="2679192"/>
            <a:ext cx="182880" cy="182880"/>
          </a:xfrm>
          <a:prstGeom prst="ellipse">
            <a:avLst/>
          </a:prstGeom>
          <a:solidFill>
            <a:srgbClr val="9AA9BC"/>
          </a:solidFill>
          <a:ln/>
        </p:spPr>
      </p:sp>
      <p:sp>
        <p:nvSpPr>
          <p:cNvPr id="31" name="Shape 29"/>
          <p:cNvSpPr/>
          <p:nvPr/>
        </p:nvSpPr>
        <p:spPr>
          <a:xfrm>
            <a:off x="3749040" y="2679192"/>
            <a:ext cx="182880" cy="182880"/>
          </a:xfrm>
          <a:prstGeom prst="ellipse">
            <a:avLst/>
          </a:prstGeom>
          <a:solidFill>
            <a:srgbClr val="9AA9BC"/>
          </a:solidFill>
          <a:ln/>
        </p:spPr>
      </p:sp>
      <p:sp>
        <p:nvSpPr>
          <p:cNvPr id="32" name="Shape 30"/>
          <p:cNvSpPr/>
          <p:nvPr/>
        </p:nvSpPr>
        <p:spPr>
          <a:xfrm>
            <a:off x="868680" y="2944368"/>
            <a:ext cx="182880" cy="182880"/>
          </a:xfrm>
          <a:prstGeom prst="ellipse">
            <a:avLst/>
          </a:prstGeom>
          <a:solidFill>
            <a:srgbClr val="9AA9BC"/>
          </a:solidFill>
          <a:ln/>
        </p:spPr>
      </p:sp>
      <p:sp>
        <p:nvSpPr>
          <p:cNvPr id="33" name="Shape 31"/>
          <p:cNvSpPr/>
          <p:nvPr/>
        </p:nvSpPr>
        <p:spPr>
          <a:xfrm>
            <a:off x="1280160" y="2944368"/>
            <a:ext cx="182880" cy="182880"/>
          </a:xfrm>
          <a:prstGeom prst="ellipse">
            <a:avLst/>
          </a:prstGeom>
          <a:solidFill>
            <a:srgbClr val="9AA9BC"/>
          </a:solidFill>
          <a:ln/>
        </p:spPr>
      </p:sp>
      <p:sp>
        <p:nvSpPr>
          <p:cNvPr id="34" name="Shape 32"/>
          <p:cNvSpPr/>
          <p:nvPr/>
        </p:nvSpPr>
        <p:spPr>
          <a:xfrm>
            <a:off x="1691640" y="2944368"/>
            <a:ext cx="182880" cy="182880"/>
          </a:xfrm>
          <a:prstGeom prst="ellipse">
            <a:avLst/>
          </a:prstGeom>
          <a:solidFill>
            <a:srgbClr val="9AA9BC"/>
          </a:solidFill>
          <a:ln/>
        </p:spPr>
      </p:sp>
      <p:sp>
        <p:nvSpPr>
          <p:cNvPr id="35" name="Shape 33"/>
          <p:cNvSpPr/>
          <p:nvPr/>
        </p:nvSpPr>
        <p:spPr>
          <a:xfrm>
            <a:off x="2103120" y="2944368"/>
            <a:ext cx="182880" cy="182880"/>
          </a:xfrm>
          <a:prstGeom prst="ellipse">
            <a:avLst/>
          </a:prstGeom>
          <a:solidFill>
            <a:srgbClr val="9AA9BC"/>
          </a:solidFill>
          <a:ln/>
        </p:spPr>
      </p:sp>
      <p:sp>
        <p:nvSpPr>
          <p:cNvPr id="36" name="Shape 34"/>
          <p:cNvSpPr/>
          <p:nvPr/>
        </p:nvSpPr>
        <p:spPr>
          <a:xfrm>
            <a:off x="2514600" y="2944368"/>
            <a:ext cx="182880" cy="182880"/>
          </a:xfrm>
          <a:prstGeom prst="ellipse">
            <a:avLst/>
          </a:prstGeom>
          <a:solidFill>
            <a:srgbClr val="9AA9BC"/>
          </a:solidFill>
          <a:ln/>
        </p:spPr>
      </p:sp>
      <p:sp>
        <p:nvSpPr>
          <p:cNvPr id="37" name="Shape 35"/>
          <p:cNvSpPr/>
          <p:nvPr/>
        </p:nvSpPr>
        <p:spPr>
          <a:xfrm>
            <a:off x="2926080" y="2944368"/>
            <a:ext cx="182880" cy="182880"/>
          </a:xfrm>
          <a:prstGeom prst="ellipse">
            <a:avLst/>
          </a:prstGeom>
          <a:solidFill>
            <a:srgbClr val="9AA9BC"/>
          </a:solidFill>
          <a:ln/>
        </p:spPr>
      </p:sp>
      <p:sp>
        <p:nvSpPr>
          <p:cNvPr id="38" name="Shape 36"/>
          <p:cNvSpPr/>
          <p:nvPr/>
        </p:nvSpPr>
        <p:spPr>
          <a:xfrm>
            <a:off x="3337560" y="2944368"/>
            <a:ext cx="182880" cy="182880"/>
          </a:xfrm>
          <a:prstGeom prst="ellipse">
            <a:avLst/>
          </a:prstGeom>
          <a:solidFill>
            <a:srgbClr val="9AA9BC"/>
          </a:solidFill>
          <a:ln/>
        </p:spPr>
      </p:sp>
      <p:sp>
        <p:nvSpPr>
          <p:cNvPr id="39" name="Shape 37"/>
          <p:cNvSpPr/>
          <p:nvPr/>
        </p:nvSpPr>
        <p:spPr>
          <a:xfrm>
            <a:off x="3749040" y="2944368"/>
            <a:ext cx="182880" cy="182880"/>
          </a:xfrm>
          <a:prstGeom prst="ellipse">
            <a:avLst/>
          </a:prstGeom>
          <a:solidFill>
            <a:srgbClr val="9AA9BC"/>
          </a:solidFill>
          <a:ln/>
        </p:spPr>
      </p:sp>
      <p:sp>
        <p:nvSpPr>
          <p:cNvPr id="40" name="Shape 38"/>
          <p:cNvSpPr/>
          <p:nvPr/>
        </p:nvSpPr>
        <p:spPr>
          <a:xfrm>
            <a:off x="868680" y="3209544"/>
            <a:ext cx="182880" cy="182880"/>
          </a:xfrm>
          <a:prstGeom prst="ellipse">
            <a:avLst/>
          </a:prstGeom>
          <a:solidFill>
            <a:srgbClr val="9AA9BC"/>
          </a:solidFill>
          <a:ln/>
        </p:spPr>
      </p:sp>
      <p:sp>
        <p:nvSpPr>
          <p:cNvPr id="41" name="Shape 39"/>
          <p:cNvSpPr/>
          <p:nvPr/>
        </p:nvSpPr>
        <p:spPr>
          <a:xfrm>
            <a:off x="1280160" y="3209544"/>
            <a:ext cx="182880" cy="182880"/>
          </a:xfrm>
          <a:prstGeom prst="ellipse">
            <a:avLst/>
          </a:prstGeom>
          <a:solidFill>
            <a:srgbClr val="9AA9BC"/>
          </a:solidFill>
          <a:ln/>
        </p:spPr>
      </p:sp>
      <p:sp>
        <p:nvSpPr>
          <p:cNvPr id="42" name="Shape 40"/>
          <p:cNvSpPr/>
          <p:nvPr/>
        </p:nvSpPr>
        <p:spPr>
          <a:xfrm>
            <a:off x="1691640" y="3209544"/>
            <a:ext cx="182880" cy="182880"/>
          </a:xfrm>
          <a:prstGeom prst="ellipse">
            <a:avLst/>
          </a:prstGeom>
          <a:solidFill>
            <a:srgbClr val="9AA9BC"/>
          </a:solidFill>
          <a:ln/>
        </p:spPr>
      </p:sp>
      <p:sp>
        <p:nvSpPr>
          <p:cNvPr id="43" name="Shape 41"/>
          <p:cNvSpPr/>
          <p:nvPr/>
        </p:nvSpPr>
        <p:spPr>
          <a:xfrm>
            <a:off x="2103120" y="3209544"/>
            <a:ext cx="182880" cy="182880"/>
          </a:xfrm>
          <a:prstGeom prst="ellipse">
            <a:avLst/>
          </a:prstGeom>
          <a:solidFill>
            <a:srgbClr val="9AA9BC"/>
          </a:solidFill>
          <a:ln/>
        </p:spPr>
      </p:sp>
      <p:sp>
        <p:nvSpPr>
          <p:cNvPr id="44" name="Shape 42"/>
          <p:cNvSpPr/>
          <p:nvPr/>
        </p:nvSpPr>
        <p:spPr>
          <a:xfrm>
            <a:off x="2514600" y="3209544"/>
            <a:ext cx="182880" cy="182880"/>
          </a:xfrm>
          <a:prstGeom prst="ellipse">
            <a:avLst/>
          </a:prstGeom>
          <a:solidFill>
            <a:srgbClr val="9AA9BC"/>
          </a:solidFill>
          <a:ln/>
        </p:spPr>
      </p:sp>
      <p:sp>
        <p:nvSpPr>
          <p:cNvPr id="45" name="Shape 43"/>
          <p:cNvSpPr/>
          <p:nvPr/>
        </p:nvSpPr>
        <p:spPr>
          <a:xfrm>
            <a:off x="2926080" y="3209544"/>
            <a:ext cx="182880" cy="182880"/>
          </a:xfrm>
          <a:prstGeom prst="ellipse">
            <a:avLst/>
          </a:prstGeom>
          <a:solidFill>
            <a:srgbClr val="9AA9BC"/>
          </a:solidFill>
          <a:ln/>
        </p:spPr>
      </p:sp>
      <p:sp>
        <p:nvSpPr>
          <p:cNvPr id="46" name="Shape 44"/>
          <p:cNvSpPr/>
          <p:nvPr/>
        </p:nvSpPr>
        <p:spPr>
          <a:xfrm>
            <a:off x="3337560" y="3209544"/>
            <a:ext cx="182880" cy="182880"/>
          </a:xfrm>
          <a:prstGeom prst="ellipse">
            <a:avLst/>
          </a:prstGeom>
          <a:solidFill>
            <a:srgbClr val="9AA9BC"/>
          </a:solidFill>
          <a:ln/>
        </p:spPr>
      </p:sp>
      <p:sp>
        <p:nvSpPr>
          <p:cNvPr id="47" name="Shape 45"/>
          <p:cNvSpPr/>
          <p:nvPr/>
        </p:nvSpPr>
        <p:spPr>
          <a:xfrm>
            <a:off x="3749040" y="3209544"/>
            <a:ext cx="182880" cy="182880"/>
          </a:xfrm>
          <a:prstGeom prst="ellipse">
            <a:avLst/>
          </a:prstGeom>
          <a:solidFill>
            <a:srgbClr val="9AA9BC"/>
          </a:solidFill>
          <a:ln/>
        </p:spPr>
      </p:sp>
      <p:sp>
        <p:nvSpPr>
          <p:cNvPr id="48" name="Shape 46"/>
          <p:cNvSpPr/>
          <p:nvPr/>
        </p:nvSpPr>
        <p:spPr>
          <a:xfrm>
            <a:off x="4663440" y="1051560"/>
            <a:ext cx="3931920" cy="2487168"/>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49" name="Text 47"/>
          <p:cNvSpPr txBox="1"/>
          <p:nvPr/>
        </p:nvSpPr>
        <p:spPr>
          <a:xfrm>
            <a:off x="4937760" y="1170432"/>
            <a:ext cx="3383280" cy="384048"/>
          </a:xfrm>
          <a:prstGeom prst="rect">
            <a:avLst/>
          </a:prstGeom>
          <a:noFill/>
          <a:ln/>
        </p:spPr>
        <p:txBody>
          <a:bodyPr wrap="square" lIns="0" tIns="0" rIns="0" bIns="0" rtlCol="0" anchor="ctr"/>
          <a:lstStyle/>
          <a:p>
            <a:pPr indent="0" marL="0">
              <a:buNone/>
            </a:pPr>
            <a:r>
              <a:rPr lang="en-US" sz="2000" b="1" dirty="0">
                <a:solidFill>
                  <a:srgbClr val="D4A843"/>
                </a:solidFill>
                <a:latin typeface="Georgia" pitchFamily="34" charset="0"/>
                <a:ea typeface="Georgia" pitchFamily="34" charset="-122"/>
                <a:cs typeface="Georgia" pitchFamily="34" charset="-120"/>
              </a:rPr>
              <a:t>10 robots</a:t>
            </a:r>
            <a:endParaRPr lang="en-US" sz="2000" dirty="0"/>
          </a:p>
        </p:txBody>
      </p:sp>
      <p:sp>
        <p:nvSpPr>
          <p:cNvPr id="50" name="Text 48"/>
          <p:cNvSpPr txBox="1"/>
          <p:nvPr/>
        </p:nvSpPr>
        <p:spPr>
          <a:xfrm>
            <a:off x="4937760" y="1572768"/>
            <a:ext cx="3383280"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 robot doesn't take vacation. One robot covers that position on all four crews.</a:t>
            </a:r>
            <a:endParaRPr lang="en-US" sz="1150" dirty="0"/>
          </a:p>
        </p:txBody>
      </p:sp>
      <p:sp>
        <p:nvSpPr>
          <p:cNvPr id="51" name="Shape 49"/>
          <p:cNvSpPr/>
          <p:nvPr/>
        </p:nvSpPr>
        <p:spPr>
          <a:xfrm>
            <a:off x="5074920" y="2286000"/>
            <a:ext cx="457200" cy="347472"/>
          </a:xfrm>
          <a:prstGeom prst="roundRect">
            <a:avLst>
              <a:gd name="adj" fmla="val 21053"/>
            </a:avLst>
          </a:prstGeom>
          <a:solidFill>
            <a:srgbClr val="14A3B8"/>
          </a:solidFill>
          <a:ln/>
        </p:spPr>
      </p:sp>
      <p:sp>
        <p:nvSpPr>
          <p:cNvPr id="52" name="Shape 50"/>
          <p:cNvSpPr/>
          <p:nvPr/>
        </p:nvSpPr>
        <p:spPr>
          <a:xfrm>
            <a:off x="5733288" y="2286000"/>
            <a:ext cx="457200" cy="347472"/>
          </a:xfrm>
          <a:prstGeom prst="roundRect">
            <a:avLst>
              <a:gd name="adj" fmla="val 21053"/>
            </a:avLst>
          </a:prstGeom>
          <a:solidFill>
            <a:srgbClr val="14A3B8"/>
          </a:solidFill>
          <a:ln/>
        </p:spPr>
      </p:sp>
      <p:sp>
        <p:nvSpPr>
          <p:cNvPr id="53" name="Shape 51"/>
          <p:cNvSpPr/>
          <p:nvPr/>
        </p:nvSpPr>
        <p:spPr>
          <a:xfrm>
            <a:off x="6391656" y="2286000"/>
            <a:ext cx="457200" cy="347472"/>
          </a:xfrm>
          <a:prstGeom prst="roundRect">
            <a:avLst>
              <a:gd name="adj" fmla="val 21053"/>
            </a:avLst>
          </a:prstGeom>
          <a:solidFill>
            <a:srgbClr val="14A3B8"/>
          </a:solidFill>
          <a:ln/>
        </p:spPr>
      </p:sp>
      <p:sp>
        <p:nvSpPr>
          <p:cNvPr id="54" name="Shape 52"/>
          <p:cNvSpPr/>
          <p:nvPr/>
        </p:nvSpPr>
        <p:spPr>
          <a:xfrm>
            <a:off x="7050024" y="2286000"/>
            <a:ext cx="457200" cy="347472"/>
          </a:xfrm>
          <a:prstGeom prst="roundRect">
            <a:avLst>
              <a:gd name="adj" fmla="val 21053"/>
            </a:avLst>
          </a:prstGeom>
          <a:solidFill>
            <a:srgbClr val="14A3B8"/>
          </a:solidFill>
          <a:ln/>
        </p:spPr>
      </p:sp>
      <p:sp>
        <p:nvSpPr>
          <p:cNvPr id="55" name="Shape 53"/>
          <p:cNvSpPr/>
          <p:nvPr/>
        </p:nvSpPr>
        <p:spPr>
          <a:xfrm>
            <a:off x="7708392" y="2286000"/>
            <a:ext cx="457200" cy="347472"/>
          </a:xfrm>
          <a:prstGeom prst="roundRect">
            <a:avLst>
              <a:gd name="adj" fmla="val 21053"/>
            </a:avLst>
          </a:prstGeom>
          <a:solidFill>
            <a:srgbClr val="14A3B8"/>
          </a:solidFill>
          <a:ln/>
        </p:spPr>
      </p:sp>
      <p:sp>
        <p:nvSpPr>
          <p:cNvPr id="56" name="Shape 54"/>
          <p:cNvSpPr/>
          <p:nvPr/>
        </p:nvSpPr>
        <p:spPr>
          <a:xfrm>
            <a:off x="5074920" y="2788920"/>
            <a:ext cx="457200" cy="347472"/>
          </a:xfrm>
          <a:prstGeom prst="roundRect">
            <a:avLst>
              <a:gd name="adj" fmla="val 21053"/>
            </a:avLst>
          </a:prstGeom>
          <a:solidFill>
            <a:srgbClr val="14A3B8"/>
          </a:solidFill>
          <a:ln/>
        </p:spPr>
      </p:sp>
      <p:sp>
        <p:nvSpPr>
          <p:cNvPr id="57" name="Shape 55"/>
          <p:cNvSpPr/>
          <p:nvPr/>
        </p:nvSpPr>
        <p:spPr>
          <a:xfrm>
            <a:off x="5733288" y="2788920"/>
            <a:ext cx="457200" cy="347472"/>
          </a:xfrm>
          <a:prstGeom prst="roundRect">
            <a:avLst>
              <a:gd name="adj" fmla="val 21053"/>
            </a:avLst>
          </a:prstGeom>
          <a:solidFill>
            <a:srgbClr val="14A3B8"/>
          </a:solidFill>
          <a:ln/>
        </p:spPr>
      </p:sp>
      <p:sp>
        <p:nvSpPr>
          <p:cNvPr id="58" name="Shape 56"/>
          <p:cNvSpPr/>
          <p:nvPr/>
        </p:nvSpPr>
        <p:spPr>
          <a:xfrm>
            <a:off x="6391656" y="2788920"/>
            <a:ext cx="457200" cy="347472"/>
          </a:xfrm>
          <a:prstGeom prst="roundRect">
            <a:avLst>
              <a:gd name="adj" fmla="val 21053"/>
            </a:avLst>
          </a:prstGeom>
          <a:solidFill>
            <a:srgbClr val="14A3B8"/>
          </a:solidFill>
          <a:ln/>
        </p:spPr>
      </p:sp>
      <p:sp>
        <p:nvSpPr>
          <p:cNvPr id="59" name="Shape 57"/>
          <p:cNvSpPr/>
          <p:nvPr/>
        </p:nvSpPr>
        <p:spPr>
          <a:xfrm>
            <a:off x="7050024" y="2788920"/>
            <a:ext cx="457200" cy="347472"/>
          </a:xfrm>
          <a:prstGeom prst="roundRect">
            <a:avLst>
              <a:gd name="adj" fmla="val 21053"/>
            </a:avLst>
          </a:prstGeom>
          <a:solidFill>
            <a:srgbClr val="14A3B8"/>
          </a:solidFill>
          <a:ln/>
        </p:spPr>
      </p:sp>
      <p:sp>
        <p:nvSpPr>
          <p:cNvPr id="60" name="Shape 58"/>
          <p:cNvSpPr/>
          <p:nvPr/>
        </p:nvSpPr>
        <p:spPr>
          <a:xfrm>
            <a:off x="7708392" y="2788920"/>
            <a:ext cx="457200" cy="347472"/>
          </a:xfrm>
          <a:prstGeom prst="roundRect">
            <a:avLst>
              <a:gd name="adj" fmla="val 21053"/>
            </a:avLst>
          </a:prstGeom>
          <a:solidFill>
            <a:srgbClr val="14A3B8"/>
          </a:solidFill>
          <a:ln/>
        </p:spPr>
      </p:sp>
      <p:sp>
        <p:nvSpPr>
          <p:cNvPr id="61" name="Shape 59"/>
          <p:cNvSpPr/>
          <p:nvPr/>
        </p:nvSpPr>
        <p:spPr>
          <a:xfrm>
            <a:off x="548640" y="3657600"/>
            <a:ext cx="8046720" cy="71323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2" name="Text 60"/>
          <p:cNvSpPr txBox="1"/>
          <p:nvPr/>
        </p:nvSpPr>
        <p:spPr>
          <a:xfrm>
            <a:off x="777240" y="3657600"/>
            <a:ext cx="2651760" cy="71323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40 people × $122,855</a:t>
            </a:r>
            <a:endParaRPr lang="en-US" sz="1200" dirty="0"/>
          </a:p>
        </p:txBody>
      </p:sp>
      <p:sp>
        <p:nvSpPr>
          <p:cNvPr id="63" name="Text 61"/>
          <p:cNvSpPr txBox="1"/>
          <p:nvPr/>
        </p:nvSpPr>
        <p:spPr>
          <a:xfrm>
            <a:off x="3291840" y="3657600"/>
            <a:ext cx="1737360" cy="713232"/>
          </a:xfrm>
          <a:prstGeom prst="rect">
            <a:avLst/>
          </a:prstGeom>
          <a:noFill/>
          <a:ln/>
        </p:spPr>
        <p:txBody>
          <a:bodyPr wrap="square" lIns="0" tIns="0" rIns="0" bIns="0" rtlCol="0" anchor="ctr"/>
          <a:lstStyle/>
          <a:p>
            <a:pPr algn="r" indent="0" marL="0">
              <a:buNone/>
            </a:pPr>
            <a:r>
              <a:rPr lang="en-US" sz="1900" b="1" dirty="0">
                <a:solidFill>
                  <a:srgbClr val="DC4A4A"/>
                </a:solidFill>
                <a:latin typeface="Georgia" pitchFamily="34" charset="0"/>
                <a:ea typeface="Georgia" pitchFamily="34" charset="-122"/>
                <a:cs typeface="Georgia" pitchFamily="34" charset="-120"/>
              </a:rPr>
              <a:t>$4,914,200</a:t>
            </a:r>
            <a:endParaRPr lang="en-US" sz="1900" dirty="0"/>
          </a:p>
        </p:txBody>
      </p:sp>
      <p:sp>
        <p:nvSpPr>
          <p:cNvPr id="64" name="Text 62"/>
          <p:cNvSpPr txBox="1"/>
          <p:nvPr/>
        </p:nvSpPr>
        <p:spPr>
          <a:xfrm>
            <a:off x="5212080" y="3657600"/>
            <a:ext cx="3200400" cy="713232"/>
          </a:xfrm>
          <a:prstGeom prst="rect">
            <a:avLst/>
          </a:prstGeom>
          <a:noFill/>
          <a:ln/>
        </p:spPr>
        <p:txBody>
          <a:bodyPr wrap="square" lIns="0" tIns="0" rIns="0" bIns="0" rtlCol="0" anchor="ctr"/>
          <a:lstStyle/>
          <a:p>
            <a:pPr indent="0" marL="0">
              <a:buNone/>
            </a:pPr>
            <a:r>
              <a:rPr lang="en-US" sz="1100" i="1" dirty="0">
                <a:solidFill>
                  <a:srgbClr val="8896A7"/>
                </a:solidFill>
                <a:latin typeface="Calibri" pitchFamily="34" charset="0"/>
                <a:ea typeface="Calibri" pitchFamily="34" charset="-122"/>
                <a:cs typeface="Calibri" pitchFamily="34" charset="-120"/>
              </a:rPr>
              <a:t>a year, carried so people can take their vacation</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Or ten robots in a closet</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8046720" cy="77724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43000"/>
            <a:ext cx="7498080" cy="548640"/>
          </a:xfrm>
          <a:prstGeom prst="rect">
            <a:avLst/>
          </a:prstGeom>
          <a:noFill/>
          <a:ln/>
        </p:spPr>
        <p:txBody>
          <a:bodyPr wrap="square" lIns="0" tIns="0" rIns="0" bIns="0" rtlCol="0" anchor="ctr"/>
          <a:lstStyle/>
          <a:p>
            <a:pPr indent="0" marL="0">
              <a:buNone/>
            </a:pPr>
            <a:r>
              <a:rPr lang="en-US" sz="1600" b="1" dirty="0">
                <a:solidFill>
                  <a:srgbClr val="D4A843"/>
                </a:solidFill>
                <a:latin typeface="Georgia" pitchFamily="34" charset="0"/>
                <a:ea typeface="Georgia" pitchFamily="34" charset="-122"/>
                <a:cs typeface="Georgia" pitchFamily="34" charset="-120"/>
              </a:rPr>
              <a:t>You don't need them on a crew. You need them on a shelf — and you wheel one out the week somebody's on vacation.</a:t>
            </a:r>
            <a:endParaRPr lang="en-US" sz="1600" dirty="0"/>
          </a:p>
        </p:txBody>
      </p:sp>
      <p:sp>
        <p:nvSpPr>
          <p:cNvPr id="7" name="Shape 5"/>
          <p:cNvSpPr/>
          <p:nvPr/>
        </p:nvSpPr>
        <p:spPr>
          <a:xfrm>
            <a:off x="548640" y="1965960"/>
            <a:ext cx="8046720" cy="5486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8" name="Text 6"/>
          <p:cNvSpPr txBox="1"/>
          <p:nvPr/>
        </p:nvSpPr>
        <p:spPr>
          <a:xfrm>
            <a:off x="777240" y="1965960"/>
            <a:ext cx="457200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40 relief employees</a:t>
            </a:r>
            <a:endParaRPr lang="en-US" sz="1300" dirty="0"/>
          </a:p>
        </p:txBody>
      </p:sp>
      <p:sp>
        <p:nvSpPr>
          <p:cNvPr id="9" name="Text 7"/>
          <p:cNvSpPr txBox="1"/>
          <p:nvPr/>
        </p:nvSpPr>
        <p:spPr>
          <a:xfrm>
            <a:off x="5486400" y="1965960"/>
            <a:ext cx="2926080" cy="548640"/>
          </a:xfrm>
          <a:prstGeom prst="rect">
            <a:avLst/>
          </a:prstGeom>
          <a:noFill/>
          <a:ln/>
        </p:spPr>
        <p:txBody>
          <a:bodyPr wrap="square" lIns="0" tIns="0" rIns="0" bIns="0" rtlCol="0" anchor="ctr"/>
          <a:lstStyle/>
          <a:p>
            <a:pPr algn="r" indent="0" marL="0">
              <a:buNone/>
            </a:pPr>
            <a:r>
              <a:rPr lang="en-US" sz="1700" b="1" dirty="0">
                <a:solidFill>
                  <a:srgbClr val="DC4A4A"/>
                </a:solidFill>
                <a:latin typeface="Georgia" pitchFamily="34" charset="0"/>
                <a:ea typeface="Georgia" pitchFamily="34" charset="-122"/>
                <a:cs typeface="Georgia" pitchFamily="34" charset="-120"/>
              </a:rPr>
              <a:t>$4,914,200</a:t>
            </a:r>
            <a:endParaRPr lang="en-US" sz="1700" dirty="0"/>
          </a:p>
        </p:txBody>
      </p:sp>
      <p:sp>
        <p:nvSpPr>
          <p:cNvPr id="10" name="Shape 8"/>
          <p:cNvSpPr/>
          <p:nvPr/>
        </p:nvSpPr>
        <p:spPr>
          <a:xfrm>
            <a:off x="548640" y="2624328"/>
            <a:ext cx="8046720" cy="54864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1" name="Text 9"/>
          <p:cNvSpPr txBox="1"/>
          <p:nvPr/>
        </p:nvSpPr>
        <p:spPr>
          <a:xfrm>
            <a:off x="777240" y="2624328"/>
            <a:ext cx="457200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10 robots</a:t>
            </a:r>
            <a:endParaRPr lang="en-US" sz="1300" dirty="0"/>
          </a:p>
        </p:txBody>
      </p:sp>
      <p:sp>
        <p:nvSpPr>
          <p:cNvPr id="12" name="Text 10"/>
          <p:cNvSpPr txBox="1"/>
          <p:nvPr/>
        </p:nvSpPr>
        <p:spPr>
          <a:xfrm>
            <a:off x="5486400" y="2624328"/>
            <a:ext cx="2926080" cy="548640"/>
          </a:xfrm>
          <a:prstGeom prst="rect">
            <a:avLst/>
          </a:prstGeom>
          <a:noFill/>
          <a:ln/>
        </p:spPr>
        <p:txBody>
          <a:bodyPr wrap="square" lIns="0" tIns="0" rIns="0" bIns="0" rtlCol="0" anchor="ctr"/>
          <a:lstStyle/>
          <a:p>
            <a:pPr algn="r" indent="0" marL="0">
              <a:buNone/>
            </a:pPr>
            <a:r>
              <a:rPr lang="en-US" sz="1700" b="1" dirty="0">
                <a:solidFill>
                  <a:srgbClr val="0D7C8F"/>
                </a:solidFill>
                <a:latin typeface="Georgia" pitchFamily="34" charset="0"/>
                <a:ea typeface="Georgia" pitchFamily="34" charset="-122"/>
                <a:cs typeface="Georgia" pitchFamily="34" charset="-120"/>
              </a:rPr>
              <a:t>$627,140</a:t>
            </a:r>
            <a:endParaRPr lang="en-US" sz="1700" dirty="0"/>
          </a:p>
        </p:txBody>
      </p:sp>
      <p:sp>
        <p:nvSpPr>
          <p:cNvPr id="13" name="Shape 11"/>
          <p:cNvSpPr/>
          <p:nvPr/>
        </p:nvSpPr>
        <p:spPr>
          <a:xfrm>
            <a:off x="548640" y="3282696"/>
            <a:ext cx="8046720" cy="54864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4" name="Text 12"/>
          <p:cNvSpPr txBox="1"/>
          <p:nvPr/>
        </p:nvSpPr>
        <p:spPr>
          <a:xfrm>
            <a:off x="777240" y="3282696"/>
            <a:ext cx="457200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Difference</a:t>
            </a:r>
            <a:endParaRPr lang="en-US" sz="1400" dirty="0"/>
          </a:p>
        </p:txBody>
      </p:sp>
      <p:sp>
        <p:nvSpPr>
          <p:cNvPr id="15" name="Text 13"/>
          <p:cNvSpPr txBox="1"/>
          <p:nvPr/>
        </p:nvSpPr>
        <p:spPr>
          <a:xfrm>
            <a:off x="5486400" y="3282696"/>
            <a:ext cx="2926080" cy="548640"/>
          </a:xfrm>
          <a:prstGeom prst="rect">
            <a:avLst/>
          </a:prstGeom>
          <a:noFill/>
          <a:ln/>
        </p:spPr>
        <p:txBody>
          <a:bodyPr wrap="square" lIns="0" tIns="0" rIns="0" bIns="0" rtlCol="0" anchor="ctr"/>
          <a:lstStyle/>
          <a:p>
            <a:pPr algn="r" indent="0" marL="0">
              <a:buNone/>
            </a:pPr>
            <a:r>
              <a:rPr lang="en-US" sz="2100" b="1" dirty="0">
                <a:solidFill>
                  <a:srgbClr val="D4A843"/>
                </a:solidFill>
                <a:latin typeface="Georgia" pitchFamily="34" charset="0"/>
                <a:ea typeface="Georgia" pitchFamily="34" charset="-122"/>
                <a:cs typeface="Georgia" pitchFamily="34" charset="-120"/>
              </a:rPr>
              <a:t>$4,287,060</a:t>
            </a:r>
            <a:endParaRPr lang="en-US" sz="2100" dirty="0"/>
          </a:p>
        </p:txBody>
      </p:sp>
      <p:sp>
        <p:nvSpPr>
          <p:cNvPr id="16" name="Text 14"/>
          <p:cNvSpPr txBox="1"/>
          <p:nvPr/>
        </p:nvSpPr>
        <p:spPr>
          <a:xfrm>
            <a:off x="548640" y="4005072"/>
            <a:ext cx="8046720" cy="365760"/>
          </a:xfrm>
          <a:prstGeom prst="rect">
            <a:avLst/>
          </a:prstGeom>
          <a:noFill/>
          <a:ln/>
        </p:spPr>
        <p:txBody>
          <a:bodyPr wrap="square" lIns="0" tIns="0" rIns="0" bIns="0" rtlCol="0" anchor="ctr"/>
          <a:lstStyle/>
          <a:p>
            <a:pPr indent="0" marL="0">
              <a:buNone/>
            </a:pPr>
            <a:r>
              <a:rPr lang="en-US" sz="1200" b="1" i="1" dirty="0">
                <a:solidFill>
                  <a:srgbClr val="0D7C8F"/>
                </a:solidFill>
                <a:latin typeface="Calibri" pitchFamily="34" charset="0"/>
                <a:ea typeface="Calibri" pitchFamily="34" charset="-122"/>
                <a:cs typeface="Calibri" pitchFamily="34" charset="-120"/>
              </a:rPr>
              <a:t>And nobody was laid off. Relief positions are the ones you already can't fill — half of you are covering them with overtime right now.</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The bump-up</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24128"/>
            <a:ext cx="8046720" cy="65836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024128"/>
            <a:ext cx="7498080" cy="65836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The obvious objection: a robot can't do 100% of a skilled position. Correct. It doesn't have to.</a:t>
            </a:r>
            <a:endParaRPr lang="en-US" sz="1350" dirty="0"/>
          </a:p>
        </p:txBody>
      </p:sp>
      <p:sp>
        <p:nvSpPr>
          <p:cNvPr id="7" name="Text 5"/>
          <p:cNvSpPr txBox="1"/>
          <p:nvPr/>
        </p:nvSpPr>
        <p:spPr>
          <a:xfrm>
            <a:off x="548640" y="1828800"/>
            <a:ext cx="1417320" cy="365760"/>
          </a:xfrm>
          <a:prstGeom prst="rect">
            <a:avLst/>
          </a:prstGeom>
          <a:noFill/>
          <a:ln/>
        </p:spPr>
        <p:txBody>
          <a:bodyPr wrap="square" lIns="0" tIns="0" rIns="0" bIns="0" rtlCol="0" anchor="ctr"/>
          <a:lstStyle/>
          <a:p>
            <a:pPr indent="0" marL="0">
              <a:buNone/>
            </a:pPr>
            <a:r>
              <a:rPr lang="en-US" sz="1000" b="1" spc="100" kern="0" dirty="0">
                <a:solidFill>
                  <a:srgbClr val="8896A7"/>
                </a:solidFill>
                <a:latin typeface="Calibri" pitchFamily="34" charset="0"/>
                <a:ea typeface="Calibri" pitchFamily="34" charset="-122"/>
                <a:cs typeface="Calibri" pitchFamily="34" charset="-120"/>
              </a:rPr>
              <a:t>NORMAL CREW</a:t>
            </a:r>
            <a:endParaRPr lang="en-US" sz="1000" dirty="0"/>
          </a:p>
        </p:txBody>
      </p:sp>
      <p:sp>
        <p:nvSpPr>
          <p:cNvPr id="8" name="Shape 6"/>
          <p:cNvSpPr/>
          <p:nvPr/>
        </p:nvSpPr>
        <p:spPr>
          <a:xfrm>
            <a:off x="2057400" y="1828800"/>
            <a:ext cx="1481328" cy="365760"/>
          </a:xfrm>
          <a:prstGeom prst="roundRect">
            <a:avLst>
              <a:gd name="adj" fmla="val 15000"/>
            </a:avLst>
          </a:prstGeom>
          <a:solidFill>
            <a:srgbClr val="1B2A4A"/>
          </a:solidFill>
          <a:ln/>
        </p:spPr>
      </p:sp>
      <p:sp>
        <p:nvSpPr>
          <p:cNvPr id="9" name="Text 7"/>
          <p:cNvSpPr txBox="1"/>
          <p:nvPr/>
        </p:nvSpPr>
        <p:spPr>
          <a:xfrm>
            <a:off x="2057400" y="1828800"/>
            <a:ext cx="148132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ENTRY</a:t>
            </a:r>
            <a:endParaRPr lang="en-US" sz="1050" dirty="0"/>
          </a:p>
        </p:txBody>
      </p:sp>
      <p:sp>
        <p:nvSpPr>
          <p:cNvPr id="10" name="Shape 8"/>
          <p:cNvSpPr/>
          <p:nvPr/>
        </p:nvSpPr>
        <p:spPr>
          <a:xfrm>
            <a:off x="3694176" y="1828800"/>
            <a:ext cx="1481328" cy="365760"/>
          </a:xfrm>
          <a:prstGeom prst="roundRect">
            <a:avLst>
              <a:gd name="adj" fmla="val 15000"/>
            </a:avLst>
          </a:prstGeom>
          <a:solidFill>
            <a:srgbClr val="1B2A4A"/>
          </a:solidFill>
          <a:ln/>
        </p:spPr>
      </p:sp>
      <p:sp>
        <p:nvSpPr>
          <p:cNvPr id="11" name="Text 9"/>
          <p:cNvSpPr txBox="1"/>
          <p:nvPr/>
        </p:nvSpPr>
        <p:spPr>
          <a:xfrm>
            <a:off x="3694176" y="1828800"/>
            <a:ext cx="148132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HELPER</a:t>
            </a:r>
            <a:endParaRPr lang="en-US" sz="1050" dirty="0"/>
          </a:p>
        </p:txBody>
      </p:sp>
      <p:sp>
        <p:nvSpPr>
          <p:cNvPr id="12" name="Shape 10"/>
          <p:cNvSpPr/>
          <p:nvPr/>
        </p:nvSpPr>
        <p:spPr>
          <a:xfrm>
            <a:off x="5330952" y="1828800"/>
            <a:ext cx="1481328" cy="365760"/>
          </a:xfrm>
          <a:prstGeom prst="roundRect">
            <a:avLst>
              <a:gd name="adj" fmla="val 15000"/>
            </a:avLst>
          </a:prstGeom>
          <a:solidFill>
            <a:srgbClr val="1B2A4A"/>
          </a:solidFill>
          <a:ln/>
        </p:spPr>
      </p:sp>
      <p:sp>
        <p:nvSpPr>
          <p:cNvPr id="13" name="Text 11"/>
          <p:cNvSpPr txBox="1"/>
          <p:nvPr/>
        </p:nvSpPr>
        <p:spPr>
          <a:xfrm>
            <a:off x="5330952" y="1828800"/>
            <a:ext cx="148132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OPERATOR</a:t>
            </a:r>
            <a:endParaRPr lang="en-US" sz="1050" dirty="0"/>
          </a:p>
        </p:txBody>
      </p:sp>
      <p:sp>
        <p:nvSpPr>
          <p:cNvPr id="14" name="Shape 12"/>
          <p:cNvSpPr/>
          <p:nvPr/>
        </p:nvSpPr>
        <p:spPr>
          <a:xfrm>
            <a:off x="6967728" y="1828800"/>
            <a:ext cx="1481328" cy="365760"/>
          </a:xfrm>
          <a:prstGeom prst="roundRect">
            <a:avLst>
              <a:gd name="adj" fmla="val 15000"/>
            </a:avLst>
          </a:prstGeom>
          <a:solidFill>
            <a:srgbClr val="1B2A4A"/>
          </a:solidFill>
          <a:ln/>
        </p:spPr>
      </p:sp>
      <p:sp>
        <p:nvSpPr>
          <p:cNvPr id="15" name="Text 13"/>
          <p:cNvSpPr txBox="1"/>
          <p:nvPr/>
        </p:nvSpPr>
        <p:spPr>
          <a:xfrm>
            <a:off x="6967728" y="1828800"/>
            <a:ext cx="148132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LEAD</a:t>
            </a:r>
            <a:endParaRPr lang="en-US" sz="1050" dirty="0"/>
          </a:p>
        </p:txBody>
      </p:sp>
      <p:sp>
        <p:nvSpPr>
          <p:cNvPr id="16" name="Text 14"/>
          <p:cNvSpPr txBox="1"/>
          <p:nvPr/>
        </p:nvSpPr>
        <p:spPr>
          <a:xfrm>
            <a:off x="548640" y="2697480"/>
            <a:ext cx="1417320" cy="365760"/>
          </a:xfrm>
          <a:prstGeom prst="rect">
            <a:avLst/>
          </a:prstGeom>
          <a:noFill/>
          <a:ln/>
        </p:spPr>
        <p:txBody>
          <a:bodyPr wrap="square" lIns="0" tIns="0" rIns="0" bIns="0" rtlCol="0" anchor="ctr"/>
          <a:lstStyle/>
          <a:p>
            <a:pPr indent="0" marL="0">
              <a:buNone/>
            </a:pPr>
            <a:r>
              <a:rPr lang="en-US" sz="1000" b="1" spc="100" kern="0" dirty="0">
                <a:solidFill>
                  <a:srgbClr val="F59E0B"/>
                </a:solidFill>
                <a:latin typeface="Calibri" pitchFamily="34" charset="0"/>
                <a:ea typeface="Calibri" pitchFamily="34" charset="-122"/>
                <a:cs typeface="Calibri" pitchFamily="34" charset="-120"/>
              </a:rPr>
              <a:t>LEAD ON VACATION</a:t>
            </a:r>
            <a:endParaRPr lang="en-US" sz="1000" dirty="0"/>
          </a:p>
        </p:txBody>
      </p:sp>
      <p:sp>
        <p:nvSpPr>
          <p:cNvPr id="17" name="Shape 15"/>
          <p:cNvSpPr/>
          <p:nvPr/>
        </p:nvSpPr>
        <p:spPr>
          <a:xfrm>
            <a:off x="2057400" y="2697480"/>
            <a:ext cx="1481328" cy="365760"/>
          </a:xfrm>
          <a:prstGeom prst="roundRect">
            <a:avLst>
              <a:gd name="adj" fmla="val 15000"/>
            </a:avLst>
          </a:prstGeom>
          <a:solidFill>
            <a:srgbClr val="D4A843"/>
          </a:solidFill>
          <a:ln/>
        </p:spPr>
      </p:sp>
      <p:sp>
        <p:nvSpPr>
          <p:cNvPr id="18" name="Text 16"/>
          <p:cNvSpPr txBox="1"/>
          <p:nvPr/>
        </p:nvSpPr>
        <p:spPr>
          <a:xfrm>
            <a:off x="2057400" y="2697480"/>
            <a:ext cx="1481328" cy="365760"/>
          </a:xfrm>
          <a:prstGeom prst="rect">
            <a:avLst/>
          </a:prstGeom>
          <a:noFill/>
          <a:ln/>
        </p:spPr>
        <p:txBody>
          <a:bodyPr wrap="square" lIns="0" tIns="0" rIns="0" bIns="0" rtlCol="0" anchor="ctr"/>
          <a:lstStyle/>
          <a:p>
            <a:pPr algn="ctr" indent="0" marL="0">
              <a:buNone/>
            </a:pPr>
            <a:r>
              <a:rPr lang="en-US" sz="1050" b="1" dirty="0">
                <a:solidFill>
                  <a:srgbClr val="1B2A4A"/>
                </a:solidFill>
                <a:latin typeface="Calibri" pitchFamily="34" charset="0"/>
                <a:ea typeface="Calibri" pitchFamily="34" charset="-122"/>
                <a:cs typeface="Calibri" pitchFamily="34" charset="-120"/>
              </a:rPr>
              <a:t>ROBOT</a:t>
            </a:r>
            <a:endParaRPr lang="en-US" sz="1050" dirty="0"/>
          </a:p>
        </p:txBody>
      </p:sp>
      <p:sp>
        <p:nvSpPr>
          <p:cNvPr id="19" name="Text 17"/>
          <p:cNvSpPr txBox="1"/>
          <p:nvPr/>
        </p:nvSpPr>
        <p:spPr>
          <a:xfrm>
            <a:off x="3538728" y="2697480"/>
            <a:ext cx="155448" cy="365760"/>
          </a:xfrm>
          <a:prstGeom prst="rect">
            <a:avLst/>
          </a:prstGeom>
          <a:noFill/>
          <a:ln/>
        </p:spPr>
        <p:txBody>
          <a:bodyPr wrap="square" lIns="0" tIns="0" rIns="0" bIns="0" rtlCol="0" anchor="ctr"/>
          <a:lstStyle/>
          <a:p>
            <a:pPr algn="ctr" indent="0" marL="0">
              <a:buNone/>
            </a:pPr>
            <a:r>
              <a:rPr lang="en-US" sz="1200" dirty="0">
                <a:solidFill>
                  <a:srgbClr val="0D7C8F"/>
                </a:solidFill>
                <a:latin typeface="Calibri" pitchFamily="34" charset="0"/>
                <a:ea typeface="Calibri" pitchFamily="34" charset="-122"/>
                <a:cs typeface="Calibri" pitchFamily="34" charset="-120"/>
              </a:rPr>
              <a:t>→</a:t>
            </a:r>
            <a:endParaRPr lang="en-US" sz="1200" dirty="0"/>
          </a:p>
        </p:txBody>
      </p:sp>
      <p:sp>
        <p:nvSpPr>
          <p:cNvPr id="20" name="Shape 18"/>
          <p:cNvSpPr/>
          <p:nvPr/>
        </p:nvSpPr>
        <p:spPr>
          <a:xfrm>
            <a:off x="3694176" y="2697480"/>
            <a:ext cx="1481328" cy="365760"/>
          </a:xfrm>
          <a:prstGeom prst="roundRect">
            <a:avLst>
              <a:gd name="adj" fmla="val 15000"/>
            </a:avLst>
          </a:prstGeom>
          <a:solidFill>
            <a:srgbClr val="1B2A4A"/>
          </a:solidFill>
          <a:ln/>
        </p:spPr>
      </p:sp>
      <p:sp>
        <p:nvSpPr>
          <p:cNvPr id="21" name="Text 19"/>
          <p:cNvSpPr txBox="1"/>
          <p:nvPr/>
        </p:nvSpPr>
        <p:spPr>
          <a:xfrm>
            <a:off x="3694176" y="2697480"/>
            <a:ext cx="148132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was Entry</a:t>
            </a:r>
            <a:endParaRPr lang="en-US" sz="1050" dirty="0"/>
          </a:p>
        </p:txBody>
      </p:sp>
      <p:sp>
        <p:nvSpPr>
          <p:cNvPr id="22" name="Text 20"/>
          <p:cNvSpPr txBox="1"/>
          <p:nvPr/>
        </p:nvSpPr>
        <p:spPr>
          <a:xfrm>
            <a:off x="5175504" y="2697480"/>
            <a:ext cx="155448" cy="365760"/>
          </a:xfrm>
          <a:prstGeom prst="rect">
            <a:avLst/>
          </a:prstGeom>
          <a:noFill/>
          <a:ln/>
        </p:spPr>
        <p:txBody>
          <a:bodyPr wrap="square" lIns="0" tIns="0" rIns="0" bIns="0" rtlCol="0" anchor="ctr"/>
          <a:lstStyle/>
          <a:p>
            <a:pPr algn="ctr" indent="0" marL="0">
              <a:buNone/>
            </a:pPr>
            <a:r>
              <a:rPr lang="en-US" sz="1200" dirty="0">
                <a:solidFill>
                  <a:srgbClr val="0D7C8F"/>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5330952" y="2697480"/>
            <a:ext cx="1481328" cy="365760"/>
          </a:xfrm>
          <a:prstGeom prst="roundRect">
            <a:avLst>
              <a:gd name="adj" fmla="val 15000"/>
            </a:avLst>
          </a:prstGeom>
          <a:solidFill>
            <a:srgbClr val="1B2A4A"/>
          </a:solidFill>
          <a:ln/>
        </p:spPr>
      </p:sp>
      <p:sp>
        <p:nvSpPr>
          <p:cNvPr id="24" name="Text 22"/>
          <p:cNvSpPr txBox="1"/>
          <p:nvPr/>
        </p:nvSpPr>
        <p:spPr>
          <a:xfrm>
            <a:off x="5330952" y="2697480"/>
            <a:ext cx="148132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was Helper</a:t>
            </a:r>
            <a:endParaRPr lang="en-US" sz="1050" dirty="0"/>
          </a:p>
        </p:txBody>
      </p:sp>
      <p:sp>
        <p:nvSpPr>
          <p:cNvPr id="25" name="Text 23"/>
          <p:cNvSpPr txBox="1"/>
          <p:nvPr/>
        </p:nvSpPr>
        <p:spPr>
          <a:xfrm>
            <a:off x="6812280" y="2697480"/>
            <a:ext cx="155448" cy="365760"/>
          </a:xfrm>
          <a:prstGeom prst="rect">
            <a:avLst/>
          </a:prstGeom>
          <a:noFill/>
          <a:ln/>
        </p:spPr>
        <p:txBody>
          <a:bodyPr wrap="square" lIns="0" tIns="0" rIns="0" bIns="0" rtlCol="0" anchor="ctr"/>
          <a:lstStyle/>
          <a:p>
            <a:pPr algn="ctr" indent="0" marL="0">
              <a:buNone/>
            </a:pPr>
            <a:r>
              <a:rPr lang="en-US" sz="1200" dirty="0">
                <a:solidFill>
                  <a:srgbClr val="0D7C8F"/>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6967728" y="2697480"/>
            <a:ext cx="1481328" cy="365760"/>
          </a:xfrm>
          <a:prstGeom prst="roundRect">
            <a:avLst>
              <a:gd name="adj" fmla="val 15000"/>
            </a:avLst>
          </a:prstGeom>
          <a:solidFill>
            <a:srgbClr val="1B2A4A"/>
          </a:solidFill>
          <a:ln/>
        </p:spPr>
      </p:sp>
      <p:sp>
        <p:nvSpPr>
          <p:cNvPr id="27" name="Text 25"/>
          <p:cNvSpPr txBox="1"/>
          <p:nvPr/>
        </p:nvSpPr>
        <p:spPr>
          <a:xfrm>
            <a:off x="6967728" y="2697480"/>
            <a:ext cx="148132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was Operator</a:t>
            </a:r>
            <a:endParaRPr lang="en-US" sz="1050" dirty="0"/>
          </a:p>
        </p:txBody>
      </p:sp>
      <p:sp>
        <p:nvSpPr>
          <p:cNvPr id="28" name="Shape 26"/>
          <p:cNvSpPr/>
          <p:nvPr/>
        </p:nvSpPr>
        <p:spPr>
          <a:xfrm>
            <a:off x="548640" y="3246120"/>
            <a:ext cx="8046720" cy="1115568"/>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29" name="Text 27"/>
          <p:cNvSpPr txBox="1"/>
          <p:nvPr/>
        </p:nvSpPr>
        <p:spPr>
          <a:xfrm>
            <a:off x="822960" y="3346704"/>
            <a:ext cx="7498080" cy="329184"/>
          </a:xfrm>
          <a:prstGeom prst="rect">
            <a:avLst/>
          </a:prstGeom>
          <a:noFill/>
          <a:ln/>
        </p:spPr>
        <p:txBody>
          <a:bodyPr wrap="square" lIns="0" tIns="0" rIns="0" bIns="0" rtlCol="0" anchor="ctr"/>
          <a:lstStyle/>
          <a:p>
            <a:pPr indent="0" marL="0">
              <a:buNone/>
            </a:pPr>
            <a:r>
              <a:rPr lang="en-US" sz="1700" b="1" dirty="0">
                <a:solidFill>
                  <a:srgbClr val="D4A843"/>
                </a:solidFill>
                <a:latin typeface="Georgia" pitchFamily="34" charset="0"/>
                <a:ea typeface="Georgia" pitchFamily="34" charset="-122"/>
                <a:cs typeface="Georgia" pitchFamily="34" charset="-120"/>
              </a:rPr>
              <a:t>Everybody moves up one rung. The robot takes the bottom.</a:t>
            </a:r>
            <a:endParaRPr lang="en-US" sz="1700" dirty="0"/>
          </a:p>
        </p:txBody>
      </p:sp>
      <p:sp>
        <p:nvSpPr>
          <p:cNvPr id="30" name="Text 28"/>
          <p:cNvSpPr txBox="1"/>
          <p:nvPr/>
        </p:nvSpPr>
        <p:spPr>
          <a:xfrm>
            <a:off x="822960" y="3703320"/>
            <a:ext cx="749808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Which means the robot never has to do the hard job — it only ever does the entry job. And the entry job is the one my own capability slide said machines are closest to doing completely. One robot can relieve anybody on any crew, because the crew shuffles up around it.</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Now the fifth crew is affordable</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8046720" cy="621792"/>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051560"/>
            <a:ext cx="7498080" cy="621792"/>
          </a:xfrm>
          <a:prstGeom prst="rect">
            <a:avLst/>
          </a:prstGeom>
          <a:noFill/>
          <a:ln/>
        </p:spPr>
        <p:txBody>
          <a:bodyPr wrap="square" lIns="0" tIns="0" rIns="0" bIns="0" rtlCol="0" anchor="ctr"/>
          <a:lstStyle/>
          <a:p>
            <a:pPr indent="0" marL="0">
              <a:buNone/>
            </a:pPr>
            <a:r>
              <a:rPr lang="en-US" sz="1300" b="1" dirty="0">
                <a:solidFill>
                  <a:srgbClr val="D4A843"/>
                </a:solidFill>
                <a:latin typeface="Calibri" pitchFamily="34" charset="0"/>
                <a:ea typeface="Calibri" pitchFamily="34" charset="-122"/>
                <a:cs typeface="Calibri" pitchFamily="34" charset="-120"/>
              </a:rPr>
              <a:t>One full week off in every five — the best recruiting tool a continuous operation has. Nobody does it. Here's why.</a:t>
            </a:r>
            <a:endParaRPr lang="en-US" sz="1300" dirty="0"/>
          </a:p>
        </p:txBody>
      </p:sp>
      <p:sp>
        <p:nvSpPr>
          <p:cNvPr id="7" name="Shape 5"/>
          <p:cNvSpPr/>
          <p:nvPr/>
        </p:nvSpPr>
        <p:spPr>
          <a:xfrm>
            <a:off x="548640" y="1810512"/>
            <a:ext cx="8046720" cy="566928"/>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8" name="Text 6"/>
          <p:cNvSpPr txBox="1"/>
          <p:nvPr/>
        </p:nvSpPr>
        <p:spPr>
          <a:xfrm>
            <a:off x="777240" y="1810512"/>
            <a:ext cx="4754880" cy="56692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A fifth crew today, with no robots — 500 employees</a:t>
            </a:r>
            <a:endParaRPr lang="en-US" sz="1250" dirty="0"/>
          </a:p>
        </p:txBody>
      </p:sp>
      <p:sp>
        <p:nvSpPr>
          <p:cNvPr id="9" name="Text 7"/>
          <p:cNvSpPr txBox="1"/>
          <p:nvPr/>
        </p:nvSpPr>
        <p:spPr>
          <a:xfrm>
            <a:off x="5669280" y="1810512"/>
            <a:ext cx="2743200" cy="566928"/>
          </a:xfrm>
          <a:prstGeom prst="rect">
            <a:avLst/>
          </a:prstGeom>
          <a:noFill/>
          <a:ln/>
        </p:spPr>
        <p:txBody>
          <a:bodyPr wrap="square" lIns="0" tIns="0" rIns="0" bIns="0" rtlCol="0" anchor="ctr"/>
          <a:lstStyle/>
          <a:p>
            <a:pPr algn="r" indent="0" marL="0">
              <a:buNone/>
            </a:pPr>
            <a:r>
              <a:rPr lang="en-US" sz="2000" b="1" dirty="0">
                <a:solidFill>
                  <a:srgbClr val="DC4A4A"/>
                </a:solidFill>
                <a:latin typeface="Georgia" pitchFamily="34" charset="0"/>
                <a:ea typeface="Georgia" pitchFamily="34" charset="-122"/>
                <a:cs typeface="Georgia" pitchFamily="34" charset="-120"/>
              </a:rPr>
              <a:t>+16%</a:t>
            </a:r>
            <a:endParaRPr lang="en-US" sz="2000" dirty="0"/>
          </a:p>
        </p:txBody>
      </p:sp>
      <p:sp>
        <p:nvSpPr>
          <p:cNvPr id="10" name="Text 8"/>
          <p:cNvSpPr txBox="1"/>
          <p:nvPr/>
        </p:nvSpPr>
        <p:spPr>
          <a:xfrm>
            <a:off x="548640" y="2468880"/>
            <a:ext cx="8046720" cy="274320"/>
          </a:xfrm>
          <a:prstGeom prst="rect">
            <a:avLst/>
          </a:prstGeom>
          <a:noFill/>
          <a:ln/>
        </p:spPr>
        <p:txBody>
          <a:bodyPr wrap="square" lIns="0" tIns="0" rIns="0" bIns="0" rtlCol="0" anchor="ctr"/>
          <a:lstStyle/>
          <a:p>
            <a:pPr indent="0" marL="0">
              <a:buNone/>
            </a:pPr>
            <a:r>
              <a:rPr lang="en-US" sz="1150" i="1" dirty="0">
                <a:solidFill>
                  <a:srgbClr val="8896A7"/>
                </a:solidFill>
                <a:latin typeface="Calibri" pitchFamily="34" charset="0"/>
                <a:ea typeface="Calibri" pitchFamily="34" charset="-122"/>
                <a:cs typeface="Calibri" pitchFamily="34" charset="-120"/>
              </a:rPr>
              <a:t>Sixteen percent. That's the conversation you've had with your CFO, and lost.</a:t>
            </a:r>
            <a:endParaRPr lang="en-US" sz="1150" dirty="0"/>
          </a:p>
        </p:txBody>
      </p:sp>
      <p:sp>
        <p:nvSpPr>
          <p:cNvPr id="11" name="Shape 9"/>
          <p:cNvSpPr/>
          <p:nvPr/>
        </p:nvSpPr>
        <p:spPr>
          <a:xfrm>
            <a:off x="548640" y="2834640"/>
            <a:ext cx="8046720" cy="45720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2" name="Text 10"/>
          <p:cNvSpPr txBox="1"/>
          <p:nvPr/>
        </p:nvSpPr>
        <p:spPr>
          <a:xfrm>
            <a:off x="777240" y="2834640"/>
            <a:ext cx="493776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25 robots + 5 crews — 375 employees</a:t>
            </a:r>
            <a:endParaRPr lang="en-US" sz="1200" dirty="0"/>
          </a:p>
        </p:txBody>
      </p:sp>
      <p:sp>
        <p:nvSpPr>
          <p:cNvPr id="13" name="Text 11"/>
          <p:cNvSpPr txBox="1"/>
          <p:nvPr/>
        </p:nvSpPr>
        <p:spPr>
          <a:xfrm>
            <a:off x="5760720" y="2834640"/>
            <a:ext cx="2651760" cy="457200"/>
          </a:xfrm>
          <a:prstGeom prst="rect">
            <a:avLst/>
          </a:prstGeom>
          <a:noFill/>
          <a:ln/>
        </p:spPr>
        <p:txBody>
          <a:bodyPr wrap="square" lIns="0" tIns="0" rIns="0" bIns="0" rtlCol="0" anchor="ctr"/>
          <a:lstStyle/>
          <a:p>
            <a:pPr algn="r" indent="0" marL="0">
              <a:buNone/>
            </a:pPr>
            <a:r>
              <a:rPr lang="en-US" sz="1500" b="1" dirty="0">
                <a:solidFill>
                  <a:srgbClr val="1B2A4A"/>
                </a:solidFill>
                <a:latin typeface="Georgia" pitchFamily="34" charset="0"/>
                <a:ea typeface="Georgia" pitchFamily="34" charset="-122"/>
                <a:cs typeface="Georgia" pitchFamily="34" charset="-120"/>
              </a:rPr>
              <a:t>$44,166,117</a:t>
            </a:r>
            <a:endParaRPr lang="en-US" sz="1500" dirty="0"/>
          </a:p>
        </p:txBody>
      </p:sp>
      <p:sp>
        <p:nvSpPr>
          <p:cNvPr id="14" name="Shape 12"/>
          <p:cNvSpPr/>
          <p:nvPr/>
        </p:nvSpPr>
        <p:spPr>
          <a:xfrm>
            <a:off x="548640" y="3364992"/>
            <a:ext cx="8046720" cy="45720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5" name="Text 13"/>
          <p:cNvSpPr txBox="1"/>
          <p:nvPr/>
        </p:nvSpPr>
        <p:spPr>
          <a:xfrm>
            <a:off x="777240" y="3364992"/>
            <a:ext cx="493776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vs. today's 4 crews and no robots</a:t>
            </a:r>
            <a:endParaRPr lang="en-US" sz="1200" dirty="0"/>
          </a:p>
        </p:txBody>
      </p:sp>
      <p:sp>
        <p:nvSpPr>
          <p:cNvPr id="16" name="Text 14"/>
          <p:cNvSpPr txBox="1"/>
          <p:nvPr/>
        </p:nvSpPr>
        <p:spPr>
          <a:xfrm>
            <a:off x="5760720" y="3364992"/>
            <a:ext cx="2651760" cy="457200"/>
          </a:xfrm>
          <a:prstGeom prst="rect">
            <a:avLst/>
          </a:prstGeom>
          <a:noFill/>
          <a:ln/>
        </p:spPr>
        <p:txBody>
          <a:bodyPr wrap="square" lIns="0" tIns="0" rIns="0" bIns="0" rtlCol="0" anchor="ctr"/>
          <a:lstStyle/>
          <a:p>
            <a:pPr algn="r" indent="0" marL="0">
              <a:buNone/>
            </a:pPr>
            <a:r>
              <a:rPr lang="en-US" sz="1500" b="1" dirty="0">
                <a:solidFill>
                  <a:srgbClr val="1B2A4A"/>
                </a:solidFill>
                <a:latin typeface="Georgia" pitchFamily="34" charset="0"/>
                <a:ea typeface="Georgia" pitchFamily="34" charset="-122"/>
                <a:cs typeface="Georgia" pitchFamily="34" charset="-120"/>
              </a:rPr>
              <a:t>$49,141,958</a:t>
            </a:r>
            <a:endParaRPr lang="en-US" sz="1500" dirty="0"/>
          </a:p>
        </p:txBody>
      </p:sp>
      <p:sp>
        <p:nvSpPr>
          <p:cNvPr id="17" name="Shape 15"/>
          <p:cNvSpPr/>
          <p:nvPr/>
        </p:nvSpPr>
        <p:spPr>
          <a:xfrm>
            <a:off x="548640" y="3895344"/>
            <a:ext cx="8046720" cy="45720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8" name="Text 16"/>
          <p:cNvSpPr txBox="1"/>
          <p:nvPr/>
        </p:nvSpPr>
        <p:spPr>
          <a:xfrm>
            <a:off x="777240" y="3895344"/>
            <a:ext cx="493776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You spend LESS, and everyone gets a week off in five</a:t>
            </a:r>
            <a:endParaRPr lang="en-US" sz="1300" dirty="0"/>
          </a:p>
        </p:txBody>
      </p:sp>
      <p:sp>
        <p:nvSpPr>
          <p:cNvPr id="19" name="Text 17"/>
          <p:cNvSpPr txBox="1"/>
          <p:nvPr/>
        </p:nvSpPr>
        <p:spPr>
          <a:xfrm>
            <a:off x="5760720" y="3895344"/>
            <a:ext cx="2651760" cy="457200"/>
          </a:xfrm>
          <a:prstGeom prst="rect">
            <a:avLst/>
          </a:prstGeom>
          <a:noFill/>
          <a:ln/>
        </p:spPr>
        <p:txBody>
          <a:bodyPr wrap="square" lIns="0" tIns="0" rIns="0" bIns="0" rtlCol="0" anchor="ctr"/>
          <a:lstStyle/>
          <a:p>
            <a:pPr algn="r" indent="0" marL="0">
              <a:buNone/>
            </a:pPr>
            <a:r>
              <a:rPr lang="en-US" sz="1800" b="1" dirty="0">
                <a:solidFill>
                  <a:srgbClr val="D4A843"/>
                </a:solidFill>
                <a:latin typeface="Georgia" pitchFamily="34" charset="0"/>
                <a:ea typeface="Georgia" pitchFamily="34" charset="-122"/>
                <a:cs typeface="Georgia" pitchFamily="34" charset="-120"/>
              </a:rPr>
              <a:t>SAVES 10%</a:t>
            </a:r>
            <a:endParaRPr lang="en-US" sz="1800" dirty="0"/>
          </a:p>
        </p:txBody>
      </p:sp>
      <p:sp>
        <p:nvSpPr>
          <p:cNvPr id="20" name="Text 18"/>
          <p:cNvSpPr txBox="1"/>
          <p:nvPr/>
        </p:nvSpPr>
        <p:spPr>
          <a:xfrm>
            <a:off x="548640" y="4425696"/>
            <a:ext cx="8046720" cy="256032"/>
          </a:xfrm>
          <a:prstGeom prst="rect">
            <a:avLst/>
          </a:prstGeom>
          <a:noFill/>
          <a:ln/>
        </p:spPr>
        <p:txBody>
          <a:bodyPr wrap="square" lIns="0" tIns="0" rIns="0" bIns="0" rtlCol="0" anchor="ctr"/>
          <a:lstStyle/>
          <a:p>
            <a:pPr indent="0" marL="0">
              <a:buNone/>
            </a:pPr>
            <a:r>
              <a:rPr lang="en-US" sz="1050" b="1" dirty="0">
                <a:solidFill>
                  <a:srgbClr val="0D7C8F"/>
                </a:solidFill>
                <a:latin typeface="Calibri" pitchFamily="34" charset="0"/>
                <a:ea typeface="Calibri" pitchFamily="34" charset="-122"/>
                <a:cs typeface="Calibri" pitchFamily="34" charset="-120"/>
              </a:rPr>
              <a:t>Headcount 400 → 375. At 15% turnover you lose 60 a year anyway — twenty-five is five months of normal attrition. Nobody gets laid off.</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Two more numbers</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97280"/>
            <a:ext cx="3931920" cy="274320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216152"/>
            <a:ext cx="3383280" cy="274320"/>
          </a:xfrm>
          <a:prstGeom prst="rect">
            <a:avLst/>
          </a:prstGeom>
          <a:noFill/>
          <a:ln/>
        </p:spPr>
        <p:txBody>
          <a:bodyPr wrap="square" lIns="0" tIns="0" rIns="0" bIns="0" rtlCol="0" anchor="ctr"/>
          <a:lstStyle/>
          <a:p>
            <a:pPr indent="0" marL="0">
              <a:buNone/>
            </a:pPr>
            <a:r>
              <a:rPr lang="en-US" sz="1150" b="1" spc="150" kern="0" dirty="0">
                <a:solidFill>
                  <a:srgbClr val="0D7C8F"/>
                </a:solidFill>
                <a:latin typeface="Calibri" pitchFamily="34" charset="0"/>
                <a:ea typeface="Calibri" pitchFamily="34" charset="-122"/>
                <a:cs typeface="Calibri" pitchFamily="34" charset="-120"/>
              </a:rPr>
              <a:t>TURNOVER</a:t>
            </a:r>
            <a:endParaRPr lang="en-US" sz="1150" dirty="0"/>
          </a:p>
        </p:txBody>
      </p:sp>
      <p:sp>
        <p:nvSpPr>
          <p:cNvPr id="7" name="Text 5"/>
          <p:cNvSpPr txBox="1"/>
          <p:nvPr/>
        </p:nvSpPr>
        <p:spPr>
          <a:xfrm>
            <a:off x="822960" y="1536192"/>
            <a:ext cx="3383280" cy="548640"/>
          </a:xfrm>
          <a:prstGeom prst="rect">
            <a:avLst/>
          </a:prstGeom>
          <a:noFill/>
          <a:ln/>
        </p:spPr>
        <p:txBody>
          <a:bodyPr wrap="square" lIns="0" tIns="0" rIns="0" bIns="0" rtlCol="0" anchor="ctr"/>
          <a:lstStyle/>
          <a:p>
            <a:pPr indent="0" marL="0">
              <a:buNone/>
            </a:pPr>
            <a:r>
              <a:rPr lang="en-US" sz="3200" b="1" dirty="0">
                <a:solidFill>
                  <a:srgbClr val="1B2A4A"/>
                </a:solidFill>
                <a:latin typeface="Georgia" pitchFamily="34" charset="0"/>
                <a:ea typeface="Georgia" pitchFamily="34" charset="-122"/>
                <a:cs typeface="Georgia" pitchFamily="34" charset="-120"/>
              </a:rPr>
              <a:t>$1.5M</a:t>
            </a:r>
            <a:endParaRPr lang="en-US" sz="3200" dirty="0"/>
          </a:p>
        </p:txBody>
      </p:sp>
      <p:sp>
        <p:nvSpPr>
          <p:cNvPr id="8" name="Text 6"/>
          <p:cNvSpPr txBox="1"/>
          <p:nvPr/>
        </p:nvSpPr>
        <p:spPr>
          <a:xfrm>
            <a:off x="822960" y="2148840"/>
            <a:ext cx="3383280" cy="7772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year, at 400 people and 15% turnover — 60 hires at $25,000 all-in to recruit, onboard and train to competence.</a:t>
            </a:r>
            <a:endParaRPr lang="en-US" sz="1100" dirty="0"/>
          </a:p>
        </p:txBody>
      </p:sp>
      <p:sp>
        <p:nvSpPr>
          <p:cNvPr id="9" name="Text 7"/>
          <p:cNvSpPr txBox="1"/>
          <p:nvPr/>
        </p:nvSpPr>
        <p:spPr>
          <a:xfrm>
            <a:off x="822960" y="2971800"/>
            <a:ext cx="3383280" cy="685800"/>
          </a:xfrm>
          <a:prstGeom prst="rect">
            <a:avLst/>
          </a:prstGeom>
          <a:noFill/>
          <a:ln/>
        </p:spPr>
        <p:txBody>
          <a:bodyPr wrap="square" lIns="0" tIns="0" rIns="0" bIns="0" rtlCol="0" anchor="ctr"/>
          <a:lstStyle/>
          <a:p>
            <a:pPr indent="0" marL="0">
              <a:buNone/>
            </a:pPr>
            <a:r>
              <a:rPr lang="en-US" sz="1150" b="1" dirty="0">
                <a:solidFill>
                  <a:srgbClr val="0D7C8F"/>
                </a:solidFill>
                <a:latin typeface="Calibri" pitchFamily="34" charset="0"/>
                <a:ea typeface="Calibri" pitchFamily="34" charset="-122"/>
                <a:cs typeface="Calibri" pitchFamily="34" charset="-120"/>
              </a:rPr>
              <a:t>Get turnover to 10% with a better schedule and you save half a million — every year, forever.</a:t>
            </a:r>
            <a:endParaRPr lang="en-US" sz="1150" dirty="0"/>
          </a:p>
        </p:txBody>
      </p:sp>
      <p:sp>
        <p:nvSpPr>
          <p:cNvPr id="10" name="Shape 8"/>
          <p:cNvSpPr/>
          <p:nvPr/>
        </p:nvSpPr>
        <p:spPr>
          <a:xfrm>
            <a:off x="4663440" y="1097280"/>
            <a:ext cx="3931920" cy="274320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1" name="Text 9"/>
          <p:cNvSpPr txBox="1"/>
          <p:nvPr/>
        </p:nvSpPr>
        <p:spPr>
          <a:xfrm>
            <a:off x="4937760" y="1216152"/>
            <a:ext cx="3383280" cy="274320"/>
          </a:xfrm>
          <a:prstGeom prst="rect">
            <a:avLst/>
          </a:prstGeom>
          <a:noFill/>
          <a:ln/>
        </p:spPr>
        <p:txBody>
          <a:bodyPr wrap="square" lIns="0" tIns="0" rIns="0" bIns="0" rtlCol="0" anchor="ctr"/>
          <a:lstStyle/>
          <a:p>
            <a:pPr indent="0" marL="0">
              <a:buNone/>
            </a:pPr>
            <a:r>
              <a:rPr lang="en-US" sz="1150" b="1" spc="150" kern="0" dirty="0">
                <a:solidFill>
                  <a:srgbClr val="D4A843"/>
                </a:solidFill>
                <a:latin typeface="Calibri" pitchFamily="34" charset="0"/>
                <a:ea typeface="Calibri" pitchFamily="34" charset="-122"/>
                <a:cs typeface="Calibri" pitchFamily="34" charset="-120"/>
              </a:rPr>
              <a:t>TIME TO QUALIFY</a:t>
            </a:r>
            <a:endParaRPr lang="en-US" sz="1150" dirty="0"/>
          </a:p>
        </p:txBody>
      </p:sp>
      <p:sp>
        <p:nvSpPr>
          <p:cNvPr id="12" name="Text 10"/>
          <p:cNvSpPr txBox="1"/>
          <p:nvPr/>
        </p:nvSpPr>
        <p:spPr>
          <a:xfrm>
            <a:off x="4937760" y="1536192"/>
            <a:ext cx="3383280" cy="54864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$1.5M</a:t>
            </a:r>
            <a:endParaRPr lang="en-US" sz="3200" dirty="0"/>
          </a:p>
        </p:txBody>
      </p:sp>
      <p:sp>
        <p:nvSpPr>
          <p:cNvPr id="13" name="Text 11"/>
          <p:cNvSpPr txBox="1"/>
          <p:nvPr/>
        </p:nvSpPr>
        <p:spPr>
          <a:xfrm>
            <a:off x="4937760" y="2148840"/>
            <a:ext cx="3383280" cy="77724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 year, if AI-assisted training cuts time-to-qualify from twelve months to eight, across 60 hires — about twenty FTE-years of full productivity recovered.</a:t>
            </a:r>
            <a:endParaRPr lang="en-US" sz="1100" dirty="0"/>
          </a:p>
        </p:txBody>
      </p:sp>
      <p:sp>
        <p:nvSpPr>
          <p:cNvPr id="14" name="Text 12"/>
          <p:cNvSpPr txBox="1"/>
          <p:nvPr/>
        </p:nvSpPr>
        <p:spPr>
          <a:xfrm>
            <a:off x="4937760" y="2971800"/>
            <a:ext cx="3383280" cy="685800"/>
          </a:xfrm>
          <a:prstGeom prst="rect">
            <a:avLst/>
          </a:prstGeom>
          <a:noFill/>
          <a:ln/>
        </p:spPr>
        <p:txBody>
          <a:bodyPr wrap="square" lIns="0" tIns="0" rIns="0" bIns="0" rtlCol="0" anchor="ctr"/>
          <a:lstStyle/>
          <a:p>
            <a:pPr indent="0" marL="0">
              <a:buNone/>
            </a:pPr>
            <a:r>
              <a:rPr lang="en-US" sz="1150" b="1" dirty="0">
                <a:solidFill>
                  <a:srgbClr val="14A3B8"/>
                </a:solidFill>
                <a:latin typeface="Calibri" pitchFamily="34" charset="0"/>
                <a:ea typeface="Calibri" pitchFamily="34" charset="-122"/>
                <a:cs typeface="Calibri" pitchFamily="34" charset="-120"/>
              </a:rPr>
              <a:t>Not from removing anybody. From the people you already have getting good faster.</a:t>
            </a:r>
            <a:endParaRPr lang="en-US" sz="1150" dirty="0"/>
          </a:p>
        </p:txBody>
      </p:sp>
      <p:sp>
        <p:nvSpPr>
          <p:cNvPr id="15" name="Text 13"/>
          <p:cNvSpPr txBox="1"/>
          <p:nvPr/>
        </p:nvSpPr>
        <p:spPr>
          <a:xfrm>
            <a:off x="548640" y="4023360"/>
            <a:ext cx="8046720" cy="320040"/>
          </a:xfrm>
          <a:prstGeom prst="rect">
            <a:avLst/>
          </a:prstGeom>
          <a:noFill/>
          <a:ln/>
        </p:spPr>
        <p:txBody>
          <a:bodyPr wrap="square" lIns="0" tIns="0" rIns="0" bIns="0" rtlCol="0" anchor="ctr"/>
          <a:lstStyle/>
          <a:p>
            <a:pPr indent="0" marL="0">
              <a:buNone/>
            </a:pPr>
            <a:r>
              <a:rPr lang="en-US" sz="1250" b="1" i="1" dirty="0">
                <a:solidFill>
                  <a:srgbClr val="1B2A4A"/>
                </a:solidFill>
                <a:latin typeface="Calibri" pitchFamily="34" charset="0"/>
                <a:ea typeface="Calibri" pitchFamily="34" charset="-122"/>
                <a:cs typeface="Calibri" pitchFamily="34" charset="-120"/>
              </a:rPr>
              <a:t>Both belong in the business case. Neither one ever is.</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731520" y="1874520"/>
            <a:ext cx="1097280" cy="54864"/>
          </a:xfrm>
          <a:prstGeom prst="rect">
            <a:avLst/>
          </a:prstGeom>
          <a:solidFill>
            <a:srgbClr val="D4A843"/>
          </a:solidFill>
          <a:ln/>
        </p:spPr>
      </p:sp>
      <p:sp>
        <p:nvSpPr>
          <p:cNvPr id="3" name="Text 1"/>
          <p:cNvSpPr txBox="1"/>
          <p:nvPr/>
        </p:nvSpPr>
        <p:spPr>
          <a:xfrm>
            <a:off x="731520" y="1417320"/>
            <a:ext cx="7680960" cy="365760"/>
          </a:xfrm>
          <a:prstGeom prst="rect">
            <a:avLst/>
          </a:prstGeom>
          <a:noFill/>
          <a:ln/>
        </p:spPr>
        <p:txBody>
          <a:bodyPr wrap="square" lIns="0" tIns="0" rIns="0" bIns="0" rtlCol="0" anchor="ctr"/>
          <a:lstStyle/>
          <a:p>
            <a:pPr indent="0" marL="0">
              <a:buNone/>
            </a:pPr>
            <a:r>
              <a:rPr lang="en-US" sz="1300" b="1" spc="200" kern="0" dirty="0">
                <a:solidFill>
                  <a:srgbClr val="D4A843"/>
                </a:solidFill>
                <a:latin typeface="Calibri" pitchFamily="34" charset="0"/>
                <a:ea typeface="Calibri" pitchFamily="34" charset="-122"/>
                <a:cs typeface="Calibri" pitchFamily="34" charset="-120"/>
              </a:rPr>
              <a:t>PART SIX</a:t>
            </a:r>
            <a:endParaRPr lang="en-US" sz="1300" dirty="0"/>
          </a:p>
        </p:txBody>
      </p:sp>
      <p:sp>
        <p:nvSpPr>
          <p:cNvPr id="4" name="Text 2"/>
          <p:cNvSpPr txBox="1"/>
          <p:nvPr/>
        </p:nvSpPr>
        <p:spPr>
          <a:xfrm>
            <a:off x="731520" y="2084832"/>
            <a:ext cx="7680960" cy="91440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Putting It All Together</a:t>
            </a:r>
            <a:endParaRPr lang="en-US" sz="3400" dirty="0"/>
          </a:p>
        </p:txBody>
      </p:sp>
      <p:sp>
        <p:nvSpPr>
          <p:cNvPr id="5" name="Text 3"/>
          <p:cNvSpPr txBox="1"/>
          <p:nvPr/>
        </p:nvSpPr>
        <p:spPr>
          <a:xfrm>
            <a:off x="731520" y="3017520"/>
            <a:ext cx="7680960" cy="548640"/>
          </a:xfrm>
          <a:prstGeom prst="rect">
            <a:avLst/>
          </a:prstGeom>
          <a:noFill/>
          <a:ln/>
        </p:spPr>
        <p:txBody>
          <a:bodyPr wrap="square" lIns="0" tIns="0" rIns="0" bIns="0" rtlCol="0" anchor="ctr"/>
          <a:lstStyle/>
          <a:p>
            <a:pPr indent="0" marL="0">
              <a:buNone/>
            </a:pPr>
            <a:r>
              <a:rPr lang="en-US" sz="1500" dirty="0">
                <a:solidFill>
                  <a:srgbClr val="14A3B8"/>
                </a:solidFill>
                <a:latin typeface="Calibri" pitchFamily="34" charset="0"/>
                <a:ea typeface="Calibri" pitchFamily="34" charset="-122"/>
                <a:cs typeface="Calibri" pitchFamily="34" charset="-120"/>
              </a:rPr>
              <a:t>And the part that decides whether any of it works — which is not the technology</a:t>
            </a:r>
            <a:endParaRPr lang="en-US" sz="1500" dirty="0"/>
          </a:p>
        </p:txBody>
      </p:sp>
      <p:sp>
        <p:nvSpPr>
          <p:cNvPr id="6" name="Text 4"/>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6B7FA0"/>
                </a:solidFill>
                <a:latin typeface="Calibri" pitchFamily="34" charset="0"/>
                <a:ea typeface="Calibri" pitchFamily="34" charset="-122"/>
                <a:cs typeface="Calibri" pitchFamily="34" charset="-120"/>
              </a:rPr>
              <a:t>Shiftwork Solutions LLC  |  (415) 265-1621  |  www.shift-work.com</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This is not a technology project</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8046720" cy="105156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170432"/>
            <a:ext cx="749808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training tutor. The parts agent. The first robot on the line. And certainly the fifth crew.</a:t>
            </a:r>
            <a:endParaRPr lang="en-US" sz="1300" dirty="0"/>
          </a:p>
        </p:txBody>
      </p:sp>
      <p:sp>
        <p:nvSpPr>
          <p:cNvPr id="7" name="Text 5"/>
          <p:cNvSpPr txBox="1"/>
          <p:nvPr/>
        </p:nvSpPr>
        <p:spPr>
          <a:xfrm>
            <a:off x="822960" y="1572768"/>
            <a:ext cx="7498080" cy="411480"/>
          </a:xfrm>
          <a:prstGeom prst="rect">
            <a:avLst/>
          </a:prstGeom>
          <a:noFill/>
          <a:ln/>
        </p:spPr>
        <p:txBody>
          <a:bodyPr wrap="square" lIns="0" tIns="0" rIns="0" bIns="0" rtlCol="0" anchor="ctr"/>
          <a:lstStyle/>
          <a:p>
            <a:pPr indent="0" marL="0">
              <a:buNone/>
            </a:pPr>
            <a:r>
              <a:rPr lang="en-US" sz="1300" b="1" dirty="0">
                <a:solidFill>
                  <a:srgbClr val="D4A843"/>
                </a:solidFill>
                <a:latin typeface="Calibri" pitchFamily="34" charset="0"/>
                <a:ea typeface="Calibri" pitchFamily="34" charset="-122"/>
                <a:cs typeface="Calibri" pitchFamily="34" charset="-120"/>
              </a:rPr>
              <a:t>Every one of them changes how somebody's day goes. Which means not one of them is a technology project.</a:t>
            </a:r>
            <a:endParaRPr lang="en-US" sz="1300" dirty="0"/>
          </a:p>
        </p:txBody>
      </p:sp>
      <p:sp>
        <p:nvSpPr>
          <p:cNvPr id="8" name="Shape 6"/>
          <p:cNvSpPr/>
          <p:nvPr/>
        </p:nvSpPr>
        <p:spPr>
          <a:xfrm>
            <a:off x="548640" y="2267712"/>
            <a:ext cx="8046720" cy="96012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9" name="Text 7"/>
          <p:cNvSpPr txBox="1"/>
          <p:nvPr/>
        </p:nvSpPr>
        <p:spPr>
          <a:xfrm>
            <a:off x="822960" y="2395728"/>
            <a:ext cx="7498080" cy="411480"/>
          </a:xfrm>
          <a:prstGeom prst="rect">
            <a:avLst/>
          </a:prstGeom>
          <a:noFill/>
          <a:ln/>
        </p:spPr>
        <p:txBody>
          <a:bodyPr wrap="square" lIns="0" tIns="0" rIns="0" bIns="0" rtlCol="0" anchor="ctr"/>
          <a:lstStyle/>
          <a:p>
            <a:pPr indent="0" marL="0">
              <a:buNone/>
            </a:pPr>
            <a:r>
              <a:rPr lang="en-US" sz="1900" b="1" dirty="0">
                <a:solidFill>
                  <a:srgbClr val="1B2A4A"/>
                </a:solidFill>
                <a:latin typeface="Georgia" pitchFamily="34" charset="0"/>
                <a:ea typeface="Georgia" pitchFamily="34" charset="-122"/>
                <a:cs typeface="Georgia" pitchFamily="34" charset="-120"/>
              </a:rPr>
              <a:t>They are change management projects wearing a technology costume.</a:t>
            </a:r>
            <a:endParaRPr lang="en-US" sz="1900" dirty="0"/>
          </a:p>
        </p:txBody>
      </p:sp>
      <p:sp>
        <p:nvSpPr>
          <p:cNvPr id="10" name="Text 8"/>
          <p:cNvSpPr txBox="1"/>
          <p:nvPr/>
        </p:nvSpPr>
        <p:spPr>
          <a:xfrm>
            <a:off x="822960" y="2816352"/>
            <a:ext cx="749808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I've watched a lot of those fail in your industry. Here's what the failures have in common.</a:t>
            </a:r>
            <a:endParaRPr lang="en-US" sz="1200" dirty="0"/>
          </a:p>
        </p:txBody>
      </p:sp>
      <p:sp>
        <p:nvSpPr>
          <p:cNvPr id="11" name="Shape 9"/>
          <p:cNvSpPr/>
          <p:nvPr/>
        </p:nvSpPr>
        <p:spPr>
          <a:xfrm>
            <a:off x="548640" y="3401568"/>
            <a:ext cx="8046720" cy="96012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2" name="Text 10"/>
          <p:cNvSpPr txBox="1"/>
          <p:nvPr/>
        </p:nvSpPr>
        <p:spPr>
          <a:xfrm>
            <a:off x="822960" y="3520440"/>
            <a:ext cx="749808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If you roll out something that ought to be welcomed and people are grumbling —</a:t>
            </a:r>
            <a:endParaRPr lang="en-US" sz="1300" dirty="0"/>
          </a:p>
        </p:txBody>
      </p:sp>
      <p:sp>
        <p:nvSpPr>
          <p:cNvPr id="13" name="Text 11"/>
          <p:cNvSpPr txBox="1"/>
          <p:nvPr/>
        </p:nvSpPr>
        <p:spPr>
          <a:xfrm>
            <a:off x="822960" y="3840480"/>
            <a:ext cx="7498080" cy="411480"/>
          </a:xfrm>
          <a:prstGeom prst="rect">
            <a:avLst/>
          </a:prstGeom>
          <a:noFill/>
          <a:ln/>
        </p:spPr>
        <p:txBody>
          <a:bodyPr wrap="square" lIns="0" tIns="0" rIns="0" bIns="0" rtlCol="0" anchor="ctr"/>
          <a:lstStyle/>
          <a:p>
            <a:pPr indent="0" marL="0">
              <a:buNone/>
            </a:pPr>
            <a:r>
              <a:rPr lang="en-US" sz="1800" b="1" dirty="0">
                <a:solidFill>
                  <a:srgbClr val="D4A843"/>
                </a:solidFill>
                <a:latin typeface="Georgia" pitchFamily="34" charset="0"/>
                <a:ea typeface="Georgia" pitchFamily="34" charset="-122"/>
                <a:cs typeface="Georgia" pitchFamily="34" charset="-120"/>
              </a:rPr>
              <a:t>you didn't under-design it. You under-communicated it.</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Three things determine whether it takes</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51560"/>
            <a:ext cx="8046720" cy="98755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Shape 4"/>
          <p:cNvSpPr/>
          <p:nvPr/>
        </p:nvSpPr>
        <p:spPr>
          <a:xfrm>
            <a:off x="731520" y="1197864"/>
            <a:ext cx="54864" cy="292608"/>
          </a:xfrm>
          <a:prstGeom prst="rect">
            <a:avLst/>
          </a:prstGeom>
          <a:solidFill>
            <a:srgbClr val="0D7C8F"/>
          </a:solidFill>
          <a:ln/>
        </p:spPr>
      </p:sp>
      <p:sp>
        <p:nvSpPr>
          <p:cNvPr id="7" name="Text 5"/>
          <p:cNvSpPr txBox="1"/>
          <p:nvPr/>
        </p:nvSpPr>
        <p:spPr>
          <a:xfrm>
            <a:off x="914400" y="1161288"/>
            <a:ext cx="3108960" cy="329184"/>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Informed understanding</a:t>
            </a:r>
            <a:endParaRPr lang="en-US" sz="1350" dirty="0"/>
          </a:p>
        </p:txBody>
      </p:sp>
      <p:sp>
        <p:nvSpPr>
          <p:cNvPr id="8" name="Text 6"/>
          <p:cNvSpPr txBox="1"/>
          <p:nvPr/>
        </p:nvSpPr>
        <p:spPr>
          <a:xfrm>
            <a:off x="914400" y="1508760"/>
            <a:ext cx="4206240" cy="4572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People need the WHY, in enough detail to judge it themselves. Vague or withheld, and they assume a hidden agenda — and with AI they assume the hidden agenda is their job.</a:t>
            </a:r>
            <a:endParaRPr lang="en-US" sz="1000" dirty="0"/>
          </a:p>
        </p:txBody>
      </p:sp>
      <p:sp>
        <p:nvSpPr>
          <p:cNvPr id="9" name="Text 7"/>
          <p:cNvSpPr txBox="1"/>
          <p:nvPr/>
        </p:nvSpPr>
        <p:spPr>
          <a:xfrm>
            <a:off x="5303520" y="1179576"/>
            <a:ext cx="3108960" cy="777240"/>
          </a:xfrm>
          <a:prstGeom prst="rect">
            <a:avLst/>
          </a:prstGeom>
          <a:noFill/>
          <a:ln/>
        </p:spPr>
        <p:txBody>
          <a:bodyPr wrap="square" lIns="0" tIns="0" rIns="0" bIns="0" rtlCol="0" anchor="ctr"/>
          <a:lstStyle/>
          <a:p>
            <a:pPr indent="0" marL="0">
              <a:buNone/>
            </a:pPr>
            <a:r>
              <a:rPr lang="en-US" sz="1000" i="1" dirty="0">
                <a:solidFill>
                  <a:srgbClr val="0D7C8F"/>
                </a:solidFill>
                <a:latin typeface="Calibri" pitchFamily="34" charset="0"/>
                <a:ea typeface="Calibri" pitchFamily="34" charset="-122"/>
                <a:cs typeface="Calibri" pitchFamily="34" charset="-120"/>
              </a:rPr>
              <a:t>If you don't tell them what the machine is for, they will decide for themselves what it's for. And they'll be wrong.</a:t>
            </a:r>
            <a:endParaRPr lang="en-US" sz="1000" dirty="0"/>
          </a:p>
        </p:txBody>
      </p:sp>
      <p:sp>
        <p:nvSpPr>
          <p:cNvPr id="10" name="Shape 8"/>
          <p:cNvSpPr/>
          <p:nvPr/>
        </p:nvSpPr>
        <p:spPr>
          <a:xfrm>
            <a:off x="548640" y="2167128"/>
            <a:ext cx="8046720" cy="98755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1" name="Shape 9"/>
          <p:cNvSpPr/>
          <p:nvPr/>
        </p:nvSpPr>
        <p:spPr>
          <a:xfrm>
            <a:off x="731520" y="2313432"/>
            <a:ext cx="54864" cy="292608"/>
          </a:xfrm>
          <a:prstGeom prst="rect">
            <a:avLst/>
          </a:prstGeom>
          <a:solidFill>
            <a:srgbClr val="F59E0B"/>
          </a:solidFill>
          <a:ln/>
        </p:spPr>
      </p:sp>
      <p:sp>
        <p:nvSpPr>
          <p:cNvPr id="12" name="Text 10"/>
          <p:cNvSpPr txBox="1"/>
          <p:nvPr/>
        </p:nvSpPr>
        <p:spPr>
          <a:xfrm>
            <a:off x="914400" y="2276856"/>
            <a:ext cx="3108960" cy="329184"/>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Demonstrated credibility</a:t>
            </a:r>
            <a:endParaRPr lang="en-US" sz="1350" dirty="0"/>
          </a:p>
        </p:txBody>
      </p:sp>
      <p:sp>
        <p:nvSpPr>
          <p:cNvPr id="13" name="Text 11"/>
          <p:cNvSpPr txBox="1"/>
          <p:nvPr/>
        </p:nvSpPr>
        <p:spPr>
          <a:xfrm>
            <a:off x="914400" y="2624328"/>
            <a:ext cx="4206240" cy="4572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Commitments honored, timelines accurate, and whatever management sees, the floor sees. Asymmetric information breeds suspicion regardless of intent.</a:t>
            </a:r>
            <a:endParaRPr lang="en-US" sz="1000" dirty="0"/>
          </a:p>
        </p:txBody>
      </p:sp>
      <p:sp>
        <p:nvSpPr>
          <p:cNvPr id="14" name="Text 12"/>
          <p:cNvSpPr txBox="1"/>
          <p:nvPr/>
        </p:nvSpPr>
        <p:spPr>
          <a:xfrm>
            <a:off x="5303520" y="2295144"/>
            <a:ext cx="3108960" cy="777240"/>
          </a:xfrm>
          <a:prstGeom prst="rect">
            <a:avLst/>
          </a:prstGeom>
          <a:noFill/>
          <a:ln/>
        </p:spPr>
        <p:txBody>
          <a:bodyPr wrap="square" lIns="0" tIns="0" rIns="0" bIns="0" rtlCol="0" anchor="ctr"/>
          <a:lstStyle/>
          <a:p>
            <a:pPr indent="0" marL="0">
              <a:buNone/>
            </a:pPr>
            <a:r>
              <a:rPr lang="en-US" sz="1000" i="1" dirty="0">
                <a:solidFill>
                  <a:srgbClr val="F59E0B"/>
                </a:solidFill>
                <a:latin typeface="Calibri" pitchFamily="34" charset="0"/>
                <a:ea typeface="Calibri" pitchFamily="34" charset="-122"/>
                <a:cs typeface="Calibri" pitchFamily="34" charset="-120"/>
              </a:rPr>
              <a:t>If you say nobody loses a job over this, that had better still be true in month eighteen. Don't say it if you can't hold it.</a:t>
            </a:r>
            <a:endParaRPr lang="en-US" sz="1000" dirty="0"/>
          </a:p>
        </p:txBody>
      </p:sp>
      <p:sp>
        <p:nvSpPr>
          <p:cNvPr id="15" name="Shape 13"/>
          <p:cNvSpPr/>
          <p:nvPr/>
        </p:nvSpPr>
        <p:spPr>
          <a:xfrm>
            <a:off x="548640" y="3282696"/>
            <a:ext cx="8046720" cy="987552"/>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6" name="Shape 14"/>
          <p:cNvSpPr/>
          <p:nvPr/>
        </p:nvSpPr>
        <p:spPr>
          <a:xfrm>
            <a:off x="731520" y="3429000"/>
            <a:ext cx="54864" cy="292608"/>
          </a:xfrm>
          <a:prstGeom prst="rect">
            <a:avLst/>
          </a:prstGeom>
          <a:solidFill>
            <a:srgbClr val="D4A843"/>
          </a:solidFill>
          <a:ln/>
        </p:spPr>
      </p:sp>
      <p:sp>
        <p:nvSpPr>
          <p:cNvPr id="17" name="Text 15"/>
          <p:cNvSpPr txBox="1"/>
          <p:nvPr/>
        </p:nvSpPr>
        <p:spPr>
          <a:xfrm>
            <a:off x="914400" y="3392424"/>
            <a:ext cx="310896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Genuine involvement</a:t>
            </a:r>
            <a:endParaRPr lang="en-US" sz="1350" dirty="0"/>
          </a:p>
        </p:txBody>
      </p:sp>
      <p:sp>
        <p:nvSpPr>
          <p:cNvPr id="18" name="Text 16"/>
          <p:cNvSpPr txBox="1"/>
          <p:nvPr/>
        </p:nvSpPr>
        <p:spPr>
          <a:xfrm>
            <a:off x="914400" y="3739896"/>
            <a:ext cx="420624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Let people choose among options that all meet the business requirement, and it stops being THEIRS and becomes OURS. Highest return of the three — and the easiest to fake.</a:t>
            </a:r>
            <a:endParaRPr lang="en-US" sz="1000" dirty="0"/>
          </a:p>
        </p:txBody>
      </p:sp>
      <p:sp>
        <p:nvSpPr>
          <p:cNvPr id="19" name="Text 17"/>
          <p:cNvSpPr txBox="1"/>
          <p:nvPr/>
        </p:nvSpPr>
        <p:spPr>
          <a:xfrm>
            <a:off x="5303520" y="3410712"/>
            <a:ext cx="3108960" cy="777240"/>
          </a:xfrm>
          <a:prstGeom prst="rect">
            <a:avLst/>
          </a:prstGeom>
          <a:noFill/>
          <a:ln/>
        </p:spPr>
        <p:txBody>
          <a:bodyPr wrap="square" lIns="0" tIns="0" rIns="0" bIns="0" rtlCol="0" anchor="ctr"/>
          <a:lstStyle/>
          <a:p>
            <a:pPr indent="0" marL="0">
              <a:buNone/>
            </a:pPr>
            <a:r>
              <a:rPr lang="en-US" sz="1000" i="1" dirty="0">
                <a:solidFill>
                  <a:srgbClr val="D4A843"/>
                </a:solidFill>
                <a:latin typeface="Calibri" pitchFamily="34" charset="0"/>
                <a:ea typeface="Calibri" pitchFamily="34" charset="-122"/>
                <a:cs typeface="Calibri" pitchFamily="34" charset="-120"/>
              </a:rPr>
              <a:t>They spot a fake instantly. Ask where the robot should go, then put it where you'd already decided, and you've spent trust you'll need.</a:t>
            </a:r>
            <a:endParaRPr lang="en-US" sz="1000" dirty="0"/>
          </a:p>
        </p:txBody>
      </p:sp>
      <p:sp>
        <p:nvSpPr>
          <p:cNvPr id="20" name="Text 18"/>
          <p:cNvSpPr txBox="1"/>
          <p:nvPr/>
        </p:nvSpPr>
        <p:spPr>
          <a:xfrm>
            <a:off x="548640" y="4407408"/>
            <a:ext cx="8046720" cy="274320"/>
          </a:xfrm>
          <a:prstGeom prst="rect">
            <a:avLst/>
          </a:prstGeom>
          <a:noFill/>
          <a:ln/>
        </p:spPr>
        <p:txBody>
          <a:bodyPr wrap="square" lIns="0" tIns="0" rIns="0" bIns="0" rtlCol="0" anchor="ctr"/>
          <a:lstStyle/>
          <a:p>
            <a:pPr indent="0" marL="0">
              <a:buNone/>
            </a:pPr>
            <a:r>
              <a:rPr lang="en-US" sz="1100" i="1" dirty="0">
                <a:solidFill>
                  <a:srgbClr val="8896A7"/>
                </a:solidFill>
                <a:latin typeface="Calibri" pitchFamily="34" charset="0"/>
                <a:ea typeface="Calibri" pitchFamily="34" charset="-122"/>
                <a:cs typeface="Calibri" pitchFamily="34" charset="-120"/>
              </a:rPr>
              <a:t>The fifth crew is the rare change where you walk in with a gain. Don't waste that by announcing it badly.</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Two food plants I have walked</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97280"/>
            <a:ext cx="3931920" cy="2651760"/>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822960" y="1325880"/>
            <a:ext cx="3383280" cy="502920"/>
          </a:xfrm>
          <a:prstGeom prst="rect">
            <a:avLst/>
          </a:prstGeom>
          <a:noFill/>
          <a:ln/>
        </p:spPr>
        <p:txBody>
          <a:bodyPr wrap="square" lIns="0" tIns="0" rIns="0" bIns="0" rtlCol="0" anchor="ctr"/>
          <a:lstStyle/>
          <a:p>
            <a:pPr indent="0" marL="0">
              <a:buNone/>
            </a:pPr>
            <a:r>
              <a:rPr lang="en-US" sz="2400" b="1" dirty="0">
                <a:solidFill>
                  <a:srgbClr val="DC4A4A"/>
                </a:solidFill>
                <a:latin typeface="Georgia" pitchFamily="34" charset="0"/>
                <a:ea typeface="Georgia" pitchFamily="34" charset="-122"/>
                <a:cs typeface="Georgia" pitchFamily="34" charset="-120"/>
              </a:rPr>
              <a:t>Painted green</a:t>
            </a:r>
            <a:endParaRPr lang="en-US" sz="2400" dirty="0"/>
          </a:p>
        </p:txBody>
      </p:sp>
      <p:sp>
        <p:nvSpPr>
          <p:cNvPr id="7" name="Shape 5"/>
          <p:cNvSpPr/>
          <p:nvPr/>
        </p:nvSpPr>
        <p:spPr>
          <a:xfrm>
            <a:off x="822960" y="1965960"/>
            <a:ext cx="1097280" cy="27432"/>
          </a:xfrm>
          <a:prstGeom prst="rect">
            <a:avLst/>
          </a:prstGeom>
          <a:solidFill>
            <a:srgbClr val="D8DEE8"/>
          </a:solidFill>
          <a:ln/>
        </p:spPr>
      </p:sp>
      <p:sp>
        <p:nvSpPr>
          <p:cNvPr id="8" name="Text 6"/>
          <p:cNvSpPr txBox="1"/>
          <p:nvPr/>
        </p:nvSpPr>
        <p:spPr>
          <a:xfrm>
            <a:off x="822960" y="3154680"/>
            <a:ext cx="3383280" cy="41148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Dirty plant. Poor attendance. High turnover.</a:t>
            </a:r>
            <a:endParaRPr lang="en-US" sz="1200" dirty="0"/>
          </a:p>
        </p:txBody>
      </p:sp>
      <p:sp>
        <p:nvSpPr>
          <p:cNvPr id="9" name="Shape 7"/>
          <p:cNvSpPr/>
          <p:nvPr/>
        </p:nvSpPr>
        <p:spPr>
          <a:xfrm>
            <a:off x="4663440" y="1097280"/>
            <a:ext cx="3931920" cy="265176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0" name="Text 8"/>
          <p:cNvSpPr txBox="1"/>
          <p:nvPr/>
        </p:nvSpPr>
        <p:spPr>
          <a:xfrm>
            <a:off x="4937760" y="1325880"/>
            <a:ext cx="3383280" cy="502920"/>
          </a:xfrm>
          <a:prstGeom prst="rect">
            <a:avLst/>
          </a:prstGeom>
          <a:noFill/>
          <a:ln/>
        </p:spPr>
        <p:txBody>
          <a:bodyPr wrap="square" lIns="0" tIns="0" rIns="0" bIns="0" rtlCol="0" anchor="ctr"/>
          <a:lstStyle/>
          <a:p>
            <a:pPr indent="0" marL="0">
              <a:buNone/>
            </a:pPr>
            <a:r>
              <a:rPr lang="en-US" sz="2400" b="1" dirty="0">
                <a:solidFill>
                  <a:srgbClr val="2D9D5C"/>
                </a:solidFill>
                <a:latin typeface="Georgia" pitchFamily="34" charset="0"/>
                <a:ea typeface="Georgia" pitchFamily="34" charset="-122"/>
                <a:cs typeface="Georgia" pitchFamily="34" charset="-120"/>
              </a:rPr>
              <a:t>Knew every name</a:t>
            </a:r>
            <a:endParaRPr lang="en-US" sz="2400" dirty="0"/>
          </a:p>
        </p:txBody>
      </p:sp>
      <p:sp>
        <p:nvSpPr>
          <p:cNvPr id="11" name="Shape 9"/>
          <p:cNvSpPr/>
          <p:nvPr/>
        </p:nvSpPr>
        <p:spPr>
          <a:xfrm>
            <a:off x="4937760" y="1965960"/>
            <a:ext cx="1097280" cy="27432"/>
          </a:xfrm>
          <a:prstGeom prst="rect">
            <a:avLst/>
          </a:prstGeom>
          <a:solidFill>
            <a:srgbClr val="2A3D60"/>
          </a:solidFill>
          <a:ln/>
        </p:spPr>
      </p:sp>
      <p:sp>
        <p:nvSpPr>
          <p:cNvPr id="12" name="Text 10"/>
          <p:cNvSpPr txBox="1"/>
          <p:nvPr/>
        </p:nvSpPr>
        <p:spPr>
          <a:xfrm>
            <a:off x="4937760" y="3154680"/>
            <a:ext cx="338328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That plant was immaculate.</a:t>
            </a:r>
            <a:endParaRPr lang="en-US" sz="1200" dirty="0"/>
          </a:p>
        </p:txBody>
      </p:sp>
      <p:sp>
        <p:nvSpPr>
          <p:cNvPr id="13" name="Shape 11"/>
          <p:cNvSpPr/>
          <p:nvPr/>
        </p:nvSpPr>
        <p:spPr>
          <a:xfrm>
            <a:off x="548640" y="3886200"/>
            <a:ext cx="8046720" cy="502920"/>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14" name="Text 12"/>
          <p:cNvSpPr txBox="1"/>
          <p:nvPr/>
        </p:nvSpPr>
        <p:spPr>
          <a:xfrm>
            <a:off x="822960" y="3886200"/>
            <a:ext cx="7498080" cy="502920"/>
          </a:xfrm>
          <a:prstGeom prst="rect">
            <a:avLst/>
          </a:prstGeom>
          <a:noFill/>
          <a:ln/>
        </p:spPr>
        <p:txBody>
          <a:bodyPr wrap="square" lIns="0" tIns="0" rIns="0" bIns="0" rtlCol="0" anchor="ctr"/>
          <a:lstStyle/>
          <a:p>
            <a:pPr indent="0" marL="0">
              <a:buNone/>
            </a:pPr>
            <a:r>
              <a:rPr lang="en-US" sz="1400" b="1" dirty="0">
                <a:solidFill>
                  <a:srgbClr val="D4A843"/>
                </a:solidFill>
                <a:latin typeface="Georgia" pitchFamily="34" charset="0"/>
                <a:ea typeface="Georgia" pitchFamily="34" charset="-122"/>
                <a:cs typeface="Georgia" pitchFamily="34" charset="-120"/>
              </a:rPr>
              <a:t>Which of those two plants do you want to be the one introducing an AI system this year?</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7C8F"/>
          </a:solidFill>
          <a:ln/>
        </p:spPr>
      </p:sp>
      <p:sp>
        <p:nvSpPr>
          <p:cNvPr id="3" name="Text 1"/>
          <p:cNvSpPr txBox="1"/>
          <p:nvPr/>
        </p:nvSpPr>
        <p:spPr>
          <a:xfrm>
            <a:off x="548640" y="228600"/>
            <a:ext cx="8046720" cy="566928"/>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Monday morning — five things, in order</a:t>
            </a:r>
            <a:endParaRPr lang="en-US" sz="2600" dirty="0"/>
          </a:p>
        </p:txBody>
      </p:sp>
      <p:sp>
        <p:nvSpPr>
          <p:cNvPr id="4" name="Text 2"/>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8896A7"/>
                </a:solidFill>
                <a:latin typeface="Calibri" pitchFamily="34" charset="0"/>
                <a:ea typeface="Calibri" pitchFamily="34" charset="-122"/>
                <a:cs typeface="Calibri" pitchFamily="34" charset="-120"/>
              </a:rPr>
              <a:t>Shiftwork Solutions LLC  |  (415) 265-1621  |  www.shift-work.com</a:t>
            </a:r>
            <a:endParaRPr lang="en-US" sz="900" dirty="0"/>
          </a:p>
        </p:txBody>
      </p:sp>
      <p:sp>
        <p:nvSpPr>
          <p:cNvPr id="5" name="Shape 3"/>
          <p:cNvSpPr/>
          <p:nvPr/>
        </p:nvSpPr>
        <p:spPr>
          <a:xfrm>
            <a:off x="548640" y="1024128"/>
            <a:ext cx="8046720" cy="57607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6" name="Text 4"/>
          <p:cNvSpPr txBox="1"/>
          <p:nvPr/>
        </p:nvSpPr>
        <p:spPr>
          <a:xfrm>
            <a:off x="749808" y="1024128"/>
            <a:ext cx="411480" cy="576072"/>
          </a:xfrm>
          <a:prstGeom prst="rect">
            <a:avLst/>
          </a:prstGeom>
          <a:noFill/>
          <a:ln/>
        </p:spPr>
        <p:txBody>
          <a:bodyPr wrap="square" lIns="0" tIns="0" rIns="0" bIns="0" rtlCol="0" anchor="ctr"/>
          <a:lstStyle/>
          <a:p>
            <a:pPr indent="0" marL="0">
              <a:buNone/>
            </a:pPr>
            <a:r>
              <a:rPr lang="en-US" sz="1400" b="1" dirty="0">
                <a:solidFill>
                  <a:srgbClr val="DC4A4A"/>
                </a:solidFill>
                <a:latin typeface="Georgia" pitchFamily="34" charset="0"/>
                <a:ea typeface="Georgia" pitchFamily="34" charset="-122"/>
                <a:cs typeface="Georgia" pitchFamily="34" charset="-120"/>
              </a:rPr>
              <a:t>01</a:t>
            </a:r>
            <a:endParaRPr lang="en-US" sz="1400" dirty="0"/>
          </a:p>
        </p:txBody>
      </p:sp>
      <p:sp>
        <p:nvSpPr>
          <p:cNvPr id="7" name="Text 5"/>
          <p:cNvSpPr txBox="1"/>
          <p:nvPr/>
        </p:nvSpPr>
        <p:spPr>
          <a:xfrm>
            <a:off x="1207008" y="1069848"/>
            <a:ext cx="3200400" cy="27432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Write the policy this week</a:t>
            </a:r>
            <a:endParaRPr lang="en-US" sz="1150" dirty="0"/>
          </a:p>
        </p:txBody>
      </p:sp>
      <p:sp>
        <p:nvSpPr>
          <p:cNvPr id="8" name="Text 6"/>
          <p:cNvSpPr txBox="1"/>
          <p:nvPr/>
        </p:nvSpPr>
        <p:spPr>
          <a:xfrm>
            <a:off x="1207008" y="1316736"/>
            <a:ext cx="7178040" cy="25603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Your people are already using these tools. The only question is whether they're pasting your customer data into a consumer chatbot with no rules. Free, and urgent.</a:t>
            </a:r>
            <a:endParaRPr lang="en-US" sz="950" dirty="0"/>
          </a:p>
        </p:txBody>
      </p:sp>
      <p:sp>
        <p:nvSpPr>
          <p:cNvPr id="9" name="Shape 7"/>
          <p:cNvSpPr/>
          <p:nvPr/>
        </p:nvSpPr>
        <p:spPr>
          <a:xfrm>
            <a:off x="548640" y="1691640"/>
            <a:ext cx="8046720" cy="57607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0" name="Text 8"/>
          <p:cNvSpPr txBox="1"/>
          <p:nvPr/>
        </p:nvSpPr>
        <p:spPr>
          <a:xfrm>
            <a:off x="749808" y="1691640"/>
            <a:ext cx="411480" cy="576072"/>
          </a:xfrm>
          <a:prstGeom prst="rect">
            <a:avLst/>
          </a:prstGeom>
          <a:noFill/>
          <a:ln/>
        </p:spPr>
        <p:txBody>
          <a:bodyPr wrap="square" lIns="0" tIns="0" rIns="0" bIns="0" rtlCol="0" anchor="ctr"/>
          <a:lstStyle/>
          <a:p>
            <a:pPr indent="0" marL="0">
              <a:buNone/>
            </a:pPr>
            <a:r>
              <a:rPr lang="en-US" sz="1400" b="1" dirty="0">
                <a:solidFill>
                  <a:srgbClr val="F59E0B"/>
                </a:solidFill>
                <a:latin typeface="Georgia" pitchFamily="34" charset="0"/>
                <a:ea typeface="Georgia" pitchFamily="34" charset="-122"/>
                <a:cs typeface="Georgia" pitchFamily="34" charset="-120"/>
              </a:rPr>
              <a:t>02</a:t>
            </a:r>
            <a:endParaRPr lang="en-US" sz="1400" dirty="0"/>
          </a:p>
        </p:txBody>
      </p:sp>
      <p:sp>
        <p:nvSpPr>
          <p:cNvPr id="11" name="Text 9"/>
          <p:cNvSpPr txBox="1"/>
          <p:nvPr/>
        </p:nvSpPr>
        <p:spPr>
          <a:xfrm>
            <a:off x="1207008" y="1737360"/>
            <a:ext cx="3200400" cy="27432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Fix your documentation before you buy anything</a:t>
            </a:r>
            <a:endParaRPr lang="en-US" sz="1150" dirty="0"/>
          </a:p>
        </p:txBody>
      </p:sp>
      <p:sp>
        <p:nvSpPr>
          <p:cNvPr id="12" name="Text 10"/>
          <p:cNvSpPr txBox="1"/>
          <p:nvPr/>
        </p:nvSpPr>
        <p:spPr>
          <a:xfrm>
            <a:off x="1207008" y="1984248"/>
            <a:ext cx="7178040" cy="25603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Every application in this talk runs on your own written material. Bad SOPs will teach the wrong procedure to every new hire, at scale, forever.</a:t>
            </a:r>
            <a:endParaRPr lang="en-US" sz="950" dirty="0"/>
          </a:p>
        </p:txBody>
      </p:sp>
      <p:sp>
        <p:nvSpPr>
          <p:cNvPr id="13" name="Shape 11"/>
          <p:cNvSpPr/>
          <p:nvPr/>
        </p:nvSpPr>
        <p:spPr>
          <a:xfrm>
            <a:off x="548640" y="2359152"/>
            <a:ext cx="8046720" cy="57607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4" name="Text 12"/>
          <p:cNvSpPr txBox="1"/>
          <p:nvPr/>
        </p:nvSpPr>
        <p:spPr>
          <a:xfrm>
            <a:off x="749808" y="2359152"/>
            <a:ext cx="411480" cy="576072"/>
          </a:xfrm>
          <a:prstGeom prst="rect">
            <a:avLst/>
          </a:prstGeom>
          <a:noFill/>
          <a:ln/>
        </p:spPr>
        <p:txBody>
          <a:bodyPr wrap="square" lIns="0" tIns="0" rIns="0" bIns="0" rtlCol="0" anchor="ctr"/>
          <a:lstStyle/>
          <a:p>
            <a:pPr indent="0" marL="0">
              <a:buNone/>
            </a:pPr>
            <a:r>
              <a:rPr lang="en-US" sz="1400" b="1" dirty="0">
                <a:solidFill>
                  <a:srgbClr val="0D7C8F"/>
                </a:solidFill>
                <a:latin typeface="Georgia" pitchFamily="34" charset="0"/>
                <a:ea typeface="Georgia" pitchFamily="34" charset="-122"/>
                <a:cs typeface="Georgia" pitchFamily="34" charset="-120"/>
              </a:rPr>
              <a:t>03</a:t>
            </a:r>
            <a:endParaRPr lang="en-US" sz="1400" dirty="0"/>
          </a:p>
        </p:txBody>
      </p:sp>
      <p:sp>
        <p:nvSpPr>
          <p:cNvPr id="15" name="Text 13"/>
          <p:cNvSpPr txBox="1"/>
          <p:nvPr/>
        </p:nvSpPr>
        <p:spPr>
          <a:xfrm>
            <a:off x="1207008" y="2404872"/>
            <a:ext cx="3200400" cy="27432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Interview your retirees</a:t>
            </a:r>
            <a:endParaRPr lang="en-US" sz="1150" dirty="0"/>
          </a:p>
        </p:txBody>
      </p:sp>
      <p:sp>
        <p:nvSpPr>
          <p:cNvPr id="16" name="Text 14"/>
          <p:cNvSpPr txBox="1"/>
          <p:nvPr/>
        </p:nvSpPr>
        <p:spPr>
          <a:xfrm>
            <a:off x="1207008" y="2651760"/>
            <a:ext cx="7178040" cy="25603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Cheapest, highest-return AI project you have. Record the 30-year veterans before they walk out. Those transcripts appreciate.</a:t>
            </a:r>
            <a:endParaRPr lang="en-US" sz="950" dirty="0"/>
          </a:p>
        </p:txBody>
      </p:sp>
      <p:sp>
        <p:nvSpPr>
          <p:cNvPr id="17" name="Shape 15"/>
          <p:cNvSpPr/>
          <p:nvPr/>
        </p:nvSpPr>
        <p:spPr>
          <a:xfrm>
            <a:off x="548640" y="3026664"/>
            <a:ext cx="8046720" cy="576072"/>
          </a:xfrm>
          <a:prstGeom prst="rect">
            <a:avLst/>
          </a:prstGeom>
          <a:solidFill>
            <a:srgbClr val="FFFFFF"/>
          </a:solidFill>
          <a:ln/>
          <a:effectLst>
            <a:outerShdw sx="100000" sy="100000" kx="0" ky="0" algn="bl" rotWithShape="0" blurRad="101600" dist="38100" dir="5400000">
              <a:srgbClr val="000000">
                <a:alpha val="12000"/>
              </a:srgbClr>
            </a:outerShdw>
          </a:effectLst>
        </p:spPr>
      </p:sp>
      <p:sp>
        <p:nvSpPr>
          <p:cNvPr id="18" name="Text 16"/>
          <p:cNvSpPr txBox="1"/>
          <p:nvPr/>
        </p:nvSpPr>
        <p:spPr>
          <a:xfrm>
            <a:off x="749808" y="3026664"/>
            <a:ext cx="411480" cy="576072"/>
          </a:xfrm>
          <a:prstGeom prst="rect">
            <a:avLst/>
          </a:prstGeom>
          <a:noFill/>
          <a:ln/>
        </p:spPr>
        <p:txBody>
          <a:bodyPr wrap="square" lIns="0" tIns="0" rIns="0" bIns="0" rtlCol="0" anchor="ctr"/>
          <a:lstStyle/>
          <a:p>
            <a:pPr indent="0" marL="0">
              <a:buNone/>
            </a:pPr>
            <a:r>
              <a:rPr lang="en-US" sz="1400" b="1" dirty="0">
                <a:solidFill>
                  <a:srgbClr val="3B82F6"/>
                </a:solidFill>
                <a:latin typeface="Georgia" pitchFamily="34" charset="0"/>
                <a:ea typeface="Georgia" pitchFamily="34" charset="-122"/>
                <a:cs typeface="Georgia" pitchFamily="34" charset="-120"/>
              </a:rPr>
              <a:t>04</a:t>
            </a:r>
            <a:endParaRPr lang="en-US" sz="1400" dirty="0"/>
          </a:p>
        </p:txBody>
      </p:sp>
      <p:sp>
        <p:nvSpPr>
          <p:cNvPr id="19" name="Text 17"/>
          <p:cNvSpPr txBox="1"/>
          <p:nvPr/>
        </p:nvSpPr>
        <p:spPr>
          <a:xfrm>
            <a:off x="1207008" y="3072384"/>
            <a:ext cx="3200400" cy="27432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Pick one narrow pilot with a number attached</a:t>
            </a:r>
            <a:endParaRPr lang="en-US" sz="1150" dirty="0"/>
          </a:p>
        </p:txBody>
      </p:sp>
      <p:sp>
        <p:nvSpPr>
          <p:cNvPr id="20" name="Text 18"/>
          <p:cNvSpPr txBox="1"/>
          <p:nvPr/>
        </p:nvSpPr>
        <p:spPr>
          <a:xfrm>
            <a:off x="1207008" y="3319272"/>
            <a:ext cx="7178040" cy="25603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Not “adopt AI.” One line, one failure mode, one metric, ninety days.</a:t>
            </a:r>
            <a:endParaRPr lang="en-US" sz="950" dirty="0"/>
          </a:p>
        </p:txBody>
      </p:sp>
      <p:sp>
        <p:nvSpPr>
          <p:cNvPr id="21" name="Shape 19"/>
          <p:cNvSpPr/>
          <p:nvPr/>
        </p:nvSpPr>
        <p:spPr>
          <a:xfrm>
            <a:off x="548640" y="3694176"/>
            <a:ext cx="8046720" cy="576072"/>
          </a:xfrm>
          <a:prstGeom prst="rect">
            <a:avLst/>
          </a:prstGeom>
          <a:solidFill>
            <a:srgbClr val="1B2A4A"/>
          </a:solidFill>
          <a:ln/>
          <a:effectLst>
            <a:outerShdw sx="100000" sy="100000" kx="0" ky="0" algn="bl" rotWithShape="0" blurRad="101600" dist="38100" dir="5400000">
              <a:srgbClr val="000000">
                <a:alpha val="12000"/>
              </a:srgbClr>
            </a:outerShdw>
          </a:effectLst>
        </p:spPr>
      </p:sp>
      <p:sp>
        <p:nvSpPr>
          <p:cNvPr id="22" name="Text 20"/>
          <p:cNvSpPr txBox="1"/>
          <p:nvPr/>
        </p:nvSpPr>
        <p:spPr>
          <a:xfrm>
            <a:off x="749808" y="3694176"/>
            <a:ext cx="411480" cy="576072"/>
          </a:xfrm>
          <a:prstGeom prst="rect">
            <a:avLst/>
          </a:prstGeom>
          <a:noFill/>
          <a:ln/>
        </p:spPr>
        <p:txBody>
          <a:bodyPr wrap="square" lIns="0" tIns="0" rIns="0" bIns="0" rtlCol="0" anchor="ctr"/>
          <a:lstStyle/>
          <a:p>
            <a:pPr indent="0" marL="0">
              <a:buNone/>
            </a:pPr>
            <a:r>
              <a:rPr lang="en-US" sz="1400" b="1" dirty="0">
                <a:solidFill>
                  <a:srgbClr val="D4A843"/>
                </a:solidFill>
                <a:latin typeface="Georgia" pitchFamily="34" charset="0"/>
                <a:ea typeface="Georgia" pitchFamily="34" charset="-122"/>
                <a:cs typeface="Georgia" pitchFamily="34" charset="-120"/>
              </a:rPr>
              <a:t>05</a:t>
            </a:r>
            <a:endParaRPr lang="en-US" sz="1400" dirty="0"/>
          </a:p>
        </p:txBody>
      </p:sp>
      <p:sp>
        <p:nvSpPr>
          <p:cNvPr id="23" name="Text 21"/>
          <p:cNvSpPr txBox="1"/>
          <p:nvPr/>
        </p:nvSpPr>
        <p:spPr>
          <a:xfrm>
            <a:off x="1207008" y="3739896"/>
            <a:ext cx="3200400"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Ask your workforce — before you decide, not after</a:t>
            </a:r>
            <a:endParaRPr lang="en-US" sz="1150" dirty="0"/>
          </a:p>
        </p:txBody>
      </p:sp>
      <p:sp>
        <p:nvSpPr>
          <p:cNvPr id="24" name="Text 22"/>
          <p:cNvSpPr txBox="1"/>
          <p:nvPr/>
        </p:nvSpPr>
        <p:spPr>
          <a:xfrm>
            <a:off x="1207008" y="3986784"/>
            <a:ext cx="717804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Ask them after and it's a survey. Ask them before and it's involvement. They can tell the difference from across the room.</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731520" y="868680"/>
            <a:ext cx="1371600" cy="54864"/>
          </a:xfrm>
          <a:prstGeom prst="rect">
            <a:avLst/>
          </a:prstGeom>
          <a:solidFill>
            <a:srgbClr val="D4A843"/>
          </a:solidFill>
          <a:ln/>
        </p:spPr>
      </p:sp>
      <p:sp>
        <p:nvSpPr>
          <p:cNvPr id="3" name="Text 1"/>
          <p:cNvSpPr txBox="1"/>
          <p:nvPr/>
        </p:nvSpPr>
        <p:spPr>
          <a:xfrm>
            <a:off x="731520" y="1097280"/>
            <a:ext cx="7680960" cy="502920"/>
          </a:xfrm>
          <a:prstGeom prst="rect">
            <a:avLst/>
          </a:prstGeom>
          <a:noFill/>
          <a:ln/>
        </p:spPr>
        <p:txBody>
          <a:bodyPr wrap="square" lIns="0" tIns="0" rIns="0" bIns="0"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The machine will tell you what's common.</a:t>
            </a:r>
            <a:endParaRPr lang="en-US" sz="2500" dirty="0"/>
          </a:p>
        </p:txBody>
      </p:sp>
      <p:sp>
        <p:nvSpPr>
          <p:cNvPr id="4" name="Text 2"/>
          <p:cNvSpPr txBox="1"/>
          <p:nvPr/>
        </p:nvSpPr>
        <p:spPr>
          <a:xfrm>
            <a:off x="731520" y="1645920"/>
            <a:ext cx="7680960" cy="777240"/>
          </a:xfrm>
          <a:prstGeom prst="rect">
            <a:avLst/>
          </a:prstGeom>
          <a:noFill/>
          <a:ln/>
        </p:spPr>
        <p:txBody>
          <a:bodyPr wrap="square" lIns="0" tIns="0" rIns="0" bIns="0" rtlCol="0" anchor="ctr"/>
          <a:lstStyle/>
          <a:p>
            <a:pPr indent="0" marL="0">
              <a:lnSpc>
                <a:spcPct val="115000"/>
              </a:lnSpc>
              <a:buNone/>
            </a:pPr>
            <a:r>
              <a:rPr lang="en-US" sz="2100" b="1" dirty="0">
                <a:solidFill>
                  <a:srgbClr val="D4A843"/>
                </a:solidFill>
                <a:latin typeface="Georgia" pitchFamily="34" charset="0"/>
                <a:ea typeface="Georgia" pitchFamily="34" charset="-122"/>
                <a:cs typeface="Georgia" pitchFamily="34" charset="-120"/>
              </a:rPr>
              <a:t>It will not tell you what's right for your plant, and it will never tell you what your people will accept.</a:t>
            </a:r>
            <a:endParaRPr lang="en-US" sz="2100" dirty="0"/>
          </a:p>
        </p:txBody>
      </p:sp>
      <p:sp>
        <p:nvSpPr>
          <p:cNvPr id="5" name="Shape 3"/>
          <p:cNvSpPr/>
          <p:nvPr/>
        </p:nvSpPr>
        <p:spPr>
          <a:xfrm>
            <a:off x="731520" y="2542032"/>
            <a:ext cx="7680960" cy="10973"/>
          </a:xfrm>
          <a:prstGeom prst="rect">
            <a:avLst/>
          </a:prstGeom>
          <a:solidFill>
            <a:srgbClr val="2A3D60"/>
          </a:solidFill>
          <a:ln/>
        </p:spPr>
      </p:sp>
      <p:sp>
        <p:nvSpPr>
          <p:cNvPr id="6" name="Text 4"/>
          <p:cNvSpPr txBox="1"/>
          <p:nvPr/>
        </p:nvSpPr>
        <p:spPr>
          <a:xfrm>
            <a:off x="731520" y="2697480"/>
            <a:ext cx="7680960" cy="548640"/>
          </a:xfrm>
          <a:prstGeom prst="rect">
            <a:avLst/>
          </a:prstGeom>
          <a:noFill/>
          <a:ln/>
        </p:spPr>
        <p:txBody>
          <a:bodyPr wrap="square" lIns="0" tIns="0" rIns="0" bIns="0" rtlCol="0" anchor="ctr"/>
          <a:lstStyle/>
          <a:p>
            <a:pPr indent="0" marL="0">
              <a:buNone/>
            </a:pPr>
            <a:r>
              <a:rPr lang="en-US" sz="1400" dirty="0">
                <a:solidFill>
                  <a:srgbClr val="14A3B8"/>
                </a:solidFill>
                <a:latin typeface="Calibri" pitchFamily="34" charset="0"/>
                <a:ea typeface="Calibri" pitchFamily="34" charset="-122"/>
                <a:cs typeface="Calibri" pitchFamily="34" charset="-120"/>
              </a:rPr>
              <a:t>That still takes somebody willing to walk the floor on night shift, look people in the eye, and listen to what they say next.</a:t>
            </a:r>
            <a:endParaRPr lang="en-US" sz="1400" dirty="0"/>
          </a:p>
        </p:txBody>
      </p:sp>
      <p:sp>
        <p:nvSpPr>
          <p:cNvPr id="7" name="Text 5"/>
          <p:cNvSpPr txBox="1"/>
          <p:nvPr/>
        </p:nvSpPr>
        <p:spPr>
          <a:xfrm>
            <a:off x="731520" y="3337560"/>
            <a:ext cx="7680960" cy="685800"/>
          </a:xfrm>
          <a:prstGeom prst="rect">
            <a:avLst/>
          </a:prstGeom>
          <a:noFill/>
          <a:ln/>
        </p:spPr>
        <p:txBody>
          <a:bodyPr wrap="square" lIns="0" tIns="0" rIns="0" bIns="0" rtlCol="0" anchor="ctr"/>
          <a:lstStyle/>
          <a:p>
            <a:pPr indent="0" marL="0">
              <a:lnSpc>
                <a:spcPct val="115000"/>
              </a:lnSpc>
              <a:buNone/>
            </a:pPr>
            <a:r>
              <a:rPr lang="en-US" sz="1900" b="1" dirty="0">
                <a:solidFill>
                  <a:srgbClr val="FFFFFF"/>
                </a:solidFill>
                <a:latin typeface="Georgia" pitchFamily="34" charset="0"/>
                <a:ea typeface="Georgia" pitchFamily="34" charset="-122"/>
                <a:cs typeface="Georgia" pitchFamily="34" charset="-120"/>
              </a:rPr>
              <a:t>Nothing happens until something moves. It's moving.</a:t>
            </a:r>
            <a:endParaRPr lang="en-US" sz="1900" dirty="0"/>
          </a:p>
          <a:p>
            <a:pPr indent="0" marL="0">
              <a:lnSpc>
                <a:spcPct val="115000"/>
              </a:lnSpc>
              <a:buNone/>
            </a:pPr>
            <a:r>
              <a:rPr lang="en-US" sz="1900" b="1" dirty="0">
                <a:solidFill>
                  <a:srgbClr val="FFFFFF"/>
                </a:solidFill>
                <a:latin typeface="Georgia" pitchFamily="34" charset="0"/>
                <a:ea typeface="Georgia" pitchFamily="34" charset="-122"/>
                <a:cs typeface="Georgia" pitchFamily="34" charset="-120"/>
              </a:rPr>
              <a:t>Be the one steering it.</a:t>
            </a:r>
            <a:endParaRPr lang="en-US" sz="1900" dirty="0"/>
          </a:p>
        </p:txBody>
      </p:sp>
      <p:sp>
        <p:nvSpPr>
          <p:cNvPr id="8" name="Text 6"/>
          <p:cNvSpPr txBox="1"/>
          <p:nvPr/>
        </p:nvSpPr>
        <p:spPr>
          <a:xfrm>
            <a:off x="731520" y="4114800"/>
            <a:ext cx="7680960" cy="411480"/>
          </a:xfrm>
          <a:prstGeom prst="rect">
            <a:avLst/>
          </a:prstGeom>
          <a:noFill/>
          <a:ln/>
        </p:spPr>
        <p:txBody>
          <a:bodyPr wrap="square" lIns="0" tIns="0" rIns="0" bIns="0" rtlCol="0" anchor="ctr"/>
          <a:lstStyle/>
          <a:p>
            <a:pPr indent="0" marL="0">
              <a:buNone/>
            </a:pPr>
            <a:r>
              <a:rPr lang="en-US" sz="1150" dirty="0">
                <a:solidFill>
                  <a:srgbClr val="8896A7"/>
                </a:solidFill>
                <a:latin typeface="Calibri" pitchFamily="34" charset="0"/>
                <a:ea typeface="Calibri" pitchFamily="34" charset="-122"/>
                <a:cs typeface="Calibri" pitchFamily="34" charset="-120"/>
              </a:rPr>
              <a:t>shift-work.com  —  ask Thomas anything from today. There's a page for AF&amp;PA attendees with these slides and the cost model on it.</a:t>
            </a:r>
            <a:endParaRPr lang="en-US" sz="1150" dirty="0"/>
          </a:p>
        </p:txBody>
      </p:sp>
      <p:sp>
        <p:nvSpPr>
          <p:cNvPr id="9" name="Text 7"/>
          <p:cNvSpPr txBox="1"/>
          <p:nvPr/>
        </p:nvSpPr>
        <p:spPr>
          <a:xfrm>
            <a:off x="457200" y="4709160"/>
            <a:ext cx="8229600" cy="320040"/>
          </a:xfrm>
          <a:prstGeom prst="rect">
            <a:avLst/>
          </a:prstGeom>
          <a:noFill/>
          <a:ln/>
        </p:spPr>
        <p:txBody>
          <a:bodyPr wrap="square" lIns="0" tIns="0" rIns="0" bIns="0" rtlCol="0" anchor="ctr"/>
          <a:lstStyle/>
          <a:p>
            <a:pPr indent="0" marL="0">
              <a:buNone/>
            </a:pPr>
            <a:r>
              <a:rPr lang="en-US" sz="900" dirty="0">
                <a:solidFill>
                  <a:srgbClr val="6B7FA0"/>
                </a:solidFill>
                <a:latin typeface="Calibri" pitchFamily="34" charset="0"/>
                <a:ea typeface="Calibri" pitchFamily="34" charset="-122"/>
                <a:cs typeface="Calibri" pitchFamily="34" charset="-120"/>
              </a:rPr>
              <a:t>Shiftwork Solutions LLC  |  (415) 265-1621  |  www.shift-work.com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Shiftwork Solutions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and the Future of Shift Work Operations</dc:title>
  <dc:subject>PptxGenJS Presentation</dc:subject>
  <dc:creator>James Dillingham</dc:creator>
  <cp:lastModifiedBy>James Dillingham</cp:lastModifiedBy>
  <cp:revision>1</cp:revision>
  <dcterms:created xsi:type="dcterms:W3CDTF">2026-09-04T01:08:29Z</dcterms:created>
  <dcterms:modified xsi:type="dcterms:W3CDTF">2026-09-04T01:08:29Z</dcterms:modified>
</cp:coreProperties>
</file>